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charts/chart1.xml" ContentType="application/vnd.openxmlformats-officedocument.drawingml.chart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3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16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chart" Target="charts/chart3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4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Relationship Id="rId3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花费占比</c:v>
                </c:pt>
              </c:strCache>
            </c:strRef>
          </c:tx>
          <c:spPr>
            <a:solidFill>
              <a:srgbClr val="AE4128"/>
            </a:solidFill>
          </c:spPr>
          <c:dLbls>
            <c:txPr>
              <a:bodyPr/>
              <a:p>
                <a:pPr>
                  <a:defRPr sz="750">
                    <a:solidFill>
                      <a:srgbClr val="15181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高效 13 个</c:v>
                </c:pt>
                <c:pt idx="1">
                  <c:v>待观察 5 个</c:v>
                </c:pt>
                <c:pt idx="2">
                  <c:v>低效 79 个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32.4</c:v>
                </c:pt>
                <c:pt idx="1">
                  <c:v>5.4</c:v>
                </c:pt>
                <c:pt idx="2">
                  <c:v>62.2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成交占比</c:v>
                </c:pt>
              </c:strCache>
            </c:strRef>
          </c:tx>
          <c:spPr>
            <a:solidFill>
              <a:srgbClr val="1B3557"/>
            </a:solidFill>
          </c:spPr>
          <c:dLbls>
            <c:txPr>
              <a:bodyPr/>
              <a:p>
                <a:pPr>
                  <a:defRPr sz="750">
                    <a:solidFill>
                      <a:srgbClr val="15181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高效 13 个</c:v>
                </c:pt>
                <c:pt idx="1">
                  <c:v>待观察 5 个</c:v>
                </c:pt>
                <c:pt idx="2">
                  <c:v>低效 79 个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91.7</c:v>
                </c:pt>
                <c:pt idx="1">
                  <c:v>6.4</c:v>
                </c:pt>
                <c:pt idx="2">
                  <c:v>1.9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5F6975"/>
              </a:solidFill>
            </a:defRPr>
          </a:pPr>
        </a:p>
      </c:txPr>
    </c:legend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客人占比</c:v>
                </c:pt>
              </c:strCache>
            </c:strRef>
          </c:tx>
          <c:spPr>
            <a:solidFill>
              <a:srgbClr val="AE4128"/>
            </a:solidFill>
          </c:spPr>
          <c:dLbls>
            <c:txPr>
              <a:bodyPr/>
              <a:p>
                <a:pPr>
                  <a:defRPr sz="750">
                    <a:solidFill>
                      <a:srgbClr val="15181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12"/>
                <c:pt idx="0">
                  <c:v>网林家居旗舰店</c:v>
                </c:pt>
                <c:pt idx="1">
                  <c:v>里可林旗舰店</c:v>
                </c:pt>
                <c:pt idx="2">
                  <c:v>科塔建材卫浴</c:v>
                </c:pt>
                <c:pt idx="3">
                  <c:v>安比全卫定制</c:v>
                </c:pt>
                <c:pt idx="4">
                  <c:v>里可林家居</c:v>
                </c:pt>
                <c:pt idx="5">
                  <c:v>保拉伦蒂旗舰店</c:v>
                </c:pt>
                <c:pt idx="6">
                  <c:v>盖文旗舰店</c:v>
                </c:pt>
                <c:pt idx="7">
                  <c:v>安比定制家居</c:v>
                </c:pt>
                <c:pt idx="8">
                  <c:v>科塔全卫定制</c:v>
                </c:pt>
                <c:pt idx="9">
                  <c:v>网林全卫定制</c:v>
                </c:pt>
                <c:pt idx="10">
                  <c:v>Paola Lenti保拉伦蒂</c:v>
                </c:pt>
                <c:pt idx="11">
                  <c:v>盖文全卫定制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1.3</c:v>
                </c:pt>
                <c:pt idx="1">
                  <c:v>1.6</c:v>
                </c:pt>
                <c:pt idx="2">
                  <c:v>1.9</c:v>
                </c:pt>
                <c:pt idx="3">
                  <c:v>1.9</c:v>
                </c:pt>
                <c:pt idx="4">
                  <c:v>2.8</c:v>
                </c:pt>
                <c:pt idx="5">
                  <c:v>3.2</c:v>
                </c:pt>
                <c:pt idx="6">
                  <c:v>4.2</c:v>
                </c:pt>
                <c:pt idx="7">
                  <c:v>7</c:v>
                </c:pt>
                <c:pt idx="8">
                  <c:v>13.3</c:v>
                </c:pt>
                <c:pt idx="9">
                  <c:v>13.4</c:v>
                </c:pt>
                <c:pt idx="10">
                  <c:v>21.2</c:v>
                </c:pt>
                <c:pt idx="11">
                  <c:v>28.1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销售额占比</c:v>
                </c:pt>
              </c:strCache>
            </c:strRef>
          </c:tx>
          <c:spPr>
            <a:solidFill>
              <a:srgbClr val="1B3557"/>
            </a:solidFill>
          </c:spPr>
          <c:dLbls>
            <c:txPr>
              <a:bodyPr/>
              <a:p>
                <a:pPr>
                  <a:defRPr sz="750">
                    <a:solidFill>
                      <a:srgbClr val="15181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12"/>
                <c:pt idx="0">
                  <c:v>网林家居旗舰店</c:v>
                </c:pt>
                <c:pt idx="1">
                  <c:v>里可林旗舰店</c:v>
                </c:pt>
                <c:pt idx="2">
                  <c:v>科塔建材卫浴</c:v>
                </c:pt>
                <c:pt idx="3">
                  <c:v>安比全卫定制</c:v>
                </c:pt>
                <c:pt idx="4">
                  <c:v>里可林家居</c:v>
                </c:pt>
                <c:pt idx="5">
                  <c:v>保拉伦蒂旗舰店</c:v>
                </c:pt>
                <c:pt idx="6">
                  <c:v>盖文旗舰店</c:v>
                </c:pt>
                <c:pt idx="7">
                  <c:v>安比定制家居</c:v>
                </c:pt>
                <c:pt idx="8">
                  <c:v>科塔全卫定制</c:v>
                </c:pt>
                <c:pt idx="9">
                  <c:v>网林全卫定制</c:v>
                </c:pt>
                <c:pt idx="10">
                  <c:v>Paola Lenti保拉伦蒂</c:v>
                </c:pt>
                <c:pt idx="11">
                  <c:v>盖文全卫定制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4.8</c:v>
                </c:pt>
                <c:pt idx="1">
                  <c:v>3.8</c:v>
                </c:pt>
                <c:pt idx="2">
                  <c:v>7.7</c:v>
                </c:pt>
                <c:pt idx="3">
                  <c:v>5.4</c:v>
                </c:pt>
                <c:pt idx="4">
                  <c:v>4.8</c:v>
                </c:pt>
                <c:pt idx="5">
                  <c:v>8.4</c:v>
                </c:pt>
                <c:pt idx="6">
                  <c:v>27.4</c:v>
                </c:pt>
                <c:pt idx="7">
                  <c:v>7</c:v>
                </c:pt>
                <c:pt idx="8">
                  <c:v>6.2</c:v>
                </c:pt>
                <c:pt idx="9">
                  <c:v>3.5</c:v>
                </c:pt>
                <c:pt idx="10">
                  <c:v>14</c:v>
                </c:pt>
                <c:pt idx="11">
                  <c:v>6.9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5F6975"/>
              </a:solidFill>
            </a:defRPr>
          </a:pPr>
        </a:p>
      </c:txPr>
    </c:legend>
    <c:dispBlanksAs val="gap"/>
  </c:chart>
</c:chartSpace>
</file>

<file path=ppt/slides/charts/chart3.xml><?xml version="1.0" encoding="utf-8"?>
<c:chartSpace xmlns:a="http://schemas.openxmlformats.org/drawingml/2006/main" xmlns:c="http://schemas.openxmlformats.org/drawingml/2006/chart">
  <c:chart>
    <c:plotArea>
      <c:barChart>
        <c:barDir val="col"/>
        <c:grouping val="percent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主力</c:v>
                </c:pt>
              </c:strCache>
            </c:strRef>
          </c:tx>
          <c:spPr>
            <a:solidFill>
              <a:srgbClr val="1B3557"/>
            </a:solidFill>
          </c:spPr>
          <c:dLbls>
            <c:txPr>
              <a:bodyPr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商品数</c:v>
                </c:pt>
                <c:pt idx="1">
                  <c:v>客人</c:v>
                </c:pt>
                <c:pt idx="2">
                  <c:v>销售额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5.3</c:v>
                </c:pt>
                <c:pt idx="1">
                  <c:v>16.1</c:v>
                </c:pt>
                <c:pt idx="2">
                  <c:v>80.5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补充</c:v>
                </c:pt>
              </c:strCache>
            </c:strRef>
          </c:tx>
          <c:spPr>
            <a:solidFill>
              <a:srgbClr val="A97B28"/>
            </a:solidFill>
          </c:spPr>
          <c:dLbls>
            <c:txPr>
              <a:bodyPr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商品数</c:v>
                </c:pt>
                <c:pt idx="1">
                  <c:v>客人</c:v>
                </c:pt>
                <c:pt idx="2">
                  <c:v>销售额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3.8</c:v>
                </c:pt>
                <c:pt idx="1">
                  <c:v>30.4</c:v>
                </c:pt>
                <c:pt idx="2">
                  <c:v>14.7</c:v>
                </c:pt>
              </c:numCache>
            </c:numRef>
          </c:val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长尾</c:v>
                </c:pt>
              </c:strCache>
            </c:strRef>
          </c:tx>
          <c:spPr>
            <a:solidFill>
              <a:srgbClr val="AE4128"/>
            </a:solidFill>
          </c:spPr>
          <c:dLbls>
            <c:txPr>
              <a:bodyPr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商品数</c:v>
                </c:pt>
                <c:pt idx="1">
                  <c:v>客人</c:v>
                </c:pt>
                <c:pt idx="2">
                  <c:v>销售额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90.8</c:v>
                </c:pt>
                <c:pt idx="1">
                  <c:v>53.5</c:v>
                </c:pt>
                <c:pt idx="2">
                  <c:v>4.7</c:v>
                </c:pt>
              </c:numCache>
            </c:numRef>
          </c:val>
        </c:ser>
        <c:gapWidth val="219"/>
        <c:overlap val="100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5F6975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5F6975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'1280px', height: '720px', background: '#1B3557', fontFamily: 'Noto Sans SC', position: 'relative' }}&gt;&lt;Image&#10;        src=&quot;assets/cover_hero.png&quot;&#10;        style={{ position: 'absolute', top: 0, left: 0, width: '1280px', height: '720px', objectFit: 'cover' }}&#10;    /&gt;&lt;Box&#10;        style={{&#10;            position: 'absolute',&#10;            top: 0,&#10;            left: 0,&#10;            width: '1280px',&#10;            height: '720px',&#10;            background: 'linear-gradient(90deg, rgba(27,53,87,0) 0%, rgba(27,53,87,0) 46%, rgba(27,53,87,0.88) 56%, #1B3557 66%, #1B3557 100%)',&#10;        }}&#10;    /&gt;&lt;Box&#10;        style={{&#10;            position: 'absolute',&#10;            top: 0,&#10;            left: 0,&#10;            width: '1280px',&#10;            height: '720px',&#10;            padding: '0 64px 0 0',&#10;            flexDirection: 'row',&#10;            justifyContent: 'flex-end',&#10;            alignItems: 'center',&#10;        }}&#10;    &gt;&lt;Box style={{ width: '560px', flexDirection: 'column' }}&gt;&lt;Text style={{ fontSize: '16px', fontWeight: 600, color: '#A97B28', letterSpacing: '4px', marginBottom: '22px' }}&gt; 经营数据诊断&lt;/Text&gt;&lt;Text style={{ fontSize: '54px', fontWeight: 800, color: '#FFFFFF', lineHeight: 1.22 }}&gt; 近{'30'} 天成交{'80.0'} 万元，&lt;br /&gt;问题不在客流，在分配&lt;/Text&gt;&lt;Box style={{ width: '56px', height: '4px', background: '#A97B28', margin: '26px 0 22px 0' }} /&gt;&lt;Text style={{ fontSize: '21px', color: '#DDE2E8', lineHeight: 1.5 }}&gt; 成交{'80.0'} 万元，退款{'14.8'} 万元，占{'18.5%'}&lt;br /&gt;广告花{'6.7'} 万元，带回{'19.7'} 万元成交&lt;/Text&gt;&lt;Text style={{ fontSize: '15px', color: '#9AA6B4', lineHeight: 1.6, marginTop: '26px' }}&gt; 数据区间{'2026-09-19'} 至{'2026-10-18'}&lt;br /&gt;{'12'} 家店铺{'·'} 四张飞书表{'9,830'} 行{'·'} 去重后{'9,717'} 行&lt;/Text&gt;&lt;/Box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3557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17272" r="0" b="1727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557">
                  <a:alpha val="0"/>
                </a:srgbClr>
              </a:gs>
              <a:gs pos="46000">
                <a:srgbClr val="1B3557">
                  <a:alpha val="0"/>
                </a:srgbClr>
              </a:gs>
              <a:gs pos="56000">
                <a:srgbClr val="1B3557">
                  <a:alpha val="88000"/>
                </a:srgbClr>
              </a:gs>
              <a:gs pos="66000">
                <a:srgbClr val="1B3557"/>
              </a:gs>
              <a:gs pos="100000">
                <a:srgbClr val="1B3557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248400" y="10858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A97B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 b="1" spc="300">
                <a:solidFill>
                  <a:srgbClr val="A97B28"/>
                </a:solidFill>
                <a:latin typeface="Noto Sans SC"/>
                <a:ea typeface="Noto Sans SC"/>
              </a:rPr>
              <a:t>经营数据诊断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248400" y="1485900"/>
            <a:ext cx="5334000" cy="2266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2000"/>
              </a:lnSpc>
            </a:pPr>
            <a:r>
              <a:rPr lang="en-US" sz="4050" b="1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4050" b="1">
                <a:solidFill>
                  <a:srgbClr val="FFFFFF"/>
                </a:solidFill>
                <a:latin typeface="Noto Sans SC"/>
                <a:ea typeface="Noto Sans SC"/>
              </a:rPr>
              <a:t>近</a:t>
            </a:r>
            <a:r>
              <a:rPr lang="en-US" sz="4050" b="1">
                <a:solidFill>
                  <a:srgbClr val="FFFFFF"/>
                </a:solidFill>
                <a:latin typeface="Noto Sans SC"/>
                <a:ea typeface="Noto Sans SC"/>
              </a:rPr>
              <a:t>30</a:t>
            </a:r>
            <a:r>
              <a:rPr lang="en-US" sz="4050" b="1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4050" b="1">
                <a:solidFill>
                  <a:srgbClr val="FFFFFF"/>
                </a:solidFill>
                <a:latin typeface="Noto Sans SC"/>
                <a:ea typeface="Noto Sans SC"/>
              </a:rPr>
              <a:t>天成交</a:t>
            </a:r>
            <a:r>
              <a:rPr lang="en-US" sz="4050" b="1">
                <a:solidFill>
                  <a:srgbClr val="FFFFFF"/>
                </a:solidFill>
                <a:latin typeface="Noto Sans SC"/>
                <a:ea typeface="Noto Sans SC"/>
              </a:rPr>
              <a:t>80.0</a:t>
            </a:r>
            <a:r>
              <a:rPr lang="en-US" sz="4050" b="1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4050" b="1">
                <a:solidFill>
                  <a:srgbClr val="FFFFFF"/>
                </a:solidFill>
                <a:latin typeface="Noto Sans SC"/>
                <a:ea typeface="Noto Sans SC"/>
              </a:rPr>
              <a:t>万元，</a:t>
            </a:r>
            <a:endParaRPr/>
          </a:p>
          <a:p>
            <a:pPr>
              <a:lnSpc>
                <a:spcPct val="122000"/>
              </a:lnSpc>
            </a:pPr>
            <a:r>
              <a:rPr lang="zh-CN" sz="4050" b="1">
                <a:solidFill>
                  <a:srgbClr val="FFFFFF"/>
                </a:solidFill>
                <a:latin typeface="Noto Sans SC"/>
                <a:ea typeface="Noto Sans SC"/>
              </a:rPr>
              <a:t>问题不在客流，在分配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248400" y="4000500"/>
            <a:ext cx="533400" cy="38100"/>
          </a:xfrm>
          <a:prstGeom prst="rect">
            <a:avLst/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248400" y="4248150"/>
            <a:ext cx="53340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成交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>80.0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万元，退款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>14.8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万元，占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>18.5%</a:t>
            </a:r>
            <a:endParaRPr/>
          </a:p>
          <a:p>
            <a:pPr>
              <a:lnSpc>
                <a:spcPct val="150000"/>
              </a:lnSpc>
            </a:pP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广告花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>6.7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万元，带回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>19.7</a:t>
            </a:r>
            <a:r>
              <a:rPr lang="en-US" sz="1575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DDE2E8"/>
                </a:solidFill>
                <a:latin typeface="Noto Sans SC"/>
                <a:ea typeface="Noto Sans SC"/>
              </a:rPr>
              <a:t>万元成交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248400" y="5219700"/>
            <a:ext cx="53340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数据区间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2026-09-19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至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2026-10-18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12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家店铺</a:t>
            </a:r>
            <a:r>
              <a:rPr sz="1125">
                <a:solidFill>
                  <a:srgbClr val="9AA6B4"/>
                </a:solidFill>
                <a:latin typeface="Noto Sans SC"/>
                <a:ea typeface="Noto Sans SC"/>
              </a:rPr>
              <a:t>·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四张飞书表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9,830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行</a:t>
            </a:r>
            <a:r>
              <a:rPr sz="1125">
                <a:solidFill>
                  <a:srgbClr val="9AA6B4"/>
                </a:solidFill>
                <a:latin typeface="Noto Sans SC"/>
                <a:ea typeface="Noto Sans SC"/>
              </a:rPr>
              <a:t>·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去重后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9,717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行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7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同样的客人和预算，两组的平均产出差{'17'} 倍以上&lt;/Text&gt;&lt;/Box&gt;&lt;Box style={{ height: '540px', flexDirection: 'row', gap: '48px' }}&gt;&lt;Box style={{ width: '540px', justifyContent: 'center' }}&gt;&lt;Text style={{ fontSize: '118px', fontWeight: 800, color: '#1B3557', lineHeight: 1.0, letterSpacing: '-2px' }}&gt;{'76.0%'}&lt;/Text&gt;&lt;Text style={{ fontSize: '21px', color: '#15181D', lineHeight: 1.5, marginTop: '16px' }}&gt; 的进店客人，集中在成交率最低的{'4'} 家店&lt;/Text&gt;&lt;Text style={{ fontSize: '23px', fontWeight: 600, color: '#AE4128', lineHeight: 1.4, marginTop: '14px' }}&gt; 这{'4'} 家店，只换回{'30.6%'} 的销售额&lt;/Text&gt;&lt;/Box&gt;&lt;Box style={{ width: '1px', background: '#DDE2E8' }} /&gt;&lt;Box style={{ flex: 1, flexDirection: 'column' }}&gt;&lt;Text style={{ fontSize: '24px', fontWeight: 600, color: '#1B3557', lineHeight: 1.4 }}&gt; 反过来看最好的一面&lt;/Text&gt;&lt;Box style={{ flexDirection: 'row', alignItems: 'flex-end', gap: '10px', marginTop: '18px' }}&gt;&lt;Text style={{ fontSize: '72px', fontWeight: 800, color: '#1B3557', lineHeight: 1.0 }}&gt;{'9.3%'}&lt;/Text&gt;&lt;Text style={{ fontSize: '22px', color: '#5F6975', lineHeight: 1.4, marginBottom: '8px' }}&gt; 的客人&lt;/Text&gt;&lt;/Box&gt;&lt;Text style={{ fontSize: '22px', fontWeight: 600, color: '#15181D', lineHeight: 1.45, marginTop: '10px' }}&gt; 成交率最高的{'4'} 家店只分到这些客人，&lt;br /&gt;却做出{'45.3%'} 的销售额&lt;/Text&gt;&lt;Box style={{ flexDirection: 'column', gap: '10px', marginTop: '26px' }}&gt;&lt;Box style={{ flexDirection: 'row', alignItems: 'center', gap: '10px' }}&gt;&lt;Box style={{ width: '6px', height: '6px', borderRadius: '3px', background: '#AE4128' }} /&gt;&lt;Text style={{ fontSize: '17px', color: '#5F6975', lineHeight: 1.5 }}&gt; 最差{'4'} 家：成交率只有平均的{'21%'}{'–'}{'45%'}&lt;/Text&gt;&lt;/Box&gt;&lt;Box style={{ flexDirection: 'row', alignItems: 'center', gap: '10px' }}&gt;&lt;Box style={{ width: '6px', height: '6px', borderRadius: '3px', background: '#1B3557' }} /&gt;&lt;Text style={{ fontSize: '17px', color: '#5F6975', lineHeight: 1.5 }}&gt; 最好{'4'} 家：成交率是平均的{'4.3'}{'–'}{'7.5'} 倍&lt;/Text&gt;&lt;/Box&gt;&lt;Box style={{ flexDirection: 'row', alignItems: 'center', gap: '10px' }}&gt;&lt;Box style={{ width: '6px', height: '6px', borderRadius: '3px', background: '#A97B28' }} /&gt;&lt;Text style={{ fontSize: '17px', color: '#5F6975', lineHeight: 1.5 }}&gt; 客单价最多只差{'3.4'} 倍，成交率差{'35'} 倍&lt;/Text&gt;&lt;/Box&gt;&lt;/Box&gt;&lt;Box style={{ background: '#F4F6F8', borderLeft: '4px solid #A97B28', padding: '20px 24px', marginTop: 'auto' }}&gt;&lt;Text style={{ fontSize: '20px', fontWeight: 600, color: '#1B3557', lineHeight: 1.5 }}&gt; 钱和效果是反着分的{'—'}{'—'}&lt;br /&gt;要动的是分配，不是预算。&lt;/Text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2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同样的客人和预算，两组的平均产出差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17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倍以上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51435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 spc="-150">
                <a:solidFill>
                  <a:srgbClr val="1B3557"/>
                </a:solidFill>
                <a:latin typeface="Noto Sans SC"/>
                <a:ea typeface="Noto Sans SC"/>
              </a:rPr>
              <a:t>76.0%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4038600"/>
            <a:ext cx="51435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15181D"/>
                </a:solidFill>
                <a:latin typeface="Noto Sans SC"/>
                <a:ea typeface="Noto Sans SC"/>
              </a:rPr>
              <a:t>的进店客人，集中在成交率最低的</a:t>
            </a:r>
            <a:r>
              <a:rPr lang="en-US" sz="1575">
                <a:solidFill>
                  <a:srgbClr val="15181D"/>
                </a:solidFill>
                <a:latin typeface="Noto Sans SC"/>
                <a:ea typeface="Noto Sans SC"/>
              </a:rPr>
              <a:t>4</a:t>
            </a:r>
            <a:r>
              <a:rPr lang="en-US" sz="157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75">
                <a:solidFill>
                  <a:srgbClr val="15181D"/>
                </a:solidFill>
                <a:latin typeface="Noto Sans SC"/>
                <a:ea typeface="Noto Sans SC"/>
              </a:rPr>
              <a:t>家店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4533900"/>
            <a:ext cx="5143500" cy="3714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7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725" b="1">
                <a:solidFill>
                  <a:srgbClr val="AE4128"/>
                </a:solidFill>
                <a:latin typeface="Noto Sans SC"/>
                <a:ea typeface="Noto Sans SC"/>
              </a:rPr>
              <a:t>这</a:t>
            </a:r>
            <a:r>
              <a:rPr lang="en-US" sz="1725" b="1">
                <a:solidFill>
                  <a:srgbClr val="AE4128"/>
                </a:solidFill>
                <a:latin typeface="Noto Sans SC"/>
                <a:ea typeface="Noto Sans SC"/>
              </a:rPr>
              <a:t>4</a:t>
            </a:r>
            <a:r>
              <a:rPr lang="en-US" sz="17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725" b="1">
                <a:solidFill>
                  <a:srgbClr val="AE4128"/>
                </a:solidFill>
                <a:latin typeface="Noto Sans SC"/>
                <a:ea typeface="Noto Sans SC"/>
              </a:rPr>
              <a:t>家店，只换回</a:t>
            </a:r>
            <a:r>
              <a:rPr lang="en-US" sz="1725" b="1">
                <a:solidFill>
                  <a:srgbClr val="AE4128"/>
                </a:solidFill>
                <a:latin typeface="Noto Sans SC"/>
                <a:ea typeface="Noto Sans SC"/>
              </a:rPr>
              <a:t>30.6%</a:t>
            </a:r>
            <a:r>
              <a:rPr lang="en-US" sz="17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725" b="1">
                <a:solidFill>
                  <a:srgbClr val="AE4128"/>
                </a:solidFill>
                <a:latin typeface="Noto Sans SC"/>
                <a:ea typeface="Noto Sans SC"/>
              </a:rPr>
              <a:t>的销售额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210300" y="1143000"/>
            <a:ext cx="9525" cy="5143500"/>
          </a:xfrm>
          <a:prstGeom prst="rect">
            <a:avLst/>
          </a:prstGeom>
          <a:solidFill>
            <a:srgbClr val="DDE2E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677025" y="1143000"/>
            <a:ext cx="4905375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800" b="1">
                <a:solidFill>
                  <a:srgbClr val="1B3557"/>
                </a:solidFill>
                <a:latin typeface="Noto Sans SC"/>
                <a:ea typeface="Noto Sans SC"/>
              </a:rPr>
              <a:t>反过来看最好的一面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677025" y="1704975"/>
            <a:ext cx="14859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B3557"/>
                </a:solidFill>
                <a:latin typeface="Noto Sans SC"/>
                <a:ea typeface="Noto Sans SC"/>
              </a:rPr>
              <a:t>9.3%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258175" y="2105025"/>
            <a:ext cx="676275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6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5F6975"/>
                </a:solidFill>
                <a:latin typeface="Noto Sans SC"/>
                <a:ea typeface="Noto Sans SC"/>
              </a:rPr>
              <a:t>的客人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677025" y="2628900"/>
            <a:ext cx="4905375" cy="733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5181D"/>
                </a:solidFill>
                <a:latin typeface="Noto Sans SC"/>
                <a:ea typeface="Noto Sans SC"/>
              </a:rPr>
              <a:t>成交率最高的</a:t>
            </a:r>
            <a:r>
              <a:rPr lang="en-US" sz="1650" b="1">
                <a:solidFill>
                  <a:srgbClr val="15181D"/>
                </a:solidFill>
                <a:latin typeface="Noto Sans SC"/>
                <a:ea typeface="Noto Sans SC"/>
              </a:rPr>
              <a:t>4</a:t>
            </a:r>
            <a:r>
              <a:rPr lang="en-US" sz="1650" b="1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5181D"/>
                </a:solidFill>
                <a:latin typeface="Noto Sans SC"/>
                <a:ea typeface="Noto Sans SC"/>
              </a:rPr>
              <a:t>家店只分到这些客人，</a:t>
            </a:r>
            <a:endParaRPr/>
          </a:p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5181D"/>
                </a:solidFill>
                <a:latin typeface="Noto Sans SC"/>
                <a:ea typeface="Noto Sans SC"/>
              </a:rPr>
              <a:t>却做出</a:t>
            </a:r>
            <a:r>
              <a:rPr lang="en-US" sz="1650" b="1">
                <a:solidFill>
                  <a:srgbClr val="15181D"/>
                </a:solidFill>
                <a:latin typeface="Noto Sans SC"/>
                <a:ea typeface="Noto Sans SC"/>
              </a:rPr>
              <a:t>45.3%</a:t>
            </a:r>
            <a:r>
              <a:rPr lang="en-US" sz="1650" b="1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5181D"/>
                </a:solidFill>
                <a:latin typeface="Noto Sans SC"/>
                <a:ea typeface="Noto Sans SC"/>
              </a:rPr>
              <a:t>的销售额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677025" y="3733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AE412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29425" y="3609975"/>
            <a:ext cx="28098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最差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家：成交率只有平均的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21%</a:t>
            </a:r>
            <a:r>
              <a:rPr sz="1275">
                <a:solidFill>
                  <a:srgbClr val="5F6975"/>
                </a:solidFill>
                <a:latin typeface="Noto Sans SC"/>
                <a:ea typeface="Noto Sans SC"/>
              </a:rPr>
              <a:t>–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45%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677025" y="4124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B3557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29425" y="4000500"/>
            <a:ext cx="26384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最好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家：成交率是平均的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4.3</a:t>
            </a:r>
            <a:r>
              <a:rPr sz="1275">
                <a:solidFill>
                  <a:srgbClr val="5F6975"/>
                </a:solidFill>
                <a:latin typeface="Noto Sans SC"/>
                <a:ea typeface="Noto Sans SC"/>
              </a:rPr>
              <a:t>–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7.5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倍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677025" y="4514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29425" y="4391025"/>
            <a:ext cx="2752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客单价最多只差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3.4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倍，成交率差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35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倍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715125" y="5219700"/>
            <a:ext cx="4905375" cy="10668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677025" y="5219700"/>
            <a:ext cx="4943475" cy="1066800"/>
          </a:xfrm>
          <a:custGeom>
            <a:pathLst>
              <a:path w="519" h="112">
                <a:moveTo>
                  <a:pt x="0" y="0"/>
                </a:moveTo>
                <a:lnTo>
                  <a:pt x="4" y="0"/>
                </a:lnTo>
                <a:lnTo>
                  <a:pt x="4" y="112"/>
                </a:lnTo>
                <a:lnTo>
                  <a:pt x="0" y="112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43725" y="5410200"/>
            <a:ext cx="4410075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 b="1">
                <a:solidFill>
                  <a:srgbClr val="1B3557"/>
                </a:solidFill>
                <a:latin typeface="Noto Sans SC"/>
                <a:ea typeface="Noto Sans SC"/>
              </a:rPr>
              <a:t>钱和效果是反着分的</a:t>
            </a:r>
            <a:r>
              <a:rPr sz="1500" b="1">
                <a:solidFill>
                  <a:srgbClr val="1B3557"/>
                </a:solidFill>
                <a:latin typeface="Noto Sans SC"/>
                <a:ea typeface="Noto Sans SC"/>
              </a:rPr>
              <a:t>—</a:t>
            </a:r>
            <a:r>
              <a:rPr sz="1500" b="1">
                <a:solidFill>
                  <a:srgbClr val="1B3557"/>
                </a:solidFill>
                <a:latin typeface="Noto Sans SC"/>
                <a:ea typeface="Noto Sans SC"/>
              </a:rPr>
              <a:t>—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B3557"/>
                </a:solidFill>
                <a:latin typeface="Noto Sans SC"/>
                <a:ea typeface="Noto Sans SC"/>
              </a:rPr>
              <a:t>要动的是分配，不是预算。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02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今天讲三件事&lt;/Text&gt;&lt;/Box&gt;&lt;Box style={{ height: '540px', flexDirection: 'row', gap: '48px' }}&gt;&lt;Box style={{ width: '330px', flexDirection: 'column' }}&gt;&lt;Text style={{ fontSize: '20px', color: '#15181D', lineHeight: 1.6 }}&gt;{'8'} 分钟讲完，留{'10'} 分钟问答。&lt;br /&gt;三件事都指向同一个动作：&lt;br /&gt;把现在的客人和钱，重新分一次。&lt;/Text&gt;&lt;Box style={{ background: '#F4F6F8', borderLeft: '4px solid #A97B28', padding: '18px 20px', marginTop: 'auto' }}&gt;&lt;Text style={{ fontSize: '17px', color: '#1B3557', lineHeight: 1.55 }}&gt; 听完只需要定一件事：&lt;br /&gt;拿一半低效推广预算，试跑两周。&lt;/Text&gt;&lt;/Box&gt;&lt;/Box&gt;&lt;Box style={{ flex: 1, flexDirection: 'column' }}&gt;&lt;Box style={{ flexDirection: 'row', alignItems: 'flex-start', gap: '24px', paddingBottom: '22px', borderBottom: '1px solid #DDE2E8' }}&gt;&lt;Text style={{ fontSize: '46px', fontWeight: 800, color: '#A97B28', lineHeight: 1.0, width: '72px' }}&gt;{'01'}&lt;/Text&gt;&lt;Box style={{ flex: 1 }}&gt;&lt;Text style={{ fontSize: '24px', fontWeight: 600, color: '#1B3557', lineHeight: 1.4 }}&gt;客人在哪家店&lt;/Text&gt;&lt;Text style={{ fontSize: '17px', color: '#5F6975', lineHeight: 1.55, marginTop: '8px' }}&gt;{'76.0%'} 的客人进了最不会成交的{'4'} 家店，只换回{'30.6%'} 的销售额{'—'}{'—'}流量分错了，不是流量不够。&lt;/Text&gt;&lt;/Box&gt;&lt;/Box&gt;&lt;Box style={{ flexDirection: 'row', alignItems: 'flex-start', gap: '24px', padding: '22px 0', borderBottom: '1px solid #DDE2E8' }}&gt;&lt;Text style={{ fontSize: '46px', fontWeight: 800, color: '#A97B28', lineHeight: 1.0, width: '72px' }}&gt;{'02'}&lt;/Text&gt;&lt;Box style={{ flex: 1 }}&gt;&lt;Text style={{ fontSize: '24px', fontWeight: 600, color: '#1B3557', lineHeight: 1.4 }}&gt;货在哪一步走掉&lt;/Text&gt;&lt;Text style={{ fontSize: '17px', color: '#5F6975', lineHeight: 1.55, marginTop: '8px' }}&gt;{'5.3%'} 的商品做出{'80.5%'} 的销售额；洗手盆拿走{'81%'} 的客人，加购率却只有浴缸的四分之一。&lt;/Text&gt;&lt;/Box&gt;&lt;/Box&gt;&lt;Box style={{ flexDirection: 'row', alignItems: 'flex-start', gap: '24px', paddingTop: '22px' }}&gt;&lt;Text style={{ fontSize: '46px', fontWeight: 800, color: '#A97B28', lineHeight: 1.0, width: '72px' }}&gt;{'03'}&lt;/Text&gt;&lt;Box style={{ flex: 1 }}&gt;&lt;Text style={{ fontSize: '24px', fontWeight: 600, color: '#1B3557', lineHeight: 1.4 }}&gt;钱花在哪，以及怎么办&lt;/Text&gt;&lt;Text style={{ fontSize: '17px', color: '#5F6975', lineHeight: 1.55, marginTop: '8px' }}&gt;{'62.2%'} 的推广费花在{'79'} 个低效商品上，每{'1'} 元只换回{'0.10'} 元；挪一半出来，静态净增约{'7.74'} 万元。&lt;/Text&gt;&lt;/Box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3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今天讲三件事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3143250" cy="11049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>8</a:t>
            </a: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分钟讲完，留</a:t>
            </a: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>10</a:t>
            </a: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分钟问答。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三件事都指向同一个动作：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把现在的客人和钱，重新分一次。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47700" y="5334000"/>
            <a:ext cx="3143250" cy="9525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09600" y="5334000"/>
            <a:ext cx="3181350" cy="952500"/>
          </a:xfrm>
          <a:custGeom>
            <a:pathLst>
              <a:path w="334" h="100">
                <a:moveTo>
                  <a:pt x="0" y="0"/>
                </a:moveTo>
                <a:lnTo>
                  <a:pt x="4" y="0"/>
                </a:lnTo>
                <a:lnTo>
                  <a:pt x="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" y="5505450"/>
            <a:ext cx="2724150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听完只需要定一件事：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拿一半低效推广预算，试跑两周。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10050" y="1143000"/>
            <a:ext cx="7372350" cy="1304925"/>
          </a:xfrm>
          <a:custGeom>
            <a:pathLst>
              <a:path w="774" h="137">
                <a:moveTo>
                  <a:pt x="0" y="136"/>
                </a:moveTo>
                <a:lnTo>
                  <a:pt x="774" y="136"/>
                </a:lnTo>
                <a:lnTo>
                  <a:pt x="774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DDE2E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685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A97B28"/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124450" y="1143000"/>
            <a:ext cx="64579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B3557"/>
                </a:solidFill>
                <a:latin typeface="Noto Sans SC"/>
                <a:ea typeface="Noto Sans SC"/>
              </a:rPr>
              <a:t>客人在哪家店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124450" y="1609725"/>
            <a:ext cx="6457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76.0%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的客人进了最不会成交的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家店，只换回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30.6%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的销售额</a:t>
            </a:r>
            <a:r>
              <a:rPr sz="1275">
                <a:solidFill>
                  <a:srgbClr val="5F6975"/>
                </a:solidFill>
                <a:latin typeface="Noto Sans SC"/>
                <a:ea typeface="Noto Sans SC"/>
              </a:rPr>
              <a:t>—</a:t>
            </a:r>
            <a:r>
              <a:rPr sz="1275">
                <a:solidFill>
                  <a:srgbClr val="5F6975"/>
                </a:solidFill>
                <a:latin typeface="Noto Sans SC"/>
                <a:ea typeface="Noto Sans SC"/>
              </a:rPr>
              <a:t>—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流量分错了，不是流量不够。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210050" y="2438400"/>
            <a:ext cx="7372350" cy="1514475"/>
          </a:xfrm>
          <a:custGeom>
            <a:pathLst>
              <a:path w="774" h="159">
                <a:moveTo>
                  <a:pt x="0" y="158"/>
                </a:moveTo>
                <a:lnTo>
                  <a:pt x="774" y="158"/>
                </a:lnTo>
                <a:lnTo>
                  <a:pt x="774" y="159"/>
                </a:lnTo>
                <a:lnTo>
                  <a:pt x="0" y="159"/>
                </a:lnTo>
                <a:close/>
              </a:path>
            </a:pathLst>
          </a:custGeom>
          <a:solidFill>
            <a:srgbClr val="DDE2E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210050" y="2647950"/>
            <a:ext cx="685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A97B28"/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124450" y="2647950"/>
            <a:ext cx="64579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B3557"/>
                </a:solidFill>
                <a:latin typeface="Noto Sans SC"/>
                <a:ea typeface="Noto Sans SC"/>
              </a:rPr>
              <a:t>货在哪一步走掉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124450" y="3114675"/>
            <a:ext cx="6457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5.3%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的商品做出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80.5%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的销售额；洗手盆拿走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81%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的客人，加购率却只有浴缸的四分之一。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210050" y="4152900"/>
            <a:ext cx="685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A97B28"/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124450" y="4152900"/>
            <a:ext cx="64579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B3557"/>
                </a:solidFill>
                <a:latin typeface="Noto Sans SC"/>
                <a:ea typeface="Noto Sans SC"/>
              </a:rPr>
              <a:t>钱花在哪，以及怎么办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124450" y="4619625"/>
            <a:ext cx="64579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62.2%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的推广费花在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79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个低效商品上，每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1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元只换回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0.10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元；挪一半出来，静态净增约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>7.74</a:t>
            </a:r>
            <a:r>
              <a:rPr lang="en-US" sz="127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5F6975"/>
                </a:solidFill>
                <a:latin typeface="Noto Sans SC"/>
                <a:ea typeface="Noto Sans SC"/>
              </a:rPr>
              <a:t>万元。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03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49" name="" descr="&lt;Slide style={{ width: '1280px', height: '720px', background: 'linear-gradient(135deg, #1B3557 0%, #42648F 100%)', fontFamily: 'Noto Sans SC', position: 'relative' }}&gt;&lt;Text style={{ position: 'absolute', top: '150px', left: '24px', fontSize: '260px', fontWeight: 800, color: 'rgba(255,255,255,0.13)', lineHeight: 1.0 }}&gt;{'01'}&lt;/Text&gt;&lt;Box style={{ position: 'absolute', top: 0, left: 0, width: '1280px', height: '720px', padding: '0 64px', flexDirection: 'row', alignItems: 'center' }}&gt;&lt;Box style={{ width: '660px', marginLeft: '230px' }}&gt;&lt;Text style={{ fontSize: '18px', fontWeight: 600, color: '#A97B28', letterSpacing: '6px' }}&gt;第一章&lt;/Text&gt;&lt;Text style={{ fontSize: '58px', fontWeight: 800, color: '#FFFFFF', lineHeight: 1.2, marginTop: '14px' }}&gt;客人在哪家店&lt;/Text&gt;&lt;Box style={{ width: '64px', height: '4px', background: '#A97B28', margin: '24px 0' }} /&gt;&lt;Text style={{ fontSize: '22px', color: '#DDE2E8', lineHeight: 1.6 }}&gt;{'76.0%'} 的客人，进了最不会成交的{'4'} 家店，&lt;br /&gt;只换回{'30.6%'} 的销售额。&lt;/Text&gt;&lt;/Box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557"/>
              </a:gs>
              <a:gs pos="100000">
                <a:srgbClr val="4264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28600" y="1428750"/>
            <a:ext cx="258127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3000"/>
                  </a:srgbClr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800350" y="22098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450">
                <a:solidFill>
                  <a:srgbClr val="A97B28"/>
                </a:solidFill>
                <a:latin typeface="Noto Sans SC"/>
                <a:ea typeface="Noto Sans SC"/>
              </a:rPr>
              <a:t>第一章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800350" y="2552700"/>
            <a:ext cx="6286500" cy="800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Noto Sans SC"/>
                <a:ea typeface="Noto Sans SC"/>
              </a:rPr>
              <a:t>客人在哪家店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2800350" y="3581400"/>
            <a:ext cx="609600" cy="38100"/>
          </a:xfrm>
          <a:prstGeom prst="rect">
            <a:avLst/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800350" y="3848100"/>
            <a:ext cx="62865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76.0%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的客人，进了最不会成交的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4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家店，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只换回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30.6%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的销售额。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56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{'76.0%'} 的客人进了{'4'} 家最不会成交的店，只换回{'30.6%'} 的销售额&lt;/Text&gt;&lt;/Box&gt;&lt;Box style={{ height: '540px', flexDirection: 'row', gap: '48px' }}&gt;&lt;Box style={{ width: '720px' }}&gt;&lt;Text style={{ fontSize: '17px', fontWeight: 600, color: '#5F6975', marginBottom: '8px' }}&gt;{'12'} 家店：客人占比 与 销售额占比（{'%'}）&lt;/Text&gt;&lt;Chart&#10;                style={{ height: '490px' }}&#10;                chartType='barChart'&#10;                barDirection='bar'&#10;                grouping='clustered'&#10;                colors={['#AE4128', '#1B3557']}&#10;                background='#FFFFFF'&#10;                showLegend={true}&#10;                showDataLabels={true}&#10;                legendColor='#5F6975'&#10;                axisColor='#5F6975'&#10;                dataLabelColor='#15181D'&#10;                data={[&#10;                    ['店铺', '客人占比', '销售额占比'],&#10;                    ['网林家居旗舰店', 1.3, 4.8],&#10;                    ['里可林旗舰店', 1.6, 3.8],&#10;                    ['科塔建材卫浴', 1.9, 7.7],&#10;                    ['安比全卫定制', 1.9, 5.4],&#10;                    ['里可林家居', 2.8, 4.8],&#10;                    ['保拉伦蒂旗舰店', 3.2, 8.4],&#10;                    ['盖文旗舰店', 4.2, 27.4],&#10;                    ['安比定制家居', 7.0, 7.0],&#10;                    ['科塔全卫定制', 13.3, 6.2],&#10;                    ['网林全卫定制', 13.4, 3.5],&#10;                    ['Paola Lenti保拉伦蒂', 21.2, 14.0],&#10;                    ['盖文全卫定制', 28.1, 6.9],&#10;                ]}&#10;            /&gt;&lt;/Box&gt;&lt;Box style={{ flex: 1, flexDirection: 'column' }}&gt;&lt;Text style={{ fontSize: '96px', fontWeight: 800, color: '#AE4128', lineHeight: 1.0, letterSpacing: '-2px' }}&gt;{'76.0%'}&lt;/Text&gt;&lt;Text style={{ fontSize: '20px', color: '#15181D', lineHeight: 1.5, marginTop: '12px' }}&gt; 的客人，集中在成交率最低的{'4'} 家店&lt;/Text&gt;&lt;Box style={{ background: '#F4F6F8', padding: '16px 20px', marginTop: '20px' }}&gt;&lt;Text style={{ fontSize: '19px', fontWeight: 600, color: '#AE4128', lineHeight: 1.45 }}&gt; 这{'4'} 家只换回{'30.6%'} 的销售额&lt;/Text&gt;&lt;/Box&gt;&lt;Box style={{ flexDirection: 'column', gap: '10px', marginTop: '24px' }}&gt;&lt;Text style={{ fontSize: '16px', color: '#5F6975', lineHeight: 1.5 }}&gt; 最差{'4'} 家成交率{'='} 平均的{'21%'}{'–'}{'45%'}&lt;/Text&gt;&lt;Text style={{ fontSize: '16px', color: '#5F6975', lineHeight: 1.5 }}&gt; 最好{'4'} 家成交率{'='} 平均的{'4.3'}{'–'}{'7.5'} 倍&lt;/Text&gt;&lt;Text style={{ fontSize: '16px', color: '#5F6975', lineHeight: 1.5 }}&gt; 客单价最多只差{'3.4'} 倍&lt;/Text&gt;&lt;/Box&gt;&lt;Box style={{ borderLeft: '4px solid #1B3557', padding: '4px 0 4px 16px', marginTop: 'auto' }}&gt;&lt;Text style={{ fontSize: '18px', fontWeight: 600, color: '#1B3557', lineHeight: 1.5 }}&gt; 两组条长的差，&lt;br /&gt;就是错配本身。&lt;/Text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5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76.0%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的客人进了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4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家最不会成交的店，只换回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30.6%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的销售额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85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12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家店：客人占比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与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销售额占比（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%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graphicFrame>
        <p:nvGraphicFramePr>
          <p:cNvPr id="160" name="160"/>
          <p:cNvGraphicFramePr/>
          <p:nvPr/>
        </p:nvGraphicFramePr>
        <p:xfrm rot="0" flipH="0" flipV="0">
          <a:off x="609600" y="1419225"/>
          <a:ext cx="6858000" cy="4667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924800" y="1143000"/>
            <a:ext cx="3657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150">
                <a:solidFill>
                  <a:srgbClr val="AE4128"/>
                </a:solidFill>
                <a:latin typeface="Noto Sans SC"/>
                <a:ea typeface="Noto Sans SC"/>
              </a:rPr>
              <a:t>76.0%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924800" y="2362200"/>
            <a:ext cx="36576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的客人，集中在成交率最低的</a:t>
            </a: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>4</a:t>
            </a:r>
            <a:r>
              <a:rPr lang="en-US" sz="15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>
                <a:solidFill>
                  <a:srgbClr val="15181D"/>
                </a:solidFill>
                <a:latin typeface="Noto Sans SC"/>
                <a:ea typeface="Noto Sans SC"/>
              </a:rPr>
              <a:t>家店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7924800" y="2895600"/>
            <a:ext cx="3657600" cy="62865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115300" y="3048000"/>
            <a:ext cx="32766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 b="1">
                <a:solidFill>
                  <a:srgbClr val="AE4128"/>
                </a:solidFill>
                <a:latin typeface="Noto Sans SC"/>
                <a:ea typeface="Noto Sans SC"/>
              </a:rPr>
              <a:t>这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>4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 b="1">
                <a:solidFill>
                  <a:srgbClr val="AE4128"/>
                </a:solidFill>
                <a:latin typeface="Noto Sans SC"/>
                <a:ea typeface="Noto Sans SC"/>
              </a:rPr>
              <a:t>家只换回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>30.6%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 b="1">
                <a:solidFill>
                  <a:srgbClr val="AE4128"/>
                </a:solidFill>
                <a:latin typeface="Noto Sans SC"/>
                <a:ea typeface="Noto Sans SC"/>
              </a:rPr>
              <a:t>的销售额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924800" y="3752850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最差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家成交率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=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平均的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21%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–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45%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924800" y="412432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最好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家成交率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=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平均的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4.3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–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7.5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924800" y="4495800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客单价最多只差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3.4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倍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924800" y="5591175"/>
            <a:ext cx="3695700" cy="695325"/>
          </a:xfrm>
          <a:custGeom>
            <a:pathLst>
              <a:path w="388" h="73">
                <a:moveTo>
                  <a:pt x="0" y="0"/>
                </a:moveTo>
                <a:lnTo>
                  <a:pt x="4" y="0"/>
                </a:lnTo>
                <a:lnTo>
                  <a:pt x="4" y="73"/>
                </a:lnTo>
                <a:lnTo>
                  <a:pt x="0" y="73"/>
                </a:lnTo>
                <a:close/>
              </a:path>
            </a:pathLst>
          </a:custGeom>
          <a:solidFill>
            <a:srgbClr val="1B3557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115300" y="5629275"/>
            <a:ext cx="346710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 b="1">
                <a:solidFill>
                  <a:srgbClr val="1B3557"/>
                </a:solidFill>
                <a:latin typeface="Noto Sans SC"/>
                <a:ea typeface="Noto Sans SC"/>
              </a:rPr>
              <a:t>两组条长的差，</a:t>
            </a:r>
            <a:endParaRPr/>
          </a:p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B3557"/>
                </a:solidFill>
                <a:latin typeface="Noto Sans SC"/>
                <a:ea typeface="Noto Sans SC"/>
              </a:rPr>
              <a:t>就是错配本身。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05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72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{'12'} 家店的明细：差距在成交，不在定价&lt;/Text&gt;&lt;/Box&gt;&lt;Box style={{ height: '540px', flexDirection: 'row', gap: '48px' }}&gt;&lt;Box style={{ width: '300px', flexDirection: 'column' }}&gt;&lt;Text style={{ fontSize: '19px', color: '#15181D', lineHeight: 1.6 }}&gt; 客单价{'926'}{'–'}{'3,135'} 元，&lt;br /&gt;最多只差&lt;span style={{ fontWeight: 700, color: '#1B3557' }}&gt;{'3.4'} 倍&lt;/span&gt;。&lt;/Text&gt;&lt;Text style={{ fontSize: '19px', color: '#15181D', lineHeight: 1.6, marginTop: '18px' }}&gt; 每千次进店成交{'0.32'}{'–'}{'11.48'} 单，&lt;br /&gt;差&lt;span style={{ fontWeight: 700, color: '#AE4128' }}&gt;{'35'} 倍&lt;/span&gt;。&lt;/Text&gt;&lt;Box style={{ background: '#F4F6F8', borderLeft: '4px solid #A97B28', padding: '18px 20px', marginTop: 'auto' }}&gt;&lt;Text style={{ fontSize: '18px', fontWeight: 600, color: '#1B3557', lineHeight: 1.55 }}&gt; 差距在成交，不在定价。&lt;br /&gt;先修转化，比先调价格对。&lt;/Text&gt;&lt;/Box&gt;&lt;Text style={{ fontSize: '14px', color: '#5F6975', lineHeight: 1.5, marginTop: '16px' }}&gt; 按差值从高到低排；&lt;br /&gt;正值＝销售额占比高于客人占比&lt;/Text&gt;&lt;/Box&gt;&lt;Box style={{ flex: 1 }}&gt;&lt;Table&#10;                style={{ width: '100%', height: '100%' }}&#10;                defaultTextStyle={{ fontSize: 15, textAlign: 'center', color: '#15181D', fontFamily: 'Noto Sans SC' }}&#10;                defaultCellStyle={{&#10;                    border: {&#10;                        left: { width: 1, color: '#DDE2E8' },&#10;                        right: { width: 1, color: '#DDE2E8' },&#10;                        top: { width: 1, color: '#DDE2E8' },&#10;                        bottom: { width: 1, color: '#DDE2E8' },&#10;                    },&#10;                }}&#10;                cells={[&#10;                    [&#10;                        { text: '店铺', textStyle: { bold: true, color: '#FFFFFF' }, cellStyle: { background: { color: '#1B3557' } } },&#10;                        { text: '客人占比', textStyle: { bold: true, color: '#FFFFFF' }, cellStyle: { background: { color: '#1B3557' } } },&#10;                        { text: '销售额占比', textStyle: { bold: true, color: '#FFFFFF' }, cellStyle: { background: { color: '#1B3557' } } },&#10;                        { text: '差值', textStyle: { bold: true, color: '#FFFFFF' }, cellStyle: { background: { color: '#1B3557' } } },&#10;                        { text: '每千次进店', textStyle: { bold: true, color: '#FFFFFF' }, cellStyle: { background: { color: '#1B3557' } } },&#10;                        { text: '客单价', textStyle: { bold: true, color: '#FFFFFF' }, cellStyle: { background: { color: '#1B3557' } } },&#10;                    ],&#10;                    [{ text: '盖文旗舰店', textStyle: { textAlign: 'left' } }, '4.2%', '27.4%', { text: '+23.2', textStyle: { color: '#1B3557', bold: true } }, '6.52 单', '3,135'],&#10;                    [{ text: '科塔建材卫浴', textStyle: { textAlign: 'left' } }, '1.9%', '7.7%', { text: '+5.8', textStyle: { color: '#1B3557', bold: true } }, '11.48 单', '1,118'],&#10;                    [{ text: '保拉伦蒂旗舰店', textStyle: { textAlign: 'left' } }, '3.2%', '8.4%', { text: '+5.2', textStyle: { color: '#1B3557', bold: true } }, '3.06 单', '2,691'],&#10;                    [{ text: '网林家居旗舰店', textStyle: { textAlign: 'left' } }, '1.3%', '4.8%', { text: '+3.6', textStyle: { color: '#1B3557', bold: true } }, '7.55 单', '1,613'],&#10;                    [{ text: '安比全卫定制', textStyle: { textAlign: 'left' } }, '1.9%', '5.4%', { text: '+3.5', textStyle: { color: '#1B3557', bold: true } }, '9.81 单', '926'],&#10;                    [{ text: '里可林旗舰店', textStyle: { textAlign: 'left' } }, '1.6%', '3.8%', { text: '+2.2', textStyle: { color: '#1B3557', bold: true } }, '2.73 单', '2,793'],&#10;                    [{ text: '里可林家居', textStyle: { textAlign: 'left' } }, '2.8%', '4.8%', { text: '+2.0', textStyle: { color: '#1B3557', bold: true } }, '2.24 单', '2,394'],&#10;                    [{ text: '安比定制家居', textStyle: { textAlign: 'left' } }, '7.0%', '7.0%', { text: '-0.1', textStyle: { color: '#5F6975' } }, '2.47 单', '1,270'],&#10;                    [{ text: '科塔全卫定制', textStyle: { textAlign: 'left' } }, '13.3%', '6.2%', { text: '-7.1', textStyle: { color: '#AE4128' } }, '0.56 单', '2,603'],&#10;                    [{ text: 'Paola Lenti保拉伦蒂', textStyle: { textAlign: 'left' } }, '21.2%', '14.0%', { text: '-7.3', textStyle: { color: '#AE4128' } }, '0.69 单', '3,021'],&#10;                    [{ text: '网林全卫定制', textStyle: { textAlign: 'left' } }, '13.4%', '3.5%', { text: '-9.9', textStyle: { color: '#AE4128' } }, '0.44 单', '1,884'],&#10;                    [{ text: '盖文全卫定制', textStyle: { textAlign: 'left' } }, '28.1%', '6.9%', { text: '-21.1', textStyle: { color: '#AE4128' } }, '0.32 单', '2,418'],&#10;                ]}&#10;            /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6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12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家店的明细：差距在成交，不在定价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28575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客单价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>926</a:t>
            </a:r>
            <a:r>
              <a:rPr sz="1425">
                <a:solidFill>
                  <a:srgbClr val="15181D"/>
                </a:solidFill>
                <a:latin typeface="Noto Sans SC"/>
                <a:ea typeface="Noto Sans SC"/>
              </a:rPr>
              <a:t>–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>3,135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元，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最多只差</a:t>
            </a:r>
            <a:r>
              <a:rPr lang="en-US" sz="1425" b="1">
                <a:solidFill>
                  <a:srgbClr val="1B3557"/>
                </a:solidFill>
                <a:latin typeface="Noto Sans SC"/>
                <a:ea typeface="Noto Sans SC"/>
              </a:rPr>
              <a:t>3.4</a:t>
            </a:r>
            <a:r>
              <a:rPr lang="en-US" sz="1425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 b="1">
                <a:solidFill>
                  <a:srgbClr val="1B3557"/>
                </a:solidFill>
                <a:latin typeface="Noto Sans SC"/>
                <a:ea typeface="Noto Sans SC"/>
              </a:rPr>
              <a:t>倍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28575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每千次进店成交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>0.32</a:t>
            </a:r>
            <a:r>
              <a:rPr sz="1425">
                <a:solidFill>
                  <a:srgbClr val="15181D"/>
                </a:solidFill>
                <a:latin typeface="Noto Sans SC"/>
                <a:ea typeface="Noto Sans SC"/>
              </a:rPr>
              <a:t>–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>11.48</a:t>
            </a: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单，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差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>35</a:t>
            </a:r>
            <a:r>
              <a:rPr lang="en-US" sz="1425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 b="1">
                <a:solidFill>
                  <a:srgbClr val="AE4128"/>
                </a:solidFill>
                <a:latin typeface="Noto Sans SC"/>
                <a:ea typeface="Noto Sans SC"/>
              </a:rPr>
              <a:t>倍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47700" y="4667250"/>
            <a:ext cx="2857500" cy="9810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09600" y="4667250"/>
            <a:ext cx="2895600" cy="981075"/>
          </a:xfrm>
          <a:custGeom>
            <a:pathLst>
              <a:path w="304" h="103">
                <a:moveTo>
                  <a:pt x="0" y="0"/>
                </a:moveTo>
                <a:lnTo>
                  <a:pt x="4" y="0"/>
                </a:lnTo>
                <a:lnTo>
                  <a:pt x="4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2438400" cy="638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 b="1">
                <a:solidFill>
                  <a:srgbClr val="1B3557"/>
                </a:solidFill>
                <a:latin typeface="Noto Sans SC"/>
                <a:ea typeface="Noto Sans SC"/>
              </a:rPr>
              <a:t>差距在成交，不在定价。</a:t>
            </a:r>
            <a:endParaRPr/>
          </a:p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B3557"/>
                </a:solidFill>
                <a:latin typeface="Noto Sans SC"/>
                <a:ea typeface="Noto Sans SC"/>
              </a:rPr>
              <a:t>先修转化，比先调价格对。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28575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按差值从高到低排；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正值＝销售额占比高于客人占比</a:t>
            </a:r>
            <a:endParaRPr/>
          </a:p>
        </p:txBody>
      </p:sp>
      <p:graphicFrame>
        <p:nvGraphicFramePr>
          <p:cNvPr id="181" name=""/>
          <p:cNvGraphicFramePr/>
          <p:nvPr/>
        </p:nvGraphicFramePr>
        <p:xfrm rot="0" flipH="0" flipV="0">
          <a:off x="3924300" y="1143000"/>
          <a:ext cx="7658100" cy="5143500"/>
        </p:xfrm>
        <a:graphic>
          <a:graphicData uri="http://schemas.openxmlformats.org/drawingml/2006/table">
            <a:tbl>
              <a:tblGrid>
                <a:gridCol w="2272254">
                  <a:extLst>
                    <a:ext uri="{9D8B030D-6E8A-4147-A177-3AD203B41FA5}">
                      <a16:colId val="1"/>
                    </a:ext>
                  </a:extLst>
                </a:gridCol>
                <a:gridCol w="1109038">
                  <a:extLst>
                    <a:ext uri="{9D8B030D-6E8A-4147-A177-3AD203B41FA5}">
                      <a16:colId val="2"/>
                    </a:ext>
                  </a:extLst>
                </a:gridCol>
                <a:gridCol w="1348055">
                  <a:extLst>
                    <a:ext uri="{9D8B030D-6E8A-4147-A177-3AD203B41FA5}">
                      <a16:colId val="3"/>
                    </a:ext>
                  </a:extLst>
                </a:gridCol>
                <a:gridCol w="710677">
                  <a:extLst>
                    <a:ext uri="{9D8B030D-6E8A-4147-A177-3AD203B41FA5}">
                      <a16:colId val="4"/>
                    </a:ext>
                  </a:extLst>
                </a:gridCol>
                <a:gridCol w="1348055">
                  <a:extLst>
                    <a:ext uri="{9D8B030D-6E8A-4147-A177-3AD203B41FA5}">
                      <a16:colId val="5"/>
                    </a:ext>
                  </a:extLst>
                </a:gridCol>
                <a:gridCol w="870021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店铺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客人占比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销售额占比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差值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每千次进店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客单价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盖文旗舰店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4.2%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27.4%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+23.2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6.52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3,135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科塔建材卫浴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7.7%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+5.8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11.48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1,118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保拉伦蒂旗舰店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8.4%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+5.2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3.06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2,691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网林家居旗舰店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4.8%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+3.6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7.55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1,613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安比全卫定制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5.4%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+3.5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9.81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926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里可林旗舰店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+2.2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2.73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2,793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里可林家居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4.8%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+2.0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2.24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2,394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安比定制家居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7.0%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7.0%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-0.1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2.47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1,270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科塔全卫定制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13.3%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6.2%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AE4128"/>
                          </a:solidFill>
                          <a:latin typeface="Noto Sans SC"/>
                          <a:ea typeface="Noto Sans SC"/>
                        </a:rPr>
                        <a:t>-7.1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0.56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2,603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Paola Lenti保拉伦蒂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21.2%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14.0%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AE4128"/>
                          </a:solidFill>
                          <a:latin typeface="Noto Sans SC"/>
                          <a:ea typeface="Noto Sans SC"/>
                        </a:rPr>
                        <a:t>-7.3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0.69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3,021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网林全卫定制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13.4%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3.5%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AE4128"/>
                          </a:solidFill>
                          <a:latin typeface="Noto Sans SC"/>
                          <a:ea typeface="Noto Sans SC"/>
                        </a:rPr>
                        <a:t>-9.9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0.44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1,884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  <a:tr h="39565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盖文全卫定制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28.1%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6.9%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AE4128"/>
                          </a:solidFill>
                          <a:latin typeface="Noto Sans SC"/>
                          <a:ea typeface="Noto Sans SC"/>
                        </a:rPr>
                        <a:t>-21.1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0.32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2,418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3"/>
                  </a:ext>
                </a:extLst>
              </a:tr>
            </a:tbl>
          </a:graphicData>
        </a:graphic>
      </p:graphicFrame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06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4" name="" descr="&lt;Slide style={{ width: '1280px', height: '720px', background: 'linear-gradient(135deg, #1B3557 0%, #42648F 100%)', fontFamily: 'Noto Sans SC', position: 'relative' }}&gt;&lt;Text style={{ position: 'absolute', top: '150px', left: '24px', fontSize: '260px', fontWeight: 800, color: 'rgba(255,255,255,0.13)', lineHeight: 1.0 }}&gt;{'02'}&lt;/Text&gt;&lt;Box style={{ position: 'absolute', top: 0, left: 0, width: '1280px', height: '720px', padding: '0 64px', flexDirection: 'row', alignItems: 'center' }}&gt;&lt;Box style={{ width: '660px', marginLeft: '230px' }}&gt;&lt;Text style={{ fontSize: '18px', fontWeight: 600, color: '#A97B28', letterSpacing: '6px' }}&gt;第二章&lt;/Text&gt;&lt;Text style={{ fontSize: '58px', fontWeight: 800, color: '#FFFFFF', lineHeight: 1.2, marginTop: '14px' }}&gt;货在哪一步走掉&lt;/Text&gt;&lt;Box style={{ width: '64px', height: '4px', background: '#A97B28', margin: '24px 0' }} /&gt;&lt;Text style={{ fontSize: '22px', color: '#DDE2E8', lineHeight: 1.6 }}&gt; 货不缺。{'5.3%'} 的商品做出{'80.5%'} 的销售额，&lt;br /&gt;{'426'} 个长尾分走{'53.5%'} 的客人。&lt;/Text&gt;&lt;/Box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557"/>
              </a:gs>
              <a:gs pos="100000">
                <a:srgbClr val="4264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28600" y="1428750"/>
            <a:ext cx="258127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3000"/>
                  </a:srgbClr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800350" y="22098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450">
                <a:solidFill>
                  <a:srgbClr val="A97B28"/>
                </a:solidFill>
                <a:latin typeface="Noto Sans SC"/>
                <a:ea typeface="Noto Sans SC"/>
              </a:rPr>
              <a:t>第二章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800350" y="2552700"/>
            <a:ext cx="6286500" cy="800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Noto Sans SC"/>
                <a:ea typeface="Noto Sans SC"/>
              </a:rPr>
              <a:t>货在哪一步走掉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2800350" y="3581400"/>
            <a:ext cx="609600" cy="38100"/>
          </a:xfrm>
          <a:prstGeom prst="rect">
            <a:avLst/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2800350" y="3848100"/>
            <a:ext cx="62865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货不缺。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5.3%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的商品做出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80.5%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的销售额，</a:t>
            </a:r>
            <a:endParaRPr/>
          </a:p>
          <a:p>
            <a:pPr>
              <a:lnSpc>
                <a:spcPct val="160000"/>
              </a:lnSpc>
            </a:pP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426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个长尾分走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53.5%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的客人。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91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{'5.3%'} 的商品做出{'80.5%'} 的销售额，{'426'} 个长尾分走{'53.5%'} 的客人&lt;/Text&gt;&lt;/Box&gt;&lt;Box style={{ height: '540px', flexDirection: 'row', gap: '48px' }}&gt;&lt;Box style={{ width: '660px' }}&gt;&lt;Text style={{ fontSize: '17px', fontWeight: 600, color: '#5F6975', marginBottom: '8px' }}&gt;{'469'} 个在售商品：商品数{'/'} 客人{'/'} 销售额 三档占比（{'%'}）&lt;/Text&gt;&lt;Chart&#10;                style={{ height: '490px' }}&#10;                chartType='barChart'&#10;                barDirection='column'&#10;                grouping='percentStacked'&#10;                colors={['#1B3557', '#A97B28', '#AE4128']}&#10;                background='#FFFFFF'&#10;                showLegend={true}&#10;                showDataLabels={true}&#10;                legendColor='#5F6975'&#10;                axisColor='#5F6975'&#10;                dataLabelColor='#FFFFFF'&#10;                data={[&#10;                    ['维度', '主力', '补充', '长尾'],&#10;                    ['商品数', 5.3, 3.8, 90.8],&#10;                    ['客人', 16.1, 30.4, 53.5],&#10;                    ['销售额', 80.5, 14.7, 4.7],&#10;                ]}&#10;            /&gt;&lt;/Box&gt;&lt;Box style={{ flex: 1, flexDirection: 'column', gap: '20px' }}&gt;&lt;Box style={{ flexDirection: 'row', alignItems: 'center', gap: '18px' }}&gt;&lt;Text style={{ fontSize: '44px', fontWeight: 800, color: '#1B3557', lineHeight: 1.0, width: '104px' }}&gt;{'25'} 个&lt;/Text&gt;&lt;Box style={{ flex: 1 }}&gt;&lt;Text style={{ fontSize: '20px', fontWeight: 600, color: '#1B3557', lineHeight: 1.4 }}&gt;主力商品&lt;/Text&gt;&lt;Text style={{ fontSize: '16px', color: '#5F6975', lineHeight: 1.5, marginTop: '4px' }}&gt;做出{'80.5%'} 的销售额&lt;/Text&gt;&lt;/Box&gt;&lt;/Box&gt;&lt;Box style={{ height: '1px', background: '#DDE2E8' }} /&gt;&lt;Box style={{ flexDirection: 'row', alignItems: 'center', gap: '18px' }}&gt;&lt;Text style={{ fontSize: '44px', fontWeight: 800, color: '#A97B28', lineHeight: 1.0, width: '104px' }}&gt;{'18'} 个&lt;/Text&gt;&lt;Box style={{ flex: 1 }}&gt;&lt;Text style={{ fontSize: '20px', fontWeight: 600, color: '#1B3557', lineHeight: 1.4 }}&gt;补充商品&lt;/Text&gt;&lt;Text style={{ fontSize: '16px', color: '#5F6975', lineHeight: 1.5, marginTop: '4px' }}&gt;分走{'30.4%'} 的客人，只做{'14.7%'} 销售额&lt;/Text&gt;&lt;/Box&gt;&lt;/Box&gt;&lt;Box style={{ height: '1px', background: '#DDE2E8' }} /&gt;&lt;Box style={{ flexDirection: 'row', alignItems: 'center', gap: '18px' }}&gt;&lt;Text style={{ fontSize: '44px', fontWeight: 800, color: '#AE4128', lineHeight: 1.0, width: '104px' }}&gt;{'426'} 个&lt;/Text&gt;&lt;Box style={{ flex: 1 }}&gt;&lt;Text style={{ fontSize: '20px', fontWeight: 600, color: '#1B3557', lineHeight: 1.4 }}&gt;长尾商品&lt;/Text&gt;&lt;Text style={{ fontSize: '16px', color: '#5F6975', lineHeight: 1.5, marginTop: '4px' }}&gt; 分走{'53.5%'} 的客人，只做{'4.7%'} 销售额&lt;br /&gt;其中{'377'} 个{'30'} 天零成交&lt;/Text&gt;&lt;/Box&gt;&lt;/Box&gt;&lt;Box style={{ background: '#F4F6F8', borderLeft: '4px solid #A97B28', padding: '16px 20px', marginTop: 'auto' }}&gt;&lt;Text style={{ fontSize: '18px', fontWeight: 600, color: '#1B3557', lineHeight: 1.5 }}&gt; 长尾不是没货，是没被运营。&lt;/Text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8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5.3%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的商品做出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80.5%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的销售额，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426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个长尾分走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53.5%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的客人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469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个在售商品：商品数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客人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销售额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三档占比（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%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graphicFrame>
        <p:nvGraphicFramePr>
          <p:cNvPr id="195" name="195"/>
          <p:cNvGraphicFramePr/>
          <p:nvPr/>
        </p:nvGraphicFramePr>
        <p:xfrm rot="0" flipH="0" flipV="0">
          <a:off x="609600" y="1419225"/>
          <a:ext cx="6286500" cy="4667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353300" y="1209675"/>
            <a:ext cx="990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B3557"/>
                </a:solidFill>
                <a:latin typeface="Noto Sans SC"/>
                <a:ea typeface="Noto Sans SC"/>
              </a:rPr>
              <a:t>25</a:t>
            </a:r>
            <a:r>
              <a:rPr lang="en-US" sz="33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300" b="1">
                <a:solidFill>
                  <a:srgbClr val="1B3557"/>
                </a:solidFill>
                <a:latin typeface="Noto Sans SC"/>
                <a:ea typeface="Noto Sans SC"/>
              </a:rPr>
              <a:t>个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515350" y="1143000"/>
            <a:ext cx="30670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B3557"/>
                </a:solidFill>
                <a:latin typeface="Noto Sans SC"/>
                <a:ea typeface="Noto Sans SC"/>
              </a:rPr>
              <a:t>主力商品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515350" y="1504950"/>
            <a:ext cx="3067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做出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80.5%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的销售额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353300" y="1971675"/>
            <a:ext cx="4229100" cy="9525"/>
          </a:xfrm>
          <a:prstGeom prst="rect">
            <a:avLst/>
          </a:prstGeom>
          <a:solidFill>
            <a:srgbClr val="DDE2E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353300" y="2238375"/>
            <a:ext cx="990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A97B28"/>
                </a:solidFill>
                <a:latin typeface="Noto Sans SC"/>
                <a:ea typeface="Noto Sans SC"/>
              </a:rPr>
              <a:t>18</a:t>
            </a:r>
            <a:r>
              <a:rPr lang="en-US" sz="3300" b="1">
                <a:solidFill>
                  <a:srgbClr val="A97B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300" b="1">
                <a:solidFill>
                  <a:srgbClr val="A97B28"/>
                </a:solidFill>
                <a:latin typeface="Noto Sans SC"/>
                <a:ea typeface="Noto Sans SC"/>
              </a:rPr>
              <a:t>个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515350" y="2171700"/>
            <a:ext cx="30670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B3557"/>
                </a:solidFill>
                <a:latin typeface="Noto Sans SC"/>
                <a:ea typeface="Noto Sans SC"/>
              </a:rPr>
              <a:t>补充商品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515350" y="2533650"/>
            <a:ext cx="3067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分走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30.4%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的客人，只做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14.7%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销售额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353300" y="3000375"/>
            <a:ext cx="4229100" cy="9525"/>
          </a:xfrm>
          <a:prstGeom prst="rect">
            <a:avLst/>
          </a:prstGeom>
          <a:solidFill>
            <a:srgbClr val="DDE2E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353300" y="3200400"/>
            <a:ext cx="9906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AE4128"/>
                </a:solidFill>
                <a:latin typeface="Noto Sans SC"/>
                <a:ea typeface="Noto Sans SC"/>
              </a:rPr>
              <a:t>426</a:t>
            </a:r>
            <a:r>
              <a:rPr lang="en-US" sz="3300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300" b="1">
                <a:solidFill>
                  <a:srgbClr val="AE4128"/>
                </a:solidFill>
                <a:latin typeface="Noto Sans SC"/>
                <a:ea typeface="Noto Sans SC"/>
              </a:rPr>
              <a:t>个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15350" y="3248025"/>
            <a:ext cx="30670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B3557"/>
                </a:solidFill>
                <a:latin typeface="Noto Sans SC"/>
                <a:ea typeface="Noto Sans SC"/>
              </a:rPr>
              <a:t>长尾商品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515350" y="3609975"/>
            <a:ext cx="3067050" cy="552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分走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53.5%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的客人，只做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4.7%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销售额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其中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377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个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天零成交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7391400" y="5667375"/>
            <a:ext cx="4229100" cy="6191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7353300" y="5667375"/>
            <a:ext cx="4267200" cy="619125"/>
          </a:xfrm>
          <a:custGeom>
            <a:pathLst>
              <a:path w="448" h="65">
                <a:moveTo>
                  <a:pt x="0" y="0"/>
                </a:moveTo>
                <a:lnTo>
                  <a:pt x="4" y="0"/>
                </a:lnTo>
                <a:lnTo>
                  <a:pt x="4" y="65"/>
                </a:lnTo>
                <a:lnTo>
                  <a:pt x="0" y="65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581900" y="5819775"/>
            <a:ext cx="3810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 b="1">
                <a:solidFill>
                  <a:srgbClr val="1B3557"/>
                </a:solidFill>
                <a:latin typeface="Noto Sans SC"/>
                <a:ea typeface="Noto Sans SC"/>
              </a:rPr>
              <a:t>长尾不是没货，是没被运营。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08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12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洗手盆有{'81%'} 的客人，加购率却只有浴缸的四分之一&lt;/Text&gt;&lt;/Box&gt;&lt;Box style={{ height: '540px', flexDirection: 'row', gap: '48px' }}&gt;&lt;Box style={{ width: '585px', flexDirection: 'column' }}&gt;&lt;Text style={{ fontSize: '17px', fontWeight: 600, color: '#5F6975', letterSpacing: '2px' }}&gt; 加购率（加购人数{'÷'} 进店客人）&lt;/Text&gt;&lt;Box style={{ flexDirection: 'row', alignItems: 'flex-end', gap: '16px', marginTop: '14px' }}&gt;&lt;Text style={{ fontSize: '104px', fontWeight: 800, color: '#AE4128', lineHeight: 1.0, letterSpacing: '-3px' }}&gt;{'1.30%'}&lt;/Text&gt;&lt;Text style={{ fontSize: '24px', fontWeight: 600, color: '#AE4128', lineHeight: 1.3, marginBottom: '10px' }}&gt; 洗手盆&lt;/Text&gt;&lt;/Box&gt;&lt;Box style={{ flexDirection: 'row', alignItems: 'flex-end', gap: '16px', marginTop: '10px' }}&gt;&lt;Text style={{ fontSize: '62px', fontWeight: 800, color: '#1B3557', lineHeight: 1.0 }}&gt;{'5.40%'}&lt;/Text&gt;&lt;Text style={{ fontSize: '20px', color: '#5F6975', lineHeight: 1.3, marginBottom: '6px' }}&gt; 浴缸&lt;/Text&gt;&lt;/Box&gt;&lt;Box style={{ height: '1px', background: '#DDE2E8', margin: '22px 0' }} /&gt;&lt;Text style={{ fontSize: '18px', color: '#15181D', lineHeight: 1.6 }}&gt; 客单价几乎一样：洗手盆{'1,719'} 元，浴缸{'1,777'} 元。&lt;br /&gt; 每千次进店成交：{'0.62'} 单 对{'5.06'} 单，差&lt;span style={{ fontWeight: 700, color: '#AE4128' }}&gt;{'8.2'} 倍&lt;/span&gt;。&lt;/Text&gt;&lt;Box style={{ background: '#F4F6F8', borderLeft: '4px solid #A97B28', padding: '16px 20px', marginTop: 'auto' }}&gt;&lt;Text style={{ fontSize: '17px', color: '#1B3557', lineHeight: 1.55 }}&gt; 价格一样、成交差{'8.2'} 倍，差别只能来自商品页。&lt;br /&gt; 加购率补到{'2%'}：多{'612'} 次加购、约{'29'} 单、约{'5.0'} 万元。&lt;/Text&gt;&lt;/Box&gt;&lt;/Box&gt;&lt;Box style={{ flex: 1, flexDirection: 'column', gap: '18px' }}&gt;&lt;Box style={{ flexDirection: 'column', gap: '8px' }}&gt;&lt;Text style={{ fontSize: '16px', fontWeight: 600, color: '#AE4128' }}&gt;洗手盆{'·'}{'208'} 个商品{'·'}{'81%'} 的客人&lt;/Text&gt;&lt;Image src=&quot;assets/basin_product.png&quot; style={{ width: '100%', height: '157px', objectFit: 'cover', borderRadius: '6px' }} /&gt;&lt;/Box&gt;&lt;Box style={{ flexDirection: 'column', gap: '8px' }}&gt;&lt;Text style={{ fontSize: '16px', fontWeight: 600, color: '#1B3557' }}&gt;浴缸{'·'}{'239'} 个商品{'·'}{'18.9%'} 的客人&lt;/Text&gt;&lt;Image src=&quot;assets/tub_product.png&quot; style={{ width: '100%', height: '218px', objectFit: 'cover', borderRadius: '6px' }} /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09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洗手盆有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81%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的客人，加购率却只有浴缸的四分之一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 spc="150">
                <a:solidFill>
                  <a:srgbClr val="5F6975"/>
                </a:solidFill>
                <a:latin typeface="Noto Sans SC"/>
                <a:ea typeface="Noto Sans SC"/>
              </a:rPr>
              <a:t>加购率（加购人数</a:t>
            </a:r>
            <a:r>
              <a:rPr sz="1275" b="1" spc="150">
                <a:solidFill>
                  <a:srgbClr val="5F6975"/>
                </a:solidFill>
                <a:latin typeface="Noto Sans SC"/>
                <a:ea typeface="Noto Sans SC"/>
              </a:rPr>
              <a:t>÷</a:t>
            </a:r>
            <a:r>
              <a:rPr lang="en-US" sz="1275" b="1" spc="1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 spc="150">
                <a:solidFill>
                  <a:srgbClr val="5F6975"/>
                </a:solidFill>
                <a:latin typeface="Noto Sans SC"/>
                <a:ea typeface="Noto Sans SC"/>
              </a:rPr>
              <a:t>进店客人）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476375"/>
            <a:ext cx="25146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 spc="-225">
                <a:solidFill>
                  <a:srgbClr val="AE4128"/>
                </a:solidFill>
                <a:latin typeface="Noto Sans SC"/>
                <a:ea typeface="Noto Sans SC"/>
              </a:rPr>
              <a:t>1.30%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276600" y="2209800"/>
            <a:ext cx="7429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800" b="1">
                <a:solidFill>
                  <a:srgbClr val="AE4128"/>
                </a:solidFill>
                <a:latin typeface="Noto Sans SC"/>
                <a:ea typeface="Noto Sans SC"/>
              </a:rPr>
              <a:t>洗手盆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2762250"/>
            <a:ext cx="15811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B3557"/>
                </a:solidFill>
                <a:latin typeface="Noto Sans SC"/>
                <a:ea typeface="Noto Sans SC"/>
              </a:rPr>
              <a:t>5.40%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343150" y="3114675"/>
            <a:ext cx="42862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500">
                <a:solidFill>
                  <a:srgbClr val="5F6975"/>
                </a:solidFill>
                <a:latin typeface="Noto Sans SC"/>
                <a:ea typeface="Noto Sans SC"/>
              </a:rPr>
              <a:t>浴缸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3686175"/>
            <a:ext cx="5572125" cy="9525"/>
          </a:xfrm>
          <a:prstGeom prst="rect">
            <a:avLst/>
          </a:prstGeom>
          <a:solidFill>
            <a:srgbClr val="DDE2E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3905250"/>
            <a:ext cx="5572125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客单价几乎一样：洗手盆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>1,719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元，浴缸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>1,777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元。</a:t>
            </a:r>
            <a:endParaRPr/>
          </a:p>
          <a:p>
            <a:pPr>
              <a:lnSpc>
                <a:spcPct val="160000"/>
              </a:lnSpc>
            </a:pP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每千次进店成交：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>0.62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单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对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>5.06</a:t>
            </a:r>
            <a:r>
              <a:rPr lang="en-US" sz="135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单，差</a:t>
            </a:r>
            <a:r>
              <a:rPr lang="en-US" sz="1350" b="1">
                <a:solidFill>
                  <a:srgbClr val="AE4128"/>
                </a:solidFill>
                <a:latin typeface="Noto Sans SC"/>
                <a:ea typeface="Noto Sans SC"/>
              </a:rPr>
              <a:t>8.2</a:t>
            </a:r>
            <a:r>
              <a:rPr lang="en-US" sz="1350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 b="1">
                <a:solidFill>
                  <a:srgbClr val="AE4128"/>
                </a:solidFill>
                <a:latin typeface="Noto Sans SC"/>
                <a:ea typeface="Noto Sans SC"/>
              </a:rPr>
              <a:t>倍</a:t>
            </a:r>
            <a:r>
              <a:rPr lang="zh-CN" sz="1350">
                <a:solidFill>
                  <a:srgbClr val="15181D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47700" y="5372100"/>
            <a:ext cx="5572125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609600" y="5372100"/>
            <a:ext cx="5610225" cy="914400"/>
          </a:xfrm>
          <a:custGeom>
            <a:pathLst>
              <a:path w="589" h="96">
                <a:moveTo>
                  <a:pt x="0" y="0"/>
                </a:moveTo>
                <a:lnTo>
                  <a:pt x="4" y="0"/>
                </a:lnTo>
                <a:lnTo>
                  <a:pt x="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8200" y="5524500"/>
            <a:ext cx="5153025" cy="609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价格一样、成交差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8.2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倍，差别只能来自商品页。</a:t>
            </a:r>
            <a:endParaRPr/>
          </a:p>
          <a:p>
            <a:pPr>
              <a:lnSpc>
                <a:spcPct val="155000"/>
              </a:lnSpc>
            </a:pP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加购率补到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2%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：多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612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次加购、约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29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单、约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5.0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万元。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638925" y="1143000"/>
            <a:ext cx="4943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E4128"/>
                </a:solidFill>
                <a:latin typeface="Noto Sans SC"/>
                <a:ea typeface="Noto Sans SC"/>
              </a:rPr>
              <a:t>洗手盆</a:t>
            </a:r>
            <a:r>
              <a:rPr sz="1200" b="1">
                <a:solidFill>
                  <a:srgbClr val="AE4128"/>
                </a:solidFill>
                <a:latin typeface="Noto Sans SC"/>
                <a:ea typeface="Noto Sans SC"/>
              </a:rPr>
              <a:t>·</a:t>
            </a:r>
            <a:r>
              <a:rPr lang="en-US" sz="1200" b="1">
                <a:solidFill>
                  <a:srgbClr val="AE4128"/>
                </a:solidFill>
                <a:latin typeface="Noto Sans SC"/>
                <a:ea typeface="Noto Sans SC"/>
              </a:rPr>
              <a:t>208</a:t>
            </a:r>
            <a:r>
              <a:rPr lang="en-US" sz="1200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 b="1">
                <a:solidFill>
                  <a:srgbClr val="AE4128"/>
                </a:solidFill>
                <a:latin typeface="Noto Sans SC"/>
                <a:ea typeface="Noto Sans SC"/>
              </a:rPr>
              <a:t>个商品</a:t>
            </a:r>
            <a:r>
              <a:rPr sz="1200" b="1">
                <a:solidFill>
                  <a:srgbClr val="AE4128"/>
                </a:solidFill>
                <a:latin typeface="Noto Sans SC"/>
                <a:ea typeface="Noto Sans SC"/>
              </a:rPr>
              <a:t>·</a:t>
            </a:r>
            <a:r>
              <a:rPr lang="en-US" sz="1200" b="1">
                <a:solidFill>
                  <a:srgbClr val="AE4128"/>
                </a:solidFill>
                <a:latin typeface="Noto Sans SC"/>
                <a:ea typeface="Noto Sans SC"/>
              </a:rPr>
              <a:t>81%</a:t>
            </a:r>
            <a:r>
              <a:rPr lang="en-US" sz="1200" b="1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 b="1">
                <a:solidFill>
                  <a:srgbClr val="AE4128"/>
                </a:solidFill>
                <a:latin typeface="Noto Sans SC"/>
                <a:ea typeface="Noto Sans SC"/>
              </a:rPr>
              <a:t>的客人</a:t>
            </a:r>
            <a:endParaRPr/>
          </a:p>
        </p:txBody>
      </p:sp>
      <p:pic>
        <p:nvPicPr>
          <p:cNvPr id="226" name=""/>
          <p:cNvPicPr>
            <a:picLocks noChangeAspect="1"/>
          </p:cNvPicPr>
          <p:nvPr/>
        </p:nvPicPr>
        <p:blipFill>
          <a:blip r:embed="rId1"/>
          <a:srcRect l="0" t="37" r="0" b="37"/>
          <a:stretch>
            <a:fillRect/>
          </a:stretch>
        </p:blipFill>
        <p:spPr>
          <a:xfrm rot="0" flipH="0" flipV="0">
            <a:off x="6638925" y="1409700"/>
            <a:ext cx="4943475" cy="1495425"/>
          </a:xfrm>
          <a:prstGeom prst="roundRect">
            <a:avLst>
              <a:gd name="adj" fmla="val 3822"/>
            </a:avLst>
          </a:prstGeom>
          <a:ln/>
        </p:spPr>
      </p:pic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638925" y="3076575"/>
            <a:ext cx="4943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3557"/>
                </a:solidFill>
                <a:latin typeface="Noto Sans SC"/>
                <a:ea typeface="Noto Sans SC"/>
              </a:rPr>
              <a:t>浴缸</a:t>
            </a:r>
            <a:r>
              <a:rPr sz="120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200" b="1">
                <a:solidFill>
                  <a:srgbClr val="1B3557"/>
                </a:solidFill>
                <a:latin typeface="Noto Sans SC"/>
                <a:ea typeface="Noto Sans SC"/>
              </a:rPr>
              <a:t>239</a:t>
            </a:r>
            <a:r>
              <a:rPr lang="en-US" sz="12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 b="1">
                <a:solidFill>
                  <a:srgbClr val="1B3557"/>
                </a:solidFill>
                <a:latin typeface="Noto Sans SC"/>
                <a:ea typeface="Noto Sans SC"/>
              </a:rPr>
              <a:t>个商品</a:t>
            </a:r>
            <a:r>
              <a:rPr sz="120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200" b="1">
                <a:solidFill>
                  <a:srgbClr val="1B3557"/>
                </a:solidFill>
                <a:latin typeface="Noto Sans SC"/>
                <a:ea typeface="Noto Sans SC"/>
              </a:rPr>
              <a:t>18.9%</a:t>
            </a:r>
            <a:r>
              <a:rPr lang="en-US" sz="12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 b="1">
                <a:solidFill>
                  <a:srgbClr val="1B3557"/>
                </a:solidFill>
                <a:latin typeface="Noto Sans SC"/>
                <a:ea typeface="Noto Sans SC"/>
              </a:rPr>
              <a:t>的客人</a:t>
            </a:r>
            <a:endParaRPr/>
          </a:p>
        </p:txBody>
      </p:sp>
      <p:pic>
        <p:nvPicPr>
          <p:cNvPr id="228" name=""/>
          <p:cNvPicPr>
            <a:picLocks noChangeAspect="1"/>
          </p:cNvPicPr>
          <p:nvPr/>
        </p:nvPicPr>
        <p:blipFill>
          <a:blip r:embed="rId2"/>
          <a:srcRect l="13" t="0" r="13" b="0"/>
          <a:stretch>
            <a:fillRect/>
          </a:stretch>
        </p:blipFill>
        <p:spPr>
          <a:xfrm rot="0" flipH="0" flipV="0">
            <a:off x="6638925" y="3343275"/>
            <a:ext cx="4943475" cy="2076450"/>
          </a:xfrm>
          <a:prstGeom prst="roundRect">
            <a:avLst>
              <a:gd name="adj" fmla="val 2752"/>
            </a:avLst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09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0" name="" descr="&lt;Slide style={{ width: '1280px', height: '720px', background: 'linear-gradient(135deg, #1B3557 0%, #42648F 100%)', fontFamily: 'Noto Sans SC', position: 'relative' }}&gt;&lt;Text style={{ position: 'absolute', top: '150px', left: '24px', fontSize: '260px', fontWeight: 800, color: 'rgba(255,255,255,0.13)', lineHeight: 1.0 }}&gt;{'03'}&lt;/Text&gt;&lt;Box style={{ position: 'absolute', top: 0, left: 0, width: '1280px', height: '720px', padding: '0 64px', flexDirection: 'row', alignItems: 'center' }}&gt;&lt;Box style={{ width: '660px', marginLeft: '230px' }}&gt;&lt;Text style={{ fontSize: '18px', fontWeight: 600, color: '#A97B28', letterSpacing: '6px' }}&gt;第三章&lt;/Text&gt;&lt;Text style={{ fontSize: '58px', fontWeight: 800, color: '#FFFFFF', lineHeight: 1.2, marginTop: '14px' }}&gt;钱花在哪，以及怎么办&lt;/Text&gt;&lt;Box style={{ width: '64px', height: '4px', background: '#A97B28', margin: '24px 0' }} /&gt;&lt;Text style={{ fontSize: '22px', color: '#DDE2E8', lineHeight: 1.6 }}&gt;{'62.2%'} 的推广费，花在{'79'} 个低效商品上，&lt;br /&gt;每{'1'} 元只换回{'0.10'} 元。&lt;/Text&gt;&lt;/Box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557"/>
              </a:gs>
              <a:gs pos="100000">
                <a:srgbClr val="4264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8600" y="1428750"/>
            <a:ext cx="258127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3000"/>
                  </a:srgbClr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800350" y="22098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450">
                <a:solidFill>
                  <a:srgbClr val="A97B28"/>
                </a:solidFill>
                <a:latin typeface="Noto Sans SC"/>
                <a:ea typeface="Noto Sans SC"/>
              </a:rPr>
              <a:t>第三章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800350" y="2552700"/>
            <a:ext cx="6286500" cy="800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350" b="1">
                <a:solidFill>
                  <a:srgbClr val="FFFFFF"/>
                </a:solidFill>
                <a:latin typeface="Noto Sans SC"/>
                <a:ea typeface="Noto Sans SC"/>
              </a:rPr>
              <a:t>钱花在哪，以及怎么办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2800350" y="3581400"/>
            <a:ext cx="609600" cy="38100"/>
          </a:xfrm>
          <a:prstGeom prst="rect">
            <a:avLst/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800350" y="3848100"/>
            <a:ext cx="6286500" cy="809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62.2%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的推广费，花在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79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个低效商品上，</a:t>
            </a:r>
            <a:endParaRPr/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每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1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元只换回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>0.10</a:t>
            </a:r>
            <a:r>
              <a:rPr lang="en-US" sz="1650">
                <a:solidFill>
                  <a:srgbClr val="DDE2E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>
                <a:solidFill>
                  <a:srgbClr val="DDE2E8"/>
                </a:solidFill>
                <a:latin typeface="Noto Sans SC"/>
                <a:ea typeface="Noto Sans SC"/>
              </a:rPr>
              <a:t>元。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7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{'62.2%'} 的推广费花在{'79'} 个低效商品上，每{'1'} 元只换回{'0.10'} 元&lt;/Text&gt;&lt;/Box&gt;&lt;Box style={{ height: '540px', flexDirection: 'row', gap: '48px' }}&gt;&lt;Box style={{ width: '690px' }}&gt;&lt;Text style={{ fontSize: '17px', fontWeight: 600, color: '#5F6975', marginBottom: '8px' }}&gt;{'97'} 个在投商品分三组：花费占比 与 成交占比（{'%'}）&lt;/Text&gt;&lt;Chart&#10;                style={{ height: '490px' }}&#10;                chartType='barChart'&#10;                barDirection='column'&#10;                grouping='clustered'&#10;                colors={['#AE4128', '#1B3557']}&#10;                background='#FFFFFF'&#10;                showLegend={true}&#10;                showDataLabels={true}&#10;                legendColor='#5F6975'&#10;                axisColor='#5F6975'&#10;                dataLabelColor='#15181D'&#10;                data={[&#10;                    ['分组', '花费占比', '成交占比'],&#10;                    ['高效 13 个', 32.4, 91.7],&#10;                    ['待观察 5 个', 5.4, 6.4],&#10;                    ['低效 79 个', 62.2, 1.9],&#10;                ]}&#10;            /&gt;&lt;/Box&gt;&lt;Box style={{ flex: 1, flexDirection: 'column' }}&gt;&lt;Text style={{ fontSize: '17px', fontWeight: 600, color: '#5F6975', letterSpacing: '2px' }}&gt; 低效组：每{'1'} 元推广费换回的成交&lt;/Text&gt;&lt;Text style={{ fontSize: '96px', fontWeight: 800, color: '#AE4128', lineHeight: 1.0, letterSpacing: '-2px', marginTop: '10px' }}&gt;{'0.10'} 元&lt;/Text&gt;&lt;Box style={{ flexDirection: 'row', alignItems: 'flex-end', gap: '12px', marginTop: '18px' }}&gt;&lt;Text style={{ fontSize: '52px', fontWeight: 800, color: '#1B3557', lineHeight: 1.0 }}&gt;{'9.12'} 元&lt;/Text&gt;&lt;Text style={{ fontSize: '18px', color: '#5F6975', lineHeight: 1.4, marginBottom: '6px' }}&gt; 高效组每{'1'} 元&lt;/Text&gt;&lt;/Box&gt;&lt;Box style={{ flexDirection: 'column', gap: '8px', marginTop: '20px' }}&gt;&lt;Text style={{ fontSize: '16px', color: '#5F6975', lineHeight: 1.5 }}&gt; 低效{'79'} 个里，{'72'} 个{'30'} 天零成交&lt;/Text&gt;&lt;Text style={{ fontSize: '16px', color: '#5F6975', lineHeight: 1.5 }}&gt;{'30'} 天推广共花{'2.76'} 万元，带回{'8.88'} 万元成交&lt;/Text&gt;&lt;/Box&gt;&lt;Box style={{ background: '#F4F6F8', borderLeft: '4px solid #A97B28', padding: '16px 20px', marginTop: 'auto' }}&gt;&lt;Text style={{ fontSize: '17px', color: '#1B3557', lineHeight: 1.55 }}&gt; 把低效一半预算（{'30'} 天{'8,580'} 元）挪到高效端，静态净增约{'7.74'} 万元，占商品层销售额{'27.6%'}。&lt;/Text&gt;&lt;Text style={{ fontSize: '14px', color: '#5F6975', lineHeight: 1.5, marginTop: '8px' }}&gt; 静态折算，不是预测；前提是高效端接得住流量。&lt;/Text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11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62.2%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的推广费花在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79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个低效商品上，每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1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元只换回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>0.10</a:t>
            </a: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元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57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97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个在投商品分三组：花费占比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与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成交占比（</a:t>
            </a:r>
            <a:r>
              <a:rPr lang="en-US" sz="1275" b="1">
                <a:solidFill>
                  <a:srgbClr val="5F6975"/>
                </a:solidFill>
                <a:latin typeface="Noto Sans SC"/>
                <a:ea typeface="Noto Sans SC"/>
              </a:rPr>
              <a:t>%</a:t>
            </a:r>
            <a:r>
              <a:rPr lang="zh-CN" sz="1275" b="1">
                <a:solidFill>
                  <a:srgbClr val="5F6975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graphicFrame>
        <p:nvGraphicFramePr>
          <p:cNvPr id="21" name="21"/>
          <p:cNvGraphicFramePr/>
          <p:nvPr/>
        </p:nvGraphicFramePr>
        <p:xfrm rot="0" flipH="0" flipV="0">
          <a:off x="609600" y="1419225"/>
          <a:ext cx="6572250" cy="4667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639050" y="1143000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 spc="150">
                <a:solidFill>
                  <a:srgbClr val="5F6975"/>
                </a:solidFill>
                <a:latin typeface="Noto Sans SC"/>
                <a:ea typeface="Noto Sans SC"/>
              </a:rPr>
              <a:t>低效组：每</a:t>
            </a:r>
            <a:r>
              <a:rPr lang="en-US" sz="1275" b="1" spc="150">
                <a:solidFill>
                  <a:srgbClr val="5F6975"/>
                </a:solidFill>
                <a:latin typeface="Noto Sans SC"/>
                <a:ea typeface="Noto Sans SC"/>
              </a:rPr>
              <a:t>1</a:t>
            </a:r>
            <a:r>
              <a:rPr lang="en-US" sz="1275" b="1" spc="1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 b="1" spc="150">
                <a:solidFill>
                  <a:srgbClr val="5F6975"/>
                </a:solidFill>
                <a:latin typeface="Noto Sans SC"/>
                <a:ea typeface="Noto Sans SC"/>
              </a:rPr>
              <a:t>元推广费换回的成交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39050" y="1438275"/>
            <a:ext cx="39433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150">
                <a:solidFill>
                  <a:srgbClr val="AE4128"/>
                </a:solidFill>
                <a:latin typeface="Noto Sans SC"/>
                <a:ea typeface="Noto Sans SC"/>
              </a:rPr>
              <a:t>0.10</a:t>
            </a:r>
            <a:r>
              <a:rPr lang="en-US" sz="7200" b="1" spc="-150">
                <a:solidFill>
                  <a:srgbClr val="AE41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7200" b="1" spc="-150">
                <a:solidFill>
                  <a:srgbClr val="AE4128"/>
                </a:solidFill>
                <a:latin typeface="Noto Sans SC"/>
                <a:ea typeface="Noto Sans SC"/>
              </a:rPr>
              <a:t>元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639050" y="2714625"/>
            <a:ext cx="14954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3557"/>
                </a:solidFill>
                <a:latin typeface="Noto Sans SC"/>
                <a:ea typeface="Noto Sans SC"/>
              </a:rPr>
              <a:t>9.12</a:t>
            </a:r>
            <a:r>
              <a:rPr lang="en-US" sz="39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900" b="1">
                <a:solidFill>
                  <a:srgbClr val="1B3557"/>
                </a:solidFill>
                <a:latin typeface="Noto Sans SC"/>
                <a:ea typeface="Noto Sans SC"/>
              </a:rPr>
              <a:t>元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248775" y="2962275"/>
            <a:ext cx="10287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5F6975"/>
                </a:solidFill>
                <a:latin typeface="Noto Sans SC"/>
                <a:ea typeface="Noto Sans SC"/>
              </a:rPr>
              <a:t>高效组每</a:t>
            </a:r>
            <a:r>
              <a:rPr lang="en-US" sz="1350">
                <a:solidFill>
                  <a:srgbClr val="5F6975"/>
                </a:solidFill>
                <a:latin typeface="Noto Sans SC"/>
                <a:ea typeface="Noto Sans SC"/>
              </a:rPr>
              <a:t>1</a:t>
            </a:r>
            <a:r>
              <a:rPr lang="en-US" sz="13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5F6975"/>
                </a:solidFill>
                <a:latin typeface="Noto Sans SC"/>
                <a:ea typeface="Noto Sans SC"/>
              </a:rPr>
              <a:t>元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639050" y="3505200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低效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79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个里，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72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个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天零成交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639050" y="3857625"/>
            <a:ext cx="39433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天推广共花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2.76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万元，带回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8.88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万元成交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677150" y="5048250"/>
            <a:ext cx="3943350" cy="123825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7639050" y="5048250"/>
            <a:ext cx="3981450" cy="1238250"/>
          </a:xfrm>
          <a:custGeom>
            <a:pathLst>
              <a:path w="418" h="130">
                <a:moveTo>
                  <a:pt x="0" y="0"/>
                </a:moveTo>
                <a:lnTo>
                  <a:pt x="4" y="0"/>
                </a:lnTo>
                <a:lnTo>
                  <a:pt x="4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867650" y="5200650"/>
            <a:ext cx="3524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把低效一半预算（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30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天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8,580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元）挪到高效端，静态净增约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7.74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万元，占商品层销售额</a:t>
            </a: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>27.6%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67650" y="5886450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静态折算，不是预测；前提是高效端接得住流量。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11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4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四个动作：先止血、再修商品页、最后谈扩量&lt;/Text&gt;&lt;/Box&gt;&lt;Box style={{ height: '540px', flexDirection: 'row', gap: '48px' }}&gt;&lt;Box style={{ width: '290px', flexDirection: 'column' }}&gt;&lt;Text style={{ fontSize: '19px', color: '#15181D', lineHeight: 1.6 }}&gt; 四个动作分别对应&lt;br /&gt;客人、商品、商品页、推广。&lt;br /&gt;按顺序来，不要同时全上。&lt;/Text&gt;&lt;Box style={{ background: '#F4F6F8', borderLeft: '4px solid #A97B28', padding: '18px 20px', marginTop: 'auto' }}&gt;&lt;Text style={{ fontSize: '17px', color: '#1B3557', lineHeight: 1.55 }}&gt; 每条都写清了判据、谁来做、多久看一次。目标可以改，但必须可量、有期限、有人看。&lt;/Text&gt;&lt;/Box&gt;&lt;/Box&gt;&lt;Box style={{ flex: 1, flexDirection: 'column' }}&gt;&lt;Box style={{ flexDirection: 'row', alignItems: 'flex-start', gap: '20px', paddingBottom: '18px', borderBottom: '1px solid #DDE2E8' }}&gt;&lt;Box style={{ width: '60px', height: '60px', borderRadius: '10px', background: '#F4F6F8', justifyContent: 'center', alignItems: 'center' }}&gt;&lt;FAIcon name='times-circle' style={{ fill: '#AE4128', width: 32, height: 32 }} /&gt;&lt;/Box&gt;&lt;Box style={{ flex: 1 }}&gt;&lt;Text style={{ fontSize: '22px', fontWeight: 600, color: '#1B3557', lineHeight: 1.35 }}&gt;{'1'}{'·'} 止血：停掉{'72'} 个零成交低效商品的推广&lt;/Text&gt;&lt;Text style={{ fontSize: '16px', color: '#5F6975', lineHeight: 1.55, marginTop: '6px' }}&gt; 判据：连续{'30'} 天零成交{'·'} 负责人：推广运营{'·'} 每周看一次&lt;/Text&gt;&lt;/Box&gt;&lt;/Box&gt;&lt;Box style={{ flexDirection: 'row', alignItems: 'flex-start', gap: '20px', padding: '18px 0', borderBottom: '1px solid #DDE2E8' }}&gt;&lt;Box style={{ width: '60px', height: '60px', borderRadius: '10px', background: '#F4F6F8', justifyContent: 'center', alignItems: 'center' }}&gt;&lt;FAIcon name='wrench' style={{ fill: '#1B3557', width: 32, height: 32 }} /&gt;&lt;/Box&gt;&lt;Box style={{ flex: 1 }}&gt;&lt;Text style={{ fontSize: '22px', fontWeight: 600, color: '#1B3557', lineHeight: 1.35 }}&gt;{'2'}{'·'} 修洗手盆商品页：主图、详情、卖点重做&lt;/Text&gt;&lt;Text style={{ fontSize: '16px', color: '#5F6975', lineHeight: 1.55, marginTop: '6px' }}&gt; 判据：加购率从{'1.30%'} 提到{'2.00%'}{'·'} 负责人：商品运营{'·'} 两周看一次&lt;/Text&gt;&lt;/Box&gt;&lt;/Box&gt;&lt;Box style={{ flexDirection: 'row', alignItems: 'flex-start', gap: '20px', padding: '18px 0', borderBottom: '1px solid #DDE2E8' }}&gt;&lt;Box style={{ width: '60px', height: '60px', borderRadius: '10px', background: '#F4F6F8', justifyContent: 'center', alignItems: 'center' }}&gt;&lt;FAIcon name='chart-line' style={{ fill: '#1B3557', width: 32, height: 32 }} /&gt;&lt;/Box&gt;&lt;Box style={{ flex: 1 }}&gt;&lt;Text style={{ fontSize: '22px', fontWeight: 600, color: '#1B3557', lineHeight: 1.35 }}&gt;{'3'}{'·'} 把店内流量从最差{'4'} 家店挪出来&lt;/Text&gt;&lt;Text style={{ fontSize: '16px', color: '#5F6975', lineHeight: 1.55, marginTop: '6px' }}&gt; 判据：最差{'4'} 家成交率向{'12'} 家平均靠拢{'·'} 负责人：店铺运营{'·'} 每周看一次&lt;/Text&gt;&lt;/Box&gt;&lt;/Box&gt;&lt;Box style={{ flexDirection: 'row', alignItems: 'flex-start', gap: '20px', paddingTop: '18px' }}&gt;&lt;Box style={{ width: '60px', height: '60px', borderRadius: '10px', background: '#F4F6F8', justifyContent: 'center', alignItems: 'center' }}&gt;&lt;FAIcon name='users' style={{ fill: '#A97B28', width: 32, height: 32 }} /&gt;&lt;/Box&gt;&lt;Box style={{ flex: 1 }}&gt;&lt;Text style={{ fontSize: '22px', fontWeight: 600, color: '#1B3557', lineHeight: 1.35 }}&gt;{'4'}{'·'} 约销售{'2'} 部对数据口径，把{'5'} 家店并进同一张表&lt;/Text&gt;&lt;Text style={{ fontSize: '16px', color: '#5F6975', lineHeight: 1.55, marginTop: '6px' }}&gt; 判据：{'5'} 家店能并进同一张表{'·'} 负责人：我{'+'} 销售{'2'} 部{'·'} 本周内约&lt;/Text&gt;&lt;/Box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12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四个动作：先止血、再修商品页、最后谈扩量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2762250" cy="1047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四个动作分别对应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客人、商品、商品页、推广。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15181D"/>
                </a:solidFill>
                <a:latin typeface="Noto Sans SC"/>
                <a:ea typeface="Noto Sans SC"/>
              </a:rPr>
              <a:t>按顺序来，不要同时全上。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47700" y="5038725"/>
            <a:ext cx="2762250" cy="12477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09600" y="5038725"/>
            <a:ext cx="2800350" cy="1247775"/>
          </a:xfrm>
          <a:custGeom>
            <a:pathLst>
              <a:path w="294" h="131">
                <a:moveTo>
                  <a:pt x="0" y="0"/>
                </a:moveTo>
                <a:lnTo>
                  <a:pt x="4" y="0"/>
                </a:lnTo>
                <a:lnTo>
                  <a:pt x="4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5210175"/>
            <a:ext cx="23431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75">
                <a:solidFill>
                  <a:srgbClr val="1B3557"/>
                </a:solidFill>
                <a:latin typeface="Noto Sans SC"/>
                <a:ea typeface="Noto Sans SC"/>
              </a:rPr>
              <a:t>每条都写清了判据、谁来做、多久看一次。目标可以改，但必须可量、有期限、有人看。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829050" y="1143000"/>
            <a:ext cx="7753350" cy="876300"/>
          </a:xfrm>
          <a:custGeom>
            <a:pathLst>
              <a:path w="814" h="92">
                <a:moveTo>
                  <a:pt x="0" y="91"/>
                </a:moveTo>
                <a:lnTo>
                  <a:pt x="814" y="91"/>
                </a:lnTo>
                <a:lnTo>
                  <a:pt x="814" y="92"/>
                </a:lnTo>
                <a:lnTo>
                  <a:pt x="0" y="92"/>
                </a:lnTo>
                <a:close/>
              </a:path>
            </a:pathLst>
          </a:custGeom>
          <a:solidFill>
            <a:srgbClr val="DDE2E8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29050" y="1143000"/>
            <a:ext cx="571500" cy="5715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62400" y="1276350"/>
            <a:ext cx="304800" cy="30480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591050" y="1143000"/>
            <a:ext cx="69913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1</a:t>
            </a:r>
            <a:r>
              <a:rPr sz="165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止血：停掉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72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个零成交低效商品的推广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591050" y="1543050"/>
            <a:ext cx="69913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判据：连续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天零成交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负责人：推广运营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每周看一次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829050" y="2009775"/>
            <a:ext cx="7753350" cy="1047750"/>
          </a:xfrm>
          <a:custGeom>
            <a:pathLst>
              <a:path w="814" h="110">
                <a:moveTo>
                  <a:pt x="0" y="109"/>
                </a:moveTo>
                <a:lnTo>
                  <a:pt x="814" y="109"/>
                </a:lnTo>
                <a:lnTo>
                  <a:pt x="81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DDE2E8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3829050" y="2181225"/>
            <a:ext cx="571500" cy="5715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2314575"/>
            <a:ext cx="304800" cy="304800"/>
          </a:xfrm>
          <a:prstGeom prst="rect">
            <a:avLst/>
          </a:prstGeom>
          <a:ln/>
        </p:spPr>
      </p:pic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591050" y="2181225"/>
            <a:ext cx="69913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2</a:t>
            </a:r>
            <a:r>
              <a:rPr sz="165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修洗手盆商品页：主图、详情、卖点重做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591050" y="2581275"/>
            <a:ext cx="69913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判据：加购率从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1.30%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提到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2.00%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负责人：商品运营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两周看一次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29050" y="3048000"/>
            <a:ext cx="7753350" cy="1047750"/>
          </a:xfrm>
          <a:custGeom>
            <a:pathLst>
              <a:path w="814" h="110">
                <a:moveTo>
                  <a:pt x="0" y="109"/>
                </a:moveTo>
                <a:lnTo>
                  <a:pt x="814" y="109"/>
                </a:lnTo>
                <a:lnTo>
                  <a:pt x="81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DDE2E8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3829050" y="3219450"/>
            <a:ext cx="571500" cy="5715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3352800"/>
            <a:ext cx="304800" cy="304800"/>
          </a:xfrm>
          <a:prstGeom prst="rect">
            <a:avLst/>
          </a:prstGeom>
          <a:ln/>
        </p:spPr>
      </p:pic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591050" y="3219450"/>
            <a:ext cx="69913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3</a:t>
            </a:r>
            <a:r>
              <a:rPr sz="165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把店内流量从最差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4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家店挪出来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591050" y="3619500"/>
            <a:ext cx="69913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判据：最差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家成交率向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12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家平均靠拢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负责人：店铺运营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每周看一次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829050" y="4257675"/>
            <a:ext cx="571500" cy="5715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62400" y="4391025"/>
            <a:ext cx="304800" cy="3048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591050" y="4257675"/>
            <a:ext cx="699135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4</a:t>
            </a:r>
            <a:r>
              <a:rPr sz="1650" b="1">
                <a:solidFill>
                  <a:srgbClr val="1B3557"/>
                </a:solidFill>
                <a:latin typeface="Noto Sans SC"/>
                <a:ea typeface="Noto Sans SC"/>
              </a:rPr>
              <a:t>·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约销售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2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部对数据口径，把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>5</a:t>
            </a:r>
            <a:r>
              <a:rPr lang="en-US" sz="16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650" b="1">
                <a:solidFill>
                  <a:srgbClr val="1B3557"/>
                </a:solidFill>
                <a:latin typeface="Noto Sans SC"/>
                <a:ea typeface="Noto Sans SC"/>
              </a:rPr>
              <a:t>家店并进同一张表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91050" y="4657725"/>
            <a:ext cx="69913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判据：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5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家店能并进同一张表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负责人：我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+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销售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>2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部</a:t>
            </a:r>
            <a:r>
              <a:rPr sz="120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20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5F6975"/>
                </a:solidFill>
                <a:latin typeface="Noto Sans SC"/>
                <a:ea typeface="Noto Sans SC"/>
              </a:rPr>
              <a:t>本周内约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12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2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五个验收数，两周后拿这五个数回来&lt;/Text&gt;&lt;/Box&gt;&lt;Box style={{ height: '540px', flexDirection: 'row', gap: '48px' }}&gt;&lt;Box style={{ width: '250px', flexDirection: 'column' }}&gt;&lt;Text style={{ fontSize: '150px', fontWeight: 800, color: '#1B3557', lineHeight: 1.0, letterSpacing: '-4px' }}&gt;{'5'}&lt;/Text&gt;&lt;Text style={{ fontSize: '24px', fontWeight: 600, color: '#1B3557', lineHeight: 1.4, marginTop: '8px' }}&gt; 个验收数&lt;/Text&gt;&lt;Text style={{ fontSize: '18px', color: '#5F6975', lineHeight: 1.6, marginTop: '14px' }}&gt; 两周后拿这五个数回来，&lt;br /&gt;不用讲故事，对数就行。&lt;/Text&gt;&lt;Box style={{ background: '#F4F6F8', borderLeft: '4px solid #A97B28', padding: '16px 18px', marginTop: 'auto' }}&gt;&lt;Text style={{ fontSize: '16px', color: '#1B3557', lineHeight: 1.55 }}&gt; 这些是提议值，可以改；&lt;br /&gt;但必须可量、有期限、有人看。&lt;/Text&gt;&lt;/Box&gt;&lt;/Box&gt;&lt;Box style={{ flex: 1 }}&gt;&lt;Table&#10;                style={{ width: '100%', height: '100%' }}&#10;                defaultTextStyle={{ fontSize: 16, textAlign: 'center', color: '#15181D', fontFamily: 'Noto Sans SC' }}&#10;                defaultCellStyle={{&#10;                    border: {&#10;                        left: { width: 1, color: '#DDE2E8' },&#10;                        right: { width: 1, color: '#DDE2E8' },&#10;                        top: { width: 1, color: '#DDE2E8' },&#10;                        bottom: { width: 1, color: '#DDE2E8' },&#10;                    },&#10;                }}&#10;                cells={[&#10;                    [&#10;                        { text: '验收数', textStyle: { bold: true, color: '#FFFFFF' }, cellStyle: { background: { color: '#1B3557' } } },&#10;                        { text: '现在', textStyle: { bold: true, color: '#FFFFFF' }, cellStyle: { background: { color: '#1B3557' } } },&#10;                        { text: '两周后', textStyle: { bold: true, color: '#FFFFFF' }, cellStyle: { background: { color: '#1B3557' } } },&#10;                        { text: '依据', textStyle: { bold: true, color: '#FFFFFF' }, cellStyle: { background: { color: '#1B3557' } } },&#10;                    ],&#10;                    [{ text: '每千次进店成交', textStyle: { textAlign: 'left' } }, '1.6 单', { text: '2.0 单', textStyle: { color: '#1B3557', bold: true } }, { text: '流量从最差 4 家挪出来', textStyle: { textAlign: 'left', color: '#5F6975' } }],&#10;                    [{ text: '洗手盆加购率', textStyle: { textAlign: 'left' } }, '1.30%', { text: '2.00%', textStyle: { color: '#1B3557', bold: true } }, { text: '补 0.7 个百分点＝多 612 次加购', textStyle: { textAlign: 'left', color: '#5F6975' } }],&#10;                    [{ text: '推广每 1 元成交', textStyle: { textAlign: 'left' } }, '3.22 倍', { text: '4.00 倍', textStyle: { color: '#1B3557', bold: true } }, { text: '停掉 0.10 元那一档', textStyle: { textAlign: 'left', color: '#5F6975' } }],&#10;                    [{ text: '低效推广花费占比', textStyle: { textAlign: 'left' } }, '62.2%', { text: '≤ 40%', textStyle: { color: '#1B3557', bold: true } }, { text: '低效预算砍一半', textStyle: { textAlign: 'left', color: '#5F6975' } }],&#10;                    [{ text: '商品层销售额（18 天）', textStyle: { textAlign: 'left' } }, '28.0 万元', { text: '32 万元', textStyle: { color: '#1B3557', bold: true } }, { text: '静态上限 35.8 万元，先按一半以下报', textStyle: { textAlign: 'left', color: '#5F6975' } }],&#10;                ]}&#10;            /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13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五个验收数，两周后拿这五个数回来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23812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 spc="-300">
                <a:solidFill>
                  <a:srgbClr val="1B3557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933700"/>
            <a:ext cx="23812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800" b="1">
                <a:solidFill>
                  <a:srgbClr val="1B3557"/>
                </a:solidFill>
                <a:latin typeface="Noto Sans SC"/>
                <a:ea typeface="Noto Sans SC"/>
              </a:rPr>
              <a:t>个验收数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3457575"/>
            <a:ext cx="23812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>
                <a:solidFill>
                  <a:srgbClr val="5F6975"/>
                </a:solidFill>
                <a:latin typeface="Noto Sans SC"/>
                <a:ea typeface="Noto Sans SC"/>
              </a:rPr>
              <a:t>两周后拿这五个数回来，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5F6975"/>
                </a:solidFill>
                <a:latin typeface="Noto Sans SC"/>
                <a:ea typeface="Noto Sans SC"/>
              </a:rPr>
              <a:t>不用讲故事，对数就行。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47700" y="5124450"/>
            <a:ext cx="2381250" cy="116205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09600" y="5124450"/>
            <a:ext cx="2419350" cy="1162050"/>
          </a:xfrm>
          <a:custGeom>
            <a:pathLst>
              <a:path w="254" h="122">
                <a:moveTo>
                  <a:pt x="0" y="0"/>
                </a:moveTo>
                <a:lnTo>
                  <a:pt x="4" y="0"/>
                </a:lnTo>
                <a:lnTo>
                  <a:pt x="4" y="122"/>
                </a:lnTo>
                <a:lnTo>
                  <a:pt x="0" y="122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19150" y="5276850"/>
            <a:ext cx="20002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B3557"/>
                </a:solidFill>
                <a:latin typeface="Noto Sans SC"/>
                <a:ea typeface="Noto Sans SC"/>
              </a:rPr>
              <a:t>这些是提议值，可以改；</a:t>
            </a:r>
            <a:endParaRPr/>
          </a:p>
          <a:p>
            <a:pPr>
              <a:lnSpc>
                <a:spcPct val="155000"/>
              </a:lnSpc>
            </a:pPr>
            <a:r>
              <a:rPr lang="zh-CN" sz="1200">
                <a:solidFill>
                  <a:srgbClr val="1B3557"/>
                </a:solidFill>
                <a:latin typeface="Noto Sans SC"/>
                <a:ea typeface="Noto Sans SC"/>
              </a:rPr>
              <a:t>但必须可量、有期限、有人看。</a:t>
            </a:r>
            <a:endParaRPr/>
          </a:p>
        </p:txBody>
      </p:sp>
      <p:graphicFrame>
        <p:nvGraphicFramePr>
          <p:cNvPr id="71" name=""/>
          <p:cNvGraphicFramePr/>
          <p:nvPr/>
        </p:nvGraphicFramePr>
        <p:xfrm rot="0" flipH="0" flipV="0">
          <a:off x="3448050" y="1143000"/>
          <a:ext cx="8134350" cy="5143500"/>
        </p:xfrm>
        <a:graphic>
          <a:graphicData uri="http://schemas.openxmlformats.org/drawingml/2006/table">
            <a:tbl>
              <a:tblGrid>
                <a:gridCol w="2442823">
                  <a:extLst>
                    <a:ext uri="{9D8B030D-6E8A-4147-A177-3AD203B41FA5}">
                      <a16:colId val="1"/>
                    </a:ext>
                  </a:extLst>
                </a:gridCol>
                <a:gridCol w="1043726">
                  <a:extLst>
                    <a:ext uri="{9D8B030D-6E8A-4147-A177-3AD203B41FA5}">
                      <a16:colId val="2"/>
                    </a:ext>
                  </a:extLst>
                </a:gridCol>
                <a:gridCol w="875835">
                  <a:extLst>
                    <a:ext uri="{9D8B030D-6E8A-4147-A177-3AD203B41FA5}">
                      <a16:colId val="3"/>
                    </a:ext>
                  </a:extLst>
                </a:gridCol>
                <a:gridCol w="377196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验收数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现在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两周后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依据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每千次进店成交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1.6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2.0 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流量从最差 4 家挪出来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洗手盆加购率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1.30%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2.00%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补 0.7 个百分点＝多 612 次加购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推广每 1 元成交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3.22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4.00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停掉 0.10 元那一档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低效推广花费占比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62.2%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≤ 40%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低效预算砍一半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57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商品层销售额（18 天）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28.0 万元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B3557"/>
                          </a:solidFill>
                          <a:latin typeface="Noto Sans SC"/>
                          <a:ea typeface="Noto Sans SC"/>
                        </a:rPr>
                        <a:t>32 万元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静态上限 35.8 万元，先按一半以下报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13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style={{ width: '1280px', height: '720px', background: 'linear-gradient(135deg, #1B3557 0%, #42648F 100%)', fontFamily: 'Noto Sans SC', position: 'relative' }}&gt;&lt;Box style={{ position: 'absolute', top: 0, left: 0, width: '1280px', height: '720px', padding: '0 120px', flexDirection: 'column', justifyContent: 'center', alignItems: 'center' }}&gt;&lt;Text style={{ fontSize: '18px', fontWeight: 600, color: '#A97B28', letterSpacing: '6px', textAlign: 'center' }}&gt; 要定的一件事&lt;/Text&gt;&lt;Text style={{ fontSize: '50px', fontWeight: 800, color: '#FFFFFF', lineHeight: 1.28, textAlign: 'center', marginTop: '20px' }}&gt; 不需要新增预算，&lt;br /&gt;需要两周试跑许可&lt;/Text&gt;&lt;Box style={{ width: '72px', height: '4px', background: '#A97B28', margin: '28px 0 40px 0' }} /&gt;&lt;Box style={{ flexDirection: 'row', gap: '0px', alignItems: 'stretch' }}&gt;&lt;Box style={{ width: '300px', flexDirection: 'column', alignItems: 'center', padding: '0 24px' }}&gt;&lt;Text style={{ fontSize: '17px', fontWeight: 600, color: '#A97B28', letterSpacing: '2px' }}&gt;今天定&lt;/Text&gt;&lt;Text style={{ fontSize: '19px', color: '#FFFFFF', lineHeight: 1.55, textAlign: 'center', marginTop: '10px' }}&gt; 低效商品停投名单&lt;br /&gt;（{'72'} 个零成交）&lt;/Text&gt;&lt;/Box&gt;&lt;Box style={{ width: '1px', background: 'rgba(255,255,255,0.22)' }} /&gt;&lt;Box style={{ width: '300px', flexDirection: 'column', alignItems: 'center', padding: '0 24px' }}&gt;&lt;Text style={{ fontSize: '17px', fontWeight: 600, color: '#A97B28', letterSpacing: '2px' }}&gt;两周内&lt;/Text&gt;&lt;Text style={{ fontSize: '19px', color: '#FFFFFF', lineHeight: 1.55, textAlign: 'center', marginTop: '10px' }}&gt; 跑完五个验收数&lt;br /&gt;拿数回来对&lt;/Text&gt;&lt;/Box&gt;&lt;Box style={{ width: '1px', background: 'rgba(255,255,255,0.22)' }} /&gt;&lt;Box style={{ width: '300px', flexDirection: 'column', alignItems: 'center', padding: '0 24px' }}&gt;&lt;Text style={{ fontSize: '17px', fontWeight: 600, color: '#A97B28', letterSpacing: '2px' }}&gt;本周约&lt;/Text&gt;&lt;Text style={{ fontSize: '19px', color: '#FFFFFF', lineHeight: 1.55, textAlign: 'center', marginTop: '10px' }}&gt; 销售{'2'} 部对数据口径&lt;br /&gt;把{'5'} 家店并进同一张表&lt;/Text&gt;&lt;/Box&gt;&lt;/Box&gt;&lt;Text style={{ fontSize: '15px', color: '#9AA6B4', lineHeight: 1.6, textAlign: 'center', marginTop: '52px' }}&gt; 经营数据诊断{'·'}{'2026-10-19'}&lt;br /&gt;数据区间{'2026-09-19'} 至{'2026-10-18'}{'·'}{'12'} 家店铺{'·'} 全部数字可复算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557"/>
              </a:gs>
              <a:gs pos="100000">
                <a:srgbClr val="42648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362575" y="1143000"/>
            <a:ext cx="1466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 spc="450">
                <a:solidFill>
                  <a:srgbClr val="A97B2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350" b="1" spc="450">
                <a:solidFill>
                  <a:srgbClr val="A97B28"/>
                </a:solidFill>
                <a:latin typeface="Noto Sans SC"/>
                <a:ea typeface="Noto Sans SC"/>
              </a:rPr>
              <a:t>要定的一件事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143375" y="1543050"/>
            <a:ext cx="3914775" cy="1466850"/>
          </a:xfrm>
          <a:prstGeom prst="rect"/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en-US" sz="3750" b="1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750" b="1">
                <a:solidFill>
                  <a:srgbClr val="FFFFFF"/>
                </a:solidFill>
                <a:latin typeface="Noto Sans SC"/>
                <a:ea typeface="Noto Sans SC"/>
              </a:rPr>
              <a:t>不需要新增预算，</a:t>
            </a:r>
            <a:endParaRPr/>
          </a:p>
          <a:p>
            <a:pPr algn="ctr">
              <a:lnSpc>
                <a:spcPct val="128000"/>
              </a:lnSpc>
            </a:pPr>
            <a:r>
              <a:rPr lang="zh-CN" sz="3750" b="1">
                <a:solidFill>
                  <a:srgbClr val="FFFFFF"/>
                </a:solidFill>
                <a:latin typeface="Noto Sans SC"/>
                <a:ea typeface="Noto Sans SC"/>
              </a:rPr>
              <a:t>需要两周试跑许可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753100" y="3276600"/>
            <a:ext cx="685800" cy="38100"/>
          </a:xfrm>
          <a:prstGeom prst="rect">
            <a:avLst/>
          </a:prstGeom>
          <a:solidFill>
            <a:srgbClr val="A97B2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962275" y="369570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A97B28"/>
                </a:solidFill>
                <a:latin typeface="Noto Sans SC"/>
                <a:ea typeface="Noto Sans SC"/>
              </a:rPr>
              <a:t>今天定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2486025" y="3990975"/>
            <a:ext cx="1495425" cy="6762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低效商品停投名单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（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>72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个零成交）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657725" y="3695700"/>
            <a:ext cx="9525" cy="9715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829300" y="369570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A97B28"/>
                </a:solidFill>
                <a:latin typeface="Noto Sans SC"/>
                <a:ea typeface="Noto Sans SC"/>
              </a:rPr>
              <a:t>两周内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438775" y="3990975"/>
            <a:ext cx="1314450" cy="6762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跑完五个验收数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拿数回来对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524750" y="3695700"/>
            <a:ext cx="9525" cy="97155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696325" y="3695700"/>
            <a:ext cx="542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A97B28"/>
                </a:solidFill>
                <a:latin typeface="Noto Sans SC"/>
                <a:ea typeface="Noto Sans SC"/>
              </a:rPr>
              <a:t>本周约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077200" y="3990975"/>
            <a:ext cx="1771650" cy="67627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销售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部对数据口径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把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>5</a:t>
            </a:r>
            <a:r>
              <a:rPr lang="en-US" sz="1425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425">
                <a:solidFill>
                  <a:srgbClr val="FFFFFF"/>
                </a:solidFill>
                <a:latin typeface="Noto Sans SC"/>
                <a:ea typeface="Noto Sans SC"/>
              </a:rPr>
              <a:t>家店并进同一张表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067175" y="5162550"/>
            <a:ext cx="4057650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经营数据诊断</a:t>
            </a:r>
            <a:r>
              <a:rPr sz="1125">
                <a:solidFill>
                  <a:srgbClr val="9AA6B4"/>
                </a:solidFill>
                <a:latin typeface="Noto Sans SC"/>
                <a:ea typeface="Noto Sans SC"/>
              </a:rPr>
              <a:t>·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2026-10-19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数据区间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2026-09-19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至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2026-10-18</a:t>
            </a:r>
            <a:r>
              <a:rPr sz="1125">
                <a:solidFill>
                  <a:srgbClr val="9AA6B4"/>
                </a:solidFill>
                <a:latin typeface="Noto Sans SC"/>
                <a:ea typeface="Noto Sans SC"/>
              </a:rPr>
              <a:t>·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>12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家店铺</a:t>
            </a:r>
            <a:r>
              <a:rPr sz="1125">
                <a:solidFill>
                  <a:srgbClr val="9AA6B4"/>
                </a:solidFill>
                <a:latin typeface="Noto Sans SC"/>
                <a:ea typeface="Noto Sans SC"/>
              </a:rPr>
              <a:t>·</a:t>
            </a:r>
            <a:r>
              <a:rPr lang="en-US" sz="1125">
                <a:solidFill>
                  <a:srgbClr val="9AA6B4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9AA6B4"/>
                </a:solidFill>
                <a:latin typeface="Noto Sans SC"/>
                <a:ea typeface="Noto Sans SC"/>
              </a:rPr>
              <a:t>全部数字可复算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88" name="" descr="&lt;Slide style={{ width: '1280px', height: '720px', background: '#FFFFFF', fontFamily: 'Noto Sans SC', padding: '20px 64px', flexDirection: 'column' }}&gt;&lt;Box style={{ height: '100px', justifyContent: 'center' }}&gt;&lt;Text style={{ fontSize: '34px', fontWeight: 700, color: '#1B3557', lineHeight: 1.3 }}&gt; 附录：数字从哪来、怎么算的&lt;/Text&gt;&lt;/Box&gt;&lt;Box style={{ height: '540px', flexDirection: 'row', gap: '44px' }}&gt;&lt;Box style={{ width: '360px', flexDirection: 'column', gap: '18px' }}&gt;&lt;Box style={{ flexDirection: 'row', gap: '12px' }}&gt;&lt;Box style={{ width: '4px', background: '#AE4128' }} /&gt;&lt;Text style={{ fontSize: '16px', color: '#15181D', lineHeight: 1.6, flex: 1 }}&gt;{'30'} 天应有{'390'} 个店{'×'}日，实到{'360'}。缺的{'30'} 个都不在本系统侧。&lt;/Text&gt;&lt;/Box&gt;&lt;Box style={{ flexDirection: 'row', gap: '12px' }}&gt;&lt;Box style={{ width: '4px', background: '#AE4128' }} /&gt;&lt;Text style={{ fontSize: '16px', color: '#15181D', lineHeight: 1.6, flex: 1 }}&gt;{'13'} 家入表、可用{'12'} 家；其中{'7'} 家本系统采集，{'5'} 家销售{'2'} 部由另一条流程写入，口径待对接。&lt;/Text&gt;&lt;/Box&gt;&lt;Box style={{ flexDirection: 'row', gap: '12px' }}&gt;&lt;Box style={{ width: '4px', background: '#1B3557' }} /&gt;&lt;Text style={{ fontSize: '16px', color: '#15181D', lineHeight: 1.6, flex: 1 }}&gt; 商品表与推广表没有店铺字段，本篇商品与推广数字按商品{'/'}主体汇总，不拆店铺。&lt;/Text&gt;&lt;/Box&gt;&lt;Box style={{ background: '#F4F6F8', padding: '16px 18px', marginTop: 'auto' }}&gt;&lt;Text style={{ fontSize: '15px', color: '#1B3557', lineHeight: 1.6 }}&gt; 去重键：日报＝店铺{'+'}统计日期；商品＝商品ID{'+'}统计日期；推广＝主体ID{'+'}日期{'+'}场景{'+'}计划ID。&lt;/Text&gt;&lt;Text style={{ fontSize: '15px', color: '#5F6975', lineHeight: 1.6, marginTop: '8px' }}&gt; 不去重会让商品层销售额虚高{'2.4%'}、访客虚高{'1.9%'}。&lt;/Text&gt;&lt;/Box&gt;&lt;/Box&gt;&lt;Box style={{ flex: 1, flexDirection: 'column' }}&gt;&lt;Table&#10;                style={{ width: '100%', height: '280px' }}&#10;                defaultTextStyle={{ fontSize: 16, textAlign: 'center', color: '#15181D', fontFamily: 'Noto Sans SC' }}&#10;                defaultCellStyle={{&#10;                    border: {&#10;                        left: { width: 1, color: '#DDE2E8' },&#10;                        right: { width: 1, color: '#DDE2E8' },&#10;                        top: { width: 1, color: '#DDE2E8' },&#10;                        bottom: { width: 1, color: '#DDE2E8' },&#10;                    },&#10;                }}&#10;                cells={[&#10;                    [&#10;                        { text: '数据表', textStyle: { bold: true, color: '#FFFFFF' }, cellStyle: { background: { color: '#1B3557' } } },&#10;                        { text: '原始行数', textStyle: { bold: true, color: '#FFFFFF' }, cellStyle: { background: { color: '#1B3557' } } },&#10;                        { text: '去重后', textStyle: { bold: true, color: '#FFFFFF' }, cellStyle: { background: { color: '#1B3557' } } },&#10;                        { text: '日期范围', textStyle: { bold: true, color: '#FFFFFF' }, cellStyle: { background: { color: '#1B3557' } } },&#10;                    ],&#10;                    [{ text: '店铺日报', textStyle: { textAlign: 'left' } }, '2,418', '2,412', { text: '04-01 起', textStyle: { color: '#5F6975' } }],&#10;                    [{ text: '商品', textStyle: { textAlign: 'left' } }, '4,194', '4,108', { text: '10-01 至 10-18', textStyle: { color: '#5F6975' } }],&#10;                    [{ text: '推广', textStyle: { textAlign: 'left' } }, '2,327', '2,306', { text: '10-01 至 10-18', textStyle: { color: '#5F6975' } }],&#10;                    [{ text: '询单', textStyle: { textAlign: 'left' } }, '891', '891', { text: '未用于本篇', textStyle: { color: '#5F6975' } }],&#10;                ]}&#10;            /&gt;&lt;Text style={{ fontSize: '15px', color: '#5F6975', lineHeight: 1.65, marginTop: '20px' }}&gt; 四张表共{'9,830'} 行，去重后{'9,717'} 行参与计算（剔除{'86'} 行重复写入、{'21'} 行重复推广、{'6'} 行无日期）。 商品层对{'8'} 家覆盖{'96.1%'}，推广层对{'8'} 家覆盖{'98.9%'}。&lt;/Text&gt;&lt;Text style={{ fontSize: '15px', color: '#5F6975', lineHeight: 1.65, marginTop: '14px' }}&gt; 缺口构成：Paola Lenti保拉伦蒂{'2'} 天、保拉伦蒂旗舰店{'2'} 天（销售{'2'} 部链路），网林定制家居{'26'} 天（{'10-15'} 才接入，{'4'} 天{'120'} 访客{'0'} 成交，不计入{'12'} 家）。&lt;/Text&gt;&lt;Box style={{ borderLeft: '4px solid #A97B28', padding: '4px 0 4px 14px', marginTop: 'auto' }}&gt;&lt;Text style={{ fontSize: '15px', color: '#1B3557', lineHeight: 1.6 }}&gt; 全部为只读接口读回的实测值，不是估算；{'91'} 条点值断言与{'12'} 家店表{'72'} 格逐格比对全部通过。&lt;/Text&gt;&lt;/Box&gt;&lt;/Box&gt;&lt;/Box&gt;&lt;Box style={{ height: '40px', flexDirection: 'row', justifyContent: 'space-between', alignItems: 'center' }}&gt;&lt;Text style={{ fontSize: '14px', color: '#5F6975' }}&gt;经营数据诊断{'·'}{'2026-10-19'}&lt;/Text&gt;&lt;Text style={{ fontSize: '14px', color: '#5F6975' }}&gt;{'15'}{'/'}{'15'}&lt;/Text&gt;&lt;/Box&gt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09575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2550" b="1">
                <a:solidFill>
                  <a:srgbClr val="1B3557"/>
                </a:solidFill>
                <a:latin typeface="Noto Sans SC"/>
                <a:ea typeface="Noto Sans SC"/>
              </a:rPr>
              <a:t>附录：数字从哪来、怎么算的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1143000"/>
            <a:ext cx="38100" cy="590550"/>
          </a:xfrm>
          <a:prstGeom prst="rect">
            <a:avLst/>
          </a:prstGeom>
          <a:solidFill>
            <a:srgbClr val="AE412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62000" y="1143000"/>
            <a:ext cx="3276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天应有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390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个店</a:t>
            </a:r>
            <a:r>
              <a:rPr sz="1200">
                <a:solidFill>
                  <a:srgbClr val="15181D"/>
                </a:solidFill>
                <a:latin typeface="Noto Sans SC"/>
                <a:ea typeface="Noto Sans SC"/>
              </a:rPr>
              <a:t>×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日，实到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360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。缺的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30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个都不在本系统侧。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1905000"/>
            <a:ext cx="38100" cy="590550"/>
          </a:xfrm>
          <a:prstGeom prst="rect">
            <a:avLst/>
          </a:prstGeom>
          <a:solidFill>
            <a:srgbClr val="AE412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3276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13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家入表、可用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12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家；其中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7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家本系统采集，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5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家销售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2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部由另一条流程写入，口径待对接。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2667000"/>
            <a:ext cx="38100" cy="590550"/>
          </a:xfrm>
          <a:prstGeom prst="rect">
            <a:avLst/>
          </a:prstGeom>
          <a:solidFill>
            <a:srgbClr val="1B3557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3276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商品表与推广表没有店铺字段，本篇商品与推广数字按商品</a:t>
            </a:r>
            <a:r>
              <a:rPr lang="en-US" sz="1200">
                <a:solidFill>
                  <a:srgbClr val="15181D"/>
                </a:solidFill>
                <a:latin typeface="Noto Sans SC"/>
                <a:ea typeface="Noto Sans SC"/>
              </a:rPr>
              <a:t>/</a:t>
            </a:r>
            <a:r>
              <a:rPr lang="zh-CN" sz="1200">
                <a:solidFill>
                  <a:srgbClr val="15181D"/>
                </a:solidFill>
                <a:latin typeface="Noto Sans SC"/>
                <a:ea typeface="Noto Sans SC"/>
              </a:rPr>
              <a:t>主体汇总，不拆店铺。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4524375"/>
            <a:ext cx="3429000" cy="17621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1050" y="4676775"/>
            <a:ext cx="3086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去重键：日报＝店铺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+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统计日期；商品＝商品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ID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+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统计日期；推广＝主体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ID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+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日期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+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场景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+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计划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ID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81050" y="5581650"/>
            <a:ext cx="3086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不去重会让商品层销售额虚高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2.4%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、访客虚高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1.9%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graphicFrame>
        <p:nvGraphicFramePr>
          <p:cNvPr id="100" name=""/>
          <p:cNvGraphicFramePr/>
          <p:nvPr/>
        </p:nvGraphicFramePr>
        <p:xfrm rot="0" flipH="0" flipV="0">
          <a:off x="4457700" y="1143000"/>
          <a:ext cx="7124700" cy="2667000"/>
        </p:xfrm>
        <a:graphic>
          <a:graphicData uri="http://schemas.openxmlformats.org/drawingml/2006/table">
            <a:tbl>
              <a:tblGrid>
                <a:gridCol w="1662581">
                  <a:extLst>
                    <a:ext uri="{9D8B030D-6E8A-4147-A177-3AD203B41FA5}">
                      <a16:colId val="1"/>
                    </a:ext>
                  </a:extLst>
                </a:gridCol>
                <a:gridCol w="1662581">
                  <a:extLst>
                    <a:ext uri="{9D8B030D-6E8A-4147-A177-3AD203B41FA5}">
                      <a16:colId val="2"/>
                    </a:ext>
                  </a:extLst>
                </a:gridCol>
                <a:gridCol w="1301150">
                  <a:extLst>
                    <a:ext uri="{9D8B030D-6E8A-4147-A177-3AD203B41FA5}">
                      <a16:colId val="3"/>
                    </a:ext>
                  </a:extLst>
                </a:gridCol>
                <a:gridCol w="2498389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数据表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原始行数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去重后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</a:rPr>
                        <a:t>日期范围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557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店铺日报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2,418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2,412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04-01 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商品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4,194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4,108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10-01 至 10-18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推广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2,327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2,306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10-01 至 10-18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34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询单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891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5181D"/>
                          </a:solidFill>
                          <a:latin typeface="Noto Sans SC"/>
                          <a:ea typeface="Noto Sans SC"/>
                        </a:rPr>
                        <a:t>891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5F6975"/>
                          </a:solidFill>
                          <a:latin typeface="Noto Sans SC"/>
                          <a:ea typeface="Noto Sans SC"/>
                        </a:rPr>
                        <a:t>未用于本篇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457700" y="4000500"/>
            <a:ext cx="7124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四张表共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9,830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行，去重后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9,717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行参与计算（剔除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86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行重复写入、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21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行重复推广、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6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行无日期）。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商品层对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8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家覆盖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96.1%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，推广层对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8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家覆盖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98.9%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457700" y="4705350"/>
            <a:ext cx="7124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缺口构成：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Paola Lenti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保拉伦蒂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天、保拉伦蒂旗舰店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天（销售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部链路），网林定制家居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26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天（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10-15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才接入，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4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天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120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访客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0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成交，不计入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>12</a:t>
            </a:r>
            <a:r>
              <a:rPr lang="en-US" sz="1125">
                <a:solidFill>
                  <a:srgbClr val="5F6975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5F6975"/>
                </a:solidFill>
                <a:latin typeface="Noto Sans SC"/>
                <a:ea typeface="Noto Sans SC"/>
              </a:rPr>
              <a:t>家）。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457700" y="5934075"/>
            <a:ext cx="7162800" cy="352425"/>
          </a:xfrm>
          <a:custGeom>
            <a:pathLst>
              <a:path w="752" h="37">
                <a:moveTo>
                  <a:pt x="0" y="0"/>
                </a:moveTo>
                <a:lnTo>
                  <a:pt x="4" y="0"/>
                </a:lnTo>
                <a:lnTo>
                  <a:pt x="4" y="37"/>
                </a:lnTo>
                <a:lnTo>
                  <a:pt x="0" y="37"/>
                </a:lnTo>
                <a:close/>
              </a:path>
            </a:pathLst>
          </a:custGeom>
          <a:solidFill>
            <a:srgbClr val="A97B2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629150" y="5972175"/>
            <a:ext cx="695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全部为只读接口读回的实测值，不是估算；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91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条点值断言与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12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家店表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>72</a:t>
            </a:r>
            <a:r>
              <a:rPr lang="en-US" sz="1125">
                <a:solidFill>
                  <a:srgbClr val="1B3557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125">
                <a:solidFill>
                  <a:srgbClr val="1B3557"/>
                </a:solidFill>
                <a:latin typeface="Noto Sans SC"/>
                <a:ea typeface="Noto Sans SC"/>
              </a:rPr>
              <a:t>格逐格比对全部通过。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6975"/>
                </a:solidFill>
                <a:latin typeface="Noto Sans SC"/>
                <a:ea typeface="Noto Sans SC"/>
              </a:rPr>
              <a:t>经营数据诊断</a:t>
            </a:r>
            <a:r>
              <a:rPr sz="1050">
                <a:solidFill>
                  <a:srgbClr val="5F6975"/>
                </a:solidFill>
                <a:latin typeface="Noto Sans SC"/>
                <a:ea typeface="Noto Sans SC"/>
              </a:rPr>
              <a:t>·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2026-10-19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249025" y="64008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/</a:t>
            </a:r>
            <a:r>
              <a:rPr lang="en-US" sz="1050">
                <a:solidFill>
                  <a:srgbClr val="5F6975"/>
                </a:solidFill>
                <a:latin typeface="Noto Sans SC"/>
                <a:ea typeface="Noto Sans SC"/>
              </a:rPr>
              <a:t>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2026-10-19T19:27:40Z</dcterms:created>
  <dcterms:modified xsi:type="dcterms:W3CDTF">2026-10-19T19:27:40Z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{"AIGC":{"Label":"1","ContentProducer":"00119111010856365494821B355","ProduceID":"66532673aa664faa91de828c14a86ba9","ReservedCode1":"","ContentPropagator":"00119111010856365494821B355","PropagateID":"66532673aa664faa91de828c14a86ba9","ReservedCode2":""}}</vt:lpwstr>
  </property>
</Properties>
</file>