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docProps/app.xml" ContentType="application/vnd.openxmlformats-officedocument.extended-properties+xml"/>
  <Override PartName="/ppt/theme/theme1.xml" ContentType="application/vnd.openxmlformats-officedocument.theme+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6.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tableStyles.xml" ContentType="application/vnd.openxmlformats-officedocument.presentationml.tableStyles+xml"/>
  <Override PartName="/ppt/slides/slide7.xml" ContentType="application/vnd.openxmlformats-officedocument.presentationml.slide+xml"/>
  <Override PartName="/ppt/viewProps.xml" ContentType="application/vnd.openxmlformats-officedocument.presentationml.viewPro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2.xml" ContentType="application/vnd.openxmlformats-officedocument.theme+xml"/>
</Types>
</file>

<file path=_rels/.rels><?xml version="1.0" encoding="UTF-8" standalone="yes"?><Relationships xmlns="http://schemas.openxmlformats.org/package/2006/relationships"><Relationship Id="rId1" Type="http://schemas.openxmlformats.org/package/2006/relationships/metadata/core-properties" Target="docProps/core.xml" /><Relationship Id="rId0" Type="http://schemas.openxmlformats.org/officeDocument/2006/relationships/officeDocument" Target="ppt/presentation.xml" /><Relationship Id="rId2" Type="http://schemas.openxmlformats.org/officeDocument/2006/relationships/extended-properties" Target="docProps/app.xml" /><Relationship Id="rId3" Type="http://schemas.openxmlformats.org/officeDocument/2006/relationships/custom-properties" Target="docProps/custom.xml" /></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14"/>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0" Type="http://schemas.openxmlformats.org/officeDocument/2006/relationships/slideMaster" Target="slideMasters/slideMaster1.xml" /><Relationship Id="rId6" Type="http://schemas.openxmlformats.org/officeDocument/2006/relationships/slide" Target="slides/slide6.xml" /><Relationship Id="rId1" Type="http://schemas.openxmlformats.org/officeDocument/2006/relationships/slide" Target="slides/slide1.xml" /><Relationship Id="rId10" Type="http://schemas.openxmlformats.org/officeDocument/2006/relationships/slide" Target="slides/slide10.xml" /><Relationship Id="rId11" Type="http://schemas.openxmlformats.org/officeDocument/2006/relationships/slide" Target="slides/slide11.xml" /><Relationship Id="rId13" Type="http://schemas.openxmlformats.org/officeDocument/2006/relationships/slide" Target="slides/slide13.xml" /><Relationship Id="rId12" Type="http://schemas.openxmlformats.org/officeDocument/2006/relationships/slide" Target="slides/slide12.xml" /><Relationship Id="rId14" Type="http://schemas.openxmlformats.org/officeDocument/2006/relationships/notesMaster" Target="notesMasters/notesMaster1.xml" /><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theme" Target="../theme/theme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p:cSld>
    <p:spTree>
      <p:nvGrpSpPr>
        <p:cNvPr id="1" name="" descr="&lt;Slide style={{ width: '1280px', height: '720px', background: '#FFFFFF', fontFamily: 'Noto Sans SC', padding: '20px 64px', flexDirection: 'column' }}&gt;&lt;Box style={{ flex: 1, flexDirection: 'row', alignItems: 'center', gap: '52px' }}&gt;&lt;Box style={{ width: '610px', flexDirection: 'column' }}&gt;&lt;Box style={{ flexDirection: 'row', alignItems: 'center', gap: '12px', marginBottom: '18px' }}&gt;&lt;Box style={{ width: '36px', height: '3px', background: '#A97B28' }} /&gt;&lt;Text style={{ fontSize: '15px', color: '#A97B28', fontWeight: 600 }}&gt;经营数据诊断&lt;/Text&gt;&lt;/Box&gt;&lt;Text style={{ fontSize: '52px', fontWeight: 700, color: '#1B3557', lineHeight: 1.22 }}&gt; 近{'18'} 天成交{'49.0'}万元，&lt;br /&gt;问题不在客流，在分配&lt;/Text&gt;&lt;Text style={{ fontSize: '17px', color: '#5F6975', lineHeight: 1.65, marginTop: '24px' }}&gt; 这份材料只回答三件事：&lt;br /&gt;客人在哪家店、货在哪一步走掉、钱花在哪。&lt;br /&gt;每件事都指到具体的店名和商品名。&lt;/Text&gt;&lt;/Box&gt;&lt;Box style={{ width: '440px', background: '#F4F6F8', padding: '34px 30px', flexDirection: 'column', gap: '26px' }}&gt;&lt;Box style={{ flexDirection: 'column', gap: '6px' }}&gt;&lt;Text style={{ fontSize: '13px', color: '#5F6975' }}&gt;{'18'} 天成交&lt;/Text&gt;&lt;Text style={{ fontSize: '34px', fontWeight: 700, color: '#1B3557' }}&gt;{'49.0'}万元&lt;/Text&gt;&lt;/Box&gt;&lt;Box style={{ height: '1px', background: '#DDE2E8' }} /&gt;&lt;Box style={{ flexDirection: 'column', gap: '6px' }}&gt;&lt;Text style={{ fontSize: '13px', color: '#5F6975' }}&gt;退款&lt;/Text&gt;&lt;Text style={{ fontSize: '26px', fontWeight: 700, color: '#AE4128' }}&gt;{'10.2'}万元　{'20.8%'}&lt;/Text&gt;&lt;/Box&gt;&lt;Box style={{ height: '1px', background: '#DDE2E8' }} /&gt;&lt;Box style={{ flexDirection: 'column', gap: '6px' }}&gt;&lt;Text style={{ fontSize: '13px', color: '#5F6975' }}&gt;广告花费{'/'} 带回成交（{'18'} 天）&lt;/Text&gt;&lt;Text style={{ fontSize: '26px', fontWeight: 700, color: '#1B3557' }}&gt;{'4.0'}万元　{'11.3'}万元&lt;/Text&gt;&lt;/Box&gt;&lt;/Box&gt;&lt;/Box&gt;&lt;Box style={{ height: '40px', flexDirection: 'row', justifyContent: 'space-between', alignItems: 'center' }}&gt;&lt;Text style={{ fontSize: '13px', color: '#5F6975' }}&gt;数据区间{'2026-10-01'} 至{'2026-10-18'}（{'18'} 天）　{'·'}　{'12'} 家店铺&lt;/Text&gt;&lt;Text style={{ fontSize: '13px', color: '#5F6975' }}&gt;快照{'2026-10-20'}　{'·'}　全部指标同一窗口&lt;/Text&gt;&lt;/Box&gt;&lt;Box style={{ height: '40px', flexDirection: 'row', justifyContent: 'space-between', alignItems: 'center' }}&gt;&lt;Text style={{ fontSize: '13px', color: '#5F6975' }}&gt;经营数据诊断{'·'}{'2026-10-20'}&lt;/Text&gt;&lt;Text style={{ fontSize: '13px', color: '#5F6975' }}&gt;{'01'}{'/'}{'13'}&lt;/Text&gt;&lt;/Box&gt;&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sp>
        <p:nvSpPr>
          <p:cNvPr id="3" name=""/>
          <p:cNvSpPr/>
          <p:nvPr/>
        </p:nvSpPr>
        <p:spPr>
          <a:xfrm rot="0" flipH="0" flipV="0">
            <a:off x="609600" y="1628775"/>
            <a:ext cx="342900" cy="28575"/>
          </a:xfrm>
          <a:prstGeom prst="rect">
            <a:avLst/>
          </a:prstGeom>
          <a:solidFill>
            <a:srgbClr val="A97B28"/>
          </a:solidFill>
          <a:ln/>
        </p:spPr>
        <p:txBody>
          <a:bodyPr/>
          <a:p/>
        </p:txBody>
      </p:sp>
      <p:sp>
        <p:nvSpPr>
          <p:cNvPr id="4" name="" descr="{&quot;isTemplate&quot;:true,&quot;type&quot;:&quot;text&quot;}"/>
          <p:cNvSpPr txBox="1"/>
          <p:nvPr/>
        </p:nvSpPr>
        <p:spPr>
          <a:xfrm rot="0" flipH="0" flipV="0">
            <a:off x="1066800" y="1552575"/>
            <a:ext cx="857250" cy="171450"/>
          </a:xfrm>
          <a:prstGeom prst="rect"/>
        </p:spPr>
        <p:txBody>
          <a:bodyPr wrap="none" lIns="0" tIns="0" rIns="0" bIns="0"/>
          <a:p>
            <a:pPr>
              <a:lnSpc>
                <a:spcPct val="100000"/>
              </a:lnSpc>
            </a:pPr>
            <a:r>
              <a:rPr lang="zh-CN" sz="1125" b="1">
                <a:solidFill>
                  <a:srgbClr val="A97B28"/>
                </a:solidFill>
                <a:latin typeface="Noto Sans SC"/>
                <a:ea typeface="Noto Sans SC"/>
              </a:rPr>
              <a:t>经营数据诊断</a:t>
            </a:r>
            <a:endParaRPr/>
          </a:p>
        </p:txBody>
      </p:sp>
      <p:sp>
        <p:nvSpPr>
          <p:cNvPr id="5" name="" descr="{&quot;isTemplate&quot;:true,&quot;type&quot;:&quot;text&quot;}"/>
          <p:cNvSpPr txBox="1"/>
          <p:nvPr/>
        </p:nvSpPr>
        <p:spPr>
          <a:xfrm rot="0" flipH="0" flipV="0">
            <a:off x="609600" y="1895475"/>
            <a:ext cx="5810250" cy="1457325"/>
          </a:xfrm>
          <a:prstGeom prst="rect"/>
        </p:spPr>
        <p:txBody>
          <a:bodyPr wrap="none" lIns="0" tIns="0" rIns="0" bIns="0"/>
          <a:p>
            <a:pPr>
              <a:lnSpc>
                <a:spcPct val="122000"/>
              </a:lnSpc>
            </a:pPr>
            <a:r>
              <a:rPr lang="en-US" sz="3900" b="1">
                <a:solidFill>
                  <a:srgbClr val="1B3557"/>
                </a:solidFill>
                <a:latin typeface="Noto Sans SC"/>
                <a:ea typeface="Noto Sans SC"/>
              </a:rPr>
              <a:t xml:space="preserve"> </a:t>
            </a:r>
            <a:r>
              <a:rPr lang="zh-CN" sz="3900" b="1">
                <a:solidFill>
                  <a:srgbClr val="1B3557"/>
                </a:solidFill>
                <a:latin typeface="Noto Sans SC"/>
                <a:ea typeface="Noto Sans SC"/>
              </a:rPr>
              <a:t>近</a:t>
            </a:r>
            <a:r>
              <a:rPr lang="en-US" sz="3900" b="1">
                <a:solidFill>
                  <a:srgbClr val="1B3557"/>
                </a:solidFill>
                <a:latin typeface="Noto Sans SC"/>
                <a:ea typeface="Noto Sans SC"/>
              </a:rPr>
              <a:t>18</a:t>
            </a:r>
            <a:r>
              <a:rPr lang="en-US" sz="3900" b="1">
                <a:solidFill>
                  <a:srgbClr val="1B3557"/>
                </a:solidFill>
                <a:latin typeface="Noto Sans SC"/>
                <a:ea typeface="Noto Sans SC"/>
              </a:rPr>
              <a:t xml:space="preserve"> </a:t>
            </a:r>
            <a:r>
              <a:rPr lang="zh-CN" sz="3900" b="1">
                <a:solidFill>
                  <a:srgbClr val="1B3557"/>
                </a:solidFill>
                <a:latin typeface="Noto Sans SC"/>
                <a:ea typeface="Noto Sans SC"/>
              </a:rPr>
              <a:t>天成交</a:t>
            </a:r>
            <a:r>
              <a:rPr lang="en-US" sz="3900" b="1">
                <a:solidFill>
                  <a:srgbClr val="1B3557"/>
                </a:solidFill>
                <a:latin typeface="Noto Sans SC"/>
                <a:ea typeface="Noto Sans SC"/>
              </a:rPr>
              <a:t>49.0</a:t>
            </a:r>
            <a:r>
              <a:rPr lang="zh-CN" sz="3900" b="1">
                <a:solidFill>
                  <a:srgbClr val="1B3557"/>
                </a:solidFill>
                <a:latin typeface="Noto Sans SC"/>
                <a:ea typeface="Noto Sans SC"/>
              </a:rPr>
              <a:t>万元，</a:t>
            </a:r>
            <a:endParaRPr/>
          </a:p>
          <a:p>
            <a:pPr>
              <a:lnSpc>
                <a:spcPct val="122000"/>
              </a:lnSpc>
            </a:pPr>
            <a:r>
              <a:rPr lang="zh-CN" sz="3900" b="1">
                <a:solidFill>
                  <a:srgbClr val="1B3557"/>
                </a:solidFill>
                <a:latin typeface="Noto Sans SC"/>
                <a:ea typeface="Noto Sans SC"/>
              </a:rPr>
              <a:t>问题不在客流，在分配</a:t>
            </a:r>
            <a:endParaRPr/>
          </a:p>
        </p:txBody>
      </p:sp>
      <p:sp>
        <p:nvSpPr>
          <p:cNvPr id="6" name="" descr="{&quot;isTemplate&quot;:true,&quot;type&quot;:&quot;text&quot;}"/>
          <p:cNvSpPr txBox="1"/>
          <p:nvPr/>
        </p:nvSpPr>
        <p:spPr>
          <a:xfrm rot="0" flipH="0" flipV="0">
            <a:off x="609600" y="3581400"/>
            <a:ext cx="5810250" cy="962025"/>
          </a:xfrm>
          <a:prstGeom prst="rect"/>
        </p:spPr>
        <p:txBody>
          <a:bodyPr wrap="none" lIns="0" tIns="0" rIns="0" bIns="0"/>
          <a:p>
            <a:pPr>
              <a:lnSpc>
                <a:spcPct val="165000"/>
              </a:lnSpc>
            </a:pPr>
            <a:r>
              <a:rPr lang="en-US" sz="1275">
                <a:solidFill>
                  <a:srgbClr val="5F6975"/>
                </a:solidFill>
                <a:latin typeface="Noto Sans SC"/>
                <a:ea typeface="Noto Sans SC"/>
              </a:rPr>
              <a:t xml:space="preserve"> </a:t>
            </a:r>
            <a:r>
              <a:rPr lang="zh-CN" sz="1275">
                <a:solidFill>
                  <a:srgbClr val="5F6975"/>
                </a:solidFill>
                <a:latin typeface="Noto Sans SC"/>
                <a:ea typeface="Noto Sans SC"/>
              </a:rPr>
              <a:t>这份材料只回答三件事：</a:t>
            </a:r>
            <a:endParaRPr/>
          </a:p>
          <a:p>
            <a:pPr>
              <a:lnSpc>
                <a:spcPct val="165000"/>
              </a:lnSpc>
            </a:pPr>
            <a:r>
              <a:rPr lang="zh-CN" sz="1275">
                <a:solidFill>
                  <a:srgbClr val="5F6975"/>
                </a:solidFill>
                <a:latin typeface="Noto Sans SC"/>
                <a:ea typeface="Noto Sans SC"/>
              </a:rPr>
              <a:t>客人在哪家店、货在哪一步走掉、钱花在哪。</a:t>
            </a:r>
            <a:endParaRPr/>
          </a:p>
          <a:p>
            <a:pPr>
              <a:lnSpc>
                <a:spcPct val="165000"/>
              </a:lnSpc>
            </a:pPr>
            <a:r>
              <a:rPr lang="zh-CN" sz="1275">
                <a:solidFill>
                  <a:srgbClr val="5F6975"/>
                </a:solidFill>
                <a:latin typeface="Noto Sans SC"/>
                <a:ea typeface="Noto Sans SC"/>
              </a:rPr>
              <a:t>每件事都指到具体的店名和商品名。</a:t>
            </a:r>
            <a:endParaRPr/>
          </a:p>
        </p:txBody>
      </p:sp>
      <p:sp>
        <p:nvSpPr>
          <p:cNvPr id="7" name=""/>
          <p:cNvSpPr/>
          <p:nvPr/>
        </p:nvSpPr>
        <p:spPr>
          <a:xfrm rot="0" flipH="0" flipV="0">
            <a:off x="6915150" y="1409700"/>
            <a:ext cx="4191000" cy="3286125"/>
          </a:xfrm>
          <a:prstGeom prst="rect">
            <a:avLst/>
          </a:prstGeom>
          <a:solidFill>
            <a:srgbClr val="F4F6F8"/>
          </a:solidFill>
          <a:ln/>
        </p:spPr>
        <p:txBody>
          <a:bodyPr/>
          <a:p/>
        </p:txBody>
      </p:sp>
      <p:sp>
        <p:nvSpPr>
          <p:cNvPr id="8" name="" descr="{&quot;isTemplate&quot;:true,&quot;type&quot;:&quot;text&quot;}"/>
          <p:cNvSpPr txBox="1"/>
          <p:nvPr/>
        </p:nvSpPr>
        <p:spPr>
          <a:xfrm rot="0" flipH="0" flipV="0">
            <a:off x="7200900" y="1733550"/>
            <a:ext cx="3619500" cy="152400"/>
          </a:xfrm>
          <a:prstGeom prst="rect"/>
        </p:spPr>
        <p:txBody>
          <a:bodyPr wrap="none" lIns="0" tIns="0" rIns="0" bIns="0"/>
          <a:p>
            <a:pPr>
              <a:lnSpc>
                <a:spcPct val="100000"/>
              </a:lnSpc>
            </a:pPr>
            <a:r>
              <a:rPr lang="en-US" sz="975">
                <a:solidFill>
                  <a:srgbClr val="5F6975"/>
                </a:solidFill>
                <a:latin typeface="Noto Sans SC"/>
                <a:ea typeface="Noto Sans SC"/>
              </a:rPr>
              <a:t>18</a:t>
            </a:r>
            <a:r>
              <a:rPr lang="en-US" sz="975">
                <a:solidFill>
                  <a:srgbClr val="5F6975"/>
                </a:solidFill>
                <a:latin typeface="Noto Sans SC"/>
                <a:ea typeface="Noto Sans SC"/>
              </a:rPr>
              <a:t xml:space="preserve"> </a:t>
            </a:r>
            <a:r>
              <a:rPr lang="zh-CN" sz="975">
                <a:solidFill>
                  <a:srgbClr val="5F6975"/>
                </a:solidFill>
                <a:latin typeface="Noto Sans SC"/>
                <a:ea typeface="Noto Sans SC"/>
              </a:rPr>
              <a:t>天成交</a:t>
            </a:r>
            <a:endParaRPr/>
          </a:p>
        </p:txBody>
      </p:sp>
      <p:sp>
        <p:nvSpPr>
          <p:cNvPr id="9" name="" descr="{&quot;isTemplate&quot;:true,&quot;type&quot;:&quot;text&quot;}"/>
          <p:cNvSpPr txBox="1"/>
          <p:nvPr/>
        </p:nvSpPr>
        <p:spPr>
          <a:xfrm rot="0" flipH="0" flipV="0">
            <a:off x="7200900" y="1943100"/>
            <a:ext cx="3619500" cy="390525"/>
          </a:xfrm>
          <a:prstGeom prst="rect"/>
        </p:spPr>
        <p:txBody>
          <a:bodyPr wrap="none" lIns="0" tIns="0" rIns="0" bIns="0"/>
          <a:p>
            <a:pPr>
              <a:lnSpc>
                <a:spcPct val="100000"/>
              </a:lnSpc>
            </a:pPr>
            <a:r>
              <a:rPr lang="en-US" sz="2550" b="1">
                <a:solidFill>
                  <a:srgbClr val="1B3557"/>
                </a:solidFill>
                <a:latin typeface="Noto Sans SC"/>
                <a:ea typeface="Noto Sans SC"/>
              </a:rPr>
              <a:t>49.0</a:t>
            </a:r>
            <a:r>
              <a:rPr lang="zh-CN" sz="2550" b="1">
                <a:solidFill>
                  <a:srgbClr val="1B3557"/>
                </a:solidFill>
                <a:latin typeface="Noto Sans SC"/>
                <a:ea typeface="Noto Sans SC"/>
              </a:rPr>
              <a:t>万元</a:t>
            </a:r>
            <a:endParaRPr/>
          </a:p>
        </p:txBody>
      </p:sp>
      <p:sp>
        <p:nvSpPr>
          <p:cNvPr id="10" name=""/>
          <p:cNvSpPr/>
          <p:nvPr/>
        </p:nvSpPr>
        <p:spPr>
          <a:xfrm rot="0" flipH="0" flipV="0">
            <a:off x="7200900" y="2581275"/>
            <a:ext cx="3619500" cy="9525"/>
          </a:xfrm>
          <a:prstGeom prst="rect">
            <a:avLst/>
          </a:prstGeom>
          <a:solidFill>
            <a:srgbClr val="DDE2E8"/>
          </a:solidFill>
          <a:ln/>
        </p:spPr>
        <p:txBody>
          <a:bodyPr/>
          <a:p/>
        </p:txBody>
      </p:sp>
      <p:sp>
        <p:nvSpPr>
          <p:cNvPr id="11" name="" descr="{&quot;isTemplate&quot;:true,&quot;type&quot;:&quot;text&quot;}"/>
          <p:cNvSpPr txBox="1"/>
          <p:nvPr/>
        </p:nvSpPr>
        <p:spPr>
          <a:xfrm rot="0" flipH="0" flipV="0">
            <a:off x="7200900" y="2838450"/>
            <a:ext cx="3619500" cy="152400"/>
          </a:xfrm>
          <a:prstGeom prst="rect"/>
        </p:spPr>
        <p:txBody>
          <a:bodyPr wrap="none" lIns="0" tIns="0" rIns="0" bIns="0"/>
          <a:p>
            <a:pPr>
              <a:lnSpc>
                <a:spcPct val="100000"/>
              </a:lnSpc>
            </a:pPr>
            <a:r>
              <a:rPr lang="zh-CN" sz="975">
                <a:solidFill>
                  <a:srgbClr val="5F6975"/>
                </a:solidFill>
                <a:latin typeface="Noto Sans SC"/>
                <a:ea typeface="Noto Sans SC"/>
              </a:rPr>
              <a:t>退款</a:t>
            </a:r>
            <a:endParaRPr/>
          </a:p>
        </p:txBody>
      </p:sp>
      <p:sp>
        <p:nvSpPr>
          <p:cNvPr id="12" name="" descr="{&quot;isTemplate&quot;:true,&quot;type&quot;:&quot;text&quot;}"/>
          <p:cNvSpPr txBox="1"/>
          <p:nvPr/>
        </p:nvSpPr>
        <p:spPr>
          <a:xfrm rot="0" flipH="0" flipV="0">
            <a:off x="7200900" y="3048000"/>
            <a:ext cx="3619500" cy="304800"/>
          </a:xfrm>
          <a:prstGeom prst="rect"/>
        </p:spPr>
        <p:txBody>
          <a:bodyPr wrap="none" lIns="0" tIns="0" rIns="0" bIns="0"/>
          <a:p>
            <a:pPr>
              <a:lnSpc>
                <a:spcPct val="100000"/>
              </a:lnSpc>
            </a:pPr>
            <a:r>
              <a:rPr lang="en-US" sz="1950" b="1">
                <a:solidFill>
                  <a:srgbClr val="AE4128"/>
                </a:solidFill>
                <a:latin typeface="Noto Sans SC"/>
                <a:ea typeface="Noto Sans SC"/>
              </a:rPr>
              <a:t>10.2</a:t>
            </a:r>
            <a:r>
              <a:rPr lang="zh-CN" sz="1950" b="1">
                <a:solidFill>
                  <a:srgbClr val="AE4128"/>
                </a:solidFill>
                <a:latin typeface="Noto Sans SC"/>
                <a:ea typeface="Noto Sans SC"/>
              </a:rPr>
              <a:t>万元　</a:t>
            </a:r>
            <a:r>
              <a:rPr lang="en-US" sz="1950" b="1">
                <a:solidFill>
                  <a:srgbClr val="AE4128"/>
                </a:solidFill>
                <a:latin typeface="Noto Sans SC"/>
                <a:ea typeface="Noto Sans SC"/>
              </a:rPr>
              <a:t>20.8%</a:t>
            </a:r>
            <a:endParaRPr/>
          </a:p>
        </p:txBody>
      </p:sp>
      <p:sp>
        <p:nvSpPr>
          <p:cNvPr id="13" name=""/>
          <p:cNvSpPr/>
          <p:nvPr/>
        </p:nvSpPr>
        <p:spPr>
          <a:xfrm rot="0" flipH="0" flipV="0">
            <a:off x="7200900" y="3600450"/>
            <a:ext cx="3619500" cy="9525"/>
          </a:xfrm>
          <a:prstGeom prst="rect">
            <a:avLst/>
          </a:prstGeom>
          <a:solidFill>
            <a:srgbClr val="DDE2E8"/>
          </a:solidFill>
          <a:ln/>
        </p:spPr>
        <p:txBody>
          <a:bodyPr/>
          <a:p/>
        </p:txBody>
      </p:sp>
      <p:sp>
        <p:nvSpPr>
          <p:cNvPr id="14" name="" descr="{&quot;isTemplate&quot;:true,&quot;type&quot;:&quot;text&quot;}"/>
          <p:cNvSpPr txBox="1"/>
          <p:nvPr/>
        </p:nvSpPr>
        <p:spPr>
          <a:xfrm rot="0" flipH="0" flipV="0">
            <a:off x="7200900" y="3857625"/>
            <a:ext cx="3619500" cy="152400"/>
          </a:xfrm>
          <a:prstGeom prst="rect"/>
        </p:spPr>
        <p:txBody>
          <a:bodyPr wrap="none" lIns="0" tIns="0" rIns="0" bIns="0"/>
          <a:p>
            <a:pPr>
              <a:lnSpc>
                <a:spcPct val="100000"/>
              </a:lnSpc>
            </a:pPr>
            <a:r>
              <a:rPr lang="zh-CN" sz="975">
                <a:solidFill>
                  <a:srgbClr val="5F6975"/>
                </a:solidFill>
                <a:latin typeface="Noto Sans SC"/>
                <a:ea typeface="Noto Sans SC"/>
              </a:rPr>
              <a:t>广告花费</a:t>
            </a:r>
            <a:r>
              <a:rPr lang="en-US" sz="975">
                <a:solidFill>
                  <a:srgbClr val="5F6975"/>
                </a:solidFill>
                <a:latin typeface="Noto Sans SC"/>
                <a:ea typeface="Noto Sans SC"/>
              </a:rPr>
              <a:t>/</a:t>
            </a:r>
            <a:r>
              <a:rPr lang="en-US" sz="975">
                <a:solidFill>
                  <a:srgbClr val="5F6975"/>
                </a:solidFill>
                <a:latin typeface="Noto Sans SC"/>
                <a:ea typeface="Noto Sans SC"/>
              </a:rPr>
              <a:t xml:space="preserve"> </a:t>
            </a:r>
            <a:r>
              <a:rPr lang="zh-CN" sz="975">
                <a:solidFill>
                  <a:srgbClr val="5F6975"/>
                </a:solidFill>
                <a:latin typeface="Noto Sans SC"/>
                <a:ea typeface="Noto Sans SC"/>
              </a:rPr>
              <a:t>带回成交（</a:t>
            </a:r>
            <a:r>
              <a:rPr lang="en-US" sz="975">
                <a:solidFill>
                  <a:srgbClr val="5F6975"/>
                </a:solidFill>
                <a:latin typeface="Noto Sans SC"/>
                <a:ea typeface="Noto Sans SC"/>
              </a:rPr>
              <a:t>18</a:t>
            </a:r>
            <a:r>
              <a:rPr lang="en-US" sz="975">
                <a:solidFill>
                  <a:srgbClr val="5F6975"/>
                </a:solidFill>
                <a:latin typeface="Noto Sans SC"/>
                <a:ea typeface="Noto Sans SC"/>
              </a:rPr>
              <a:t xml:space="preserve"> </a:t>
            </a:r>
            <a:r>
              <a:rPr lang="zh-CN" sz="975">
                <a:solidFill>
                  <a:srgbClr val="5F6975"/>
                </a:solidFill>
                <a:latin typeface="Noto Sans SC"/>
                <a:ea typeface="Noto Sans SC"/>
              </a:rPr>
              <a:t>天）</a:t>
            </a:r>
            <a:endParaRPr/>
          </a:p>
        </p:txBody>
      </p:sp>
      <p:sp>
        <p:nvSpPr>
          <p:cNvPr id="15" name="" descr="{&quot;isTemplate&quot;:true,&quot;type&quot;:&quot;text&quot;}"/>
          <p:cNvSpPr txBox="1"/>
          <p:nvPr/>
        </p:nvSpPr>
        <p:spPr>
          <a:xfrm rot="0" flipH="0" flipV="0">
            <a:off x="7200900" y="4067175"/>
            <a:ext cx="3619500" cy="304800"/>
          </a:xfrm>
          <a:prstGeom prst="rect"/>
        </p:spPr>
        <p:txBody>
          <a:bodyPr wrap="none" lIns="0" tIns="0" rIns="0" bIns="0"/>
          <a:p>
            <a:pPr>
              <a:lnSpc>
                <a:spcPct val="100000"/>
              </a:lnSpc>
            </a:pPr>
            <a:r>
              <a:rPr lang="en-US" sz="1950" b="1">
                <a:solidFill>
                  <a:srgbClr val="1B3557"/>
                </a:solidFill>
                <a:latin typeface="Noto Sans SC"/>
                <a:ea typeface="Noto Sans SC"/>
              </a:rPr>
              <a:t>4.0</a:t>
            </a:r>
            <a:r>
              <a:rPr lang="zh-CN" sz="1950" b="1">
                <a:solidFill>
                  <a:srgbClr val="1B3557"/>
                </a:solidFill>
                <a:latin typeface="Noto Sans SC"/>
                <a:ea typeface="Noto Sans SC"/>
              </a:rPr>
              <a:t>万元　</a:t>
            </a:r>
            <a:r>
              <a:rPr lang="en-US" sz="1950" b="1">
                <a:solidFill>
                  <a:srgbClr val="1B3557"/>
                </a:solidFill>
                <a:latin typeface="Noto Sans SC"/>
                <a:ea typeface="Noto Sans SC"/>
              </a:rPr>
              <a:t>11.3</a:t>
            </a:r>
            <a:r>
              <a:rPr lang="zh-CN" sz="1950" b="1">
                <a:solidFill>
                  <a:srgbClr val="1B3557"/>
                </a:solidFill>
                <a:latin typeface="Noto Sans SC"/>
                <a:ea typeface="Noto Sans SC"/>
              </a:rPr>
              <a:t>万元</a:t>
            </a:r>
            <a:endParaRPr/>
          </a:p>
        </p:txBody>
      </p:sp>
      <p:sp>
        <p:nvSpPr>
          <p:cNvPr id="16" name="" descr="{&quot;isTemplate&quot;:true,&quot;type&quot;:&quot;text&quot;}"/>
          <p:cNvSpPr txBox="1"/>
          <p:nvPr/>
        </p:nvSpPr>
        <p:spPr>
          <a:xfrm rot="0" flipH="0" flipV="0">
            <a:off x="609600" y="6019800"/>
            <a:ext cx="3267075" cy="152400"/>
          </a:xfrm>
          <a:prstGeom prst="rect"/>
        </p:spPr>
        <p:txBody>
          <a:bodyPr wrap="none" lIns="0" tIns="0" rIns="0" bIns="0"/>
          <a:p>
            <a:pPr>
              <a:lnSpc>
                <a:spcPct val="100000"/>
              </a:lnSpc>
            </a:pPr>
            <a:r>
              <a:rPr lang="zh-CN" sz="975">
                <a:solidFill>
                  <a:srgbClr val="5F6975"/>
                </a:solidFill>
                <a:latin typeface="Noto Sans SC"/>
                <a:ea typeface="Noto Sans SC"/>
              </a:rPr>
              <a:t>数据区间</a:t>
            </a:r>
            <a:r>
              <a:rPr lang="en-US" sz="975">
                <a:solidFill>
                  <a:srgbClr val="5F6975"/>
                </a:solidFill>
                <a:latin typeface="Noto Sans SC"/>
                <a:ea typeface="Noto Sans SC"/>
              </a:rPr>
              <a:t>2026-10-01</a:t>
            </a:r>
            <a:r>
              <a:rPr lang="en-US" sz="975">
                <a:solidFill>
                  <a:srgbClr val="5F6975"/>
                </a:solidFill>
                <a:latin typeface="Noto Sans SC"/>
                <a:ea typeface="Noto Sans SC"/>
              </a:rPr>
              <a:t xml:space="preserve"> </a:t>
            </a:r>
            <a:r>
              <a:rPr lang="zh-CN" sz="975">
                <a:solidFill>
                  <a:srgbClr val="5F6975"/>
                </a:solidFill>
                <a:latin typeface="Noto Sans SC"/>
                <a:ea typeface="Noto Sans SC"/>
              </a:rPr>
              <a:t>至</a:t>
            </a:r>
            <a:r>
              <a:rPr lang="en-US" sz="975">
                <a:solidFill>
                  <a:srgbClr val="5F6975"/>
                </a:solidFill>
                <a:latin typeface="Noto Sans SC"/>
                <a:ea typeface="Noto Sans SC"/>
              </a:rPr>
              <a:t>2026-10-18</a:t>
            </a:r>
            <a:r>
              <a:rPr lang="zh-CN" sz="975">
                <a:solidFill>
                  <a:srgbClr val="5F6975"/>
                </a:solidFill>
                <a:latin typeface="Noto Sans SC"/>
                <a:ea typeface="Noto Sans SC"/>
              </a:rPr>
              <a:t>（</a:t>
            </a:r>
            <a:r>
              <a:rPr lang="en-US" sz="975">
                <a:solidFill>
                  <a:srgbClr val="5F6975"/>
                </a:solidFill>
                <a:latin typeface="Noto Sans SC"/>
                <a:ea typeface="Noto Sans SC"/>
              </a:rPr>
              <a:t>18</a:t>
            </a:r>
            <a:r>
              <a:rPr lang="en-US" sz="975">
                <a:solidFill>
                  <a:srgbClr val="5F6975"/>
                </a:solidFill>
                <a:latin typeface="Noto Sans SC"/>
                <a:ea typeface="Noto Sans SC"/>
              </a:rPr>
              <a:t xml:space="preserve"> </a:t>
            </a:r>
            <a:r>
              <a:rPr lang="zh-CN" sz="975">
                <a:solidFill>
                  <a:srgbClr val="5F6975"/>
                </a:solidFill>
                <a:latin typeface="Noto Sans SC"/>
                <a:ea typeface="Noto Sans SC"/>
              </a:rPr>
              <a:t>天）　</a:t>
            </a:r>
            <a:r>
              <a:rPr sz="975">
                <a:solidFill>
                  <a:srgbClr val="5F6975"/>
                </a:solidFill>
                <a:latin typeface="Noto Sans SC"/>
                <a:ea typeface="Noto Sans SC"/>
              </a:rPr>
              <a:t>·</a:t>
            </a:r>
            <a:r>
              <a:rPr lang="zh-CN" sz="975">
                <a:solidFill>
                  <a:srgbClr val="5F6975"/>
                </a:solidFill>
                <a:latin typeface="Noto Sans SC"/>
                <a:ea typeface="Noto Sans SC"/>
              </a:rPr>
              <a:t>　</a:t>
            </a:r>
            <a:r>
              <a:rPr lang="en-US" sz="975">
                <a:solidFill>
                  <a:srgbClr val="5F6975"/>
                </a:solidFill>
                <a:latin typeface="Noto Sans SC"/>
                <a:ea typeface="Noto Sans SC"/>
              </a:rPr>
              <a:t>12</a:t>
            </a:r>
            <a:r>
              <a:rPr lang="en-US" sz="975">
                <a:solidFill>
                  <a:srgbClr val="5F6975"/>
                </a:solidFill>
                <a:latin typeface="Noto Sans SC"/>
                <a:ea typeface="Noto Sans SC"/>
              </a:rPr>
              <a:t xml:space="preserve"> </a:t>
            </a:r>
            <a:r>
              <a:rPr lang="zh-CN" sz="975">
                <a:solidFill>
                  <a:srgbClr val="5F6975"/>
                </a:solidFill>
                <a:latin typeface="Noto Sans SC"/>
                <a:ea typeface="Noto Sans SC"/>
              </a:rPr>
              <a:t>家店铺</a:t>
            </a:r>
            <a:endParaRPr/>
          </a:p>
        </p:txBody>
      </p:sp>
      <p:sp>
        <p:nvSpPr>
          <p:cNvPr id="17" name="" descr="{&quot;isTemplate&quot;:true,&quot;type&quot;:&quot;text&quot;}"/>
          <p:cNvSpPr txBox="1"/>
          <p:nvPr/>
        </p:nvSpPr>
        <p:spPr>
          <a:xfrm rot="0" flipH="0" flipV="0">
            <a:off x="9372600" y="6019800"/>
            <a:ext cx="2209800" cy="152400"/>
          </a:xfrm>
          <a:prstGeom prst="rect"/>
        </p:spPr>
        <p:txBody>
          <a:bodyPr wrap="none" lIns="0" tIns="0" rIns="0" bIns="0"/>
          <a:p>
            <a:pPr>
              <a:lnSpc>
                <a:spcPct val="100000"/>
              </a:lnSpc>
            </a:pPr>
            <a:r>
              <a:rPr lang="zh-CN" sz="975">
                <a:solidFill>
                  <a:srgbClr val="5F6975"/>
                </a:solidFill>
                <a:latin typeface="Noto Sans SC"/>
                <a:ea typeface="Noto Sans SC"/>
              </a:rPr>
              <a:t>快照</a:t>
            </a:r>
            <a:r>
              <a:rPr lang="en-US" sz="975">
                <a:solidFill>
                  <a:srgbClr val="5F6975"/>
                </a:solidFill>
                <a:latin typeface="Noto Sans SC"/>
                <a:ea typeface="Noto Sans SC"/>
              </a:rPr>
              <a:t>2026-10-20</a:t>
            </a:r>
            <a:r>
              <a:rPr lang="zh-CN" sz="975">
                <a:solidFill>
                  <a:srgbClr val="5F6975"/>
                </a:solidFill>
                <a:latin typeface="Noto Sans SC"/>
                <a:ea typeface="Noto Sans SC"/>
              </a:rPr>
              <a:t>　</a:t>
            </a:r>
            <a:r>
              <a:rPr sz="975">
                <a:solidFill>
                  <a:srgbClr val="5F6975"/>
                </a:solidFill>
                <a:latin typeface="Noto Sans SC"/>
                <a:ea typeface="Noto Sans SC"/>
              </a:rPr>
              <a:t>·</a:t>
            </a:r>
            <a:r>
              <a:rPr lang="zh-CN" sz="975">
                <a:solidFill>
                  <a:srgbClr val="5F6975"/>
                </a:solidFill>
                <a:latin typeface="Noto Sans SC"/>
                <a:ea typeface="Noto Sans SC"/>
              </a:rPr>
              <a:t>　全部指标同一窗口</a:t>
            </a:r>
            <a:endParaRPr/>
          </a:p>
        </p:txBody>
      </p:sp>
      <p:sp>
        <p:nvSpPr>
          <p:cNvPr id="18" name="" descr="{&quot;isTemplate&quot;:true,&quot;type&quot;:&quot;text&quot;}"/>
          <p:cNvSpPr txBox="1"/>
          <p:nvPr/>
        </p:nvSpPr>
        <p:spPr>
          <a:xfrm rot="0" flipH="0" flipV="0">
            <a:off x="609600" y="64008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19" name="" descr="{&quot;isTemplate&quot;:true,&quot;type&quot;:&quot;text&quot;}"/>
          <p:cNvSpPr txBox="1"/>
          <p:nvPr/>
        </p:nvSpPr>
        <p:spPr>
          <a:xfrm rot="0" flipH="0" flipV="0">
            <a:off x="11268075" y="6400800"/>
            <a:ext cx="314325" cy="152400"/>
          </a:xfrm>
          <a:prstGeom prst="rect"/>
        </p:spPr>
        <p:txBody>
          <a:bodyPr wrap="none" lIns="0" tIns="0" rIns="0" bIns="0"/>
          <a:p>
            <a:pPr>
              <a:lnSpc>
                <a:spcPct val="100000"/>
              </a:lnSpc>
            </a:pPr>
            <a:r>
              <a:rPr lang="en-US" sz="975">
                <a:solidFill>
                  <a:srgbClr val="5F6975"/>
                </a:solidFill>
                <a:latin typeface="Noto Sans SC"/>
                <a:ea typeface="Noto Sans SC"/>
              </a:rPr>
              <a:t>01</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2.xml><?xml version="1.0" encoding="utf-8"?>
<p:sld xmlns:p="http://schemas.openxmlformats.org/presentationml/2006/main" xmlns:a="http://schemas.openxmlformats.org/drawingml/2006/main">
  <p:cSld>
    <p:spTree>
      <p:nvGrpSpPr>
        <p:cNvPr id="411" name="" descr="&lt;Slide style={{ width: '1280px', height: '720px', background: '#FFFFFF', fontFamily: 'Noto Sans SC', padding: '20px 64px', flexDirection: 'column' }}&gt;&lt;Box style={{ height: '96px', flexDirection: 'column', justifyContent: 'center' }}&gt;&lt;Text style={{ fontSize: '31px', fontWeight: 700, color: '#1B3557', lineHeight: 1.25 }}&gt;三件事，每件都能指到具体的店和货&lt;/Text&gt;&lt;Text style={{ fontSize: '15px', color: '#5F6975', lineHeight: 1.4, marginTop: '6px' }}&gt;这一页看完就知道问题在哪；后面每一页给出名字、数字和动作。&lt;/Text&gt;&lt;/Box&gt;&lt;Box style={{ height: '540px', flexDirection: 'row', gap: '20px' }}&gt;&lt;Box style={{ flex: 1, background: '#F4F6F8', padding: '26px 22px', flexDirection: 'column' }}&gt;&lt;Text style={{ fontSize: '34px', fontWeight: 700, color: '#A97B28', lineHeight: 1 }}&gt;{'01'}&lt;/Text&gt;&lt;Text style={{ fontSize: '19px', fontWeight: 700, color: '#1B3557', marginTop: '14px' }}&gt;客人在哪家店&lt;/Text&gt;&lt;Text style={{ fontSize: '15px', color: '#15181D', lineHeight: 1.7, marginTop: '12px' }}&gt;{'72.7%'} 的客人，进了成交最差的{'4'} 家店，只换回{'30.5%'} 的销售额。&lt;/Text&gt;&lt;Box style={{ height: '1px', background: '#DDE2E8', marginTop: '18px', marginBottom: '14px' }} /&gt;&lt;Text style={{ fontSize: '12.5px', color: '#5F6975', lineHeight: 1.6 }}&gt;盖文全卫定制、Paola Lenti保拉伦蒂、网林全卫定制、科塔全卫定制&lt;/Text&gt;&lt;/Box&gt;&lt;Box style={{ flex: 1, background: '#F4F6F8', padding: '26px 22px', flexDirection: 'column' }}&gt;&lt;Text style={{ fontSize: '34px', fontWeight: 700, color: '#A97B28', lineHeight: 1 }}&gt;{'02'}&lt;/Text&gt;&lt;Text style={{ fontSize: '19px', fontWeight: 700, color: '#1B3557', marginTop: '14px' }}&gt;货卖不动在哪&lt;/Text&gt;&lt;Text style={{ fontSize: '15px', color: '#15181D', lineHeight: 1.7, marginTop: '12px' }}&gt;{'5.3%'} 的商品做出{'80.5%'} 的销售额；访客最多的{'10'} 个洗手盆，吃掉{'61.9%'} 的客人，只做{'5.8%'} 的成交。&lt;/Text&gt;&lt;Box style={{ height: '1px', background: '#DDE2E8', marginTop: '18px', marginBottom: '14px' }} /&gt;&lt;Text style={{ fontSize: '12.5px', color: '#5F6975', lineHeight: 1.6 }}&gt;洗手盆 Top{'3'}：盖文人造石立柱盆、科塔挂墙式洗手盆、网林窄边洗漱盆&lt;/Text&gt;&lt;/Box&gt;&lt;Box style={{ flex: 1, background: '#F4F6F8', padding: '26px 22px', flexDirection: 'column' }}&gt;&lt;Text style={{ fontSize: '34px', fontWeight: 700, color: '#A97B28', lineHeight: 1 }}&gt;{'03'}&lt;/Text&gt;&lt;Text style={{ fontSize: '19px', fontWeight: 700, color: '#1B3557', marginTop: '14px' }}&gt;钱花在哪&lt;/Text&gt;&lt;Text style={{ fontSize: '15px', color: '#15181D', lineHeight: 1.7, marginTop: '12px' }}&gt;{'72'} 个零成交商品，{'18'} 天烧掉{'1.31'}万元，占推广费{'47.6%'}。&lt;/Text&gt;&lt;Box style={{ height: '1px', background: '#DDE2E8', marginTop: '18px', marginBottom: '14px' }} /&gt;&lt;Text style={{ fontSize: '12.5px', color: '#5F6975', lineHeight: 1.6 }}&gt;花钱前三：Nicoline 洞石浴缸、Nicoline 哑光粉浴池、盖文侘寂风立柱盆&lt;/Text&gt;&lt;/Box&gt;&lt;/Box&gt;&lt;Box style={{ height: '40px', flexDirection: 'row', justifyContent: 'space-between', alignItems: 'center' }}&gt;&lt;Text style={{ fontSize: '13px', color: '#5F6975' }}&gt;经营数据诊断{'·'}{'2026-10-20'}&lt;/Text&gt;&lt;Text style={{ fontSize: '13px', color: '#5F6975' }}&gt;{'02'}{'/'}{'13'}&lt;/Text&gt;&lt;/Box&gt;&lt;/Slide&gt;&#10;"/>
        <p:cNvGrpSpPr/>
        <p:nvPr/>
      </p:nvGrpSpPr>
      <p:grpSpPr>
        <a:xfrm>
          <a:off x="0" y="0"/>
          <a:ext cx="0" cy="0"/>
          <a:chOff x="0" y="0"/>
          <a:chExt cx="0" cy="0"/>
        </a:xfrm>
      </p:grpSpPr>
      <p:sp>
        <p:nvSpPr>
          <p:cNvPr id="412" name=""/>
          <p:cNvSpPr/>
          <p:nvPr/>
        </p:nvSpPr>
        <p:spPr>
          <a:xfrm rot="0" flipH="0" flipV="0">
            <a:off x="0" y="0"/>
            <a:ext cx="12192000" cy="6858000"/>
          </a:xfrm>
          <a:prstGeom prst="rect">
            <a:avLst/>
          </a:prstGeom>
          <a:solidFill>
            <a:srgbClr val="FFFFFF"/>
          </a:solidFill>
          <a:ln/>
        </p:spPr>
        <p:txBody>
          <a:bodyPr/>
          <a:p/>
        </p:txBody>
      </p:sp>
      <p:sp>
        <p:nvSpPr>
          <p:cNvPr id="413"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三件事，每件都能指到具体的店和货</a:t>
            </a:r>
            <a:endParaRPr/>
          </a:p>
        </p:txBody>
      </p:sp>
      <p:sp>
        <p:nvSpPr>
          <p:cNvPr id="414"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这一页看完就知道问题在哪；后面每一页给出名字、数字和动作。</a:t>
            </a:r>
            <a:endParaRPr/>
          </a:p>
        </p:txBody>
      </p:sp>
      <p:sp>
        <p:nvSpPr>
          <p:cNvPr id="415" name=""/>
          <p:cNvSpPr/>
          <p:nvPr/>
        </p:nvSpPr>
        <p:spPr>
          <a:xfrm rot="0" flipH="0" flipV="0">
            <a:off x="609600" y="1104900"/>
            <a:ext cx="3533775" cy="5143500"/>
          </a:xfrm>
          <a:prstGeom prst="rect">
            <a:avLst/>
          </a:prstGeom>
          <a:solidFill>
            <a:srgbClr val="F4F6F8"/>
          </a:solidFill>
          <a:ln/>
        </p:spPr>
        <p:txBody>
          <a:bodyPr/>
          <a:p/>
        </p:txBody>
      </p:sp>
      <p:sp>
        <p:nvSpPr>
          <p:cNvPr id="416" name="" descr="{&quot;isTemplate&quot;:true,&quot;type&quot;:&quot;text&quot;}"/>
          <p:cNvSpPr txBox="1"/>
          <p:nvPr/>
        </p:nvSpPr>
        <p:spPr>
          <a:xfrm rot="0" flipH="0" flipV="0">
            <a:off x="819150" y="1352550"/>
            <a:ext cx="3114675" cy="390525"/>
          </a:xfrm>
          <a:prstGeom prst="rect"/>
        </p:spPr>
        <p:txBody>
          <a:bodyPr wrap="none" lIns="0" tIns="0" rIns="0" bIns="0"/>
          <a:p>
            <a:pPr>
              <a:lnSpc>
                <a:spcPct val="100000"/>
              </a:lnSpc>
            </a:pPr>
            <a:r>
              <a:rPr lang="en-US" sz="2550" b="1">
                <a:solidFill>
                  <a:srgbClr val="A97B28"/>
                </a:solidFill>
                <a:latin typeface="Noto Sans SC"/>
                <a:ea typeface="Noto Sans SC"/>
              </a:rPr>
              <a:t>01</a:t>
            </a:r>
            <a:endParaRPr/>
          </a:p>
        </p:txBody>
      </p:sp>
      <p:sp>
        <p:nvSpPr>
          <p:cNvPr id="417" name="" descr="{&quot;isTemplate&quot;:true,&quot;type&quot;:&quot;text&quot;}"/>
          <p:cNvSpPr txBox="1"/>
          <p:nvPr/>
        </p:nvSpPr>
        <p:spPr>
          <a:xfrm rot="0" flipH="0" flipV="0">
            <a:off x="819150" y="1876425"/>
            <a:ext cx="3114675" cy="219075"/>
          </a:xfrm>
          <a:prstGeom prst="rect"/>
        </p:spPr>
        <p:txBody>
          <a:bodyPr wrap="none" lIns="0" tIns="0" rIns="0" bIns="0"/>
          <a:p>
            <a:pPr>
              <a:lnSpc>
                <a:spcPct val="100000"/>
              </a:lnSpc>
            </a:pPr>
            <a:r>
              <a:rPr lang="zh-CN" sz="1425" b="1">
                <a:solidFill>
                  <a:srgbClr val="1B3557"/>
                </a:solidFill>
                <a:latin typeface="Noto Sans SC"/>
                <a:ea typeface="Noto Sans SC"/>
              </a:rPr>
              <a:t>客人在哪家店</a:t>
            </a:r>
            <a:endParaRPr/>
          </a:p>
        </p:txBody>
      </p:sp>
      <p:sp>
        <p:nvSpPr>
          <p:cNvPr id="418" name="" descr="{&quot;isTemplate&quot;:true,&quot;type&quot;:&quot;text&quot;}"/>
          <p:cNvSpPr txBox="1"/>
          <p:nvPr/>
        </p:nvSpPr>
        <p:spPr>
          <a:xfrm rot="0" flipH="0" flipV="0">
            <a:off x="819150" y="2209800"/>
            <a:ext cx="3114675" cy="590550"/>
          </a:xfrm>
          <a:prstGeom prst="rect"/>
        </p:spPr>
        <p:txBody>
          <a:bodyPr wrap="square" lIns="0" tIns="0" rIns="0" bIns="0">
            <a:normAutofit/>
          </a:bodyPr>
          <a:p>
            <a:pPr>
              <a:lnSpc>
                <a:spcPct val="170000"/>
              </a:lnSpc>
            </a:pPr>
            <a:r>
              <a:rPr lang="en-US" sz="1125">
                <a:solidFill>
                  <a:srgbClr val="15181D"/>
                </a:solidFill>
                <a:latin typeface="Noto Sans SC"/>
                <a:ea typeface="Noto Sans SC"/>
              </a:rPr>
              <a:t>72.7%</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的客人，进了成交最差的</a:t>
            </a:r>
            <a:r>
              <a:rPr lang="en-US" sz="1125">
                <a:solidFill>
                  <a:srgbClr val="15181D"/>
                </a:solidFill>
                <a:latin typeface="Noto Sans SC"/>
                <a:ea typeface="Noto Sans SC"/>
              </a:rPr>
              <a:t>4</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家店，只换回</a:t>
            </a:r>
            <a:r>
              <a:rPr lang="en-US" sz="1125">
                <a:solidFill>
                  <a:srgbClr val="15181D"/>
                </a:solidFill>
                <a:latin typeface="Noto Sans SC"/>
                <a:ea typeface="Noto Sans SC"/>
              </a:rPr>
              <a:t>30.5%</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的销售额。</a:t>
            </a:r>
            <a:endParaRPr/>
          </a:p>
        </p:txBody>
      </p:sp>
      <p:sp>
        <p:nvSpPr>
          <p:cNvPr id="419" name=""/>
          <p:cNvSpPr/>
          <p:nvPr/>
        </p:nvSpPr>
        <p:spPr>
          <a:xfrm rot="0" flipH="0" flipV="0">
            <a:off x="819150" y="2971800"/>
            <a:ext cx="3114675" cy="9525"/>
          </a:xfrm>
          <a:prstGeom prst="rect">
            <a:avLst/>
          </a:prstGeom>
          <a:solidFill>
            <a:srgbClr val="DDE2E8"/>
          </a:solidFill>
          <a:ln/>
        </p:spPr>
        <p:txBody>
          <a:bodyPr/>
          <a:p/>
        </p:txBody>
      </p:sp>
      <p:sp>
        <p:nvSpPr>
          <p:cNvPr id="420" name="" descr="{&quot;isTemplate&quot;:true,&quot;type&quot;:&quot;text&quot;}"/>
          <p:cNvSpPr txBox="1"/>
          <p:nvPr/>
        </p:nvSpPr>
        <p:spPr>
          <a:xfrm rot="0" flipH="0" flipV="0">
            <a:off x="819150" y="3114675"/>
            <a:ext cx="3114675" cy="457200"/>
          </a:xfrm>
          <a:prstGeom prst="rect"/>
        </p:spPr>
        <p:txBody>
          <a:bodyPr wrap="square" lIns="0" tIns="0" rIns="0" bIns="0">
            <a:normAutofit/>
          </a:bodyPr>
          <a:p>
            <a:pPr>
              <a:lnSpc>
                <a:spcPct val="160000"/>
              </a:lnSpc>
            </a:pPr>
            <a:r>
              <a:rPr lang="zh-CN" sz="938">
                <a:solidFill>
                  <a:srgbClr val="5F6975"/>
                </a:solidFill>
                <a:latin typeface="Noto Sans SC"/>
                <a:ea typeface="Noto Sans SC"/>
              </a:rPr>
              <a:t>盖文全卫定制、</a:t>
            </a:r>
            <a:r>
              <a:rPr lang="en-US" sz="938">
                <a:solidFill>
                  <a:srgbClr val="5F6975"/>
                </a:solidFill>
                <a:latin typeface="Noto Sans SC"/>
                <a:ea typeface="Noto Sans SC"/>
              </a:rPr>
              <a:t>Paola Lenti</a:t>
            </a:r>
            <a:r>
              <a:rPr lang="zh-CN" sz="938">
                <a:solidFill>
                  <a:srgbClr val="5F6975"/>
                </a:solidFill>
                <a:latin typeface="Noto Sans SC"/>
                <a:ea typeface="Noto Sans SC"/>
              </a:rPr>
              <a:t>保拉伦蒂、网林全卫定制、科塔全卫定制</a:t>
            </a:r>
            <a:endParaRPr/>
          </a:p>
        </p:txBody>
      </p:sp>
      <p:sp>
        <p:nvSpPr>
          <p:cNvPr id="421" name=""/>
          <p:cNvSpPr/>
          <p:nvPr/>
        </p:nvSpPr>
        <p:spPr>
          <a:xfrm rot="0" flipH="0" flipV="0">
            <a:off x="4333875" y="1104900"/>
            <a:ext cx="3524250" cy="5143500"/>
          </a:xfrm>
          <a:prstGeom prst="rect">
            <a:avLst/>
          </a:prstGeom>
          <a:solidFill>
            <a:srgbClr val="F4F6F8"/>
          </a:solidFill>
          <a:ln/>
        </p:spPr>
        <p:txBody>
          <a:bodyPr/>
          <a:p/>
        </p:txBody>
      </p:sp>
      <p:sp>
        <p:nvSpPr>
          <p:cNvPr id="422" name="" descr="{&quot;isTemplate&quot;:true,&quot;type&quot;:&quot;text&quot;}"/>
          <p:cNvSpPr txBox="1"/>
          <p:nvPr/>
        </p:nvSpPr>
        <p:spPr>
          <a:xfrm rot="0" flipH="0" flipV="0">
            <a:off x="4543425" y="1352550"/>
            <a:ext cx="3105150" cy="390525"/>
          </a:xfrm>
          <a:prstGeom prst="rect"/>
        </p:spPr>
        <p:txBody>
          <a:bodyPr wrap="none" lIns="0" tIns="0" rIns="0" bIns="0"/>
          <a:p>
            <a:pPr>
              <a:lnSpc>
                <a:spcPct val="100000"/>
              </a:lnSpc>
            </a:pPr>
            <a:r>
              <a:rPr lang="en-US" sz="2550" b="1">
                <a:solidFill>
                  <a:srgbClr val="A97B28"/>
                </a:solidFill>
                <a:latin typeface="Noto Sans SC"/>
                <a:ea typeface="Noto Sans SC"/>
              </a:rPr>
              <a:t>02</a:t>
            </a:r>
            <a:endParaRPr/>
          </a:p>
        </p:txBody>
      </p:sp>
      <p:sp>
        <p:nvSpPr>
          <p:cNvPr id="423" name="" descr="{&quot;isTemplate&quot;:true,&quot;type&quot;:&quot;text&quot;}"/>
          <p:cNvSpPr txBox="1"/>
          <p:nvPr/>
        </p:nvSpPr>
        <p:spPr>
          <a:xfrm rot="0" flipH="0" flipV="0">
            <a:off x="4543425" y="1876425"/>
            <a:ext cx="3105150" cy="219075"/>
          </a:xfrm>
          <a:prstGeom prst="rect"/>
        </p:spPr>
        <p:txBody>
          <a:bodyPr wrap="none" lIns="0" tIns="0" rIns="0" bIns="0"/>
          <a:p>
            <a:pPr>
              <a:lnSpc>
                <a:spcPct val="100000"/>
              </a:lnSpc>
            </a:pPr>
            <a:r>
              <a:rPr lang="zh-CN" sz="1425" b="1">
                <a:solidFill>
                  <a:srgbClr val="1B3557"/>
                </a:solidFill>
                <a:latin typeface="Noto Sans SC"/>
                <a:ea typeface="Noto Sans SC"/>
              </a:rPr>
              <a:t>货卖不动在哪</a:t>
            </a:r>
            <a:endParaRPr/>
          </a:p>
        </p:txBody>
      </p:sp>
      <p:sp>
        <p:nvSpPr>
          <p:cNvPr id="424" name="" descr="{&quot;isTemplate&quot;:true,&quot;type&quot;:&quot;text&quot;}"/>
          <p:cNvSpPr txBox="1"/>
          <p:nvPr/>
        </p:nvSpPr>
        <p:spPr>
          <a:xfrm rot="0" flipH="0" flipV="0">
            <a:off x="4543425" y="2209800"/>
            <a:ext cx="3105150" cy="876300"/>
          </a:xfrm>
          <a:prstGeom prst="rect"/>
        </p:spPr>
        <p:txBody>
          <a:bodyPr wrap="square" lIns="0" tIns="0" rIns="0" bIns="0">
            <a:normAutofit/>
          </a:bodyPr>
          <a:p>
            <a:pPr>
              <a:lnSpc>
                <a:spcPct val="170000"/>
              </a:lnSpc>
            </a:pPr>
            <a:r>
              <a:rPr lang="en-US" sz="1125">
                <a:solidFill>
                  <a:srgbClr val="15181D"/>
                </a:solidFill>
                <a:latin typeface="Noto Sans SC"/>
                <a:ea typeface="Noto Sans SC"/>
              </a:rPr>
              <a:t>5.3%</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的商品做出</a:t>
            </a:r>
            <a:r>
              <a:rPr lang="en-US" sz="1125">
                <a:solidFill>
                  <a:srgbClr val="15181D"/>
                </a:solidFill>
                <a:latin typeface="Noto Sans SC"/>
                <a:ea typeface="Noto Sans SC"/>
              </a:rPr>
              <a:t>80.5%</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的销售额；访客最多的</a:t>
            </a:r>
            <a:r>
              <a:rPr lang="en-US" sz="1125">
                <a:solidFill>
                  <a:srgbClr val="15181D"/>
                </a:solidFill>
                <a:latin typeface="Noto Sans SC"/>
                <a:ea typeface="Noto Sans SC"/>
              </a:rPr>
              <a:t>10</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个洗手盆，吃掉</a:t>
            </a:r>
            <a:r>
              <a:rPr lang="en-US" sz="1125">
                <a:solidFill>
                  <a:srgbClr val="15181D"/>
                </a:solidFill>
                <a:latin typeface="Noto Sans SC"/>
                <a:ea typeface="Noto Sans SC"/>
              </a:rPr>
              <a:t>61.9%</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的客人，只做</a:t>
            </a:r>
            <a:r>
              <a:rPr lang="en-US" sz="1125">
                <a:solidFill>
                  <a:srgbClr val="15181D"/>
                </a:solidFill>
                <a:latin typeface="Noto Sans SC"/>
                <a:ea typeface="Noto Sans SC"/>
              </a:rPr>
              <a:t>5.8%</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的成交。</a:t>
            </a:r>
            <a:endParaRPr/>
          </a:p>
        </p:txBody>
      </p:sp>
      <p:sp>
        <p:nvSpPr>
          <p:cNvPr id="425" name=""/>
          <p:cNvSpPr/>
          <p:nvPr/>
        </p:nvSpPr>
        <p:spPr>
          <a:xfrm rot="0" flipH="0" flipV="0">
            <a:off x="4543425" y="3257550"/>
            <a:ext cx="3105150" cy="9525"/>
          </a:xfrm>
          <a:prstGeom prst="rect">
            <a:avLst/>
          </a:prstGeom>
          <a:solidFill>
            <a:srgbClr val="DDE2E8"/>
          </a:solidFill>
          <a:ln/>
        </p:spPr>
        <p:txBody>
          <a:bodyPr/>
          <a:p/>
        </p:txBody>
      </p:sp>
      <p:sp>
        <p:nvSpPr>
          <p:cNvPr id="426" name="" descr="{&quot;isTemplate&quot;:true,&quot;type&quot;:&quot;text&quot;}"/>
          <p:cNvSpPr txBox="1"/>
          <p:nvPr/>
        </p:nvSpPr>
        <p:spPr>
          <a:xfrm rot="0" flipH="0" flipV="0">
            <a:off x="4543425" y="3400425"/>
            <a:ext cx="3105150" cy="457200"/>
          </a:xfrm>
          <a:prstGeom prst="rect"/>
        </p:spPr>
        <p:txBody>
          <a:bodyPr wrap="square" lIns="0" tIns="0" rIns="0" bIns="0">
            <a:normAutofit/>
          </a:bodyPr>
          <a:p>
            <a:pPr>
              <a:lnSpc>
                <a:spcPct val="160000"/>
              </a:lnSpc>
            </a:pPr>
            <a:r>
              <a:rPr lang="zh-CN" sz="938">
                <a:solidFill>
                  <a:srgbClr val="5F6975"/>
                </a:solidFill>
                <a:latin typeface="Noto Sans SC"/>
                <a:ea typeface="Noto Sans SC"/>
              </a:rPr>
              <a:t>洗手盆</a:t>
            </a:r>
            <a:r>
              <a:rPr lang="en-US" sz="938">
                <a:solidFill>
                  <a:srgbClr val="5F6975"/>
                </a:solidFill>
                <a:latin typeface="Noto Sans SC"/>
                <a:ea typeface="Noto Sans SC"/>
              </a:rPr>
              <a:t xml:space="preserve"> Top</a:t>
            </a:r>
            <a:r>
              <a:rPr lang="en-US" sz="938">
                <a:solidFill>
                  <a:srgbClr val="5F6975"/>
                </a:solidFill>
                <a:latin typeface="Noto Sans SC"/>
                <a:ea typeface="Noto Sans SC"/>
              </a:rPr>
              <a:t>3</a:t>
            </a:r>
            <a:r>
              <a:rPr lang="zh-CN" sz="938">
                <a:solidFill>
                  <a:srgbClr val="5F6975"/>
                </a:solidFill>
                <a:latin typeface="Noto Sans SC"/>
                <a:ea typeface="Noto Sans SC"/>
              </a:rPr>
              <a:t>：盖文人造石立柱盆、科塔挂墙式洗手盆、网林窄边洗漱盆</a:t>
            </a:r>
            <a:endParaRPr/>
          </a:p>
        </p:txBody>
      </p:sp>
      <p:sp>
        <p:nvSpPr>
          <p:cNvPr id="427" name=""/>
          <p:cNvSpPr/>
          <p:nvPr/>
        </p:nvSpPr>
        <p:spPr>
          <a:xfrm rot="0" flipH="0" flipV="0">
            <a:off x="8048625" y="1104900"/>
            <a:ext cx="3533775" cy="5143500"/>
          </a:xfrm>
          <a:prstGeom prst="rect">
            <a:avLst/>
          </a:prstGeom>
          <a:solidFill>
            <a:srgbClr val="F4F6F8"/>
          </a:solidFill>
          <a:ln/>
        </p:spPr>
        <p:txBody>
          <a:bodyPr/>
          <a:p/>
        </p:txBody>
      </p:sp>
      <p:sp>
        <p:nvSpPr>
          <p:cNvPr id="428" name="" descr="{&quot;isTemplate&quot;:true,&quot;type&quot;:&quot;text&quot;}"/>
          <p:cNvSpPr txBox="1"/>
          <p:nvPr/>
        </p:nvSpPr>
        <p:spPr>
          <a:xfrm rot="0" flipH="0" flipV="0">
            <a:off x="8258175" y="1352550"/>
            <a:ext cx="3114675" cy="390525"/>
          </a:xfrm>
          <a:prstGeom prst="rect"/>
        </p:spPr>
        <p:txBody>
          <a:bodyPr wrap="none" lIns="0" tIns="0" rIns="0" bIns="0"/>
          <a:p>
            <a:pPr>
              <a:lnSpc>
                <a:spcPct val="100000"/>
              </a:lnSpc>
            </a:pPr>
            <a:r>
              <a:rPr lang="en-US" sz="2550" b="1">
                <a:solidFill>
                  <a:srgbClr val="A97B28"/>
                </a:solidFill>
                <a:latin typeface="Noto Sans SC"/>
                <a:ea typeface="Noto Sans SC"/>
              </a:rPr>
              <a:t>03</a:t>
            </a:r>
            <a:endParaRPr/>
          </a:p>
        </p:txBody>
      </p:sp>
      <p:sp>
        <p:nvSpPr>
          <p:cNvPr id="429" name="" descr="{&quot;isTemplate&quot;:true,&quot;type&quot;:&quot;text&quot;}"/>
          <p:cNvSpPr txBox="1"/>
          <p:nvPr/>
        </p:nvSpPr>
        <p:spPr>
          <a:xfrm rot="0" flipH="0" flipV="0">
            <a:off x="8258175" y="1876425"/>
            <a:ext cx="3114675" cy="219075"/>
          </a:xfrm>
          <a:prstGeom prst="rect"/>
        </p:spPr>
        <p:txBody>
          <a:bodyPr wrap="none" lIns="0" tIns="0" rIns="0" bIns="0"/>
          <a:p>
            <a:pPr>
              <a:lnSpc>
                <a:spcPct val="100000"/>
              </a:lnSpc>
            </a:pPr>
            <a:r>
              <a:rPr lang="zh-CN" sz="1425" b="1">
                <a:solidFill>
                  <a:srgbClr val="1B3557"/>
                </a:solidFill>
                <a:latin typeface="Noto Sans SC"/>
                <a:ea typeface="Noto Sans SC"/>
              </a:rPr>
              <a:t>钱花在哪</a:t>
            </a:r>
            <a:endParaRPr/>
          </a:p>
        </p:txBody>
      </p:sp>
      <p:sp>
        <p:nvSpPr>
          <p:cNvPr id="430" name="" descr="{&quot;isTemplate&quot;:true,&quot;type&quot;:&quot;text&quot;}"/>
          <p:cNvSpPr txBox="1"/>
          <p:nvPr/>
        </p:nvSpPr>
        <p:spPr>
          <a:xfrm rot="0" flipH="0" flipV="0">
            <a:off x="8258175" y="2209800"/>
            <a:ext cx="3114675" cy="590550"/>
          </a:xfrm>
          <a:prstGeom prst="rect"/>
        </p:spPr>
        <p:txBody>
          <a:bodyPr wrap="square" lIns="0" tIns="0" rIns="0" bIns="0">
            <a:normAutofit/>
          </a:bodyPr>
          <a:p>
            <a:pPr>
              <a:lnSpc>
                <a:spcPct val="170000"/>
              </a:lnSpc>
            </a:pPr>
            <a:r>
              <a:rPr lang="en-US" sz="1125">
                <a:solidFill>
                  <a:srgbClr val="15181D"/>
                </a:solidFill>
                <a:latin typeface="Noto Sans SC"/>
                <a:ea typeface="Noto Sans SC"/>
              </a:rPr>
              <a:t>72</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个零成交商品，</a:t>
            </a:r>
            <a:r>
              <a:rPr lang="en-US" sz="1125">
                <a:solidFill>
                  <a:srgbClr val="15181D"/>
                </a:solidFill>
                <a:latin typeface="Noto Sans SC"/>
                <a:ea typeface="Noto Sans SC"/>
              </a:rPr>
              <a:t>18</a:t>
            </a:r>
            <a:r>
              <a:rPr lang="en-US" sz="1125">
                <a:solidFill>
                  <a:srgbClr val="15181D"/>
                </a:solidFill>
                <a:latin typeface="Noto Sans SC"/>
                <a:ea typeface="Noto Sans SC"/>
              </a:rPr>
              <a:t xml:space="preserve"> </a:t>
            </a:r>
            <a:r>
              <a:rPr lang="zh-CN" sz="1125">
                <a:solidFill>
                  <a:srgbClr val="15181D"/>
                </a:solidFill>
                <a:latin typeface="Noto Sans SC"/>
                <a:ea typeface="Noto Sans SC"/>
              </a:rPr>
              <a:t>天烧掉</a:t>
            </a:r>
            <a:r>
              <a:rPr lang="en-US" sz="1125">
                <a:solidFill>
                  <a:srgbClr val="15181D"/>
                </a:solidFill>
                <a:latin typeface="Noto Sans SC"/>
                <a:ea typeface="Noto Sans SC"/>
              </a:rPr>
              <a:t>1.31</a:t>
            </a:r>
            <a:r>
              <a:rPr lang="zh-CN" sz="1125">
                <a:solidFill>
                  <a:srgbClr val="15181D"/>
                </a:solidFill>
                <a:latin typeface="Noto Sans SC"/>
                <a:ea typeface="Noto Sans SC"/>
              </a:rPr>
              <a:t>万元，占推广费</a:t>
            </a:r>
            <a:r>
              <a:rPr lang="en-US" sz="1125">
                <a:solidFill>
                  <a:srgbClr val="15181D"/>
                </a:solidFill>
                <a:latin typeface="Noto Sans SC"/>
                <a:ea typeface="Noto Sans SC"/>
              </a:rPr>
              <a:t>47.6%</a:t>
            </a:r>
            <a:r>
              <a:rPr lang="zh-CN" sz="1125">
                <a:solidFill>
                  <a:srgbClr val="15181D"/>
                </a:solidFill>
                <a:latin typeface="Noto Sans SC"/>
                <a:ea typeface="Noto Sans SC"/>
              </a:rPr>
              <a:t>。</a:t>
            </a:r>
            <a:endParaRPr/>
          </a:p>
        </p:txBody>
      </p:sp>
      <p:sp>
        <p:nvSpPr>
          <p:cNvPr id="431" name=""/>
          <p:cNvSpPr/>
          <p:nvPr/>
        </p:nvSpPr>
        <p:spPr>
          <a:xfrm rot="0" flipH="0" flipV="0">
            <a:off x="8258175" y="2971800"/>
            <a:ext cx="3114675" cy="9525"/>
          </a:xfrm>
          <a:prstGeom prst="rect">
            <a:avLst/>
          </a:prstGeom>
          <a:solidFill>
            <a:srgbClr val="DDE2E8"/>
          </a:solidFill>
          <a:ln/>
        </p:spPr>
        <p:txBody>
          <a:bodyPr/>
          <a:p/>
        </p:txBody>
      </p:sp>
      <p:sp>
        <p:nvSpPr>
          <p:cNvPr id="432" name="" descr="{&quot;isTemplate&quot;:true,&quot;type&quot;:&quot;text&quot;}"/>
          <p:cNvSpPr txBox="1"/>
          <p:nvPr/>
        </p:nvSpPr>
        <p:spPr>
          <a:xfrm rot="0" flipH="0" flipV="0">
            <a:off x="8258175" y="3114675"/>
            <a:ext cx="3114675" cy="457200"/>
          </a:xfrm>
          <a:prstGeom prst="rect"/>
        </p:spPr>
        <p:txBody>
          <a:bodyPr wrap="square" lIns="0" tIns="0" rIns="0" bIns="0">
            <a:normAutofit/>
          </a:bodyPr>
          <a:p>
            <a:pPr>
              <a:lnSpc>
                <a:spcPct val="160000"/>
              </a:lnSpc>
            </a:pPr>
            <a:r>
              <a:rPr lang="zh-CN" sz="938">
                <a:solidFill>
                  <a:srgbClr val="5F6975"/>
                </a:solidFill>
                <a:latin typeface="Noto Sans SC"/>
                <a:ea typeface="Noto Sans SC"/>
              </a:rPr>
              <a:t>花钱前三：</a:t>
            </a:r>
            <a:r>
              <a:rPr lang="en-US" sz="938">
                <a:solidFill>
                  <a:srgbClr val="5F6975"/>
                </a:solidFill>
                <a:latin typeface="Noto Sans SC"/>
                <a:ea typeface="Noto Sans SC"/>
              </a:rPr>
              <a:t xml:space="preserve">Nicoline </a:t>
            </a:r>
            <a:r>
              <a:rPr lang="zh-CN" sz="938">
                <a:solidFill>
                  <a:srgbClr val="5F6975"/>
                </a:solidFill>
                <a:latin typeface="Noto Sans SC"/>
                <a:ea typeface="Noto Sans SC"/>
              </a:rPr>
              <a:t>洞石浴缸、</a:t>
            </a:r>
            <a:r>
              <a:rPr lang="en-US" sz="938">
                <a:solidFill>
                  <a:srgbClr val="5F6975"/>
                </a:solidFill>
                <a:latin typeface="Noto Sans SC"/>
                <a:ea typeface="Noto Sans SC"/>
              </a:rPr>
              <a:t xml:space="preserve">Nicoline </a:t>
            </a:r>
            <a:r>
              <a:rPr lang="zh-CN" sz="938">
                <a:solidFill>
                  <a:srgbClr val="5F6975"/>
                </a:solidFill>
                <a:latin typeface="Noto Sans SC"/>
                <a:ea typeface="Noto Sans SC"/>
              </a:rPr>
              <a:t>哑光粉浴池、盖文侘寂风立柱盆</a:t>
            </a:r>
            <a:endParaRPr/>
          </a:p>
        </p:txBody>
      </p:sp>
      <p:sp>
        <p:nvSpPr>
          <p:cNvPr id="433"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434"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02</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3.xml><?xml version="1.0" encoding="utf-8"?>
<p:sld xmlns:p="http://schemas.openxmlformats.org/presentationml/2006/main" xmlns:a="http://schemas.openxmlformats.org/drawingml/2006/main">
  <p:cSld>
    <p:spTree>
      <p:nvGrpSpPr>
        <p:cNvPr id="435" name="" descr="&lt;Slide style={{ width: '1280px', height: '720px', background: '#FFFFFF', fontFamily: 'Noto Sans SC', padding: '20px 64px', flexDirection: 'column' }}&gt;&lt;Box style={{ height: '96px', flexDirection: 'column', justifyContent: 'center' }}&gt;&lt;Text style={{ fontSize: '31px', fontWeight: 700, color: '#1B3557', lineHeight: 1.25 }}&gt;{'72.7%'} 的客人，进了这{'4'} 家成交最差的店&lt;/Text&gt;&lt;Text style={{ fontSize: '15px', color: '#5F6975', lineHeight: 1.4, marginTop: '6px' }}&gt;成交率＝这家店的成交率是{'12'} 家平均的几倍。{'0.22'} 倍＝只有平均水平的五分之一。&lt;/Text&gt;&lt;/Box&gt;&lt;Box style={{ height: '540px', flexDirection: 'column' }}&gt;&lt;Box style={{ flexDirection: 'row', gap: '44px' }}&gt;&lt;Box style={{ width: '560px', flexDirection: 'column' }}&gt;&lt;Text style={{ fontSize: '15px', fontWeight: 700, color: '#AE4128', marginBottom: '8px' }}&gt;成交最差的{'4'} 家（吃客人最多、做销售最少）&lt;/Text&gt;&lt;Box style={{ flexDirection: 'row', alignItems: 'center', height: '38px', width: '560px', justifyContent: 'space-between', background: '#1B3557', borderBottom: '1px solid #DDE2E8',  paddingLeft: '8px', paddingRight: '8px' }}&gt;&lt;Box style={{ width: '196px', flexDirection: 'row', justifyContent: 'flex-start', alignItems: 'center' }}&gt;&lt;Text style={{ fontSize: '12px', color: '#FFFFFF', fontWeight: 700 }}&gt;店铺&lt;/Text&gt;&lt;/Box&gt;&lt;Box style={{ width: '88px', flexDirection: 'row', justifyContent: 'flex-end', alignItems: 'center' }}&gt;&lt;Text style={{ fontSize: '12px', color: '#FFFFFF', fontWeight: 700 }}&gt;客人占比&lt;/Text&gt;&lt;/Box&gt;&lt;Box style={{ width: '96px', flexDirection: 'row', justifyContent: 'flex-end', alignItems: 'center' }}&gt;&lt;Text style={{ fontSize: '12px', color: '#FFFFFF', fontWeight: 700 }}&gt;销售额占比&lt;/Text&gt;&lt;/Box&gt;&lt;Box style={{ width: '80px', flexDirection: 'row', justifyContent: 'flex-end', alignItems: 'center' }}&gt;&lt;Text style={{ fontSize: '12px', color: '#FFFFFF', fontWeight: 700 }}&gt;成交率&lt;/Text&gt;&lt;/Box&gt;&lt;/Box&gt;&lt;Box style={{ flexDirection: 'row', alignItems: 'center', height: '40px', width: '560px', justifyContent: 'space-between', background: 'transparent', borderBottom: '1px solid #DDE2E8',  paddingLeft: '8px', paddingRight: '8px' }}&gt;&lt;Box style={{ width: '196px', flexDirection: 'row', justifyContent: 'flex-start', alignItems: 'center' }}&gt;&lt;Text style={{ fontSize: '12.5px', color: '#AE4128', fontWeight: 700 }}&gt;盖文全卫定制&lt;/Text&gt;&lt;/Box&gt;&lt;Box style={{ width: '88px', flexDirection: 'row', justifyContent: 'flex-end', alignItems: 'center' }}&gt;&lt;Text style={{ fontSize: '12.5px', color: '#15181D', fontWeight: 400 }}&gt;{'25.0%'}&lt;/Text&gt;&lt;/Box&gt;&lt;Box style={{ width: '96px', flexDirection: 'row', justifyContent: 'flex-end', alignItems: 'center' }}&gt;&lt;Text style={{ fontSize: '12.5px', color: '#15181D', fontWeight: 400 }}&gt;{'7.2%'}&lt;/Text&gt;&lt;/Box&gt;&lt;Box style={{ width: '80px', flexDirection: 'row', justifyContent: 'flex-end', alignItems: 'center' }}&gt;&lt;Text style={{ fontSize: '12.5px', color: '#15181D', fontWeight: 400 }}&gt;{'0.22'}&lt;/Text&gt;&lt;/Box&gt;&lt;/Box&gt;&lt;Box style={{ flexDirection: 'row', alignItems: 'center', height: '40px', width: '560px', justifyContent: 'space-between', background: 'transparent', borderBottom: '1px solid #DDE2E8',  paddingLeft: '8px', paddingRight: '8px' }}&gt;&lt;Box style={{ width: '196px', flexDirection: 'row', justifyContent: 'flex-start', alignItems: 'center' }}&gt;&lt;Text style={{ fontSize: '12.5px', color: '#AE4128', fontWeight: 700 }}&gt;Paola Lenti保拉伦蒂&lt;/Text&gt;&lt;/Box&gt;&lt;Box style={{ width: '88px', flexDirection: 'row', justifyContent: 'flex-end', alignItems: 'center' }}&gt;&lt;Text style={{ fontSize: '12.5px', color: '#15181D', fontWeight: 400 }}&gt;{'21.8%'}&lt;/Text&gt;&lt;/Box&gt;&lt;Box style={{ width: '96px', flexDirection: 'row', justifyContent: 'flex-end', alignItems: 'center' }}&gt;&lt;Text style={{ fontSize: '12.5px', color: '#15181D', fontWeight: 400 }}&gt;{'11.5%'}&lt;/Text&gt;&lt;/Box&gt;&lt;Box style={{ width: '80px', flexDirection: 'row', justifyContent: 'flex-end', alignItems: 'center' }}&gt;&lt;Text style={{ fontSize: '12.5px', color: '#15181D', fontWeight: 400 }}&gt;{'0.40'}&lt;/Text&gt;&lt;/Box&gt;&lt;/Box&gt;&lt;Box style={{ flexDirection: 'row', alignItems: 'center', height: '40px', width: '560px', justifyContent: 'space-between', background: 'transparent', borderBottom: '1px solid #DDE2E8',  paddingLeft: '8px', paddingRight: '8px' }}&gt;&lt;Box style={{ width: '196px', flexDirection: 'row', justifyContent: 'flex-start', alignItems: 'center' }}&gt;&lt;Text style={{ fontSize: '12.5px', color: '#AE4128', fontWeight: 700 }}&gt;网林全卫定制&lt;/Text&gt;&lt;/Box&gt;&lt;Box style={{ width: '88px', flexDirection: 'row', justifyContent: 'flex-end', alignItems: 'center' }}&gt;&lt;Text style={{ fontSize: '12.5px', color: '#15181D', fontWeight: 400 }}&gt;{'13.5%'}&lt;/Text&gt;&lt;/Box&gt;&lt;Box style={{ width: '96px', flexDirection: 'row', justifyContent: 'flex-end', alignItems: 'center' }}&gt;&lt;Text style={{ fontSize: '12.5px', color: '#15181D', fontWeight: 400 }}&gt;{'4.8%'}&lt;/Text&gt;&lt;/Box&gt;&lt;Box style={{ width: '80px', flexDirection: 'row', justifyContent: 'flex-end', alignItems: 'center' }}&gt;&lt;Text style={{ fontSize: '12.5px', color: '#15181D', fontWeight: 400 }}&gt;{'0.40'}&lt;/Text&gt;&lt;/Box&gt;&lt;/Box&gt;&lt;Box style={{ flexDirection: 'row', alignItems: 'center', height: '40px', width: '560px', justifyContent: 'space-between', background: 'transparent', borderBottom: '1px solid #DDE2E8',  paddingLeft: '8px', paddingRight: '8px' }}&gt;&lt;Box style={{ width: '196px', flexDirection: 'row', justifyContent: 'flex-start', alignItems: 'center' }}&gt;&lt;Text style={{ fontSize: '12.5px', color: '#AE4128', fontWeight: 700 }}&gt;科塔全卫定制&lt;/Text&gt;&lt;/Box&gt;&lt;Box style={{ width: '88px', flexDirection: 'row', justifyContent: 'flex-end', alignItems: 'center' }}&gt;&lt;Text style={{ fontSize: '12.5px', color: '#15181D', fontWeight: 400 }}&gt;{'12.4%'}&lt;/Text&gt;&lt;/Box&gt;&lt;Box style={{ width: '96px', flexDirection: 'row', justifyContent: 'flex-end', alignItems: 'center' }}&gt;&lt;Text style={{ fontSize: '12.5px', color: '#15181D', fontWeight: 400 }}&gt;{'7.0%'}&lt;/Text&gt;&lt;/Box&gt;&lt;Box style={{ width: '80px', flexDirection: 'row', justifyContent: 'flex-end', alignItems: 'center' }}&gt;&lt;Text style={{ fontSize: '12.5px', color: '#15181D', fontWeight: 400 }}&gt;{'0.40'}&lt;/Text&gt;&lt;/Box&gt;&lt;/Box&gt;&lt;Box style={{ flexDirection: 'row', alignItems: 'center', height: '40px', width: '560px', justifyContent: 'space-between', background: '#F4F6F8', borderBottom: '1px solid #DDE2E8', borderTop: '2px solid #1B3557', paddingLeft: '8px', paddingRight: '8px' }}&gt;&lt;Box style={{ width: '196px', flexDirection: 'row', justifyContent: 'flex-start', alignItems: 'center' }}&gt;&lt;Text style={{ fontSize: '12.5px', color: '#15181D', fontWeight: 700 }}&gt;合计&lt;/Text&gt;&lt;/Box&gt;&lt;Box style={{ width: '88px', flexDirection: 'row', justifyContent: 'flex-end', alignItems: 'center' }}&gt;&lt;Text style={{ fontSize: '12.5px', color: '#15181D', fontWeight: 700 }}&gt;{'72.7%'}&lt;/Text&gt;&lt;/Box&gt;&lt;Box style={{ width: '96px', flexDirection: 'row', justifyContent: 'flex-end', alignItems: 'center' }}&gt;&lt;Text style={{ fontSize: '12.5px', color: '#15181D', fontWeight: 700 }}&gt;{'30.5%'}&lt;/Text&gt;&lt;/Box&gt;&lt;Box style={{ width: '80px', flexDirection: 'row', justifyContent: 'flex-end', alignItems: 'center' }}&gt;&lt;Text style={{ fontSize: '12.5px', color: '#15181D', fontWeight: 400 }}&gt;&lt;/Text&gt;&lt;/Box&gt;&lt;/Box&gt;&lt;/Box&gt;&lt;Box style={{ width: '510px', flexDirection: 'column' }}&gt;&lt;Text style={{ fontSize: '15px', fontWeight: 700, color: '#1B3557', marginBottom: '8px' }}&gt;对照：成交最好的{'4'} 家&lt;/Text&gt;&lt;Box style={{ flexDirection: 'row', alignItems: 'center', height: '38px', width: '510px', justifyContent: 'space-between', background: '#1B3557', borderBottom: '1px solid #DDE2E8',  paddingLeft: '8px', paddingRight: '8px' }}&gt;&lt;Box style={{ width: '196px', flexDirection: 'row', justifyContent: 'flex-start', alignItems: 'center' }}&gt;&lt;Text style={{ fontSize: '12px', color: '#FFFFFF', fontWeight: 700 }}&gt;店铺&lt;/Text&gt;&lt;/Box&gt;&lt;Box style={{ width: '88px', flexDirection: 'row', justifyContent: 'flex-end', alignItems: 'center' }}&gt;&lt;Text style={{ fontSize: '12px', color: '#FFFFFF', fontWeight: 700 }}&gt;客人占比&lt;/Text&gt;&lt;/Box&gt;&lt;Box style={{ width: '96px', flexDirection: 'row', justifyContent: 'flex-end', alignItems: 'center' }}&gt;&lt;Text style={{ fontSize: '12px', color: '#FFFFFF', fontWeight: 700 }}&gt;销售额占比&lt;/Text&gt;&lt;/Box&gt;&lt;Box style={{ width: '80px', flexDirection: 'row', justifyContent: 'flex-end', alignItems: 'center' }}&gt;&lt;Text style={{ fontSize: '12px', color: '#FFFFFF', fontWeight: 700 }}&gt;成交率&lt;/Text&gt;&lt;/Box&gt;&lt;/Box&gt;&lt;Box style={{ flexDirection: 'row', alignItems: 'center', height: '40px', width: '510px', justifyContent: 'space-between', background: 'transparent', borderBottom: '1px solid #DDE2E8',  paddingLeft: '8px', paddingRight: '8px' }}&gt;&lt;Box style={{ width: '196px', flexDirection: 'row', justifyContent: 'flex-start', alignItems: 'center' }}&gt;&lt;Text style={{ fontSize: '12.5px', color: '#1B3557', fontWeight: 700 }}&gt;科塔建材卫浴&lt;/Text&gt;&lt;/Box&gt;&lt;Box style={{ width: '88px', flexDirection: 'row', justifyContent: 'flex-end', alignItems: 'center' }}&gt;&lt;Text style={{ fontSize: '12.5px', color: '#15181D', fontWeight: 400 }}&gt;{'2.2%'}&lt;/Text&gt;&lt;/Box&gt;&lt;Box style={{ width: '96px', flexDirection: 'row', justifyContent: 'flex-end', alignItems: 'center' }}&gt;&lt;Text style={{ fontSize: '12.5px', color: '#15181D', fontWeight: 400 }}&gt;{'8.5%'}&lt;/Text&gt;&lt;/Box&gt;&lt;Box style={{ width: '80px', flexDirection: 'row', justifyContent: 'flex-end', alignItems: 'center' }}&gt;&lt;Text style={{ fontSize: '12.5px', color: '#15181D', fontWeight: 400 }}&gt;{'6.96'}&lt;/Text&gt;&lt;/Box&gt;&lt;/Box&gt;&lt;Box style={{ flexDirection: 'row', alignItems: 'center', height: '40px', width: '510px', justifyContent: 'space-between', background: 'transparent', borderBottom: '1px solid #DDE2E8',  paddingLeft: '8px', paddingRight: '8px' }}&gt;&lt;Box style={{ width: '196px', flexDirection: 'row', justifyContent: 'flex-start', alignItems: 'center' }}&gt;&lt;Text style={{ fontSize: '12.5px', color: '#1B3557', fontWeight: 700 }}&gt;安比全卫定制&lt;/Text&gt;&lt;/Box&gt;&lt;Box style={{ width: '88px', flexDirection: 'row', justifyContent: 'flex-end', alignItems: 'center' }}&gt;&lt;Text style={{ fontSize: '12.5px', color: '#15181D', fontWeight: 400 }}&gt;{'2.0%'}&lt;/Text&gt;&lt;/Box&gt;&lt;Box style={{ width: '96px', flexDirection: 'row', justifyContent: 'flex-end', alignItems: 'center' }}&gt;&lt;Text style={{ fontSize: '12.5px', color: '#15181D', fontWeight: 400 }}&gt;{'6.3%'}&lt;/Text&gt;&lt;/Box&gt;&lt;Box style={{ width: '80px', flexDirection: 'row', justifyContent: 'flex-end', alignItems: 'center' }}&gt;&lt;Text style={{ fontSize: '12.5px', color: '#15181D', fontWeight: 400 }}&gt;{'5.94'}&lt;/Text&gt;&lt;/Box&gt;&lt;/Box&gt;&lt;Box style={{ flexDirection: 'row', alignItems: 'center', height: '40px', width: '510px', justifyContent: 'space-between', background: 'transparent', borderBottom: '1px solid #DDE2E8',  paddingLeft: '8px', paddingRight: '8px' }}&gt;&lt;Box style={{ width: '196px', flexDirection: 'row', justifyContent: 'flex-start', alignItems: 'center' }}&gt;&lt;Text style={{ fontSize: '12.5px', color: '#1B3557', fontWeight: 700 }}&gt;网林家居旗舰店&lt;/Text&gt;&lt;/Box&gt;&lt;Box style={{ width: '88px', flexDirection: 'row', justifyContent: 'flex-end', alignItems: 'center' }}&gt;&lt;Text style={{ fontSize: '12.5px', color: '#15181D', fontWeight: 400 }}&gt;{'1.3%'}&lt;/Text&gt;&lt;/Box&gt;&lt;Box style={{ width: '96px', flexDirection: 'row', justifyContent: 'flex-end', alignItems: 'center' }}&gt;&lt;Text style={{ fontSize: '12.5px', color: '#15181D', fontWeight: 400 }}&gt;{'6.5%'}&lt;/Text&gt;&lt;/Box&gt;&lt;Box style={{ width: '80px', flexDirection: 'row', justifyContent: 'flex-end', alignItems: 'center' }}&gt;&lt;Text style={{ fontSize: '12.5px', color: '#15181D', fontWeight: 400 }}&gt;{'5.32'}&lt;/Text&gt;&lt;/Box&gt;&lt;/Box&gt;&lt;Box style={{ flexDirection: 'row', alignItems: 'center', height: '40px', width: '510px', justifyContent: 'space-between', background: 'transparent', borderBottom: '1px solid #DDE2E8',  paddingLeft: '8px', paddingRight: '8px' }}&gt;&lt;Box style={{ width: '196px', flexDirection: 'row', justifyContent: 'flex-start', alignItems: 'center' }}&gt;&lt;Text style={{ fontSize: '12.5px', color: '#1B3557', fontWeight: 700 }}&gt;盖文旗舰店&lt;/Text&gt;&lt;/Box&gt;&lt;Box style={{ width: '88px', flexDirection: 'row', justifyContent: 'flex-end', alignItems: 'center' }}&gt;&lt;Text style={{ fontSize: '12.5px', color: '#15181D', fontWeight: 400 }}&gt;{'4.4%'}&lt;/Text&gt;&lt;/Box&gt;&lt;Box style={{ width: '96px', flexDirection: 'row', justifyContent: 'flex-end', alignItems: 'center' }}&gt;&lt;Text style={{ fontSize: '12.5px', color: '#15181D', fontWeight: 400 }}&gt;{'25.8%'}&lt;/Text&gt;&lt;/Box&gt;&lt;Box style={{ width: '80px', flexDirection: 'row', justifyContent: 'flex-end', alignItems: 'center' }}&gt;&lt;Text style={{ fontSize: '12.5px', color: '#15181D', fontWeight: 400 }}&gt;{'3.85'}&lt;/Text&gt;&lt;/Box&gt;&lt;/Box&gt;&lt;Box style={{ flexDirection: 'row', alignItems: 'center', height: '40px', width: '510px', justifyContent: 'space-between', background: '#F4F6F8', borderBottom: '1px solid #DDE2E8', borderTop: '2px solid #1B3557', paddingLeft: '8px', paddingRight: '8px' }}&gt;&lt;Box style={{ width: '196px', flexDirection: 'row', justifyContent: 'flex-start', alignItems: 'center' }}&gt;&lt;Text style={{ fontSize: '12.5px', color: '#15181D', fontWeight: 700 }}&gt;合计&lt;/Text&gt;&lt;/Box&gt;&lt;Box style={{ width: '88px', flexDirection: 'row', justifyContent: 'flex-end', alignItems: 'center' }}&gt;&lt;Text style={{ fontSize: '12.5px', color: '#15181D', fontWeight: 700 }}&gt;{'9.9%'}&lt;/Text&gt;&lt;/Box&gt;&lt;Box style={{ width: '96px', flexDirection: 'row', justifyContent: 'flex-end', alignItems: 'center' }}&gt;&lt;Text style={{ fontSize: '12.5px', color: '#15181D', fontWeight: 700 }}&gt;{'47.1%'}&lt;/Text&gt;&lt;/Box&gt;&lt;Box style={{ width: '80px', flexDirection: 'row', justifyContent: 'flex-end', alignItems: 'center' }}&gt;&lt;Text style={{ fontSize: '12.5px', color: '#15181D', fontWeight: 400 }}&gt;&lt;/Text&gt;&lt;/Box&gt;&lt;/Box&gt;&lt;/Box&gt;&lt;/Box&gt;&lt;Box style={{ background: '#F4F6F8', borderLeft: '4px solid #A97B28', padding: '18px 22px', marginTop: '30px' }}&gt;&lt;Text style={{ fontSize: '17px', fontWeight: 600, color: '#1B3557', lineHeight: 1.6 }}&gt; 成交率最高{'6.96'} 倍、最低{'0.22'} 倍，相差{'32'} 倍； 还差{'32'} 倍；而{'12'} 家客单价最高{'3,083'} 元、最低{'1,104'} 元，只差{'2.8'} 倍{'—'}{'—'} 成交率的离散度远大于定价，缺的不是客人，是把客人变成订单的能力。&lt;/Text&gt;&lt;Text style={{ fontSize: '13px', color: '#5F6975', marginTop: '6px' }}&gt;完整{'12'} 家排名见下一页；每家店的每千次成交和客单价都在表里。&lt;/Text&gt;&lt;/Box&gt;&lt;/Box&gt;&lt;Box style={{ height: '40px', flexDirection: 'row', justifyContent: 'space-between', alignItems: 'center' }}&gt;&lt;Text style={{ fontSize: '13px', color: '#5F6975' }}&gt;经营数据诊断{'·'}{'2026-10-20'}&lt;/Text&gt;&lt;Text style={{ fontSize: '13px', color: '#5F6975' }}&gt;{'03'}{'/'}{'13'}&lt;/Text&gt;&lt;/Box&gt;&lt;/Slide&gt;&#10;"/>
        <p:cNvGrpSpPr/>
        <p:nvPr/>
      </p:nvGrpSpPr>
      <p:grpSpPr>
        <a:xfrm>
          <a:off x="0" y="0"/>
          <a:ext cx="0" cy="0"/>
          <a:chOff x="0" y="0"/>
          <a:chExt cx="0" cy="0"/>
        </a:xfrm>
      </p:grpSpPr>
      <p:sp>
        <p:nvSpPr>
          <p:cNvPr id="436" name=""/>
          <p:cNvSpPr/>
          <p:nvPr/>
        </p:nvSpPr>
        <p:spPr>
          <a:xfrm rot="0" flipH="0" flipV="0">
            <a:off x="0" y="0"/>
            <a:ext cx="12192000" cy="6858000"/>
          </a:xfrm>
          <a:prstGeom prst="rect">
            <a:avLst/>
          </a:prstGeom>
          <a:solidFill>
            <a:srgbClr val="FFFFFF"/>
          </a:solidFill>
          <a:ln/>
        </p:spPr>
        <p:txBody>
          <a:bodyPr/>
          <a:p/>
        </p:txBody>
      </p:sp>
      <p:sp>
        <p:nvSpPr>
          <p:cNvPr id="437"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en-US" sz="2325" b="1">
                <a:solidFill>
                  <a:srgbClr val="1B3557"/>
                </a:solidFill>
                <a:latin typeface="Noto Sans SC"/>
                <a:ea typeface="Noto Sans SC"/>
              </a:rPr>
              <a:t>72.7%</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的客人，进了这</a:t>
            </a:r>
            <a:r>
              <a:rPr lang="en-US" sz="2325" b="1">
                <a:solidFill>
                  <a:srgbClr val="1B3557"/>
                </a:solidFill>
                <a:latin typeface="Noto Sans SC"/>
                <a:ea typeface="Noto Sans SC"/>
              </a:rPr>
              <a:t>4</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家成交最差的店</a:t>
            </a:r>
            <a:endParaRPr/>
          </a:p>
        </p:txBody>
      </p:sp>
      <p:sp>
        <p:nvSpPr>
          <p:cNvPr id="438"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成交率＝这家店的成交率是</a:t>
            </a:r>
            <a:r>
              <a:rPr lang="en-US" sz="1125">
                <a:solidFill>
                  <a:srgbClr val="5F6975"/>
                </a:solidFill>
                <a:latin typeface="Noto Sans SC"/>
                <a:ea typeface="Noto Sans SC"/>
              </a:rPr>
              <a:t>12</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家平均的几倍。</a:t>
            </a:r>
            <a:r>
              <a:rPr lang="en-US" sz="1125">
                <a:solidFill>
                  <a:srgbClr val="5F6975"/>
                </a:solidFill>
                <a:latin typeface="Noto Sans SC"/>
                <a:ea typeface="Noto Sans SC"/>
              </a:rPr>
              <a:t>0.22</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倍＝只有平均水平的五分之一。</a:t>
            </a:r>
            <a:endParaRPr/>
          </a:p>
        </p:txBody>
      </p:sp>
      <p:sp>
        <p:nvSpPr>
          <p:cNvPr id="439" name="" descr="{&quot;isTemplate&quot;:true,&quot;type&quot;:&quot;text&quot;}"/>
          <p:cNvSpPr txBox="1"/>
          <p:nvPr/>
        </p:nvSpPr>
        <p:spPr>
          <a:xfrm rot="0" flipH="0" flipV="0">
            <a:off x="609600" y="1104900"/>
            <a:ext cx="5334000" cy="171450"/>
          </a:xfrm>
          <a:prstGeom prst="rect"/>
        </p:spPr>
        <p:txBody>
          <a:bodyPr wrap="none" lIns="0" tIns="0" rIns="0" bIns="0"/>
          <a:p>
            <a:pPr>
              <a:lnSpc>
                <a:spcPct val="100000"/>
              </a:lnSpc>
            </a:pPr>
            <a:r>
              <a:rPr lang="zh-CN" sz="1125" b="1">
                <a:solidFill>
                  <a:srgbClr val="AE4128"/>
                </a:solidFill>
                <a:latin typeface="Noto Sans SC"/>
                <a:ea typeface="Noto Sans SC"/>
              </a:rPr>
              <a:t>成交最差的</a:t>
            </a:r>
            <a:r>
              <a:rPr lang="en-US" sz="1125" b="1">
                <a:solidFill>
                  <a:srgbClr val="AE4128"/>
                </a:solidFill>
                <a:latin typeface="Noto Sans SC"/>
                <a:ea typeface="Noto Sans SC"/>
              </a:rPr>
              <a:t>4</a:t>
            </a:r>
            <a:r>
              <a:rPr lang="en-US" sz="1125" b="1">
                <a:solidFill>
                  <a:srgbClr val="AE4128"/>
                </a:solidFill>
                <a:latin typeface="Noto Sans SC"/>
                <a:ea typeface="Noto Sans SC"/>
              </a:rPr>
              <a:t xml:space="preserve"> </a:t>
            </a:r>
            <a:r>
              <a:rPr lang="zh-CN" sz="1125" b="1">
                <a:solidFill>
                  <a:srgbClr val="AE4128"/>
                </a:solidFill>
                <a:latin typeface="Noto Sans SC"/>
                <a:ea typeface="Noto Sans SC"/>
              </a:rPr>
              <a:t>家（吃客人最多、做销售最少）</a:t>
            </a:r>
            <a:endParaRPr/>
          </a:p>
        </p:txBody>
      </p:sp>
      <p:sp>
        <p:nvSpPr>
          <p:cNvPr id="440" name=""/>
          <p:cNvSpPr/>
          <p:nvPr/>
        </p:nvSpPr>
        <p:spPr>
          <a:xfrm rot="0" flipH="0" flipV="0">
            <a:off x="609600" y="1352550"/>
            <a:ext cx="5334000" cy="352425"/>
          </a:xfrm>
          <a:prstGeom prst="rect">
            <a:avLst/>
          </a:prstGeom>
          <a:solidFill>
            <a:srgbClr val="1B3557"/>
          </a:solidFill>
          <a:ln/>
        </p:spPr>
        <p:txBody>
          <a:bodyPr/>
          <a:p/>
        </p:txBody>
      </p:sp>
      <p:sp>
        <p:nvSpPr>
          <p:cNvPr id="441" name=""/>
          <p:cNvSpPr/>
          <p:nvPr/>
        </p:nvSpPr>
        <p:spPr>
          <a:xfrm rot="0" flipH="0" flipV="0">
            <a:off x="609600" y="1352550"/>
            <a:ext cx="5334000" cy="361950"/>
          </a:xfrm>
          <a:custGeom>
            <a:pathLst>
              <a:path w="560" h="38">
                <a:moveTo>
                  <a:pt x="0" y="37"/>
                </a:moveTo>
                <a:lnTo>
                  <a:pt x="560" y="37"/>
                </a:lnTo>
                <a:lnTo>
                  <a:pt x="560" y="38"/>
                </a:lnTo>
                <a:lnTo>
                  <a:pt x="0" y="38"/>
                </a:lnTo>
                <a:close/>
              </a:path>
            </a:pathLst>
          </a:custGeom>
          <a:solidFill>
            <a:srgbClr val="DDE2E8"/>
          </a:solidFill>
          <a:ln/>
        </p:spPr>
        <p:txBody>
          <a:bodyPr/>
          <a:p/>
        </p:txBody>
      </p:sp>
      <p:sp>
        <p:nvSpPr>
          <p:cNvPr id="442" name="" descr="{&quot;isTemplate&quot;:true,&quot;type&quot;:&quot;text&quot;}"/>
          <p:cNvSpPr txBox="1"/>
          <p:nvPr/>
        </p:nvSpPr>
        <p:spPr>
          <a:xfrm rot="0" flipH="0" flipV="0">
            <a:off x="685800" y="1457325"/>
            <a:ext cx="228600" cy="142875"/>
          </a:xfrm>
          <a:prstGeom prst="rect"/>
        </p:spPr>
        <p:txBody>
          <a:bodyPr wrap="none" lIns="0" tIns="0" rIns="0" bIns="0"/>
          <a:p>
            <a:pPr>
              <a:lnSpc>
                <a:spcPct val="100000"/>
              </a:lnSpc>
            </a:pPr>
            <a:r>
              <a:rPr lang="zh-CN" sz="900" b="1">
                <a:solidFill>
                  <a:srgbClr val="FFFFFF"/>
                </a:solidFill>
                <a:latin typeface="Noto Sans SC"/>
                <a:ea typeface="Noto Sans SC"/>
              </a:rPr>
              <a:t>店铺</a:t>
            </a:r>
            <a:endParaRPr/>
          </a:p>
        </p:txBody>
      </p:sp>
      <p:sp>
        <p:nvSpPr>
          <p:cNvPr id="443" name="" descr="{&quot;isTemplate&quot;:true,&quot;type&quot;:&quot;text&quot;}"/>
          <p:cNvSpPr txBox="1"/>
          <p:nvPr/>
        </p:nvSpPr>
        <p:spPr>
          <a:xfrm rot="0" flipH="0" flipV="0">
            <a:off x="3200400" y="1457325"/>
            <a:ext cx="457200" cy="142875"/>
          </a:xfrm>
          <a:prstGeom prst="rect"/>
        </p:spPr>
        <p:txBody>
          <a:bodyPr wrap="none" lIns="0" tIns="0" rIns="0" bIns="0"/>
          <a:p>
            <a:pPr>
              <a:lnSpc>
                <a:spcPct val="100000"/>
              </a:lnSpc>
            </a:pPr>
            <a:r>
              <a:rPr lang="zh-CN" sz="900" b="1">
                <a:solidFill>
                  <a:srgbClr val="FFFFFF"/>
                </a:solidFill>
                <a:latin typeface="Noto Sans SC"/>
                <a:ea typeface="Noto Sans SC"/>
              </a:rPr>
              <a:t>客人占比</a:t>
            </a:r>
            <a:endParaRPr/>
          </a:p>
        </p:txBody>
      </p:sp>
      <p:sp>
        <p:nvSpPr>
          <p:cNvPr id="444" name="" descr="{&quot;isTemplate&quot;:true,&quot;type&quot;:&quot;text&quot;}"/>
          <p:cNvSpPr txBox="1"/>
          <p:nvPr/>
        </p:nvSpPr>
        <p:spPr>
          <a:xfrm rot="0" flipH="0" flipV="0">
            <a:off x="4267200" y="1457325"/>
            <a:ext cx="571500" cy="142875"/>
          </a:xfrm>
          <a:prstGeom prst="rect"/>
        </p:spPr>
        <p:txBody>
          <a:bodyPr wrap="none" lIns="0" tIns="0" rIns="0" bIns="0"/>
          <a:p>
            <a:pPr>
              <a:lnSpc>
                <a:spcPct val="100000"/>
              </a:lnSpc>
            </a:pPr>
            <a:r>
              <a:rPr lang="zh-CN" sz="900" b="1">
                <a:solidFill>
                  <a:srgbClr val="FFFFFF"/>
                </a:solidFill>
                <a:latin typeface="Noto Sans SC"/>
                <a:ea typeface="Noto Sans SC"/>
              </a:rPr>
              <a:t>销售额占比</a:t>
            </a:r>
            <a:endParaRPr/>
          </a:p>
        </p:txBody>
      </p:sp>
      <p:sp>
        <p:nvSpPr>
          <p:cNvPr id="445" name="" descr="{&quot;isTemplate&quot;:true,&quot;type&quot;:&quot;text&quot;}"/>
          <p:cNvSpPr txBox="1"/>
          <p:nvPr/>
        </p:nvSpPr>
        <p:spPr>
          <a:xfrm rot="0" flipH="0" flipV="0">
            <a:off x="5524500" y="1457325"/>
            <a:ext cx="342900" cy="142875"/>
          </a:xfrm>
          <a:prstGeom prst="rect"/>
        </p:spPr>
        <p:txBody>
          <a:bodyPr wrap="none" lIns="0" tIns="0" rIns="0" bIns="0"/>
          <a:p>
            <a:pPr>
              <a:lnSpc>
                <a:spcPct val="100000"/>
              </a:lnSpc>
            </a:pPr>
            <a:r>
              <a:rPr lang="zh-CN" sz="900" b="1">
                <a:solidFill>
                  <a:srgbClr val="FFFFFF"/>
                </a:solidFill>
                <a:latin typeface="Noto Sans SC"/>
                <a:ea typeface="Noto Sans SC"/>
              </a:rPr>
              <a:t>成交率</a:t>
            </a:r>
            <a:endParaRPr/>
          </a:p>
        </p:txBody>
      </p:sp>
      <p:sp>
        <p:nvSpPr>
          <p:cNvPr id="446" name=""/>
          <p:cNvSpPr/>
          <p:nvPr/>
        </p:nvSpPr>
        <p:spPr>
          <a:xfrm rot="0" flipH="0" flipV="0">
            <a:off x="609600" y="1714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47" name="" descr="{&quot;isTemplate&quot;:true,&quot;type&quot;:&quot;text&quot;}"/>
          <p:cNvSpPr txBox="1"/>
          <p:nvPr/>
        </p:nvSpPr>
        <p:spPr>
          <a:xfrm rot="0" flipH="0" flipV="0">
            <a:off x="685800" y="1828800"/>
            <a:ext cx="714375" cy="142875"/>
          </a:xfrm>
          <a:prstGeom prst="rect"/>
        </p:spPr>
        <p:txBody>
          <a:bodyPr wrap="none" lIns="0" tIns="0" rIns="0" bIns="0"/>
          <a:p>
            <a:pPr>
              <a:lnSpc>
                <a:spcPct val="100000"/>
              </a:lnSpc>
            </a:pPr>
            <a:r>
              <a:rPr lang="zh-CN" sz="938" b="1">
                <a:solidFill>
                  <a:srgbClr val="AE4128"/>
                </a:solidFill>
                <a:latin typeface="Noto Sans SC"/>
                <a:ea typeface="Noto Sans SC"/>
              </a:rPr>
              <a:t>盖文全卫定制</a:t>
            </a:r>
            <a:endParaRPr/>
          </a:p>
        </p:txBody>
      </p:sp>
      <p:sp>
        <p:nvSpPr>
          <p:cNvPr id="448" name="" descr="{&quot;isTemplate&quot;:true,&quot;type&quot;:&quot;text&quot;}"/>
          <p:cNvSpPr txBox="1"/>
          <p:nvPr/>
        </p:nvSpPr>
        <p:spPr>
          <a:xfrm rot="0" flipH="0" flipV="0">
            <a:off x="3333750" y="1828800"/>
            <a:ext cx="323850" cy="142875"/>
          </a:xfrm>
          <a:prstGeom prst="rect"/>
        </p:spPr>
        <p:txBody>
          <a:bodyPr wrap="none" lIns="0" tIns="0" rIns="0" bIns="0"/>
          <a:p>
            <a:pPr>
              <a:lnSpc>
                <a:spcPct val="100000"/>
              </a:lnSpc>
            </a:pPr>
            <a:r>
              <a:rPr lang="en-US" sz="938">
                <a:solidFill>
                  <a:srgbClr val="15181D"/>
                </a:solidFill>
                <a:latin typeface="Noto Sans SC"/>
                <a:ea typeface="Noto Sans SC"/>
              </a:rPr>
              <a:t>25.0%</a:t>
            </a:r>
            <a:endParaRPr/>
          </a:p>
        </p:txBody>
      </p:sp>
      <p:sp>
        <p:nvSpPr>
          <p:cNvPr id="449" name="" descr="{&quot;isTemplate&quot;:true,&quot;type&quot;:&quot;text&quot;}"/>
          <p:cNvSpPr txBox="1"/>
          <p:nvPr/>
        </p:nvSpPr>
        <p:spPr>
          <a:xfrm rot="0" flipH="0" flipV="0">
            <a:off x="4581525" y="1828800"/>
            <a:ext cx="257175" cy="142875"/>
          </a:xfrm>
          <a:prstGeom prst="rect"/>
        </p:spPr>
        <p:txBody>
          <a:bodyPr wrap="none" lIns="0" tIns="0" rIns="0" bIns="0"/>
          <a:p>
            <a:pPr>
              <a:lnSpc>
                <a:spcPct val="100000"/>
              </a:lnSpc>
            </a:pPr>
            <a:r>
              <a:rPr lang="en-US" sz="938">
                <a:solidFill>
                  <a:srgbClr val="15181D"/>
                </a:solidFill>
                <a:latin typeface="Noto Sans SC"/>
                <a:ea typeface="Noto Sans SC"/>
              </a:rPr>
              <a:t>7.2%</a:t>
            </a:r>
            <a:endParaRPr/>
          </a:p>
        </p:txBody>
      </p:sp>
      <p:sp>
        <p:nvSpPr>
          <p:cNvPr id="450" name="" descr="{&quot;isTemplate&quot;:true,&quot;type&quot;:&quot;text&quot;}"/>
          <p:cNvSpPr txBox="1"/>
          <p:nvPr/>
        </p:nvSpPr>
        <p:spPr>
          <a:xfrm rot="0" flipH="0" flipV="0">
            <a:off x="5648325" y="1828800"/>
            <a:ext cx="219075" cy="142875"/>
          </a:xfrm>
          <a:prstGeom prst="rect"/>
        </p:spPr>
        <p:txBody>
          <a:bodyPr wrap="none" lIns="0" tIns="0" rIns="0" bIns="0"/>
          <a:p>
            <a:pPr>
              <a:lnSpc>
                <a:spcPct val="100000"/>
              </a:lnSpc>
            </a:pPr>
            <a:r>
              <a:rPr lang="en-US" sz="938">
                <a:solidFill>
                  <a:srgbClr val="15181D"/>
                </a:solidFill>
                <a:latin typeface="Noto Sans SC"/>
                <a:ea typeface="Noto Sans SC"/>
              </a:rPr>
              <a:t>0.22</a:t>
            </a:r>
            <a:endParaRPr/>
          </a:p>
        </p:txBody>
      </p:sp>
      <p:sp>
        <p:nvSpPr>
          <p:cNvPr id="451" name=""/>
          <p:cNvSpPr/>
          <p:nvPr/>
        </p:nvSpPr>
        <p:spPr>
          <a:xfrm rot="0" flipH="0" flipV="0">
            <a:off x="609600" y="2095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52" name="" descr="{&quot;isTemplate&quot;:true,&quot;type&quot;:&quot;text&quot;}"/>
          <p:cNvSpPr txBox="1"/>
          <p:nvPr/>
        </p:nvSpPr>
        <p:spPr>
          <a:xfrm rot="0" flipH="0" flipV="0">
            <a:off x="685800" y="2209800"/>
            <a:ext cx="1057275" cy="142875"/>
          </a:xfrm>
          <a:prstGeom prst="rect"/>
        </p:spPr>
        <p:txBody>
          <a:bodyPr wrap="none" lIns="0" tIns="0" rIns="0" bIns="0"/>
          <a:p>
            <a:pPr>
              <a:lnSpc>
                <a:spcPct val="100000"/>
              </a:lnSpc>
            </a:pPr>
            <a:r>
              <a:rPr lang="en-US" sz="938" b="1">
                <a:solidFill>
                  <a:srgbClr val="AE4128"/>
                </a:solidFill>
                <a:latin typeface="Noto Sans SC"/>
                <a:ea typeface="Noto Sans SC"/>
              </a:rPr>
              <a:t>Paola Lenti</a:t>
            </a:r>
            <a:r>
              <a:rPr lang="zh-CN" sz="938" b="1">
                <a:solidFill>
                  <a:srgbClr val="AE4128"/>
                </a:solidFill>
                <a:latin typeface="Noto Sans SC"/>
                <a:ea typeface="Noto Sans SC"/>
              </a:rPr>
              <a:t>保拉伦蒂</a:t>
            </a:r>
            <a:endParaRPr/>
          </a:p>
        </p:txBody>
      </p:sp>
      <p:sp>
        <p:nvSpPr>
          <p:cNvPr id="453" name="" descr="{&quot;isTemplate&quot;:true,&quot;type&quot;:&quot;text&quot;}"/>
          <p:cNvSpPr txBox="1"/>
          <p:nvPr/>
        </p:nvSpPr>
        <p:spPr>
          <a:xfrm rot="0" flipH="0" flipV="0">
            <a:off x="3333750" y="2209800"/>
            <a:ext cx="323850" cy="142875"/>
          </a:xfrm>
          <a:prstGeom prst="rect"/>
        </p:spPr>
        <p:txBody>
          <a:bodyPr wrap="none" lIns="0" tIns="0" rIns="0" bIns="0"/>
          <a:p>
            <a:pPr>
              <a:lnSpc>
                <a:spcPct val="100000"/>
              </a:lnSpc>
            </a:pPr>
            <a:r>
              <a:rPr lang="en-US" sz="938">
                <a:solidFill>
                  <a:srgbClr val="15181D"/>
                </a:solidFill>
                <a:latin typeface="Noto Sans SC"/>
                <a:ea typeface="Noto Sans SC"/>
              </a:rPr>
              <a:t>21.8%</a:t>
            </a:r>
            <a:endParaRPr/>
          </a:p>
        </p:txBody>
      </p:sp>
      <p:sp>
        <p:nvSpPr>
          <p:cNvPr id="454" name="" descr="{&quot;isTemplate&quot;:true,&quot;type&quot;:&quot;text&quot;}"/>
          <p:cNvSpPr txBox="1"/>
          <p:nvPr/>
        </p:nvSpPr>
        <p:spPr>
          <a:xfrm rot="0" flipH="0" flipV="0">
            <a:off x="4514850" y="2209800"/>
            <a:ext cx="323850" cy="142875"/>
          </a:xfrm>
          <a:prstGeom prst="rect"/>
        </p:spPr>
        <p:txBody>
          <a:bodyPr wrap="none" lIns="0" tIns="0" rIns="0" bIns="0"/>
          <a:p>
            <a:pPr>
              <a:lnSpc>
                <a:spcPct val="100000"/>
              </a:lnSpc>
            </a:pPr>
            <a:r>
              <a:rPr lang="en-US" sz="938">
                <a:solidFill>
                  <a:srgbClr val="15181D"/>
                </a:solidFill>
                <a:latin typeface="Noto Sans SC"/>
                <a:ea typeface="Noto Sans SC"/>
              </a:rPr>
              <a:t>11.5%</a:t>
            </a:r>
            <a:endParaRPr/>
          </a:p>
        </p:txBody>
      </p:sp>
      <p:sp>
        <p:nvSpPr>
          <p:cNvPr id="455" name="" descr="{&quot;isTemplate&quot;:true,&quot;type&quot;:&quot;text&quot;}"/>
          <p:cNvSpPr txBox="1"/>
          <p:nvPr/>
        </p:nvSpPr>
        <p:spPr>
          <a:xfrm rot="0" flipH="0" flipV="0">
            <a:off x="5648325" y="2209800"/>
            <a:ext cx="219075" cy="142875"/>
          </a:xfrm>
          <a:prstGeom prst="rect"/>
        </p:spPr>
        <p:txBody>
          <a:bodyPr wrap="none" lIns="0" tIns="0" rIns="0" bIns="0"/>
          <a:p>
            <a:pPr>
              <a:lnSpc>
                <a:spcPct val="100000"/>
              </a:lnSpc>
            </a:pPr>
            <a:r>
              <a:rPr lang="en-US" sz="938">
                <a:solidFill>
                  <a:srgbClr val="15181D"/>
                </a:solidFill>
                <a:latin typeface="Noto Sans SC"/>
                <a:ea typeface="Noto Sans SC"/>
              </a:rPr>
              <a:t>0.40</a:t>
            </a:r>
            <a:endParaRPr/>
          </a:p>
        </p:txBody>
      </p:sp>
      <p:sp>
        <p:nvSpPr>
          <p:cNvPr id="456" name=""/>
          <p:cNvSpPr/>
          <p:nvPr/>
        </p:nvSpPr>
        <p:spPr>
          <a:xfrm rot="0" flipH="0" flipV="0">
            <a:off x="609600" y="2476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57" name="" descr="{&quot;isTemplate&quot;:true,&quot;type&quot;:&quot;text&quot;}"/>
          <p:cNvSpPr txBox="1"/>
          <p:nvPr/>
        </p:nvSpPr>
        <p:spPr>
          <a:xfrm rot="0" flipH="0" flipV="0">
            <a:off x="685800" y="2590800"/>
            <a:ext cx="714375" cy="142875"/>
          </a:xfrm>
          <a:prstGeom prst="rect"/>
        </p:spPr>
        <p:txBody>
          <a:bodyPr wrap="none" lIns="0" tIns="0" rIns="0" bIns="0"/>
          <a:p>
            <a:pPr>
              <a:lnSpc>
                <a:spcPct val="100000"/>
              </a:lnSpc>
            </a:pPr>
            <a:r>
              <a:rPr lang="zh-CN" sz="938" b="1">
                <a:solidFill>
                  <a:srgbClr val="AE4128"/>
                </a:solidFill>
                <a:latin typeface="Noto Sans SC"/>
                <a:ea typeface="Noto Sans SC"/>
              </a:rPr>
              <a:t>网林全卫定制</a:t>
            </a:r>
            <a:endParaRPr/>
          </a:p>
        </p:txBody>
      </p:sp>
      <p:sp>
        <p:nvSpPr>
          <p:cNvPr id="458" name="" descr="{&quot;isTemplate&quot;:true,&quot;type&quot;:&quot;text&quot;}"/>
          <p:cNvSpPr txBox="1"/>
          <p:nvPr/>
        </p:nvSpPr>
        <p:spPr>
          <a:xfrm rot="0" flipH="0" flipV="0">
            <a:off x="3333750" y="2590800"/>
            <a:ext cx="323850" cy="142875"/>
          </a:xfrm>
          <a:prstGeom prst="rect"/>
        </p:spPr>
        <p:txBody>
          <a:bodyPr wrap="none" lIns="0" tIns="0" rIns="0" bIns="0"/>
          <a:p>
            <a:pPr>
              <a:lnSpc>
                <a:spcPct val="100000"/>
              </a:lnSpc>
            </a:pPr>
            <a:r>
              <a:rPr lang="en-US" sz="938">
                <a:solidFill>
                  <a:srgbClr val="15181D"/>
                </a:solidFill>
                <a:latin typeface="Noto Sans SC"/>
                <a:ea typeface="Noto Sans SC"/>
              </a:rPr>
              <a:t>13.5%</a:t>
            </a:r>
            <a:endParaRPr/>
          </a:p>
        </p:txBody>
      </p:sp>
      <p:sp>
        <p:nvSpPr>
          <p:cNvPr id="459" name="" descr="{&quot;isTemplate&quot;:true,&quot;type&quot;:&quot;text&quot;}"/>
          <p:cNvSpPr txBox="1"/>
          <p:nvPr/>
        </p:nvSpPr>
        <p:spPr>
          <a:xfrm rot="0" flipH="0" flipV="0">
            <a:off x="4581525" y="2590800"/>
            <a:ext cx="257175" cy="142875"/>
          </a:xfrm>
          <a:prstGeom prst="rect"/>
        </p:spPr>
        <p:txBody>
          <a:bodyPr wrap="none" lIns="0" tIns="0" rIns="0" bIns="0"/>
          <a:p>
            <a:pPr>
              <a:lnSpc>
                <a:spcPct val="100000"/>
              </a:lnSpc>
            </a:pPr>
            <a:r>
              <a:rPr lang="en-US" sz="938">
                <a:solidFill>
                  <a:srgbClr val="15181D"/>
                </a:solidFill>
                <a:latin typeface="Noto Sans SC"/>
                <a:ea typeface="Noto Sans SC"/>
              </a:rPr>
              <a:t>4.8%</a:t>
            </a:r>
            <a:endParaRPr/>
          </a:p>
        </p:txBody>
      </p:sp>
      <p:sp>
        <p:nvSpPr>
          <p:cNvPr id="460" name="" descr="{&quot;isTemplate&quot;:true,&quot;type&quot;:&quot;text&quot;}"/>
          <p:cNvSpPr txBox="1"/>
          <p:nvPr/>
        </p:nvSpPr>
        <p:spPr>
          <a:xfrm rot="0" flipH="0" flipV="0">
            <a:off x="5648325" y="2590800"/>
            <a:ext cx="219075" cy="142875"/>
          </a:xfrm>
          <a:prstGeom prst="rect"/>
        </p:spPr>
        <p:txBody>
          <a:bodyPr wrap="none" lIns="0" tIns="0" rIns="0" bIns="0"/>
          <a:p>
            <a:pPr>
              <a:lnSpc>
                <a:spcPct val="100000"/>
              </a:lnSpc>
            </a:pPr>
            <a:r>
              <a:rPr lang="en-US" sz="938">
                <a:solidFill>
                  <a:srgbClr val="15181D"/>
                </a:solidFill>
                <a:latin typeface="Noto Sans SC"/>
                <a:ea typeface="Noto Sans SC"/>
              </a:rPr>
              <a:t>0.40</a:t>
            </a:r>
            <a:endParaRPr/>
          </a:p>
        </p:txBody>
      </p:sp>
      <p:sp>
        <p:nvSpPr>
          <p:cNvPr id="461" name=""/>
          <p:cNvSpPr/>
          <p:nvPr/>
        </p:nvSpPr>
        <p:spPr>
          <a:xfrm rot="0" flipH="0" flipV="0">
            <a:off x="609600" y="2857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62" name="" descr="{&quot;isTemplate&quot;:true,&quot;type&quot;:&quot;text&quot;}"/>
          <p:cNvSpPr txBox="1"/>
          <p:nvPr/>
        </p:nvSpPr>
        <p:spPr>
          <a:xfrm rot="0" flipH="0" flipV="0">
            <a:off x="685800" y="2971800"/>
            <a:ext cx="714375" cy="142875"/>
          </a:xfrm>
          <a:prstGeom prst="rect"/>
        </p:spPr>
        <p:txBody>
          <a:bodyPr wrap="none" lIns="0" tIns="0" rIns="0" bIns="0"/>
          <a:p>
            <a:pPr>
              <a:lnSpc>
                <a:spcPct val="100000"/>
              </a:lnSpc>
            </a:pPr>
            <a:r>
              <a:rPr lang="zh-CN" sz="938" b="1">
                <a:solidFill>
                  <a:srgbClr val="AE4128"/>
                </a:solidFill>
                <a:latin typeface="Noto Sans SC"/>
                <a:ea typeface="Noto Sans SC"/>
              </a:rPr>
              <a:t>科塔全卫定制</a:t>
            </a:r>
            <a:endParaRPr/>
          </a:p>
        </p:txBody>
      </p:sp>
      <p:sp>
        <p:nvSpPr>
          <p:cNvPr id="463" name="" descr="{&quot;isTemplate&quot;:true,&quot;type&quot;:&quot;text&quot;}"/>
          <p:cNvSpPr txBox="1"/>
          <p:nvPr/>
        </p:nvSpPr>
        <p:spPr>
          <a:xfrm rot="0" flipH="0" flipV="0">
            <a:off x="3333750" y="2971800"/>
            <a:ext cx="323850" cy="142875"/>
          </a:xfrm>
          <a:prstGeom prst="rect"/>
        </p:spPr>
        <p:txBody>
          <a:bodyPr wrap="none" lIns="0" tIns="0" rIns="0" bIns="0"/>
          <a:p>
            <a:pPr>
              <a:lnSpc>
                <a:spcPct val="100000"/>
              </a:lnSpc>
            </a:pPr>
            <a:r>
              <a:rPr lang="en-US" sz="938">
                <a:solidFill>
                  <a:srgbClr val="15181D"/>
                </a:solidFill>
                <a:latin typeface="Noto Sans SC"/>
                <a:ea typeface="Noto Sans SC"/>
              </a:rPr>
              <a:t>12.4%</a:t>
            </a:r>
            <a:endParaRPr/>
          </a:p>
        </p:txBody>
      </p:sp>
      <p:sp>
        <p:nvSpPr>
          <p:cNvPr id="464" name="" descr="{&quot;isTemplate&quot;:true,&quot;type&quot;:&quot;text&quot;}"/>
          <p:cNvSpPr txBox="1"/>
          <p:nvPr/>
        </p:nvSpPr>
        <p:spPr>
          <a:xfrm rot="0" flipH="0" flipV="0">
            <a:off x="4581525" y="2971800"/>
            <a:ext cx="257175" cy="142875"/>
          </a:xfrm>
          <a:prstGeom prst="rect"/>
        </p:spPr>
        <p:txBody>
          <a:bodyPr wrap="none" lIns="0" tIns="0" rIns="0" bIns="0"/>
          <a:p>
            <a:pPr>
              <a:lnSpc>
                <a:spcPct val="100000"/>
              </a:lnSpc>
            </a:pPr>
            <a:r>
              <a:rPr lang="en-US" sz="938">
                <a:solidFill>
                  <a:srgbClr val="15181D"/>
                </a:solidFill>
                <a:latin typeface="Noto Sans SC"/>
                <a:ea typeface="Noto Sans SC"/>
              </a:rPr>
              <a:t>7.0%</a:t>
            </a:r>
            <a:endParaRPr/>
          </a:p>
        </p:txBody>
      </p:sp>
      <p:sp>
        <p:nvSpPr>
          <p:cNvPr id="465" name="" descr="{&quot;isTemplate&quot;:true,&quot;type&quot;:&quot;text&quot;}"/>
          <p:cNvSpPr txBox="1"/>
          <p:nvPr/>
        </p:nvSpPr>
        <p:spPr>
          <a:xfrm rot="0" flipH="0" flipV="0">
            <a:off x="5648325" y="2971800"/>
            <a:ext cx="219075" cy="142875"/>
          </a:xfrm>
          <a:prstGeom prst="rect"/>
        </p:spPr>
        <p:txBody>
          <a:bodyPr wrap="none" lIns="0" tIns="0" rIns="0" bIns="0"/>
          <a:p>
            <a:pPr>
              <a:lnSpc>
                <a:spcPct val="100000"/>
              </a:lnSpc>
            </a:pPr>
            <a:r>
              <a:rPr lang="en-US" sz="938">
                <a:solidFill>
                  <a:srgbClr val="15181D"/>
                </a:solidFill>
                <a:latin typeface="Noto Sans SC"/>
                <a:ea typeface="Noto Sans SC"/>
              </a:rPr>
              <a:t>0.40</a:t>
            </a:r>
            <a:endParaRPr/>
          </a:p>
        </p:txBody>
      </p:sp>
      <p:sp>
        <p:nvSpPr>
          <p:cNvPr id="466" name=""/>
          <p:cNvSpPr/>
          <p:nvPr/>
        </p:nvSpPr>
        <p:spPr>
          <a:xfrm rot="0" flipH="0" flipV="0">
            <a:off x="609600" y="3257550"/>
            <a:ext cx="5334000" cy="352425"/>
          </a:xfrm>
          <a:prstGeom prst="rect">
            <a:avLst/>
          </a:prstGeom>
          <a:solidFill>
            <a:srgbClr val="F4F6F8"/>
          </a:solidFill>
          <a:ln/>
        </p:spPr>
        <p:txBody>
          <a:bodyPr/>
          <a:p/>
        </p:txBody>
      </p:sp>
      <p:sp>
        <p:nvSpPr>
          <p:cNvPr id="467" name=""/>
          <p:cNvSpPr/>
          <p:nvPr/>
        </p:nvSpPr>
        <p:spPr>
          <a:xfrm rot="0" flipH="0" flipV="0">
            <a:off x="609600" y="3238500"/>
            <a:ext cx="5334000" cy="381000"/>
          </a:xfrm>
          <a:custGeom>
            <a:pathLst>
              <a:path w="560" h="40">
                <a:moveTo>
                  <a:pt x="0" y="0"/>
                </a:moveTo>
                <a:lnTo>
                  <a:pt x="560" y="0"/>
                </a:lnTo>
                <a:lnTo>
                  <a:pt x="560" y="2"/>
                </a:lnTo>
                <a:lnTo>
                  <a:pt x="0" y="2"/>
                </a:lnTo>
                <a:close/>
              </a:path>
            </a:pathLst>
          </a:custGeom>
          <a:solidFill>
            <a:srgbClr val="1B3557"/>
          </a:solidFill>
          <a:ln/>
        </p:spPr>
        <p:txBody>
          <a:bodyPr/>
          <a:p/>
        </p:txBody>
      </p:sp>
      <p:sp>
        <p:nvSpPr>
          <p:cNvPr id="468" name=""/>
          <p:cNvSpPr/>
          <p:nvPr/>
        </p:nvSpPr>
        <p:spPr>
          <a:xfrm rot="0" flipH="0" flipV="0">
            <a:off x="609600" y="3238500"/>
            <a:ext cx="5334000" cy="381000"/>
          </a:xfrm>
          <a:custGeom>
            <a:pathLst>
              <a:path w="560" h="40">
                <a:moveTo>
                  <a:pt x="0" y="39"/>
                </a:moveTo>
                <a:lnTo>
                  <a:pt x="560" y="39"/>
                </a:lnTo>
                <a:lnTo>
                  <a:pt x="560" y="40"/>
                </a:lnTo>
                <a:lnTo>
                  <a:pt x="0" y="40"/>
                </a:lnTo>
                <a:close/>
              </a:path>
            </a:pathLst>
          </a:custGeom>
          <a:solidFill>
            <a:srgbClr val="DDE2E8"/>
          </a:solidFill>
          <a:ln/>
        </p:spPr>
        <p:txBody>
          <a:bodyPr/>
          <a:p/>
        </p:txBody>
      </p:sp>
      <p:sp>
        <p:nvSpPr>
          <p:cNvPr id="469" name="" descr="{&quot;isTemplate&quot;:true,&quot;type&quot;:&quot;text&quot;}"/>
          <p:cNvSpPr txBox="1"/>
          <p:nvPr/>
        </p:nvSpPr>
        <p:spPr>
          <a:xfrm rot="0" flipH="0" flipV="0">
            <a:off x="685800" y="3362325"/>
            <a:ext cx="238125" cy="142875"/>
          </a:xfrm>
          <a:prstGeom prst="rect"/>
        </p:spPr>
        <p:txBody>
          <a:bodyPr wrap="none" lIns="0" tIns="0" rIns="0" bIns="0"/>
          <a:p>
            <a:pPr>
              <a:lnSpc>
                <a:spcPct val="100000"/>
              </a:lnSpc>
            </a:pPr>
            <a:r>
              <a:rPr lang="zh-CN" sz="938" b="1">
                <a:solidFill>
                  <a:srgbClr val="15181D"/>
                </a:solidFill>
                <a:latin typeface="Noto Sans SC"/>
                <a:ea typeface="Noto Sans SC"/>
              </a:rPr>
              <a:t>合计</a:t>
            </a:r>
            <a:endParaRPr/>
          </a:p>
        </p:txBody>
      </p:sp>
      <p:sp>
        <p:nvSpPr>
          <p:cNvPr id="470" name="" descr="{&quot;isTemplate&quot;:true,&quot;type&quot;:&quot;text&quot;}"/>
          <p:cNvSpPr txBox="1"/>
          <p:nvPr/>
        </p:nvSpPr>
        <p:spPr>
          <a:xfrm rot="0" flipH="0" flipV="0">
            <a:off x="3333750" y="3362325"/>
            <a:ext cx="323850" cy="142875"/>
          </a:xfrm>
          <a:prstGeom prst="rect"/>
        </p:spPr>
        <p:txBody>
          <a:bodyPr wrap="none" lIns="0" tIns="0" rIns="0" bIns="0"/>
          <a:p>
            <a:pPr>
              <a:lnSpc>
                <a:spcPct val="100000"/>
              </a:lnSpc>
            </a:pPr>
            <a:r>
              <a:rPr lang="en-US" sz="938" b="1">
                <a:solidFill>
                  <a:srgbClr val="15181D"/>
                </a:solidFill>
                <a:latin typeface="Noto Sans SC"/>
                <a:ea typeface="Noto Sans SC"/>
              </a:rPr>
              <a:t>72.7%</a:t>
            </a:r>
            <a:endParaRPr/>
          </a:p>
        </p:txBody>
      </p:sp>
      <p:sp>
        <p:nvSpPr>
          <p:cNvPr id="471" name="" descr="{&quot;isTemplate&quot;:true,&quot;type&quot;:&quot;text&quot;}"/>
          <p:cNvSpPr txBox="1"/>
          <p:nvPr/>
        </p:nvSpPr>
        <p:spPr>
          <a:xfrm rot="0" flipH="0" flipV="0">
            <a:off x="4514850" y="3362325"/>
            <a:ext cx="323850" cy="142875"/>
          </a:xfrm>
          <a:prstGeom prst="rect"/>
        </p:spPr>
        <p:txBody>
          <a:bodyPr wrap="none" lIns="0" tIns="0" rIns="0" bIns="0"/>
          <a:p>
            <a:pPr>
              <a:lnSpc>
                <a:spcPct val="100000"/>
              </a:lnSpc>
            </a:pPr>
            <a:r>
              <a:rPr lang="en-US" sz="938" b="1">
                <a:solidFill>
                  <a:srgbClr val="15181D"/>
                </a:solidFill>
                <a:latin typeface="Noto Sans SC"/>
                <a:ea typeface="Noto Sans SC"/>
              </a:rPr>
              <a:t>30.5%</a:t>
            </a:r>
            <a:endParaRPr/>
          </a:p>
        </p:txBody>
      </p:sp>
      <p:sp>
        <p:nvSpPr>
          <p:cNvPr id="472" name="" descr="{&quot;isTemplate&quot;:true,&quot;type&quot;:&quot;text&quot;}"/>
          <p:cNvSpPr txBox="1"/>
          <p:nvPr/>
        </p:nvSpPr>
        <p:spPr>
          <a:xfrm rot="0" flipH="0" flipV="0">
            <a:off x="5867400" y="3438525"/>
            <a:ext cx="0" cy="0"/>
          </a:xfrm>
          <a:prstGeom prst="rect"/>
        </p:spPr>
        <p:txBody>
          <a:bodyPr wrap="none" lIns="0" tIns="0" rIns="0" bIns="0"/>
          <a:p>
            <a:pPr/>
            <a:endParaRPr/>
          </a:p>
        </p:txBody>
      </p:sp>
      <p:sp>
        <p:nvSpPr>
          <p:cNvPr id="473" name="" descr="{&quot;isTemplate&quot;:true,&quot;type&quot;:&quot;text&quot;}"/>
          <p:cNvSpPr txBox="1"/>
          <p:nvPr/>
        </p:nvSpPr>
        <p:spPr>
          <a:xfrm rot="0" flipH="0" flipV="0">
            <a:off x="6362700" y="1104900"/>
            <a:ext cx="4857750" cy="171450"/>
          </a:xfrm>
          <a:prstGeom prst="rect"/>
        </p:spPr>
        <p:txBody>
          <a:bodyPr wrap="none" lIns="0" tIns="0" rIns="0" bIns="0"/>
          <a:p>
            <a:pPr>
              <a:lnSpc>
                <a:spcPct val="100000"/>
              </a:lnSpc>
            </a:pPr>
            <a:r>
              <a:rPr lang="zh-CN" sz="1125" b="1">
                <a:solidFill>
                  <a:srgbClr val="1B3557"/>
                </a:solidFill>
                <a:latin typeface="Noto Sans SC"/>
                <a:ea typeface="Noto Sans SC"/>
              </a:rPr>
              <a:t>对照：成交最好的</a:t>
            </a:r>
            <a:r>
              <a:rPr lang="en-US" sz="1125" b="1">
                <a:solidFill>
                  <a:srgbClr val="1B3557"/>
                </a:solidFill>
                <a:latin typeface="Noto Sans SC"/>
                <a:ea typeface="Noto Sans SC"/>
              </a:rPr>
              <a:t>4</a:t>
            </a:r>
            <a:r>
              <a:rPr lang="en-US" sz="1125" b="1">
                <a:solidFill>
                  <a:srgbClr val="1B3557"/>
                </a:solidFill>
                <a:latin typeface="Noto Sans SC"/>
                <a:ea typeface="Noto Sans SC"/>
              </a:rPr>
              <a:t xml:space="preserve"> </a:t>
            </a:r>
            <a:r>
              <a:rPr lang="zh-CN" sz="1125" b="1">
                <a:solidFill>
                  <a:srgbClr val="1B3557"/>
                </a:solidFill>
                <a:latin typeface="Noto Sans SC"/>
                <a:ea typeface="Noto Sans SC"/>
              </a:rPr>
              <a:t>家</a:t>
            </a:r>
            <a:endParaRPr/>
          </a:p>
        </p:txBody>
      </p:sp>
      <p:sp>
        <p:nvSpPr>
          <p:cNvPr id="474" name=""/>
          <p:cNvSpPr/>
          <p:nvPr/>
        </p:nvSpPr>
        <p:spPr>
          <a:xfrm rot="0" flipH="0" flipV="0">
            <a:off x="6362700" y="1352550"/>
            <a:ext cx="4857750" cy="352425"/>
          </a:xfrm>
          <a:prstGeom prst="rect">
            <a:avLst/>
          </a:prstGeom>
          <a:solidFill>
            <a:srgbClr val="1B3557"/>
          </a:solidFill>
          <a:ln/>
        </p:spPr>
        <p:txBody>
          <a:bodyPr/>
          <a:p/>
        </p:txBody>
      </p:sp>
      <p:sp>
        <p:nvSpPr>
          <p:cNvPr id="475" name=""/>
          <p:cNvSpPr/>
          <p:nvPr/>
        </p:nvSpPr>
        <p:spPr>
          <a:xfrm rot="0" flipH="0" flipV="0">
            <a:off x="6362700" y="1352550"/>
            <a:ext cx="4857750" cy="361950"/>
          </a:xfrm>
          <a:custGeom>
            <a:pathLst>
              <a:path w="510" h="38">
                <a:moveTo>
                  <a:pt x="0" y="37"/>
                </a:moveTo>
                <a:lnTo>
                  <a:pt x="510" y="37"/>
                </a:lnTo>
                <a:lnTo>
                  <a:pt x="510" y="38"/>
                </a:lnTo>
                <a:lnTo>
                  <a:pt x="0" y="38"/>
                </a:lnTo>
                <a:close/>
              </a:path>
            </a:pathLst>
          </a:custGeom>
          <a:solidFill>
            <a:srgbClr val="DDE2E8"/>
          </a:solidFill>
          <a:ln/>
        </p:spPr>
        <p:txBody>
          <a:bodyPr/>
          <a:p/>
        </p:txBody>
      </p:sp>
      <p:sp>
        <p:nvSpPr>
          <p:cNvPr id="476" name="" descr="{&quot;isTemplate&quot;:true,&quot;type&quot;:&quot;text&quot;}"/>
          <p:cNvSpPr txBox="1"/>
          <p:nvPr/>
        </p:nvSpPr>
        <p:spPr>
          <a:xfrm rot="0" flipH="0" flipV="0">
            <a:off x="6438900" y="1457325"/>
            <a:ext cx="228600" cy="142875"/>
          </a:xfrm>
          <a:prstGeom prst="rect"/>
        </p:spPr>
        <p:txBody>
          <a:bodyPr wrap="none" lIns="0" tIns="0" rIns="0" bIns="0"/>
          <a:p>
            <a:pPr>
              <a:lnSpc>
                <a:spcPct val="100000"/>
              </a:lnSpc>
            </a:pPr>
            <a:r>
              <a:rPr lang="zh-CN" sz="900" b="1">
                <a:solidFill>
                  <a:srgbClr val="FFFFFF"/>
                </a:solidFill>
                <a:latin typeface="Noto Sans SC"/>
                <a:ea typeface="Noto Sans SC"/>
              </a:rPr>
              <a:t>店铺</a:t>
            </a:r>
            <a:endParaRPr/>
          </a:p>
        </p:txBody>
      </p:sp>
      <p:sp>
        <p:nvSpPr>
          <p:cNvPr id="477" name="" descr="{&quot;isTemplate&quot;:true,&quot;type&quot;:&quot;text&quot;}"/>
          <p:cNvSpPr txBox="1"/>
          <p:nvPr/>
        </p:nvSpPr>
        <p:spPr>
          <a:xfrm rot="0" flipH="0" flipV="0">
            <a:off x="8791575" y="1457325"/>
            <a:ext cx="457200" cy="142875"/>
          </a:xfrm>
          <a:prstGeom prst="rect"/>
        </p:spPr>
        <p:txBody>
          <a:bodyPr wrap="none" lIns="0" tIns="0" rIns="0" bIns="0"/>
          <a:p>
            <a:pPr>
              <a:lnSpc>
                <a:spcPct val="100000"/>
              </a:lnSpc>
            </a:pPr>
            <a:r>
              <a:rPr lang="zh-CN" sz="900" b="1">
                <a:solidFill>
                  <a:srgbClr val="FFFFFF"/>
                </a:solidFill>
                <a:latin typeface="Noto Sans SC"/>
                <a:ea typeface="Noto Sans SC"/>
              </a:rPr>
              <a:t>客人占比</a:t>
            </a:r>
            <a:endParaRPr/>
          </a:p>
        </p:txBody>
      </p:sp>
      <p:sp>
        <p:nvSpPr>
          <p:cNvPr id="478" name="" descr="{&quot;isTemplate&quot;:true,&quot;type&quot;:&quot;text&quot;}"/>
          <p:cNvSpPr txBox="1"/>
          <p:nvPr/>
        </p:nvSpPr>
        <p:spPr>
          <a:xfrm rot="0" flipH="0" flipV="0">
            <a:off x="9705975" y="1457325"/>
            <a:ext cx="571500" cy="142875"/>
          </a:xfrm>
          <a:prstGeom prst="rect"/>
        </p:spPr>
        <p:txBody>
          <a:bodyPr wrap="none" lIns="0" tIns="0" rIns="0" bIns="0"/>
          <a:p>
            <a:pPr>
              <a:lnSpc>
                <a:spcPct val="100000"/>
              </a:lnSpc>
            </a:pPr>
            <a:r>
              <a:rPr lang="zh-CN" sz="900" b="1">
                <a:solidFill>
                  <a:srgbClr val="FFFFFF"/>
                </a:solidFill>
                <a:latin typeface="Noto Sans SC"/>
                <a:ea typeface="Noto Sans SC"/>
              </a:rPr>
              <a:t>销售额占比</a:t>
            </a:r>
            <a:endParaRPr/>
          </a:p>
        </p:txBody>
      </p:sp>
      <p:sp>
        <p:nvSpPr>
          <p:cNvPr id="479" name="" descr="{&quot;isTemplate&quot;:true,&quot;type&quot;:&quot;text&quot;}"/>
          <p:cNvSpPr txBox="1"/>
          <p:nvPr/>
        </p:nvSpPr>
        <p:spPr>
          <a:xfrm rot="0" flipH="0" flipV="0">
            <a:off x="10801350" y="1457325"/>
            <a:ext cx="342900" cy="142875"/>
          </a:xfrm>
          <a:prstGeom prst="rect"/>
        </p:spPr>
        <p:txBody>
          <a:bodyPr wrap="none" lIns="0" tIns="0" rIns="0" bIns="0"/>
          <a:p>
            <a:pPr>
              <a:lnSpc>
                <a:spcPct val="100000"/>
              </a:lnSpc>
            </a:pPr>
            <a:r>
              <a:rPr lang="zh-CN" sz="900" b="1">
                <a:solidFill>
                  <a:srgbClr val="FFFFFF"/>
                </a:solidFill>
                <a:latin typeface="Noto Sans SC"/>
                <a:ea typeface="Noto Sans SC"/>
              </a:rPr>
              <a:t>成交率</a:t>
            </a:r>
            <a:endParaRPr/>
          </a:p>
        </p:txBody>
      </p:sp>
      <p:sp>
        <p:nvSpPr>
          <p:cNvPr id="480" name=""/>
          <p:cNvSpPr/>
          <p:nvPr/>
        </p:nvSpPr>
        <p:spPr>
          <a:xfrm rot="0" flipH="0" flipV="0">
            <a:off x="6362700" y="1714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481" name="" descr="{&quot;isTemplate&quot;:true,&quot;type&quot;:&quot;text&quot;}"/>
          <p:cNvSpPr txBox="1"/>
          <p:nvPr/>
        </p:nvSpPr>
        <p:spPr>
          <a:xfrm rot="0" flipH="0" flipV="0">
            <a:off x="6438900" y="1828800"/>
            <a:ext cx="714375" cy="142875"/>
          </a:xfrm>
          <a:prstGeom prst="rect"/>
        </p:spPr>
        <p:txBody>
          <a:bodyPr wrap="none" lIns="0" tIns="0" rIns="0" bIns="0"/>
          <a:p>
            <a:pPr>
              <a:lnSpc>
                <a:spcPct val="100000"/>
              </a:lnSpc>
            </a:pPr>
            <a:r>
              <a:rPr lang="zh-CN" sz="938" b="1">
                <a:solidFill>
                  <a:srgbClr val="1B3557"/>
                </a:solidFill>
                <a:latin typeface="Noto Sans SC"/>
                <a:ea typeface="Noto Sans SC"/>
              </a:rPr>
              <a:t>科塔建材卫浴</a:t>
            </a:r>
            <a:endParaRPr/>
          </a:p>
        </p:txBody>
      </p:sp>
      <p:sp>
        <p:nvSpPr>
          <p:cNvPr id="482" name="" descr="{&quot;isTemplate&quot;:true,&quot;type&quot;:&quot;text&quot;}"/>
          <p:cNvSpPr txBox="1"/>
          <p:nvPr/>
        </p:nvSpPr>
        <p:spPr>
          <a:xfrm rot="0" flipH="0" flipV="0">
            <a:off x="8991600" y="1828800"/>
            <a:ext cx="257175" cy="142875"/>
          </a:xfrm>
          <a:prstGeom prst="rect"/>
        </p:spPr>
        <p:txBody>
          <a:bodyPr wrap="none" lIns="0" tIns="0" rIns="0" bIns="0"/>
          <a:p>
            <a:pPr>
              <a:lnSpc>
                <a:spcPct val="100000"/>
              </a:lnSpc>
            </a:pPr>
            <a:r>
              <a:rPr lang="en-US" sz="938">
                <a:solidFill>
                  <a:srgbClr val="15181D"/>
                </a:solidFill>
                <a:latin typeface="Noto Sans SC"/>
                <a:ea typeface="Noto Sans SC"/>
              </a:rPr>
              <a:t>2.2%</a:t>
            </a:r>
            <a:endParaRPr/>
          </a:p>
        </p:txBody>
      </p:sp>
      <p:sp>
        <p:nvSpPr>
          <p:cNvPr id="483" name="" descr="{&quot;isTemplate&quot;:true,&quot;type&quot;:&quot;text&quot;}"/>
          <p:cNvSpPr txBox="1"/>
          <p:nvPr/>
        </p:nvSpPr>
        <p:spPr>
          <a:xfrm rot="0" flipH="0" flipV="0">
            <a:off x="10020300" y="1828800"/>
            <a:ext cx="257175" cy="142875"/>
          </a:xfrm>
          <a:prstGeom prst="rect"/>
        </p:spPr>
        <p:txBody>
          <a:bodyPr wrap="none" lIns="0" tIns="0" rIns="0" bIns="0"/>
          <a:p>
            <a:pPr>
              <a:lnSpc>
                <a:spcPct val="100000"/>
              </a:lnSpc>
            </a:pPr>
            <a:r>
              <a:rPr lang="en-US" sz="938">
                <a:solidFill>
                  <a:srgbClr val="15181D"/>
                </a:solidFill>
                <a:latin typeface="Noto Sans SC"/>
                <a:ea typeface="Noto Sans SC"/>
              </a:rPr>
              <a:t>8.5%</a:t>
            </a:r>
            <a:endParaRPr/>
          </a:p>
        </p:txBody>
      </p:sp>
      <p:sp>
        <p:nvSpPr>
          <p:cNvPr id="484" name="" descr="{&quot;isTemplate&quot;:true,&quot;type&quot;:&quot;text&quot;}"/>
          <p:cNvSpPr txBox="1"/>
          <p:nvPr/>
        </p:nvSpPr>
        <p:spPr>
          <a:xfrm rot="0" flipH="0" flipV="0">
            <a:off x="10925175" y="1828800"/>
            <a:ext cx="219075" cy="142875"/>
          </a:xfrm>
          <a:prstGeom prst="rect"/>
        </p:spPr>
        <p:txBody>
          <a:bodyPr wrap="none" lIns="0" tIns="0" rIns="0" bIns="0"/>
          <a:p>
            <a:pPr>
              <a:lnSpc>
                <a:spcPct val="100000"/>
              </a:lnSpc>
            </a:pPr>
            <a:r>
              <a:rPr lang="en-US" sz="938">
                <a:solidFill>
                  <a:srgbClr val="15181D"/>
                </a:solidFill>
                <a:latin typeface="Noto Sans SC"/>
                <a:ea typeface="Noto Sans SC"/>
              </a:rPr>
              <a:t>6.96</a:t>
            </a:r>
            <a:endParaRPr/>
          </a:p>
        </p:txBody>
      </p:sp>
      <p:sp>
        <p:nvSpPr>
          <p:cNvPr id="485" name=""/>
          <p:cNvSpPr/>
          <p:nvPr/>
        </p:nvSpPr>
        <p:spPr>
          <a:xfrm rot="0" flipH="0" flipV="0">
            <a:off x="6362700" y="2095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486" name="" descr="{&quot;isTemplate&quot;:true,&quot;type&quot;:&quot;text&quot;}"/>
          <p:cNvSpPr txBox="1"/>
          <p:nvPr/>
        </p:nvSpPr>
        <p:spPr>
          <a:xfrm rot="0" flipH="0" flipV="0">
            <a:off x="6438900" y="2209800"/>
            <a:ext cx="714375" cy="142875"/>
          </a:xfrm>
          <a:prstGeom prst="rect"/>
        </p:spPr>
        <p:txBody>
          <a:bodyPr wrap="none" lIns="0" tIns="0" rIns="0" bIns="0"/>
          <a:p>
            <a:pPr>
              <a:lnSpc>
                <a:spcPct val="100000"/>
              </a:lnSpc>
            </a:pPr>
            <a:r>
              <a:rPr lang="zh-CN" sz="938" b="1">
                <a:solidFill>
                  <a:srgbClr val="1B3557"/>
                </a:solidFill>
                <a:latin typeface="Noto Sans SC"/>
                <a:ea typeface="Noto Sans SC"/>
              </a:rPr>
              <a:t>安比全卫定制</a:t>
            </a:r>
            <a:endParaRPr/>
          </a:p>
        </p:txBody>
      </p:sp>
      <p:sp>
        <p:nvSpPr>
          <p:cNvPr id="487" name="" descr="{&quot;isTemplate&quot;:true,&quot;type&quot;:&quot;text&quot;}"/>
          <p:cNvSpPr txBox="1"/>
          <p:nvPr/>
        </p:nvSpPr>
        <p:spPr>
          <a:xfrm rot="0" flipH="0" flipV="0">
            <a:off x="8991600" y="2209800"/>
            <a:ext cx="257175" cy="142875"/>
          </a:xfrm>
          <a:prstGeom prst="rect"/>
        </p:spPr>
        <p:txBody>
          <a:bodyPr wrap="none" lIns="0" tIns="0" rIns="0" bIns="0"/>
          <a:p>
            <a:pPr>
              <a:lnSpc>
                <a:spcPct val="100000"/>
              </a:lnSpc>
            </a:pPr>
            <a:r>
              <a:rPr lang="en-US" sz="938">
                <a:solidFill>
                  <a:srgbClr val="15181D"/>
                </a:solidFill>
                <a:latin typeface="Noto Sans SC"/>
                <a:ea typeface="Noto Sans SC"/>
              </a:rPr>
              <a:t>2.0%</a:t>
            </a:r>
            <a:endParaRPr/>
          </a:p>
        </p:txBody>
      </p:sp>
      <p:sp>
        <p:nvSpPr>
          <p:cNvPr id="488" name="" descr="{&quot;isTemplate&quot;:true,&quot;type&quot;:&quot;text&quot;}"/>
          <p:cNvSpPr txBox="1"/>
          <p:nvPr/>
        </p:nvSpPr>
        <p:spPr>
          <a:xfrm rot="0" flipH="0" flipV="0">
            <a:off x="10020300" y="2209800"/>
            <a:ext cx="257175" cy="142875"/>
          </a:xfrm>
          <a:prstGeom prst="rect"/>
        </p:spPr>
        <p:txBody>
          <a:bodyPr wrap="none" lIns="0" tIns="0" rIns="0" bIns="0"/>
          <a:p>
            <a:pPr>
              <a:lnSpc>
                <a:spcPct val="100000"/>
              </a:lnSpc>
            </a:pPr>
            <a:r>
              <a:rPr lang="en-US" sz="938">
                <a:solidFill>
                  <a:srgbClr val="15181D"/>
                </a:solidFill>
                <a:latin typeface="Noto Sans SC"/>
                <a:ea typeface="Noto Sans SC"/>
              </a:rPr>
              <a:t>6.3%</a:t>
            </a:r>
            <a:endParaRPr/>
          </a:p>
        </p:txBody>
      </p:sp>
      <p:sp>
        <p:nvSpPr>
          <p:cNvPr id="489" name="" descr="{&quot;isTemplate&quot;:true,&quot;type&quot;:&quot;text&quot;}"/>
          <p:cNvSpPr txBox="1"/>
          <p:nvPr/>
        </p:nvSpPr>
        <p:spPr>
          <a:xfrm rot="0" flipH="0" flipV="0">
            <a:off x="10925175" y="2209800"/>
            <a:ext cx="219075" cy="142875"/>
          </a:xfrm>
          <a:prstGeom prst="rect"/>
        </p:spPr>
        <p:txBody>
          <a:bodyPr wrap="none" lIns="0" tIns="0" rIns="0" bIns="0"/>
          <a:p>
            <a:pPr>
              <a:lnSpc>
                <a:spcPct val="100000"/>
              </a:lnSpc>
            </a:pPr>
            <a:r>
              <a:rPr lang="en-US" sz="938">
                <a:solidFill>
                  <a:srgbClr val="15181D"/>
                </a:solidFill>
                <a:latin typeface="Noto Sans SC"/>
                <a:ea typeface="Noto Sans SC"/>
              </a:rPr>
              <a:t>5.94</a:t>
            </a:r>
            <a:endParaRPr/>
          </a:p>
        </p:txBody>
      </p:sp>
      <p:sp>
        <p:nvSpPr>
          <p:cNvPr id="490" name=""/>
          <p:cNvSpPr/>
          <p:nvPr/>
        </p:nvSpPr>
        <p:spPr>
          <a:xfrm rot="0" flipH="0" flipV="0">
            <a:off x="6362700" y="2476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491" name="" descr="{&quot;isTemplate&quot;:true,&quot;type&quot;:&quot;text&quot;}"/>
          <p:cNvSpPr txBox="1"/>
          <p:nvPr/>
        </p:nvSpPr>
        <p:spPr>
          <a:xfrm rot="0" flipH="0" flipV="0">
            <a:off x="6438900" y="2590800"/>
            <a:ext cx="838200" cy="142875"/>
          </a:xfrm>
          <a:prstGeom prst="rect"/>
        </p:spPr>
        <p:txBody>
          <a:bodyPr wrap="none" lIns="0" tIns="0" rIns="0" bIns="0"/>
          <a:p>
            <a:pPr>
              <a:lnSpc>
                <a:spcPct val="100000"/>
              </a:lnSpc>
            </a:pPr>
            <a:r>
              <a:rPr lang="zh-CN" sz="938" b="1">
                <a:solidFill>
                  <a:srgbClr val="1B3557"/>
                </a:solidFill>
                <a:latin typeface="Noto Sans SC"/>
                <a:ea typeface="Noto Sans SC"/>
              </a:rPr>
              <a:t>网林家居旗舰店</a:t>
            </a:r>
            <a:endParaRPr/>
          </a:p>
        </p:txBody>
      </p:sp>
      <p:sp>
        <p:nvSpPr>
          <p:cNvPr id="492" name="" descr="{&quot;isTemplate&quot;:true,&quot;type&quot;:&quot;text&quot;}"/>
          <p:cNvSpPr txBox="1"/>
          <p:nvPr/>
        </p:nvSpPr>
        <p:spPr>
          <a:xfrm rot="0" flipH="0" flipV="0">
            <a:off x="8991600" y="2590800"/>
            <a:ext cx="257175" cy="142875"/>
          </a:xfrm>
          <a:prstGeom prst="rect"/>
        </p:spPr>
        <p:txBody>
          <a:bodyPr wrap="none" lIns="0" tIns="0" rIns="0" bIns="0"/>
          <a:p>
            <a:pPr>
              <a:lnSpc>
                <a:spcPct val="100000"/>
              </a:lnSpc>
            </a:pPr>
            <a:r>
              <a:rPr lang="en-US" sz="938">
                <a:solidFill>
                  <a:srgbClr val="15181D"/>
                </a:solidFill>
                <a:latin typeface="Noto Sans SC"/>
                <a:ea typeface="Noto Sans SC"/>
              </a:rPr>
              <a:t>1.3%</a:t>
            </a:r>
            <a:endParaRPr/>
          </a:p>
        </p:txBody>
      </p:sp>
      <p:sp>
        <p:nvSpPr>
          <p:cNvPr id="493" name="" descr="{&quot;isTemplate&quot;:true,&quot;type&quot;:&quot;text&quot;}"/>
          <p:cNvSpPr txBox="1"/>
          <p:nvPr/>
        </p:nvSpPr>
        <p:spPr>
          <a:xfrm rot="0" flipH="0" flipV="0">
            <a:off x="10020300" y="2590800"/>
            <a:ext cx="257175" cy="142875"/>
          </a:xfrm>
          <a:prstGeom prst="rect"/>
        </p:spPr>
        <p:txBody>
          <a:bodyPr wrap="none" lIns="0" tIns="0" rIns="0" bIns="0"/>
          <a:p>
            <a:pPr>
              <a:lnSpc>
                <a:spcPct val="100000"/>
              </a:lnSpc>
            </a:pPr>
            <a:r>
              <a:rPr lang="en-US" sz="938">
                <a:solidFill>
                  <a:srgbClr val="15181D"/>
                </a:solidFill>
                <a:latin typeface="Noto Sans SC"/>
                <a:ea typeface="Noto Sans SC"/>
              </a:rPr>
              <a:t>6.5%</a:t>
            </a:r>
            <a:endParaRPr/>
          </a:p>
        </p:txBody>
      </p:sp>
      <p:sp>
        <p:nvSpPr>
          <p:cNvPr id="494" name="" descr="{&quot;isTemplate&quot;:true,&quot;type&quot;:&quot;text&quot;}"/>
          <p:cNvSpPr txBox="1"/>
          <p:nvPr/>
        </p:nvSpPr>
        <p:spPr>
          <a:xfrm rot="0" flipH="0" flipV="0">
            <a:off x="10925175" y="2590800"/>
            <a:ext cx="219075" cy="142875"/>
          </a:xfrm>
          <a:prstGeom prst="rect"/>
        </p:spPr>
        <p:txBody>
          <a:bodyPr wrap="none" lIns="0" tIns="0" rIns="0" bIns="0"/>
          <a:p>
            <a:pPr>
              <a:lnSpc>
                <a:spcPct val="100000"/>
              </a:lnSpc>
            </a:pPr>
            <a:r>
              <a:rPr lang="en-US" sz="938">
                <a:solidFill>
                  <a:srgbClr val="15181D"/>
                </a:solidFill>
                <a:latin typeface="Noto Sans SC"/>
                <a:ea typeface="Noto Sans SC"/>
              </a:rPr>
              <a:t>5.32</a:t>
            </a:r>
            <a:endParaRPr/>
          </a:p>
        </p:txBody>
      </p:sp>
      <p:sp>
        <p:nvSpPr>
          <p:cNvPr id="495" name=""/>
          <p:cNvSpPr/>
          <p:nvPr/>
        </p:nvSpPr>
        <p:spPr>
          <a:xfrm rot="0" flipH="0" flipV="0">
            <a:off x="6362700" y="2857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496" name="" descr="{&quot;isTemplate&quot;:true,&quot;type&quot;:&quot;text&quot;}"/>
          <p:cNvSpPr txBox="1"/>
          <p:nvPr/>
        </p:nvSpPr>
        <p:spPr>
          <a:xfrm rot="0" flipH="0" flipV="0">
            <a:off x="6438900" y="2971800"/>
            <a:ext cx="600075" cy="142875"/>
          </a:xfrm>
          <a:prstGeom prst="rect"/>
        </p:spPr>
        <p:txBody>
          <a:bodyPr wrap="none" lIns="0" tIns="0" rIns="0" bIns="0"/>
          <a:p>
            <a:pPr>
              <a:lnSpc>
                <a:spcPct val="100000"/>
              </a:lnSpc>
            </a:pPr>
            <a:r>
              <a:rPr lang="zh-CN" sz="938" b="1">
                <a:solidFill>
                  <a:srgbClr val="1B3557"/>
                </a:solidFill>
                <a:latin typeface="Noto Sans SC"/>
                <a:ea typeface="Noto Sans SC"/>
              </a:rPr>
              <a:t>盖文旗舰店</a:t>
            </a:r>
            <a:endParaRPr/>
          </a:p>
        </p:txBody>
      </p:sp>
      <p:sp>
        <p:nvSpPr>
          <p:cNvPr id="497" name="" descr="{&quot;isTemplate&quot;:true,&quot;type&quot;:&quot;text&quot;}"/>
          <p:cNvSpPr txBox="1"/>
          <p:nvPr/>
        </p:nvSpPr>
        <p:spPr>
          <a:xfrm rot="0" flipH="0" flipV="0">
            <a:off x="8991600" y="2971800"/>
            <a:ext cx="257175" cy="142875"/>
          </a:xfrm>
          <a:prstGeom prst="rect"/>
        </p:spPr>
        <p:txBody>
          <a:bodyPr wrap="none" lIns="0" tIns="0" rIns="0" bIns="0"/>
          <a:p>
            <a:pPr>
              <a:lnSpc>
                <a:spcPct val="100000"/>
              </a:lnSpc>
            </a:pPr>
            <a:r>
              <a:rPr lang="en-US" sz="938">
                <a:solidFill>
                  <a:srgbClr val="15181D"/>
                </a:solidFill>
                <a:latin typeface="Noto Sans SC"/>
                <a:ea typeface="Noto Sans SC"/>
              </a:rPr>
              <a:t>4.4%</a:t>
            </a:r>
            <a:endParaRPr/>
          </a:p>
        </p:txBody>
      </p:sp>
      <p:sp>
        <p:nvSpPr>
          <p:cNvPr id="498" name="" descr="{&quot;isTemplate&quot;:true,&quot;type&quot;:&quot;text&quot;}"/>
          <p:cNvSpPr txBox="1"/>
          <p:nvPr/>
        </p:nvSpPr>
        <p:spPr>
          <a:xfrm rot="0" flipH="0" flipV="0">
            <a:off x="9953625" y="2971800"/>
            <a:ext cx="323850" cy="142875"/>
          </a:xfrm>
          <a:prstGeom prst="rect"/>
        </p:spPr>
        <p:txBody>
          <a:bodyPr wrap="none" lIns="0" tIns="0" rIns="0" bIns="0"/>
          <a:p>
            <a:pPr>
              <a:lnSpc>
                <a:spcPct val="100000"/>
              </a:lnSpc>
            </a:pPr>
            <a:r>
              <a:rPr lang="en-US" sz="938">
                <a:solidFill>
                  <a:srgbClr val="15181D"/>
                </a:solidFill>
                <a:latin typeface="Noto Sans SC"/>
                <a:ea typeface="Noto Sans SC"/>
              </a:rPr>
              <a:t>25.8%</a:t>
            </a:r>
            <a:endParaRPr/>
          </a:p>
        </p:txBody>
      </p:sp>
      <p:sp>
        <p:nvSpPr>
          <p:cNvPr id="499" name="" descr="{&quot;isTemplate&quot;:true,&quot;type&quot;:&quot;text&quot;}"/>
          <p:cNvSpPr txBox="1"/>
          <p:nvPr/>
        </p:nvSpPr>
        <p:spPr>
          <a:xfrm rot="0" flipH="0" flipV="0">
            <a:off x="10925175" y="2971800"/>
            <a:ext cx="219075" cy="142875"/>
          </a:xfrm>
          <a:prstGeom prst="rect"/>
        </p:spPr>
        <p:txBody>
          <a:bodyPr wrap="none" lIns="0" tIns="0" rIns="0" bIns="0"/>
          <a:p>
            <a:pPr>
              <a:lnSpc>
                <a:spcPct val="100000"/>
              </a:lnSpc>
            </a:pPr>
            <a:r>
              <a:rPr lang="en-US" sz="938">
                <a:solidFill>
                  <a:srgbClr val="15181D"/>
                </a:solidFill>
                <a:latin typeface="Noto Sans SC"/>
                <a:ea typeface="Noto Sans SC"/>
              </a:rPr>
              <a:t>3.85</a:t>
            </a:r>
            <a:endParaRPr/>
          </a:p>
        </p:txBody>
      </p:sp>
      <p:sp>
        <p:nvSpPr>
          <p:cNvPr id="500" name=""/>
          <p:cNvSpPr/>
          <p:nvPr/>
        </p:nvSpPr>
        <p:spPr>
          <a:xfrm rot="0" flipH="0" flipV="0">
            <a:off x="6362700" y="3257550"/>
            <a:ext cx="4857750" cy="352425"/>
          </a:xfrm>
          <a:prstGeom prst="rect">
            <a:avLst/>
          </a:prstGeom>
          <a:solidFill>
            <a:srgbClr val="F4F6F8"/>
          </a:solidFill>
          <a:ln/>
        </p:spPr>
        <p:txBody>
          <a:bodyPr/>
          <a:p/>
        </p:txBody>
      </p:sp>
      <p:sp>
        <p:nvSpPr>
          <p:cNvPr id="501" name=""/>
          <p:cNvSpPr/>
          <p:nvPr/>
        </p:nvSpPr>
        <p:spPr>
          <a:xfrm rot="0" flipH="0" flipV="0">
            <a:off x="6362700" y="3238500"/>
            <a:ext cx="4857750" cy="381000"/>
          </a:xfrm>
          <a:custGeom>
            <a:pathLst>
              <a:path w="510" h="40">
                <a:moveTo>
                  <a:pt x="0" y="0"/>
                </a:moveTo>
                <a:lnTo>
                  <a:pt x="510" y="0"/>
                </a:lnTo>
                <a:lnTo>
                  <a:pt x="510" y="2"/>
                </a:lnTo>
                <a:lnTo>
                  <a:pt x="0" y="2"/>
                </a:lnTo>
                <a:close/>
              </a:path>
            </a:pathLst>
          </a:custGeom>
          <a:solidFill>
            <a:srgbClr val="1B3557"/>
          </a:solidFill>
          <a:ln/>
        </p:spPr>
        <p:txBody>
          <a:bodyPr/>
          <a:p/>
        </p:txBody>
      </p:sp>
      <p:sp>
        <p:nvSpPr>
          <p:cNvPr id="502" name=""/>
          <p:cNvSpPr/>
          <p:nvPr/>
        </p:nvSpPr>
        <p:spPr>
          <a:xfrm rot="0" flipH="0" flipV="0">
            <a:off x="6362700" y="3238500"/>
            <a:ext cx="4857750" cy="381000"/>
          </a:xfrm>
          <a:custGeom>
            <a:pathLst>
              <a:path w="510" h="40">
                <a:moveTo>
                  <a:pt x="0" y="39"/>
                </a:moveTo>
                <a:lnTo>
                  <a:pt x="510" y="39"/>
                </a:lnTo>
                <a:lnTo>
                  <a:pt x="510" y="40"/>
                </a:lnTo>
                <a:lnTo>
                  <a:pt x="0" y="40"/>
                </a:lnTo>
                <a:close/>
              </a:path>
            </a:pathLst>
          </a:custGeom>
          <a:solidFill>
            <a:srgbClr val="DDE2E8"/>
          </a:solidFill>
          <a:ln/>
        </p:spPr>
        <p:txBody>
          <a:bodyPr/>
          <a:p/>
        </p:txBody>
      </p:sp>
      <p:sp>
        <p:nvSpPr>
          <p:cNvPr id="503" name="" descr="{&quot;isTemplate&quot;:true,&quot;type&quot;:&quot;text&quot;}"/>
          <p:cNvSpPr txBox="1"/>
          <p:nvPr/>
        </p:nvSpPr>
        <p:spPr>
          <a:xfrm rot="0" flipH="0" flipV="0">
            <a:off x="6438900" y="3362325"/>
            <a:ext cx="238125" cy="142875"/>
          </a:xfrm>
          <a:prstGeom prst="rect"/>
        </p:spPr>
        <p:txBody>
          <a:bodyPr wrap="none" lIns="0" tIns="0" rIns="0" bIns="0"/>
          <a:p>
            <a:pPr>
              <a:lnSpc>
                <a:spcPct val="100000"/>
              </a:lnSpc>
            </a:pPr>
            <a:r>
              <a:rPr lang="zh-CN" sz="938" b="1">
                <a:solidFill>
                  <a:srgbClr val="15181D"/>
                </a:solidFill>
                <a:latin typeface="Noto Sans SC"/>
                <a:ea typeface="Noto Sans SC"/>
              </a:rPr>
              <a:t>合计</a:t>
            </a:r>
            <a:endParaRPr/>
          </a:p>
        </p:txBody>
      </p:sp>
      <p:sp>
        <p:nvSpPr>
          <p:cNvPr id="504" name="" descr="{&quot;isTemplate&quot;:true,&quot;type&quot;:&quot;text&quot;}"/>
          <p:cNvSpPr txBox="1"/>
          <p:nvPr/>
        </p:nvSpPr>
        <p:spPr>
          <a:xfrm rot="0" flipH="0" flipV="0">
            <a:off x="8991600" y="3362325"/>
            <a:ext cx="257175" cy="142875"/>
          </a:xfrm>
          <a:prstGeom prst="rect"/>
        </p:spPr>
        <p:txBody>
          <a:bodyPr wrap="none" lIns="0" tIns="0" rIns="0" bIns="0"/>
          <a:p>
            <a:pPr>
              <a:lnSpc>
                <a:spcPct val="100000"/>
              </a:lnSpc>
            </a:pPr>
            <a:r>
              <a:rPr lang="en-US" sz="938" b="1">
                <a:solidFill>
                  <a:srgbClr val="15181D"/>
                </a:solidFill>
                <a:latin typeface="Noto Sans SC"/>
                <a:ea typeface="Noto Sans SC"/>
              </a:rPr>
              <a:t>9.9%</a:t>
            </a:r>
            <a:endParaRPr/>
          </a:p>
        </p:txBody>
      </p:sp>
      <p:sp>
        <p:nvSpPr>
          <p:cNvPr id="505" name="" descr="{&quot;isTemplate&quot;:true,&quot;type&quot;:&quot;text&quot;}"/>
          <p:cNvSpPr txBox="1"/>
          <p:nvPr/>
        </p:nvSpPr>
        <p:spPr>
          <a:xfrm rot="0" flipH="0" flipV="0">
            <a:off x="9953625" y="3362325"/>
            <a:ext cx="323850" cy="142875"/>
          </a:xfrm>
          <a:prstGeom prst="rect"/>
        </p:spPr>
        <p:txBody>
          <a:bodyPr wrap="none" lIns="0" tIns="0" rIns="0" bIns="0"/>
          <a:p>
            <a:pPr>
              <a:lnSpc>
                <a:spcPct val="100000"/>
              </a:lnSpc>
            </a:pPr>
            <a:r>
              <a:rPr lang="en-US" sz="938" b="1">
                <a:solidFill>
                  <a:srgbClr val="15181D"/>
                </a:solidFill>
                <a:latin typeface="Noto Sans SC"/>
                <a:ea typeface="Noto Sans SC"/>
              </a:rPr>
              <a:t>47.1%</a:t>
            </a:r>
            <a:endParaRPr/>
          </a:p>
        </p:txBody>
      </p:sp>
      <p:sp>
        <p:nvSpPr>
          <p:cNvPr id="506" name="" descr="{&quot;isTemplate&quot;:true,&quot;type&quot;:&quot;text&quot;}"/>
          <p:cNvSpPr txBox="1"/>
          <p:nvPr/>
        </p:nvSpPr>
        <p:spPr>
          <a:xfrm rot="0" flipH="0" flipV="0">
            <a:off x="11144250" y="3438525"/>
            <a:ext cx="0" cy="0"/>
          </a:xfrm>
          <a:prstGeom prst="rect"/>
        </p:spPr>
        <p:txBody>
          <a:bodyPr wrap="none" lIns="0" tIns="0" rIns="0" bIns="0"/>
          <a:p>
            <a:pPr/>
            <a:endParaRPr/>
          </a:p>
        </p:txBody>
      </p:sp>
      <p:sp>
        <p:nvSpPr>
          <p:cNvPr id="507" name=""/>
          <p:cNvSpPr/>
          <p:nvPr/>
        </p:nvSpPr>
        <p:spPr>
          <a:xfrm rot="0" flipH="0" flipV="0">
            <a:off x="647700" y="3905250"/>
            <a:ext cx="10972800" cy="1181100"/>
          </a:xfrm>
          <a:prstGeom prst="rect">
            <a:avLst/>
          </a:prstGeom>
          <a:solidFill>
            <a:srgbClr val="F4F6F8"/>
          </a:solidFill>
          <a:ln/>
        </p:spPr>
        <p:txBody>
          <a:bodyPr/>
          <a:p/>
        </p:txBody>
      </p:sp>
      <p:sp>
        <p:nvSpPr>
          <p:cNvPr id="508" name=""/>
          <p:cNvSpPr/>
          <p:nvPr/>
        </p:nvSpPr>
        <p:spPr>
          <a:xfrm rot="0" flipH="0" flipV="0">
            <a:off x="609600" y="3905250"/>
            <a:ext cx="11010900" cy="1181100"/>
          </a:xfrm>
          <a:custGeom>
            <a:pathLst>
              <a:path w="1156" h="124">
                <a:moveTo>
                  <a:pt x="0" y="0"/>
                </a:moveTo>
                <a:lnTo>
                  <a:pt x="4" y="0"/>
                </a:lnTo>
                <a:lnTo>
                  <a:pt x="4" y="124"/>
                </a:lnTo>
                <a:lnTo>
                  <a:pt x="0" y="124"/>
                </a:lnTo>
                <a:close/>
              </a:path>
            </a:pathLst>
          </a:custGeom>
          <a:solidFill>
            <a:srgbClr val="A97B28"/>
          </a:solidFill>
          <a:ln/>
        </p:spPr>
        <p:txBody>
          <a:bodyPr/>
          <a:p/>
        </p:txBody>
      </p:sp>
      <p:sp>
        <p:nvSpPr>
          <p:cNvPr id="509" name="" descr="{&quot;isTemplate&quot;:true,&quot;type&quot;:&quot;text&quot;}"/>
          <p:cNvSpPr txBox="1"/>
          <p:nvPr/>
        </p:nvSpPr>
        <p:spPr>
          <a:xfrm rot="0" flipH="0" flipV="0">
            <a:off x="857250" y="4076700"/>
            <a:ext cx="10515600" cy="628650"/>
          </a:xfrm>
          <a:prstGeom prst="rect"/>
        </p:spPr>
        <p:txBody>
          <a:bodyPr wrap="square" lIns="0" tIns="0" rIns="0" bIns="0">
            <a:normAutofit/>
          </a:bodyPr>
          <a:p>
            <a:pPr>
              <a:lnSpc>
                <a:spcPct val="160000"/>
              </a:lnSpc>
            </a:pP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成交率最高</a:t>
            </a:r>
            <a:r>
              <a:rPr lang="en-US" sz="1275" b="1">
                <a:solidFill>
                  <a:srgbClr val="1B3557"/>
                </a:solidFill>
                <a:latin typeface="Noto Sans SC"/>
                <a:ea typeface="Noto Sans SC"/>
              </a:rPr>
              <a:t>6.96</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倍、最低</a:t>
            </a:r>
            <a:r>
              <a:rPr lang="en-US" sz="1275" b="1">
                <a:solidFill>
                  <a:srgbClr val="1B3557"/>
                </a:solidFill>
                <a:latin typeface="Noto Sans SC"/>
                <a:ea typeface="Noto Sans SC"/>
              </a:rPr>
              <a:t>0.22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倍，相差</a:t>
            </a:r>
            <a:r>
              <a:rPr lang="en-US" sz="1275" b="1">
                <a:solidFill>
                  <a:srgbClr val="1B3557"/>
                </a:solidFill>
                <a:latin typeface="Noto Sans SC"/>
                <a:ea typeface="Noto Sans SC"/>
              </a:rPr>
              <a:t>32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倍；</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还差</a:t>
            </a:r>
            <a:r>
              <a:rPr lang="en-US" sz="1275" b="1">
                <a:solidFill>
                  <a:srgbClr val="1B3557"/>
                </a:solidFill>
                <a:latin typeface="Noto Sans SC"/>
                <a:ea typeface="Noto Sans SC"/>
              </a:rPr>
              <a:t>32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倍；而</a:t>
            </a:r>
            <a:r>
              <a:rPr lang="en-US" sz="1275" b="1">
                <a:solidFill>
                  <a:srgbClr val="1B3557"/>
                </a:solidFill>
                <a:latin typeface="Noto Sans SC"/>
                <a:ea typeface="Noto Sans SC"/>
              </a:rPr>
              <a:t>12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家客单价最高</a:t>
            </a:r>
            <a:r>
              <a:rPr lang="en-US" sz="1275" b="1">
                <a:solidFill>
                  <a:srgbClr val="1B3557"/>
                </a:solidFill>
                <a:latin typeface="Noto Sans SC"/>
                <a:ea typeface="Noto Sans SC"/>
              </a:rPr>
              <a:t>3,083</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元、最低</a:t>
            </a:r>
            <a:r>
              <a:rPr lang="en-US" sz="1275" b="1">
                <a:solidFill>
                  <a:srgbClr val="1B3557"/>
                </a:solidFill>
                <a:latin typeface="Noto Sans SC"/>
                <a:ea typeface="Noto Sans SC"/>
              </a:rPr>
              <a:t>1,104</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元，只差</a:t>
            </a:r>
            <a:r>
              <a:rPr lang="en-US" sz="1275" b="1">
                <a:solidFill>
                  <a:srgbClr val="1B3557"/>
                </a:solidFill>
                <a:latin typeface="Noto Sans SC"/>
                <a:ea typeface="Noto Sans SC"/>
              </a:rPr>
              <a:t>2.8</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倍</a:t>
            </a:r>
            <a:r>
              <a:rPr sz="1275" b="1">
                <a:solidFill>
                  <a:srgbClr val="1B3557"/>
                </a:solidFill>
                <a:latin typeface="Noto Sans SC"/>
                <a:ea typeface="Noto Sans SC"/>
              </a:rPr>
              <a:t>—</a:t>
            </a:r>
            <a:r>
              <a:rPr sz="1275" b="1">
                <a:solidFill>
                  <a:srgbClr val="1B3557"/>
                </a:solidFill>
                <a:latin typeface="Noto Sans SC"/>
                <a:ea typeface="Noto Sans SC"/>
              </a:rPr>
              <a:t>—</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成交率的离散度远大于定价，缺的不是客人，是把客人变成订单的能力。</a:t>
            </a:r>
            <a:endParaRPr/>
          </a:p>
        </p:txBody>
      </p:sp>
      <p:sp>
        <p:nvSpPr>
          <p:cNvPr id="510" name="" descr="{&quot;isTemplate&quot;:true,&quot;type&quot;:&quot;text&quot;}"/>
          <p:cNvSpPr txBox="1"/>
          <p:nvPr/>
        </p:nvSpPr>
        <p:spPr>
          <a:xfrm rot="0" flipH="0" flipV="0">
            <a:off x="857250" y="4762500"/>
            <a:ext cx="10515600" cy="152400"/>
          </a:xfrm>
          <a:prstGeom prst="rect"/>
        </p:spPr>
        <p:txBody>
          <a:bodyPr wrap="none" lIns="0" tIns="0" rIns="0" bIns="0"/>
          <a:p>
            <a:pPr>
              <a:lnSpc>
                <a:spcPct val="100000"/>
              </a:lnSpc>
            </a:pPr>
            <a:r>
              <a:rPr lang="zh-CN" sz="975">
                <a:solidFill>
                  <a:srgbClr val="5F6975"/>
                </a:solidFill>
                <a:latin typeface="Noto Sans SC"/>
                <a:ea typeface="Noto Sans SC"/>
              </a:rPr>
              <a:t>完整</a:t>
            </a:r>
            <a:r>
              <a:rPr lang="en-US" sz="975">
                <a:solidFill>
                  <a:srgbClr val="5F6975"/>
                </a:solidFill>
                <a:latin typeface="Noto Sans SC"/>
                <a:ea typeface="Noto Sans SC"/>
              </a:rPr>
              <a:t>12</a:t>
            </a:r>
            <a:r>
              <a:rPr lang="en-US" sz="975">
                <a:solidFill>
                  <a:srgbClr val="5F6975"/>
                </a:solidFill>
                <a:latin typeface="Noto Sans SC"/>
                <a:ea typeface="Noto Sans SC"/>
              </a:rPr>
              <a:t xml:space="preserve"> </a:t>
            </a:r>
            <a:r>
              <a:rPr lang="zh-CN" sz="975">
                <a:solidFill>
                  <a:srgbClr val="5F6975"/>
                </a:solidFill>
                <a:latin typeface="Noto Sans SC"/>
                <a:ea typeface="Noto Sans SC"/>
              </a:rPr>
              <a:t>家排名见下一页；每家店的每千次成交和客单价都在表里。</a:t>
            </a:r>
            <a:endParaRPr/>
          </a:p>
        </p:txBody>
      </p:sp>
      <p:sp>
        <p:nvSpPr>
          <p:cNvPr id="511"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512"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03</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4.xml><?xml version="1.0" encoding="utf-8"?>
<p:sld xmlns:p="http://schemas.openxmlformats.org/presentationml/2006/main" xmlns:a="http://schemas.openxmlformats.org/drawingml/2006/main">
  <p:cSld>
    <p:spTree>
      <p:nvGrpSpPr>
        <p:cNvPr id="513" name="" descr="&lt;Slide style={{ width: '1280px', height: '720px', background: '#FFFFFF', fontFamily: 'Noto Sans SC', padding: '20px 64px', flexDirection: 'column' }}&gt;&lt;Box style={{ height: '96px', flexDirection: 'column', justifyContent: 'center' }}&gt;&lt;Text style={{ fontSize: '31px', fontWeight: 700, color: '#1B3557', lineHeight: 1.25 }}&gt;{'12'} 家店按成交率排：最差{'4'} 家吃掉{'72.7%'} 的客人&lt;/Text&gt;&lt;Text style={{ fontSize: '15px', color: '#5F6975', lineHeight: 1.4, marginTop: '6px' }}&gt;红色＝成交最差{'4'} 家，深蓝＝最好{'4'} 家。每千次进店成交＝每{'1000'} 个访客成交几单。&lt;/Text&gt;&lt;/Box&gt;&lt;Box style={{ height: '540px', flexDirection: 'column' }}&gt;&lt;Box style={{ flexDirection: 'row', alignItems: 'center', height: '36px', width: '1152px', justifyContent: 'space-between', background: '#1B3557', borderBottom: '1px solid #DDE2E8',  paddingLeft: '8px', paddingRight: '8px' }}&gt;&lt;Box style={{ width: '250px', flexDirection: 'row', justifyContent: 'flex-start', alignItems: 'center' }}&gt;&lt;Text style={{ fontSize: '12px', color: '#FFFFFF', fontWeight: 700 }}&gt;店铺&lt;/Text&gt;&lt;/Box&gt;&lt;Box style={{ width: '130px', flexDirection: 'row', justifyContent: 'flex-end', alignItems: 'center' }}&gt;&lt;Text style={{ fontSize: '12px', color: '#FFFFFF', fontWeight: 700 }}&gt;成交率（倍）&lt;/Text&gt;&lt;/Box&gt;&lt;Box style={{ width: '116px', flexDirection: 'row', justifyContent: 'flex-end', alignItems: 'center' }}&gt;&lt;Text style={{ fontSize: '12px', color: '#FFFFFF', fontWeight: 700 }}&gt;客人占比&lt;/Text&gt;&lt;/Box&gt;&lt;Box style={{ width: '130px', flexDirection: 'row', justifyContent: 'flex-end', alignItems: 'center' }}&gt;&lt;Text style={{ fontSize: '12px', color: '#FFFFFF', fontWeight: 700 }}&gt;销售额占比&lt;/Text&gt;&lt;/Box&gt;&lt;Box style={{ width: '156px', flexDirection: 'row', justifyContent: 'flex-end', alignItems: 'center' }}&gt;&lt;Text style={{ fontSize: '12px', color: '#FFFFFF', fontWeight: 700 }}&gt;每千次进店成交&lt;/Text&gt;&lt;/Box&gt;&lt;Box style={{ width: '110px', flexDirection: 'row', justifyContent: 'flex-end', alignItems: 'center' }}&gt;&lt;Text style={{ fontSize: '12px', color: '#FFFFFF', fontWeight: 700 }}&gt;客单价&lt;/Text&gt;&lt;/Box&gt;&lt;/Box&gt;&lt;Box style={{ flexDirection: 'row', alignItems: 'center', height: '38px', width: '1152px', justifyContent: 'space-between', background: '#F2F5F9', borderBottom: '1px solid #DDE2E8',  paddingLeft: '8px', paddingRight: '8px' }}&gt;&lt;Box style={{ width: '250px', flexDirection: 'row', justifyContent: 'flex-start', alignItems: 'center' }}&gt;&lt;Text style={{ fontSize: '12.5px', color: '#1B3557', fontWeight: 700 }}&gt;科塔建材卫浴&lt;/Text&gt;&lt;/Box&gt;&lt;Box style={{ width: '130px', flexDirection: 'row', justifyContent: 'flex-end', alignItems: 'center' }}&gt;&lt;Text style={{ fontSize: '12.5px', color: '#15181D', fontWeight: 400 }}&gt;{'6.96'}&lt;/Text&gt;&lt;/Box&gt;&lt;Box style={{ width: '116px', flexDirection: 'row', justifyContent: 'flex-end', alignItems: 'center' }}&gt;&lt;Text style={{ fontSize: '12.5px', color: '#15181D', fontWeight: 400 }}&gt;{'2.2%'}&lt;/Text&gt;&lt;/Box&gt;&lt;Box style={{ width: '130px', flexDirection: 'row', justifyContent: 'flex-end', alignItems: 'center' }}&gt;&lt;Text style={{ fontSize: '12.5px', color: '#15181D', fontWeight: 400 }}&gt;{'8.5%'}&lt;/Text&gt;&lt;/Box&gt;&lt;Box style={{ width: '156px', flexDirection: 'row', justifyContent: 'flex-end', alignItems: 'center' }}&gt;&lt;Text style={{ fontSize: '12.5px', color: '#15181D', fontWeight: 400 }}&gt;{'11.47'} 单&lt;/Text&gt;&lt;/Box&gt;&lt;Box style={{ width: '110px', flexDirection: 'row', justifyContent: 'flex-end', alignItems: 'center' }}&gt;&lt;Text style={{ fontSize: '12.5px', color: '#15181D', fontWeight: 400 }}&gt;{'1,127'}&lt;/Text&gt;&lt;/Box&gt;&lt;/Box&gt;&lt;Box style={{ flexDirection: 'row', alignItems: 'center', height: '38px', width: '1152px', justifyContent: 'space-between', background: '#F2F5F9', borderBottom: '1px solid #DDE2E8',  paddingLeft: '8px', paddingRight: '8px' }}&gt;&lt;Box style={{ width: '250px', flexDirection: 'row', justifyContent: 'flex-start', alignItems: 'center' }}&gt;&lt;Text style={{ fontSize: '12.5px', color: '#1B3557', fontWeight: 700 }}&gt;安比全卫定制&lt;/Text&gt;&lt;/Box&gt;&lt;Box style={{ width: '130px', flexDirection: 'row', justifyContent: 'flex-end', alignItems: 'center' }}&gt;&lt;Text style={{ fontSize: '12.5px', color: '#15181D', fontWeight: 400 }}&gt;{'5.94'}&lt;/Text&gt;&lt;/Box&gt;&lt;Box style={{ width: '116px', flexDirection: 'row', justifyContent: 'flex-end', alignItems: 'center' }}&gt;&lt;Text style={{ fontSize: '12.5px', color: '#15181D', fontWeight: 400 }}&gt;{'2.0%'}&lt;/Text&gt;&lt;/Box&gt;&lt;Box style={{ width: '130px', flexDirection: 'row', justifyContent: 'flex-end', alignItems: 'center' }}&gt;&lt;Text style={{ fontSize: '12.5px', color: '#15181D', fontWeight: 400 }}&gt;{'6.3%'}&lt;/Text&gt;&lt;/Box&gt;&lt;Box style={{ width: '156px', flexDirection: 'row', justifyContent: 'flex-end', alignItems: 'center' }}&gt;&lt;Text style={{ fontSize: '12.5px', color: '#15181D', fontWeight: 400 }}&gt;{'9.79'} 单&lt;/Text&gt;&lt;/Box&gt;&lt;Box style={{ width: '110px', flexDirection: 'row', justifyContent: 'flex-end', alignItems: 'center' }}&gt;&lt;Text style={{ fontSize: '12.5px', color: '#15181D', fontWeight: 400 }}&gt;{'1,104'}&lt;/Text&gt;&lt;/Box&gt;&lt;/Box&gt;&lt;Box style={{ flexDirection: 'row', alignItems: 'center', height: '38px', width: '1152px', justifyContent: 'space-between', background: '#F2F5F9', borderBottom: '1px solid #DDE2E8',  paddingLeft: '8px', paddingRight: '8px' }}&gt;&lt;Box style={{ width: '250px', flexDirection: 'row', justifyContent: 'flex-start', alignItems: 'center' }}&gt;&lt;Text style={{ fontSize: '12.5px', color: '#1B3557', fontWeight: 700 }}&gt;网林家居旗舰店&lt;/Text&gt;&lt;/Box&gt;&lt;Box style={{ width: '130px', flexDirection: 'row', justifyContent: 'flex-end', alignItems: 'center' }}&gt;&lt;Text style={{ fontSize: '12.5px', color: '#15181D', fontWeight: 400 }}&gt;{'5.32'}&lt;/Text&gt;&lt;/Box&gt;&lt;Box style={{ width: '116px', flexDirection: 'row', justifyContent: 'flex-end', alignItems: 'center' }}&gt;&lt;Text style={{ fontSize: '12.5px', color: '#15181D', fontWeight: 400 }}&gt;{'1.3%'}&lt;/Text&gt;&lt;/Box&gt;&lt;Box style={{ width: '130px', flexDirection: 'row', justifyContent: 'flex-end', alignItems: 'center' }}&gt;&lt;Text style={{ fontSize: '12.5px', color: '#15181D', fontWeight: 400 }}&gt;{'6.5%'}&lt;/Text&gt;&lt;/Box&gt;&lt;Box style={{ width: '156px', flexDirection: 'row', justifyContent: 'flex-end', alignItems: 'center' }}&gt;&lt;Text style={{ fontSize: '12.5px', color: '#15181D', fontWeight: 400 }}&gt;{'8.76'} 单&lt;/Text&gt;&lt;/Box&gt;&lt;Box style={{ width: '110px', flexDirection: 'row', justifyContent: 'flex-end', alignItems: 'center' }}&gt;&lt;Text style={{ fontSize: '12.5px', color: '#15181D', fontWeight: 400 }}&gt;{'1,863'}&lt;/Text&gt;&lt;/Box&gt;&lt;/Box&gt;&lt;Box style={{ flexDirection: 'row', alignItems: 'center', height: '38px', width: '1152px', justifyContent: 'space-between', background: '#F2F5F9', borderBottom: '1px solid #DDE2E8',  paddingLeft: '8px', paddingRight: '8px' }}&gt;&lt;Box style={{ width: '250px', flexDirection: 'row', justifyContent: 'flex-start', alignItems: 'center' }}&gt;&lt;Text style={{ fontSize: '12.5px', color: '#1B3557', fontWeight: 700 }}&gt;盖文旗舰店&lt;/Text&gt;&lt;/Box&gt;&lt;Box style={{ width: '130px', flexDirection: 'row', justifyContent: 'flex-end', alignItems: 'center' }}&gt;&lt;Text style={{ fontSize: '12.5px', color: '#15181D', fontWeight: 400 }}&gt;{'3.85'}&lt;/Text&gt;&lt;/Box&gt;&lt;Box style={{ width: '116px', flexDirection: 'row', justifyContent: 'flex-end', alignItems: 'center' }}&gt;&lt;Text style={{ fontSize: '12.5px', color: '#15181D', fontWeight: 400 }}&gt;{'4.4%'}&lt;/Text&gt;&lt;/Box&gt;&lt;Box style={{ width: '130px', flexDirection: 'row', justifyContent: 'flex-end', alignItems: 'center' }}&gt;&lt;Text style={{ fontSize: '12.5px', color: '#15181D', fontWeight: 400 }}&gt;{'25.8%'}&lt;/Text&gt;&lt;/Box&gt;&lt;Box style={{ width: '156px', flexDirection: 'row', justifyContent: 'flex-end', alignItems: 'center' }}&gt;&lt;Text style={{ fontSize: '12.5px', color: '#15181D', fontWeight: 400 }}&gt;{'6.35'} 单&lt;/Text&gt;&lt;/Box&gt;&lt;Box style={{ width: '110px', flexDirection: 'row', justifyContent: 'flex-end', alignItems: 'center' }}&gt;&lt;Text style={{ fontSize: '12.5px', color: '#15181D', fontWeight: 400 }}&gt;{'3,083'}&lt;/Text&gt;&lt;/Box&gt;&lt;/Box&gt;&lt;Box style={{ flexDirection: 'row', alignItems: 'center', height: '38px', width: '1152px', justifyContent: 'space-between', background: 'transparent', borderBottom: '1px solid #DDE2E8',  paddingLeft: '8px', paddingRight: '8px' }}&gt;&lt;Box style={{ width: '250px', flexDirection: 'row', justifyContent: 'flex-start', alignItems: 'center' }}&gt;&lt;Text style={{ fontSize: '12.5px', color: '#15181D', fontWeight: 400 }}&gt;保拉伦蒂旗舰店&lt;/Text&gt;&lt;/Box&gt;&lt;Box style={{ width: '130px', flexDirection: 'row', justifyContent: 'flex-end', alignItems: 'center' }}&gt;&lt;Text style={{ fontSize: '12.5px', color: '#15181D', fontWeight: 400 }}&gt;{'1.77'}&lt;/Text&gt;&lt;/Box&gt;&lt;Box style={{ width: '116px', flexDirection: 'row', justifyContent: 'flex-end', alignItems: 'center' }}&gt;&lt;Text style={{ fontSize: '12.5px', color: '#15181D', fontWeight: 400 }}&gt;{'3.5%'}&lt;/Text&gt;&lt;/Box&gt;&lt;Box style={{ width: '130px', flexDirection: 'row', justifyContent: 'flex-end', alignItems: 'center' }}&gt;&lt;Text style={{ fontSize: '12.5px', color: '#15181D', fontWeight: 400 }}&gt;{'7.6%'}&lt;/Text&gt;&lt;/Box&gt;&lt;Box style={{ width: '156px', flexDirection: 'row', justifyContent: 'flex-end', alignItems: 'center' }}&gt;&lt;Text style={{ fontSize: '12.5px', color: '#15181D', fontWeight: 400 }}&gt;{'2.92'} 单&lt;/Text&gt;&lt;/Box&gt;&lt;Box style={{ width: '110px', flexDirection: 'row', justifyContent: 'flex-end', alignItems: 'center' }}&gt;&lt;Text style={{ fontSize: '12.5px', color: '#15181D', fontWeight: 400 }}&gt;{'2,499'}&lt;/Text&gt;&lt;/Box&gt;&lt;/Box&gt;&lt;Box style={{ flexDirection: 'row', alignItems: 'center', height: '38px', width: '1152px', justifyContent: 'space-between', background: 'transparent', borderBottom: '1px solid #DDE2E8',  paddingLeft: '8px', paddingRight: '8px' }}&gt;&lt;Box style={{ width: '250px', flexDirection: 'row', justifyContent: 'flex-start', alignItems: 'center' }}&gt;&lt;Text style={{ fontSize: '12.5px', color: '#15181D', fontWeight: 400 }}&gt;里可林旗舰店&lt;/Text&gt;&lt;/Box&gt;&lt;Box style={{ width: '130px', flexDirection: 'row', justifyContent: 'flex-end', alignItems: 'center' }}&gt;&lt;Text style={{ fontSize: '12.5px', color: '#15181D', fontWeight: 400 }}&gt;{'1.67'}&lt;/Text&gt;&lt;/Box&gt;&lt;Box style={{ width: '116px', flexDirection: 'row', justifyContent: 'flex-end', alignItems: 'center' }}&gt;&lt;Text style={{ fontSize: '12.5px', color: '#15181D', fontWeight: 400 }}&gt;{'1.7%'}&lt;/Text&gt;&lt;/Box&gt;&lt;Box style={{ width: '130px', flexDirection: 'row', justifyContent: 'flex-end', alignItems: 'center' }}&gt;&lt;Text style={{ fontSize: '12.5px', color: '#15181D', fontWeight: 400 }}&gt;{'3.6%'}&lt;/Text&gt;&lt;/Box&gt;&lt;Box style={{ width: '156px', flexDirection: 'row', justifyContent: 'flex-end', alignItems: 'center' }}&gt;&lt;Text style={{ fontSize: '12.5px', color: '#15181D', fontWeight: 400 }}&gt;{'2.76'} 单&lt;/Text&gt;&lt;/Box&gt;&lt;Box style={{ width: '110px', flexDirection: 'row', justifyContent: 'flex-end', alignItems: 'center' }}&gt;&lt;Text style={{ fontSize: '12.5px', color: '#15181D', fontWeight: 400 }}&gt;{'2,539'}&lt;/Text&gt;&lt;/Box&gt;&lt;/Box&gt;&lt;Box style={{ flexDirection: 'row', alignItems: 'center', height: '38px', width: '1152px', justifyContent: 'space-between', background: 'transparent', borderBottom: '1px solid #DDE2E8',  paddingLeft: '8px', paddingRight: '8px' }}&gt;&lt;Box style={{ width: '250px', flexDirection: 'row', justifyContent: 'flex-start', alignItems: 'center' }}&gt;&lt;Text style={{ fontSize: '12.5px', color: '#15181D', fontWeight: 400 }}&gt;里可林家居&lt;/Text&gt;&lt;/Box&gt;&lt;Box style={{ width: '130px', flexDirection: 'row', justifyContent: 'flex-end', alignItems: 'center' }}&gt;&lt;Text style={{ fontSize: '12.5px', color: '#15181D', fontWeight: 400 }}&gt;{'1.50'}&lt;/Text&gt;&lt;/Box&gt;&lt;Box style={{ width: '116px', flexDirection: 'row', justifyContent: 'flex-end', alignItems: 'center' }}&gt;&lt;Text style={{ fontSize: '12.5px', color: '#15181D', fontWeight: 400 }}&gt;{'3.1%'}&lt;/Text&gt;&lt;/Box&gt;&lt;Box style={{ width: '130px', flexDirection: 'row', justifyContent: 'flex-end', alignItems: 'center' }}&gt;&lt;Text style={{ fontSize: '12.5px', color: '#15181D', fontWeight: 400 }}&gt;{'4.7%'}&lt;/Text&gt;&lt;/Box&gt;&lt;Box style={{ width: '156px', flexDirection: 'row', justifyContent: 'flex-end', alignItems: 'center' }}&gt;&lt;Text style={{ fontSize: '12.5px', color: '#15181D', fontWeight: 400 }}&gt;{'2.47'} 单&lt;/Text&gt;&lt;/Box&gt;&lt;Box style={{ width: '110px', flexDirection: 'row', justifyContent: 'flex-end', alignItems: 'center' }}&gt;&lt;Text style={{ fontSize: '12.5px', color: '#15181D', fontWeight: 400 }}&gt;{'2,106'}&lt;/Text&gt;&lt;/Box&gt;&lt;/Box&gt;&lt;Box style={{ flexDirection: 'row', alignItems: 'center', height: '38px', width: '1152px', justifyContent: 'space-between', background: 'transparent', borderBottom: '1px solid #DDE2E8',  paddingLeft: '8px', paddingRight: '8px' }}&gt;&lt;Box style={{ width: '250px', flexDirection: 'row', justifyContent: 'flex-start', alignItems: 'center' }}&gt;&lt;Text style={{ fontSize: '12.5px', color: '#15181D', fontWeight: 400 }}&gt;安比定制家居&lt;/Text&gt;&lt;/Box&gt;&lt;Box style={{ width: '130px', flexDirection: 'row', justifyContent: 'flex-end', alignItems: 'center' }}&gt;&lt;Text style={{ fontSize: '12.5px', color: '#15181D', fontWeight: 400 }}&gt;{'1.15'}&lt;/Text&gt;&lt;/Box&gt;&lt;Box style={{ width: '116px', flexDirection: 'row', justifyContent: 'flex-end', alignItems: 'center' }}&gt;&lt;Text style={{ fontSize: '12.5px', color: '#15181D', fontWeight: 400 }}&gt;{'9.1%'}&lt;/Text&gt;&lt;/Box&gt;&lt;Box style={{ width: '130px', flexDirection: 'row', justifyContent: 'flex-end', alignItems: 'center' }}&gt;&lt;Text style={{ fontSize: '12.5px', color: '#15181D', fontWeight: 400 }}&gt;{'6.5%'}&lt;/Text&gt;&lt;/Box&gt;&lt;Box style={{ width: '156px', flexDirection: 'row', justifyContent: 'flex-end', alignItems: 'center' }}&gt;&lt;Text style={{ fontSize: '12.5px', color: '#15181D', fontWeight: 400 }}&gt;{'1.89'} 单&lt;/Text&gt;&lt;/Box&gt;&lt;Box style={{ width: '110px', flexDirection: 'row', justifyContent: 'flex-end', alignItems: 'center' }}&gt;&lt;Text style={{ fontSize: '12.5px', color: '#15181D', fontWeight: 400 }}&gt;{'1,280'}&lt;/Text&gt;&lt;/Box&gt;&lt;/Box&gt;&lt;Box style={{ flexDirection: 'row', alignItems: 'center', height: '38px', width: '1152px', justifyContent: 'space-between', background: '#FBF2EF', borderBottom: '1px solid #DDE2E8',  paddingLeft: '8px', paddingRight: '8px' }}&gt;&lt;Box style={{ width: '250px', flexDirection: 'row', justifyContent: 'flex-start', alignItems: 'center' }}&gt;&lt;Text style={{ fontSize: '12.5px', color: '#AE4128', fontWeight: 700 }}&gt;科塔全卫定制&lt;/Text&gt;&lt;/Box&gt;&lt;Box style={{ width: '130px', flexDirection: 'row', justifyContent: 'flex-end', alignItems: 'center' }}&gt;&lt;Text style={{ fontSize: '12.5px', color: '#AE4128', fontWeight: 400 }}&gt;{'0.40'}&lt;/Text&gt;&lt;/Box&gt;&lt;Box style={{ width: '116px', flexDirection: 'row', justifyContent: 'flex-end', alignItems: 'center' }}&gt;&lt;Text style={{ fontSize: '12.5px', color: '#15181D', fontWeight: 400 }}&gt;{'12.4%'}&lt;/Text&gt;&lt;/Box&gt;&lt;Box style={{ width: '130px', flexDirection: 'row', justifyContent: 'flex-end', alignItems: 'center' }}&gt;&lt;Text style={{ fontSize: '12.5px', color: '#15181D', fontWeight: 400 }}&gt;{'7.0%'}&lt;/Text&gt;&lt;/Box&gt;&lt;Box style={{ width: '156px', flexDirection: 'row', justifyContent: 'flex-end', alignItems: 'center' }}&gt;&lt;Text style={{ fontSize: '12.5px', color: '#15181D', fontWeight: 400 }}&gt;{'0.66'} 单&lt;/Text&gt;&lt;/Box&gt;&lt;Box style={{ width: '110px', flexDirection: 'row', justifyContent: 'flex-end', alignItems: 'center' }}&gt;&lt;Text style={{ fontSize: '12.5px', color: '#15181D', fontWeight: 400 }}&gt;{'2,856'}&lt;/Text&gt;&lt;/Box&gt;&lt;/Box&gt;&lt;Box style={{ flexDirection: 'row', alignItems: 'center', height: '38px', width: '1152px', justifyContent: 'space-between', background: '#FBF2EF', borderBottom: '1px solid #DDE2E8',  paddingLeft: '8px', paddingRight: '8px' }}&gt;&lt;Box style={{ width: '250px', flexDirection: 'row', justifyContent: 'flex-start', alignItems: 'center' }}&gt;&lt;Text style={{ fontSize: '12.5px', color: '#AE4128', fontWeight: 700 }}&gt;网林全卫定制&lt;/Text&gt;&lt;/Box&gt;&lt;Box style={{ width: '130px', flexDirection: 'row', justifyContent: 'flex-end', alignItems: 'center' }}&gt;&lt;Text style={{ fontSize: '12.5px', color: '#AE4128', fontWeight: 400 }}&gt;{'0.40'}&lt;/Text&gt;&lt;/Box&gt;&lt;Box style={{ width: '116px', flexDirection: 'row', justifyContent: 'flex-end', alignItems: 'center' }}&gt;&lt;Text style={{ fontSize: '12.5px', color: '#15181D', fontWeight: 400 }}&gt;{'13.5%'}&lt;/Text&gt;&lt;/Box&gt;&lt;Box style={{ width: '130px', flexDirection: 'row', justifyContent: 'flex-end', alignItems: 'center' }}&gt;&lt;Text style={{ fontSize: '12.5px', color: '#15181D', fontWeight: 400 }}&gt;{'4.8%'}&lt;/Text&gt;&lt;/Box&gt;&lt;Box style={{ width: '156px', flexDirection: 'row', justifyContent: 'flex-end', alignItems: 'center' }}&gt;&lt;Text style={{ fontSize: '12.5px', color: '#15181D', fontWeight: 400 }}&gt;{'0.66'} 单&lt;/Text&gt;&lt;/Box&gt;&lt;Box style={{ width: '110px', flexDirection: 'row', justifyContent: 'flex-end', alignItems: 'center' }}&gt;&lt;Text style={{ fontSize: '12.5px', color: '#15181D', fontWeight: 400 }}&gt;{'1,795'}&lt;/Text&gt;&lt;/Box&gt;&lt;/Box&gt;&lt;Box style={{ flexDirection: 'row', alignItems: 'center', height: '38px', width: '1152px', justifyContent: 'space-between', background: '#FBF2EF', borderBottom: '1px solid #DDE2E8',  paddingLeft: '8px', paddingRight: '8px' }}&gt;&lt;Box style={{ width: '250px', flexDirection: 'row', justifyContent: 'flex-start', alignItems: 'center' }}&gt;&lt;Text style={{ fontSize: '12.5px', color: '#AE4128', fontWeight: 700 }}&gt;Paola Lenti保拉伦蒂&lt;/Text&gt;&lt;/Box&gt;&lt;Box style={{ width: '130px', flexDirection: 'row', justifyContent: 'flex-end', alignItems: 'center' }}&gt;&lt;Text style={{ fontSize: '12.5px', color: '#AE4128', fontWeight: 400 }}&gt;{'0.40'}&lt;/Text&gt;&lt;/Box&gt;&lt;Box style={{ width: '116px', flexDirection: 'row', justifyContent: 'flex-end', alignItems: 'center' }}&gt;&lt;Text style={{ fontSize: '12.5px', color: '#15181D', fontWeight: 400 }}&gt;{'21.8%'}&lt;/Text&gt;&lt;/Box&gt;&lt;Box style={{ width: '130px', flexDirection: 'row', justifyContent: 'flex-end', alignItems: 'center' }}&gt;&lt;Text style={{ fontSize: '12.5px', color: '#15181D', fontWeight: 400 }}&gt;{'11.5%'}&lt;/Text&gt;&lt;/Box&gt;&lt;Box style={{ width: '156px', flexDirection: 'row', justifyContent: 'flex-end', alignItems: 'center' }}&gt;&lt;Text style={{ fontSize: '12.5px', color: '#15181D', fontWeight: 400 }}&gt;{'0.66'} 单&lt;/Text&gt;&lt;/Box&gt;&lt;Box style={{ width: '110px', flexDirection: 'row', justifyContent: 'flex-end', alignItems: 'center' }}&gt;&lt;Text style={{ fontSize: '12.5px', color: '#15181D', fontWeight: 400 }}&gt;{'2,694'}&lt;/Text&gt;&lt;/Box&gt;&lt;/Box&gt;&lt;Box style={{ flexDirection: 'row', alignItems: 'center', height: '38px', width: '1152px', justifyContent: 'space-between', background: '#FBF2EF', borderBottom: '1px solid #DDE2E8',  paddingLeft: '8px', paddingRight: '8px' }}&gt;&lt;Box style={{ width: '250px', flexDirection: 'row', justifyContent: 'flex-start', alignItems: 'center' }}&gt;&lt;Text style={{ fontSize: '12.5px', color: '#AE4128', fontWeight: 700 }}&gt;盖文全卫定制&lt;/Text&gt;&lt;/Box&gt;&lt;Box style={{ width: '130px', flexDirection: 'row', justifyContent: 'flex-end', alignItems: 'center' }}&gt;&lt;Text style={{ fontSize: '12.5px', color: '#AE4128', fontWeight: 400 }}&gt;{'0.22'}&lt;/Text&gt;&lt;/Box&gt;&lt;Box style={{ width: '116px', flexDirection: 'row', justifyContent: 'flex-end', alignItems: 'center' }}&gt;&lt;Text style={{ fontSize: '12.5px', color: '#15181D', fontWeight: 400 }}&gt;{'25.0%'}&lt;/Text&gt;&lt;/Box&gt;&lt;Box style={{ width: '130px', flexDirection: 'row', justifyContent: 'flex-end', alignItems: 'center' }}&gt;&lt;Text style={{ fontSize: '12.5px', color: '#15181D', fontWeight: 400 }}&gt;{'7.2%'}&lt;/Text&gt;&lt;/Box&gt;&lt;Box style={{ width: '156px', flexDirection: 'row', justifyContent: 'flex-end', alignItems: 'center' }}&gt;&lt;Text style={{ fontSize: '12.5px', color: '#15181D', fontWeight: 400 }}&gt;{'0.36'} 单&lt;/Text&gt;&lt;/Box&gt;&lt;Box style={{ width: '110px', flexDirection: 'row', justifyContent: 'flex-end', alignItems: 'center' }}&gt;&lt;Text style={{ fontSize: '12.5px', color: '#15181D', fontWeight: 400 }}&gt;{'2,709'}&lt;/Text&gt;&lt;/Box&gt;&lt;/Box&gt;&lt;Box style={{ flexDirection: 'row', gap: '28px', marginTop: '18px' }}&gt;&lt;Text style={{ fontSize: '12.5px', color: '#5F6975' }}&gt;{'12'} 家合计：客人{'145,701'} 人次　成交{'49.0'}万元　客单价{'2,044'} 元&lt;/Text&gt;&lt;Text style={{ fontSize: '12.5px', color: '#5F6975' }}&gt;成交率最高的科塔建材卫浴{'6.96'} 倍，最低的盖文全卫定制{'0.22'} 倍&lt;/Text&gt;&lt;/Box&gt;&lt;/Box&gt;&lt;Box style={{ height: '40px', flexDirection: 'row', justifyContent: 'space-between', alignItems: 'center' }}&gt;&lt;Text style={{ fontSize: '13px', color: '#5F6975' }}&gt;经营数据诊断{'·'}{'2026-10-20'}&lt;/Text&gt;&lt;Text style={{ fontSize: '13px', color: '#5F6975' }}&gt;{'04'}{'/'}{'13'}&lt;/Text&gt;&lt;/Box&gt;&lt;/Slide&gt;&#10;"/>
        <p:cNvGrpSpPr/>
        <p:nvPr/>
      </p:nvGrpSpPr>
      <p:grpSpPr>
        <a:xfrm>
          <a:off x="0" y="0"/>
          <a:ext cx="0" cy="0"/>
          <a:chOff x="0" y="0"/>
          <a:chExt cx="0" cy="0"/>
        </a:xfrm>
      </p:grpSpPr>
      <p:sp>
        <p:nvSpPr>
          <p:cNvPr id="514" name=""/>
          <p:cNvSpPr/>
          <p:nvPr/>
        </p:nvSpPr>
        <p:spPr>
          <a:xfrm rot="0" flipH="0" flipV="0">
            <a:off x="0" y="0"/>
            <a:ext cx="12192000" cy="6858000"/>
          </a:xfrm>
          <a:prstGeom prst="rect">
            <a:avLst/>
          </a:prstGeom>
          <a:solidFill>
            <a:srgbClr val="FFFFFF"/>
          </a:solidFill>
          <a:ln/>
        </p:spPr>
        <p:txBody>
          <a:bodyPr/>
          <a:p/>
        </p:txBody>
      </p:sp>
      <p:sp>
        <p:nvSpPr>
          <p:cNvPr id="515"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en-US" sz="2325" b="1">
                <a:solidFill>
                  <a:srgbClr val="1B3557"/>
                </a:solidFill>
                <a:latin typeface="Noto Sans SC"/>
                <a:ea typeface="Noto Sans SC"/>
              </a:rPr>
              <a:t>12</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家店按成交率排：最差</a:t>
            </a:r>
            <a:r>
              <a:rPr lang="en-US" sz="2325" b="1">
                <a:solidFill>
                  <a:srgbClr val="1B3557"/>
                </a:solidFill>
                <a:latin typeface="Noto Sans SC"/>
                <a:ea typeface="Noto Sans SC"/>
              </a:rPr>
              <a:t>4</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家吃掉</a:t>
            </a:r>
            <a:r>
              <a:rPr lang="en-US" sz="2325" b="1">
                <a:solidFill>
                  <a:srgbClr val="1B3557"/>
                </a:solidFill>
                <a:latin typeface="Noto Sans SC"/>
                <a:ea typeface="Noto Sans SC"/>
              </a:rPr>
              <a:t>72.7%</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的客人</a:t>
            </a:r>
            <a:endParaRPr/>
          </a:p>
        </p:txBody>
      </p:sp>
      <p:sp>
        <p:nvSpPr>
          <p:cNvPr id="516"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红色＝成交最差</a:t>
            </a:r>
            <a:r>
              <a:rPr lang="en-US" sz="1125">
                <a:solidFill>
                  <a:srgbClr val="5F6975"/>
                </a:solidFill>
                <a:latin typeface="Noto Sans SC"/>
                <a:ea typeface="Noto Sans SC"/>
              </a:rPr>
              <a:t>4</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家，深蓝＝最好</a:t>
            </a:r>
            <a:r>
              <a:rPr lang="en-US" sz="1125">
                <a:solidFill>
                  <a:srgbClr val="5F6975"/>
                </a:solidFill>
                <a:latin typeface="Noto Sans SC"/>
                <a:ea typeface="Noto Sans SC"/>
              </a:rPr>
              <a:t>4</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家。每千次进店成交＝每</a:t>
            </a:r>
            <a:r>
              <a:rPr lang="en-US" sz="1125">
                <a:solidFill>
                  <a:srgbClr val="5F6975"/>
                </a:solidFill>
                <a:latin typeface="Noto Sans SC"/>
                <a:ea typeface="Noto Sans SC"/>
              </a:rPr>
              <a:t>1000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个访客成交几单。</a:t>
            </a:r>
            <a:endParaRPr/>
          </a:p>
        </p:txBody>
      </p:sp>
      <p:sp>
        <p:nvSpPr>
          <p:cNvPr id="517" name=""/>
          <p:cNvSpPr/>
          <p:nvPr/>
        </p:nvSpPr>
        <p:spPr>
          <a:xfrm rot="0" flipH="0" flipV="0">
            <a:off x="609600" y="1104900"/>
            <a:ext cx="10972800" cy="333375"/>
          </a:xfrm>
          <a:prstGeom prst="rect">
            <a:avLst/>
          </a:prstGeom>
          <a:solidFill>
            <a:srgbClr val="1B3557"/>
          </a:solidFill>
          <a:ln/>
        </p:spPr>
        <p:txBody>
          <a:bodyPr/>
          <a:p/>
        </p:txBody>
      </p:sp>
      <p:sp>
        <p:nvSpPr>
          <p:cNvPr id="518" name=""/>
          <p:cNvSpPr/>
          <p:nvPr/>
        </p:nvSpPr>
        <p:spPr>
          <a:xfrm rot="0" flipH="0" flipV="0">
            <a:off x="609600" y="1104900"/>
            <a:ext cx="10972800" cy="342900"/>
          </a:xfrm>
          <a:custGeom>
            <a:pathLst>
              <a:path w="1152" h="36">
                <a:moveTo>
                  <a:pt x="0" y="35"/>
                </a:moveTo>
                <a:lnTo>
                  <a:pt x="1152" y="35"/>
                </a:lnTo>
                <a:lnTo>
                  <a:pt x="1152" y="36"/>
                </a:lnTo>
                <a:lnTo>
                  <a:pt x="0" y="36"/>
                </a:lnTo>
                <a:close/>
              </a:path>
            </a:pathLst>
          </a:custGeom>
          <a:solidFill>
            <a:srgbClr val="DDE2E8"/>
          </a:solidFill>
          <a:ln/>
        </p:spPr>
        <p:txBody>
          <a:bodyPr/>
          <a:p/>
        </p:txBody>
      </p:sp>
      <p:sp>
        <p:nvSpPr>
          <p:cNvPr id="519" name="" descr="{&quot;isTemplate&quot;:true,&quot;type&quot;:&quot;text&quot;}"/>
          <p:cNvSpPr txBox="1"/>
          <p:nvPr/>
        </p:nvSpPr>
        <p:spPr>
          <a:xfrm rot="0" flipH="0" flipV="0">
            <a:off x="685800"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店铺</a:t>
            </a:r>
            <a:endParaRPr/>
          </a:p>
        </p:txBody>
      </p:sp>
      <p:sp>
        <p:nvSpPr>
          <p:cNvPr id="520" name="" descr="{&quot;isTemplate&quot;:true,&quot;type&quot;:&quot;text&quot;}"/>
          <p:cNvSpPr txBox="1"/>
          <p:nvPr/>
        </p:nvSpPr>
        <p:spPr>
          <a:xfrm rot="0" flipH="0" flipV="0">
            <a:off x="4086225" y="1200150"/>
            <a:ext cx="685800" cy="142875"/>
          </a:xfrm>
          <a:prstGeom prst="rect"/>
        </p:spPr>
        <p:txBody>
          <a:bodyPr wrap="none" lIns="0" tIns="0" rIns="0" bIns="0"/>
          <a:p>
            <a:pPr>
              <a:lnSpc>
                <a:spcPct val="100000"/>
              </a:lnSpc>
            </a:pPr>
            <a:r>
              <a:rPr lang="zh-CN" sz="900" b="1">
                <a:solidFill>
                  <a:srgbClr val="FFFFFF"/>
                </a:solidFill>
                <a:latin typeface="Noto Sans SC"/>
                <a:ea typeface="Noto Sans SC"/>
              </a:rPr>
              <a:t>成交率（倍）</a:t>
            </a:r>
            <a:endParaRPr/>
          </a:p>
        </p:txBody>
      </p:sp>
      <p:sp>
        <p:nvSpPr>
          <p:cNvPr id="521" name="" descr="{&quot;isTemplate&quot;:true,&quot;type&quot;:&quot;text&quot;}"/>
          <p:cNvSpPr txBox="1"/>
          <p:nvPr/>
        </p:nvSpPr>
        <p:spPr>
          <a:xfrm rot="0" flipH="0" flipV="0">
            <a:off x="5886450" y="1200150"/>
            <a:ext cx="457200" cy="142875"/>
          </a:xfrm>
          <a:prstGeom prst="rect"/>
        </p:spPr>
        <p:txBody>
          <a:bodyPr wrap="none" lIns="0" tIns="0" rIns="0" bIns="0"/>
          <a:p>
            <a:pPr>
              <a:lnSpc>
                <a:spcPct val="100000"/>
              </a:lnSpc>
            </a:pPr>
            <a:r>
              <a:rPr lang="zh-CN" sz="900" b="1">
                <a:solidFill>
                  <a:srgbClr val="FFFFFF"/>
                </a:solidFill>
                <a:latin typeface="Noto Sans SC"/>
                <a:ea typeface="Noto Sans SC"/>
              </a:rPr>
              <a:t>客人占比</a:t>
            </a:r>
            <a:endParaRPr/>
          </a:p>
        </p:txBody>
      </p:sp>
      <p:sp>
        <p:nvSpPr>
          <p:cNvPr id="522" name="" descr="{&quot;isTemplate&quot;:true,&quot;type&quot;:&quot;text&quot;}"/>
          <p:cNvSpPr txBox="1"/>
          <p:nvPr/>
        </p:nvSpPr>
        <p:spPr>
          <a:xfrm rot="0" flipH="0" flipV="0">
            <a:off x="7467600" y="1200150"/>
            <a:ext cx="571500" cy="142875"/>
          </a:xfrm>
          <a:prstGeom prst="rect"/>
        </p:spPr>
        <p:txBody>
          <a:bodyPr wrap="none" lIns="0" tIns="0" rIns="0" bIns="0"/>
          <a:p>
            <a:pPr>
              <a:lnSpc>
                <a:spcPct val="100000"/>
              </a:lnSpc>
            </a:pPr>
            <a:r>
              <a:rPr lang="zh-CN" sz="900" b="1">
                <a:solidFill>
                  <a:srgbClr val="FFFFFF"/>
                </a:solidFill>
                <a:latin typeface="Noto Sans SC"/>
                <a:ea typeface="Noto Sans SC"/>
              </a:rPr>
              <a:t>销售额占比</a:t>
            </a:r>
            <a:endParaRPr/>
          </a:p>
        </p:txBody>
      </p:sp>
      <p:sp>
        <p:nvSpPr>
          <p:cNvPr id="523" name="" descr="{&quot;isTemplate&quot;:true,&quot;type&quot;:&quot;text&quot;}"/>
          <p:cNvSpPr txBox="1"/>
          <p:nvPr/>
        </p:nvSpPr>
        <p:spPr>
          <a:xfrm rot="0" flipH="0" flipV="0">
            <a:off x="9191625" y="1200150"/>
            <a:ext cx="800100" cy="142875"/>
          </a:xfrm>
          <a:prstGeom prst="rect"/>
        </p:spPr>
        <p:txBody>
          <a:bodyPr wrap="none" lIns="0" tIns="0" rIns="0" bIns="0"/>
          <a:p>
            <a:pPr>
              <a:lnSpc>
                <a:spcPct val="100000"/>
              </a:lnSpc>
            </a:pPr>
            <a:r>
              <a:rPr lang="zh-CN" sz="900" b="1">
                <a:solidFill>
                  <a:srgbClr val="FFFFFF"/>
                </a:solidFill>
                <a:latin typeface="Noto Sans SC"/>
                <a:ea typeface="Noto Sans SC"/>
              </a:rPr>
              <a:t>每千次进店成交</a:t>
            </a:r>
            <a:endParaRPr/>
          </a:p>
        </p:txBody>
      </p:sp>
      <p:sp>
        <p:nvSpPr>
          <p:cNvPr id="524" name="" descr="{&quot;isTemplate&quot;:true,&quot;type&quot;:&quot;text&quot;}"/>
          <p:cNvSpPr txBox="1"/>
          <p:nvPr/>
        </p:nvSpPr>
        <p:spPr>
          <a:xfrm rot="0" flipH="0" flipV="0">
            <a:off x="11163300" y="1200150"/>
            <a:ext cx="342900" cy="142875"/>
          </a:xfrm>
          <a:prstGeom prst="rect"/>
        </p:spPr>
        <p:txBody>
          <a:bodyPr wrap="none" lIns="0" tIns="0" rIns="0" bIns="0"/>
          <a:p>
            <a:pPr>
              <a:lnSpc>
                <a:spcPct val="100000"/>
              </a:lnSpc>
            </a:pPr>
            <a:r>
              <a:rPr lang="zh-CN" sz="900" b="1">
                <a:solidFill>
                  <a:srgbClr val="FFFFFF"/>
                </a:solidFill>
                <a:latin typeface="Noto Sans SC"/>
                <a:ea typeface="Noto Sans SC"/>
              </a:rPr>
              <a:t>客单价</a:t>
            </a:r>
            <a:endParaRPr/>
          </a:p>
        </p:txBody>
      </p:sp>
      <p:sp>
        <p:nvSpPr>
          <p:cNvPr id="525" name=""/>
          <p:cNvSpPr/>
          <p:nvPr/>
        </p:nvSpPr>
        <p:spPr>
          <a:xfrm rot="0" flipH="0" flipV="0">
            <a:off x="609600" y="1447800"/>
            <a:ext cx="10972800" cy="352425"/>
          </a:xfrm>
          <a:prstGeom prst="rect">
            <a:avLst/>
          </a:prstGeom>
          <a:solidFill>
            <a:srgbClr val="F2F5F9"/>
          </a:solidFill>
          <a:ln/>
        </p:spPr>
        <p:txBody>
          <a:bodyPr/>
          <a:p/>
        </p:txBody>
      </p:sp>
      <p:sp>
        <p:nvSpPr>
          <p:cNvPr id="526" name=""/>
          <p:cNvSpPr/>
          <p:nvPr/>
        </p:nvSpPr>
        <p:spPr>
          <a:xfrm rot="0" flipH="0" flipV="0">
            <a:off x="609600" y="14478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27" name="" descr="{&quot;isTemplate&quot;:true,&quot;type&quot;:&quot;text&quot;}"/>
          <p:cNvSpPr txBox="1"/>
          <p:nvPr/>
        </p:nvSpPr>
        <p:spPr>
          <a:xfrm rot="0" flipH="0" flipV="0">
            <a:off x="685800" y="1552575"/>
            <a:ext cx="714375" cy="142875"/>
          </a:xfrm>
          <a:prstGeom prst="rect"/>
        </p:spPr>
        <p:txBody>
          <a:bodyPr wrap="none" lIns="0" tIns="0" rIns="0" bIns="0"/>
          <a:p>
            <a:pPr>
              <a:lnSpc>
                <a:spcPct val="100000"/>
              </a:lnSpc>
            </a:pPr>
            <a:r>
              <a:rPr lang="zh-CN" sz="938" b="1">
                <a:solidFill>
                  <a:srgbClr val="1B3557"/>
                </a:solidFill>
                <a:latin typeface="Noto Sans SC"/>
                <a:ea typeface="Noto Sans SC"/>
              </a:rPr>
              <a:t>科塔建材卫浴</a:t>
            </a:r>
            <a:endParaRPr/>
          </a:p>
        </p:txBody>
      </p:sp>
      <p:sp>
        <p:nvSpPr>
          <p:cNvPr id="528" name="" descr="{&quot;isTemplate&quot;:true,&quot;type&quot;:&quot;text&quot;}"/>
          <p:cNvSpPr txBox="1"/>
          <p:nvPr/>
        </p:nvSpPr>
        <p:spPr>
          <a:xfrm rot="0" flipH="0" flipV="0">
            <a:off x="4552950" y="1552575"/>
            <a:ext cx="219075" cy="142875"/>
          </a:xfrm>
          <a:prstGeom prst="rect"/>
        </p:spPr>
        <p:txBody>
          <a:bodyPr wrap="none" lIns="0" tIns="0" rIns="0" bIns="0"/>
          <a:p>
            <a:pPr>
              <a:lnSpc>
                <a:spcPct val="100000"/>
              </a:lnSpc>
            </a:pPr>
            <a:r>
              <a:rPr lang="en-US" sz="938">
                <a:solidFill>
                  <a:srgbClr val="15181D"/>
                </a:solidFill>
                <a:latin typeface="Noto Sans SC"/>
                <a:ea typeface="Noto Sans SC"/>
              </a:rPr>
              <a:t>6.96</a:t>
            </a:r>
            <a:endParaRPr/>
          </a:p>
        </p:txBody>
      </p:sp>
      <p:sp>
        <p:nvSpPr>
          <p:cNvPr id="529" name="" descr="{&quot;isTemplate&quot;:true,&quot;type&quot;:&quot;text&quot;}"/>
          <p:cNvSpPr txBox="1"/>
          <p:nvPr/>
        </p:nvSpPr>
        <p:spPr>
          <a:xfrm rot="0" flipH="0" flipV="0">
            <a:off x="6086475" y="1552575"/>
            <a:ext cx="257175" cy="142875"/>
          </a:xfrm>
          <a:prstGeom prst="rect"/>
        </p:spPr>
        <p:txBody>
          <a:bodyPr wrap="none" lIns="0" tIns="0" rIns="0" bIns="0"/>
          <a:p>
            <a:pPr>
              <a:lnSpc>
                <a:spcPct val="100000"/>
              </a:lnSpc>
            </a:pPr>
            <a:r>
              <a:rPr lang="en-US" sz="938">
                <a:solidFill>
                  <a:srgbClr val="15181D"/>
                </a:solidFill>
                <a:latin typeface="Noto Sans SC"/>
                <a:ea typeface="Noto Sans SC"/>
              </a:rPr>
              <a:t>2.2%</a:t>
            </a:r>
            <a:endParaRPr/>
          </a:p>
        </p:txBody>
      </p:sp>
      <p:sp>
        <p:nvSpPr>
          <p:cNvPr id="530" name="" descr="{&quot;isTemplate&quot;:true,&quot;type&quot;:&quot;text&quot;}"/>
          <p:cNvSpPr txBox="1"/>
          <p:nvPr/>
        </p:nvSpPr>
        <p:spPr>
          <a:xfrm rot="0" flipH="0" flipV="0">
            <a:off x="7781925" y="1552575"/>
            <a:ext cx="257175" cy="142875"/>
          </a:xfrm>
          <a:prstGeom prst="rect"/>
        </p:spPr>
        <p:txBody>
          <a:bodyPr wrap="none" lIns="0" tIns="0" rIns="0" bIns="0"/>
          <a:p>
            <a:pPr>
              <a:lnSpc>
                <a:spcPct val="100000"/>
              </a:lnSpc>
            </a:pPr>
            <a:r>
              <a:rPr lang="en-US" sz="938">
                <a:solidFill>
                  <a:srgbClr val="15181D"/>
                </a:solidFill>
                <a:latin typeface="Noto Sans SC"/>
                <a:ea typeface="Noto Sans SC"/>
              </a:rPr>
              <a:t>8.5%</a:t>
            </a:r>
            <a:endParaRPr/>
          </a:p>
        </p:txBody>
      </p:sp>
      <p:sp>
        <p:nvSpPr>
          <p:cNvPr id="531" name="" descr="{&quot;isTemplate&quot;:true,&quot;type&quot;:&quot;text&quot;}"/>
          <p:cNvSpPr txBox="1"/>
          <p:nvPr/>
        </p:nvSpPr>
        <p:spPr>
          <a:xfrm rot="0" flipH="0" flipV="0">
            <a:off x="9563100" y="1552575"/>
            <a:ext cx="428625" cy="142875"/>
          </a:xfrm>
          <a:prstGeom prst="rect"/>
        </p:spPr>
        <p:txBody>
          <a:bodyPr wrap="none" lIns="0" tIns="0" rIns="0" bIns="0"/>
          <a:p>
            <a:pPr>
              <a:lnSpc>
                <a:spcPct val="100000"/>
              </a:lnSpc>
            </a:pPr>
            <a:r>
              <a:rPr lang="en-US" sz="938">
                <a:solidFill>
                  <a:srgbClr val="15181D"/>
                </a:solidFill>
                <a:latin typeface="Noto Sans SC"/>
                <a:ea typeface="Noto Sans SC"/>
              </a:rPr>
              <a:t>11.47</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32" name="" descr="{&quot;isTemplate&quot;:true,&quot;type&quot;:&quot;text&quot;}"/>
          <p:cNvSpPr txBox="1"/>
          <p:nvPr/>
        </p:nvSpPr>
        <p:spPr>
          <a:xfrm rot="0" flipH="0" flipV="0">
            <a:off x="11229975" y="1552575"/>
            <a:ext cx="276225" cy="142875"/>
          </a:xfrm>
          <a:prstGeom prst="rect"/>
        </p:spPr>
        <p:txBody>
          <a:bodyPr wrap="none" lIns="0" tIns="0" rIns="0" bIns="0"/>
          <a:p>
            <a:pPr>
              <a:lnSpc>
                <a:spcPct val="100000"/>
              </a:lnSpc>
            </a:pPr>
            <a:r>
              <a:rPr lang="en-US" sz="938">
                <a:solidFill>
                  <a:srgbClr val="15181D"/>
                </a:solidFill>
                <a:latin typeface="Noto Sans SC"/>
                <a:ea typeface="Noto Sans SC"/>
              </a:rPr>
              <a:t>1,127</a:t>
            </a:r>
            <a:endParaRPr/>
          </a:p>
        </p:txBody>
      </p:sp>
      <p:sp>
        <p:nvSpPr>
          <p:cNvPr id="533" name=""/>
          <p:cNvSpPr/>
          <p:nvPr/>
        </p:nvSpPr>
        <p:spPr>
          <a:xfrm rot="0" flipH="0" flipV="0">
            <a:off x="609600" y="1809750"/>
            <a:ext cx="10972800" cy="352425"/>
          </a:xfrm>
          <a:prstGeom prst="rect">
            <a:avLst/>
          </a:prstGeom>
          <a:solidFill>
            <a:srgbClr val="F2F5F9"/>
          </a:solidFill>
          <a:ln/>
        </p:spPr>
        <p:txBody>
          <a:bodyPr/>
          <a:p/>
        </p:txBody>
      </p:sp>
      <p:sp>
        <p:nvSpPr>
          <p:cNvPr id="534" name=""/>
          <p:cNvSpPr/>
          <p:nvPr/>
        </p:nvSpPr>
        <p:spPr>
          <a:xfrm rot="0" flipH="0" flipV="0">
            <a:off x="609600" y="18097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35" name="" descr="{&quot;isTemplate&quot;:true,&quot;type&quot;:&quot;text&quot;}"/>
          <p:cNvSpPr txBox="1"/>
          <p:nvPr/>
        </p:nvSpPr>
        <p:spPr>
          <a:xfrm rot="0" flipH="0" flipV="0">
            <a:off x="685800" y="1914525"/>
            <a:ext cx="714375" cy="142875"/>
          </a:xfrm>
          <a:prstGeom prst="rect"/>
        </p:spPr>
        <p:txBody>
          <a:bodyPr wrap="none" lIns="0" tIns="0" rIns="0" bIns="0"/>
          <a:p>
            <a:pPr>
              <a:lnSpc>
                <a:spcPct val="100000"/>
              </a:lnSpc>
            </a:pPr>
            <a:r>
              <a:rPr lang="zh-CN" sz="938" b="1">
                <a:solidFill>
                  <a:srgbClr val="1B3557"/>
                </a:solidFill>
                <a:latin typeface="Noto Sans SC"/>
                <a:ea typeface="Noto Sans SC"/>
              </a:rPr>
              <a:t>安比全卫定制</a:t>
            </a:r>
            <a:endParaRPr/>
          </a:p>
        </p:txBody>
      </p:sp>
      <p:sp>
        <p:nvSpPr>
          <p:cNvPr id="536" name="" descr="{&quot;isTemplate&quot;:true,&quot;type&quot;:&quot;text&quot;}"/>
          <p:cNvSpPr txBox="1"/>
          <p:nvPr/>
        </p:nvSpPr>
        <p:spPr>
          <a:xfrm rot="0" flipH="0" flipV="0">
            <a:off x="4552950" y="1914525"/>
            <a:ext cx="219075" cy="142875"/>
          </a:xfrm>
          <a:prstGeom prst="rect"/>
        </p:spPr>
        <p:txBody>
          <a:bodyPr wrap="none" lIns="0" tIns="0" rIns="0" bIns="0"/>
          <a:p>
            <a:pPr>
              <a:lnSpc>
                <a:spcPct val="100000"/>
              </a:lnSpc>
            </a:pPr>
            <a:r>
              <a:rPr lang="en-US" sz="938">
                <a:solidFill>
                  <a:srgbClr val="15181D"/>
                </a:solidFill>
                <a:latin typeface="Noto Sans SC"/>
                <a:ea typeface="Noto Sans SC"/>
              </a:rPr>
              <a:t>5.94</a:t>
            </a:r>
            <a:endParaRPr/>
          </a:p>
        </p:txBody>
      </p:sp>
      <p:sp>
        <p:nvSpPr>
          <p:cNvPr id="537" name="" descr="{&quot;isTemplate&quot;:true,&quot;type&quot;:&quot;text&quot;}"/>
          <p:cNvSpPr txBox="1"/>
          <p:nvPr/>
        </p:nvSpPr>
        <p:spPr>
          <a:xfrm rot="0" flipH="0" flipV="0">
            <a:off x="6086475" y="1914525"/>
            <a:ext cx="257175" cy="142875"/>
          </a:xfrm>
          <a:prstGeom prst="rect"/>
        </p:spPr>
        <p:txBody>
          <a:bodyPr wrap="none" lIns="0" tIns="0" rIns="0" bIns="0"/>
          <a:p>
            <a:pPr>
              <a:lnSpc>
                <a:spcPct val="100000"/>
              </a:lnSpc>
            </a:pPr>
            <a:r>
              <a:rPr lang="en-US" sz="938">
                <a:solidFill>
                  <a:srgbClr val="15181D"/>
                </a:solidFill>
                <a:latin typeface="Noto Sans SC"/>
                <a:ea typeface="Noto Sans SC"/>
              </a:rPr>
              <a:t>2.0%</a:t>
            </a:r>
            <a:endParaRPr/>
          </a:p>
        </p:txBody>
      </p:sp>
      <p:sp>
        <p:nvSpPr>
          <p:cNvPr id="538" name="" descr="{&quot;isTemplate&quot;:true,&quot;type&quot;:&quot;text&quot;}"/>
          <p:cNvSpPr txBox="1"/>
          <p:nvPr/>
        </p:nvSpPr>
        <p:spPr>
          <a:xfrm rot="0" flipH="0" flipV="0">
            <a:off x="7781925" y="1914525"/>
            <a:ext cx="257175" cy="142875"/>
          </a:xfrm>
          <a:prstGeom prst="rect"/>
        </p:spPr>
        <p:txBody>
          <a:bodyPr wrap="none" lIns="0" tIns="0" rIns="0" bIns="0"/>
          <a:p>
            <a:pPr>
              <a:lnSpc>
                <a:spcPct val="100000"/>
              </a:lnSpc>
            </a:pPr>
            <a:r>
              <a:rPr lang="en-US" sz="938">
                <a:solidFill>
                  <a:srgbClr val="15181D"/>
                </a:solidFill>
                <a:latin typeface="Noto Sans SC"/>
                <a:ea typeface="Noto Sans SC"/>
              </a:rPr>
              <a:t>6.3%</a:t>
            </a:r>
            <a:endParaRPr/>
          </a:p>
        </p:txBody>
      </p:sp>
      <p:sp>
        <p:nvSpPr>
          <p:cNvPr id="539" name="" descr="{&quot;isTemplate&quot;:true,&quot;type&quot;:&quot;text&quot;}"/>
          <p:cNvSpPr txBox="1"/>
          <p:nvPr/>
        </p:nvSpPr>
        <p:spPr>
          <a:xfrm rot="0" flipH="0" flipV="0">
            <a:off x="9629775" y="1914525"/>
            <a:ext cx="361950" cy="142875"/>
          </a:xfrm>
          <a:prstGeom prst="rect"/>
        </p:spPr>
        <p:txBody>
          <a:bodyPr wrap="none" lIns="0" tIns="0" rIns="0" bIns="0"/>
          <a:p>
            <a:pPr>
              <a:lnSpc>
                <a:spcPct val="100000"/>
              </a:lnSpc>
            </a:pPr>
            <a:r>
              <a:rPr lang="en-US" sz="938">
                <a:solidFill>
                  <a:srgbClr val="15181D"/>
                </a:solidFill>
                <a:latin typeface="Noto Sans SC"/>
                <a:ea typeface="Noto Sans SC"/>
              </a:rPr>
              <a:t>9.79</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40" name="" descr="{&quot;isTemplate&quot;:true,&quot;type&quot;:&quot;text&quot;}"/>
          <p:cNvSpPr txBox="1"/>
          <p:nvPr/>
        </p:nvSpPr>
        <p:spPr>
          <a:xfrm rot="0" flipH="0" flipV="0">
            <a:off x="11229975" y="1914525"/>
            <a:ext cx="276225" cy="142875"/>
          </a:xfrm>
          <a:prstGeom prst="rect"/>
        </p:spPr>
        <p:txBody>
          <a:bodyPr wrap="none" lIns="0" tIns="0" rIns="0" bIns="0"/>
          <a:p>
            <a:pPr>
              <a:lnSpc>
                <a:spcPct val="100000"/>
              </a:lnSpc>
            </a:pPr>
            <a:r>
              <a:rPr lang="en-US" sz="938">
                <a:solidFill>
                  <a:srgbClr val="15181D"/>
                </a:solidFill>
                <a:latin typeface="Noto Sans SC"/>
                <a:ea typeface="Noto Sans SC"/>
              </a:rPr>
              <a:t>1,104</a:t>
            </a:r>
            <a:endParaRPr/>
          </a:p>
        </p:txBody>
      </p:sp>
      <p:sp>
        <p:nvSpPr>
          <p:cNvPr id="541" name=""/>
          <p:cNvSpPr/>
          <p:nvPr/>
        </p:nvSpPr>
        <p:spPr>
          <a:xfrm rot="0" flipH="0" flipV="0">
            <a:off x="609600" y="2171700"/>
            <a:ext cx="10972800" cy="352425"/>
          </a:xfrm>
          <a:prstGeom prst="rect">
            <a:avLst/>
          </a:prstGeom>
          <a:solidFill>
            <a:srgbClr val="F2F5F9"/>
          </a:solidFill>
          <a:ln/>
        </p:spPr>
        <p:txBody>
          <a:bodyPr/>
          <a:p/>
        </p:txBody>
      </p:sp>
      <p:sp>
        <p:nvSpPr>
          <p:cNvPr id="542" name=""/>
          <p:cNvSpPr/>
          <p:nvPr/>
        </p:nvSpPr>
        <p:spPr>
          <a:xfrm rot="0" flipH="0" flipV="0">
            <a:off x="609600" y="21717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43" name="" descr="{&quot;isTemplate&quot;:true,&quot;type&quot;:&quot;text&quot;}"/>
          <p:cNvSpPr txBox="1"/>
          <p:nvPr/>
        </p:nvSpPr>
        <p:spPr>
          <a:xfrm rot="0" flipH="0" flipV="0">
            <a:off x="685800" y="2276475"/>
            <a:ext cx="838200" cy="142875"/>
          </a:xfrm>
          <a:prstGeom prst="rect"/>
        </p:spPr>
        <p:txBody>
          <a:bodyPr wrap="none" lIns="0" tIns="0" rIns="0" bIns="0"/>
          <a:p>
            <a:pPr>
              <a:lnSpc>
                <a:spcPct val="100000"/>
              </a:lnSpc>
            </a:pPr>
            <a:r>
              <a:rPr lang="zh-CN" sz="938" b="1">
                <a:solidFill>
                  <a:srgbClr val="1B3557"/>
                </a:solidFill>
                <a:latin typeface="Noto Sans SC"/>
                <a:ea typeface="Noto Sans SC"/>
              </a:rPr>
              <a:t>网林家居旗舰店</a:t>
            </a:r>
            <a:endParaRPr/>
          </a:p>
        </p:txBody>
      </p:sp>
      <p:sp>
        <p:nvSpPr>
          <p:cNvPr id="544" name="" descr="{&quot;isTemplate&quot;:true,&quot;type&quot;:&quot;text&quot;}"/>
          <p:cNvSpPr txBox="1"/>
          <p:nvPr/>
        </p:nvSpPr>
        <p:spPr>
          <a:xfrm rot="0" flipH="0" flipV="0">
            <a:off x="4552950" y="2276475"/>
            <a:ext cx="219075" cy="142875"/>
          </a:xfrm>
          <a:prstGeom prst="rect"/>
        </p:spPr>
        <p:txBody>
          <a:bodyPr wrap="none" lIns="0" tIns="0" rIns="0" bIns="0"/>
          <a:p>
            <a:pPr>
              <a:lnSpc>
                <a:spcPct val="100000"/>
              </a:lnSpc>
            </a:pPr>
            <a:r>
              <a:rPr lang="en-US" sz="938">
                <a:solidFill>
                  <a:srgbClr val="15181D"/>
                </a:solidFill>
                <a:latin typeface="Noto Sans SC"/>
                <a:ea typeface="Noto Sans SC"/>
              </a:rPr>
              <a:t>5.32</a:t>
            </a:r>
            <a:endParaRPr/>
          </a:p>
        </p:txBody>
      </p:sp>
      <p:sp>
        <p:nvSpPr>
          <p:cNvPr id="545" name="" descr="{&quot;isTemplate&quot;:true,&quot;type&quot;:&quot;text&quot;}"/>
          <p:cNvSpPr txBox="1"/>
          <p:nvPr/>
        </p:nvSpPr>
        <p:spPr>
          <a:xfrm rot="0" flipH="0" flipV="0">
            <a:off x="6086475" y="2276475"/>
            <a:ext cx="257175" cy="142875"/>
          </a:xfrm>
          <a:prstGeom prst="rect"/>
        </p:spPr>
        <p:txBody>
          <a:bodyPr wrap="none" lIns="0" tIns="0" rIns="0" bIns="0"/>
          <a:p>
            <a:pPr>
              <a:lnSpc>
                <a:spcPct val="100000"/>
              </a:lnSpc>
            </a:pPr>
            <a:r>
              <a:rPr lang="en-US" sz="938">
                <a:solidFill>
                  <a:srgbClr val="15181D"/>
                </a:solidFill>
                <a:latin typeface="Noto Sans SC"/>
                <a:ea typeface="Noto Sans SC"/>
              </a:rPr>
              <a:t>1.3%</a:t>
            </a:r>
            <a:endParaRPr/>
          </a:p>
        </p:txBody>
      </p:sp>
      <p:sp>
        <p:nvSpPr>
          <p:cNvPr id="546" name="" descr="{&quot;isTemplate&quot;:true,&quot;type&quot;:&quot;text&quot;}"/>
          <p:cNvSpPr txBox="1"/>
          <p:nvPr/>
        </p:nvSpPr>
        <p:spPr>
          <a:xfrm rot="0" flipH="0" flipV="0">
            <a:off x="7781925" y="2276475"/>
            <a:ext cx="257175" cy="142875"/>
          </a:xfrm>
          <a:prstGeom prst="rect"/>
        </p:spPr>
        <p:txBody>
          <a:bodyPr wrap="none" lIns="0" tIns="0" rIns="0" bIns="0"/>
          <a:p>
            <a:pPr>
              <a:lnSpc>
                <a:spcPct val="100000"/>
              </a:lnSpc>
            </a:pPr>
            <a:r>
              <a:rPr lang="en-US" sz="938">
                <a:solidFill>
                  <a:srgbClr val="15181D"/>
                </a:solidFill>
                <a:latin typeface="Noto Sans SC"/>
                <a:ea typeface="Noto Sans SC"/>
              </a:rPr>
              <a:t>6.5%</a:t>
            </a:r>
            <a:endParaRPr/>
          </a:p>
        </p:txBody>
      </p:sp>
      <p:sp>
        <p:nvSpPr>
          <p:cNvPr id="547" name="" descr="{&quot;isTemplate&quot;:true,&quot;type&quot;:&quot;text&quot;}"/>
          <p:cNvSpPr txBox="1"/>
          <p:nvPr/>
        </p:nvSpPr>
        <p:spPr>
          <a:xfrm rot="0" flipH="0" flipV="0">
            <a:off x="9629775" y="2276475"/>
            <a:ext cx="361950" cy="142875"/>
          </a:xfrm>
          <a:prstGeom prst="rect"/>
        </p:spPr>
        <p:txBody>
          <a:bodyPr wrap="none" lIns="0" tIns="0" rIns="0" bIns="0"/>
          <a:p>
            <a:pPr>
              <a:lnSpc>
                <a:spcPct val="100000"/>
              </a:lnSpc>
            </a:pPr>
            <a:r>
              <a:rPr lang="en-US" sz="938">
                <a:solidFill>
                  <a:srgbClr val="15181D"/>
                </a:solidFill>
                <a:latin typeface="Noto Sans SC"/>
                <a:ea typeface="Noto Sans SC"/>
              </a:rPr>
              <a:t>8.76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48" name="" descr="{&quot;isTemplate&quot;:true,&quot;type&quot;:&quot;text&quot;}"/>
          <p:cNvSpPr txBox="1"/>
          <p:nvPr/>
        </p:nvSpPr>
        <p:spPr>
          <a:xfrm rot="0" flipH="0" flipV="0">
            <a:off x="11229975" y="2276475"/>
            <a:ext cx="276225" cy="142875"/>
          </a:xfrm>
          <a:prstGeom prst="rect"/>
        </p:spPr>
        <p:txBody>
          <a:bodyPr wrap="none" lIns="0" tIns="0" rIns="0" bIns="0"/>
          <a:p>
            <a:pPr>
              <a:lnSpc>
                <a:spcPct val="100000"/>
              </a:lnSpc>
            </a:pPr>
            <a:r>
              <a:rPr lang="en-US" sz="938">
                <a:solidFill>
                  <a:srgbClr val="15181D"/>
                </a:solidFill>
                <a:latin typeface="Noto Sans SC"/>
                <a:ea typeface="Noto Sans SC"/>
              </a:rPr>
              <a:t>1,863</a:t>
            </a:r>
            <a:endParaRPr/>
          </a:p>
        </p:txBody>
      </p:sp>
      <p:sp>
        <p:nvSpPr>
          <p:cNvPr id="549" name=""/>
          <p:cNvSpPr/>
          <p:nvPr/>
        </p:nvSpPr>
        <p:spPr>
          <a:xfrm rot="0" flipH="0" flipV="0">
            <a:off x="609600" y="2533650"/>
            <a:ext cx="10972800" cy="352425"/>
          </a:xfrm>
          <a:prstGeom prst="rect">
            <a:avLst/>
          </a:prstGeom>
          <a:solidFill>
            <a:srgbClr val="F2F5F9"/>
          </a:solidFill>
          <a:ln/>
        </p:spPr>
        <p:txBody>
          <a:bodyPr/>
          <a:p/>
        </p:txBody>
      </p:sp>
      <p:sp>
        <p:nvSpPr>
          <p:cNvPr id="550" name=""/>
          <p:cNvSpPr/>
          <p:nvPr/>
        </p:nvSpPr>
        <p:spPr>
          <a:xfrm rot="0" flipH="0" flipV="0">
            <a:off x="609600" y="25336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51" name="" descr="{&quot;isTemplate&quot;:true,&quot;type&quot;:&quot;text&quot;}"/>
          <p:cNvSpPr txBox="1"/>
          <p:nvPr/>
        </p:nvSpPr>
        <p:spPr>
          <a:xfrm rot="0" flipH="0" flipV="0">
            <a:off x="685800" y="2638425"/>
            <a:ext cx="600075" cy="142875"/>
          </a:xfrm>
          <a:prstGeom prst="rect"/>
        </p:spPr>
        <p:txBody>
          <a:bodyPr wrap="none" lIns="0" tIns="0" rIns="0" bIns="0"/>
          <a:p>
            <a:pPr>
              <a:lnSpc>
                <a:spcPct val="100000"/>
              </a:lnSpc>
            </a:pPr>
            <a:r>
              <a:rPr lang="zh-CN" sz="938" b="1">
                <a:solidFill>
                  <a:srgbClr val="1B3557"/>
                </a:solidFill>
                <a:latin typeface="Noto Sans SC"/>
                <a:ea typeface="Noto Sans SC"/>
              </a:rPr>
              <a:t>盖文旗舰店</a:t>
            </a:r>
            <a:endParaRPr/>
          </a:p>
        </p:txBody>
      </p:sp>
      <p:sp>
        <p:nvSpPr>
          <p:cNvPr id="552" name="" descr="{&quot;isTemplate&quot;:true,&quot;type&quot;:&quot;text&quot;}"/>
          <p:cNvSpPr txBox="1"/>
          <p:nvPr/>
        </p:nvSpPr>
        <p:spPr>
          <a:xfrm rot="0" flipH="0" flipV="0">
            <a:off x="4552950" y="2638425"/>
            <a:ext cx="219075" cy="142875"/>
          </a:xfrm>
          <a:prstGeom prst="rect"/>
        </p:spPr>
        <p:txBody>
          <a:bodyPr wrap="none" lIns="0" tIns="0" rIns="0" bIns="0"/>
          <a:p>
            <a:pPr>
              <a:lnSpc>
                <a:spcPct val="100000"/>
              </a:lnSpc>
            </a:pPr>
            <a:r>
              <a:rPr lang="en-US" sz="938">
                <a:solidFill>
                  <a:srgbClr val="15181D"/>
                </a:solidFill>
                <a:latin typeface="Noto Sans SC"/>
                <a:ea typeface="Noto Sans SC"/>
              </a:rPr>
              <a:t>3.85</a:t>
            </a:r>
            <a:endParaRPr/>
          </a:p>
        </p:txBody>
      </p:sp>
      <p:sp>
        <p:nvSpPr>
          <p:cNvPr id="553" name="" descr="{&quot;isTemplate&quot;:true,&quot;type&quot;:&quot;text&quot;}"/>
          <p:cNvSpPr txBox="1"/>
          <p:nvPr/>
        </p:nvSpPr>
        <p:spPr>
          <a:xfrm rot="0" flipH="0" flipV="0">
            <a:off x="6086475" y="2638425"/>
            <a:ext cx="257175" cy="142875"/>
          </a:xfrm>
          <a:prstGeom prst="rect"/>
        </p:spPr>
        <p:txBody>
          <a:bodyPr wrap="none" lIns="0" tIns="0" rIns="0" bIns="0"/>
          <a:p>
            <a:pPr>
              <a:lnSpc>
                <a:spcPct val="100000"/>
              </a:lnSpc>
            </a:pPr>
            <a:r>
              <a:rPr lang="en-US" sz="938">
                <a:solidFill>
                  <a:srgbClr val="15181D"/>
                </a:solidFill>
                <a:latin typeface="Noto Sans SC"/>
                <a:ea typeface="Noto Sans SC"/>
              </a:rPr>
              <a:t>4.4%</a:t>
            </a:r>
            <a:endParaRPr/>
          </a:p>
        </p:txBody>
      </p:sp>
      <p:sp>
        <p:nvSpPr>
          <p:cNvPr id="554" name="" descr="{&quot;isTemplate&quot;:true,&quot;type&quot;:&quot;text&quot;}"/>
          <p:cNvSpPr txBox="1"/>
          <p:nvPr/>
        </p:nvSpPr>
        <p:spPr>
          <a:xfrm rot="0" flipH="0" flipV="0">
            <a:off x="7715250" y="2638425"/>
            <a:ext cx="323850" cy="142875"/>
          </a:xfrm>
          <a:prstGeom prst="rect"/>
        </p:spPr>
        <p:txBody>
          <a:bodyPr wrap="none" lIns="0" tIns="0" rIns="0" bIns="0"/>
          <a:p>
            <a:pPr>
              <a:lnSpc>
                <a:spcPct val="100000"/>
              </a:lnSpc>
            </a:pPr>
            <a:r>
              <a:rPr lang="en-US" sz="938">
                <a:solidFill>
                  <a:srgbClr val="15181D"/>
                </a:solidFill>
                <a:latin typeface="Noto Sans SC"/>
                <a:ea typeface="Noto Sans SC"/>
              </a:rPr>
              <a:t>25.8%</a:t>
            </a:r>
            <a:endParaRPr/>
          </a:p>
        </p:txBody>
      </p:sp>
      <p:sp>
        <p:nvSpPr>
          <p:cNvPr id="555" name="" descr="{&quot;isTemplate&quot;:true,&quot;type&quot;:&quot;text&quot;}"/>
          <p:cNvSpPr txBox="1"/>
          <p:nvPr/>
        </p:nvSpPr>
        <p:spPr>
          <a:xfrm rot="0" flipH="0" flipV="0">
            <a:off x="9629775" y="2638425"/>
            <a:ext cx="361950" cy="142875"/>
          </a:xfrm>
          <a:prstGeom prst="rect"/>
        </p:spPr>
        <p:txBody>
          <a:bodyPr wrap="none" lIns="0" tIns="0" rIns="0" bIns="0"/>
          <a:p>
            <a:pPr>
              <a:lnSpc>
                <a:spcPct val="100000"/>
              </a:lnSpc>
            </a:pPr>
            <a:r>
              <a:rPr lang="en-US" sz="938">
                <a:solidFill>
                  <a:srgbClr val="15181D"/>
                </a:solidFill>
                <a:latin typeface="Noto Sans SC"/>
                <a:ea typeface="Noto Sans SC"/>
              </a:rPr>
              <a:t>6.35</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56" name="" descr="{&quot;isTemplate&quot;:true,&quot;type&quot;:&quot;text&quot;}"/>
          <p:cNvSpPr txBox="1"/>
          <p:nvPr/>
        </p:nvSpPr>
        <p:spPr>
          <a:xfrm rot="0" flipH="0" flipV="0">
            <a:off x="11229975" y="2638425"/>
            <a:ext cx="276225" cy="142875"/>
          </a:xfrm>
          <a:prstGeom prst="rect"/>
        </p:spPr>
        <p:txBody>
          <a:bodyPr wrap="none" lIns="0" tIns="0" rIns="0" bIns="0"/>
          <a:p>
            <a:pPr>
              <a:lnSpc>
                <a:spcPct val="100000"/>
              </a:lnSpc>
            </a:pPr>
            <a:r>
              <a:rPr lang="en-US" sz="938">
                <a:solidFill>
                  <a:srgbClr val="15181D"/>
                </a:solidFill>
                <a:latin typeface="Noto Sans SC"/>
                <a:ea typeface="Noto Sans SC"/>
              </a:rPr>
              <a:t>3,083</a:t>
            </a:r>
            <a:endParaRPr/>
          </a:p>
        </p:txBody>
      </p:sp>
      <p:sp>
        <p:nvSpPr>
          <p:cNvPr id="557" name=""/>
          <p:cNvSpPr/>
          <p:nvPr/>
        </p:nvSpPr>
        <p:spPr>
          <a:xfrm rot="0" flipH="0" flipV="0">
            <a:off x="609600" y="28956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58" name="" descr="{&quot;isTemplate&quot;:true,&quot;type&quot;:&quot;text&quot;}"/>
          <p:cNvSpPr txBox="1"/>
          <p:nvPr/>
        </p:nvSpPr>
        <p:spPr>
          <a:xfrm rot="0" flipH="0" flipV="0">
            <a:off x="685800" y="3000375"/>
            <a:ext cx="838200" cy="142875"/>
          </a:xfrm>
          <a:prstGeom prst="rect"/>
        </p:spPr>
        <p:txBody>
          <a:bodyPr wrap="none" lIns="0" tIns="0" rIns="0" bIns="0"/>
          <a:p>
            <a:pPr>
              <a:lnSpc>
                <a:spcPct val="100000"/>
              </a:lnSpc>
            </a:pPr>
            <a:r>
              <a:rPr lang="zh-CN" sz="938">
                <a:solidFill>
                  <a:srgbClr val="15181D"/>
                </a:solidFill>
                <a:latin typeface="Noto Sans SC"/>
                <a:ea typeface="Noto Sans SC"/>
              </a:rPr>
              <a:t>保拉伦蒂旗舰店</a:t>
            </a:r>
            <a:endParaRPr/>
          </a:p>
        </p:txBody>
      </p:sp>
      <p:sp>
        <p:nvSpPr>
          <p:cNvPr id="559" name="" descr="{&quot;isTemplate&quot;:true,&quot;type&quot;:&quot;text&quot;}"/>
          <p:cNvSpPr txBox="1"/>
          <p:nvPr/>
        </p:nvSpPr>
        <p:spPr>
          <a:xfrm rot="0" flipH="0" flipV="0">
            <a:off x="4552950" y="3000375"/>
            <a:ext cx="219075" cy="142875"/>
          </a:xfrm>
          <a:prstGeom prst="rect"/>
        </p:spPr>
        <p:txBody>
          <a:bodyPr wrap="none" lIns="0" tIns="0" rIns="0" bIns="0"/>
          <a:p>
            <a:pPr>
              <a:lnSpc>
                <a:spcPct val="100000"/>
              </a:lnSpc>
            </a:pPr>
            <a:r>
              <a:rPr lang="en-US" sz="938">
                <a:solidFill>
                  <a:srgbClr val="15181D"/>
                </a:solidFill>
                <a:latin typeface="Noto Sans SC"/>
                <a:ea typeface="Noto Sans SC"/>
              </a:rPr>
              <a:t>1.77</a:t>
            </a:r>
            <a:endParaRPr/>
          </a:p>
        </p:txBody>
      </p:sp>
      <p:sp>
        <p:nvSpPr>
          <p:cNvPr id="560" name="" descr="{&quot;isTemplate&quot;:true,&quot;type&quot;:&quot;text&quot;}"/>
          <p:cNvSpPr txBox="1"/>
          <p:nvPr/>
        </p:nvSpPr>
        <p:spPr>
          <a:xfrm rot="0" flipH="0" flipV="0">
            <a:off x="6086475" y="3000375"/>
            <a:ext cx="257175" cy="142875"/>
          </a:xfrm>
          <a:prstGeom prst="rect"/>
        </p:spPr>
        <p:txBody>
          <a:bodyPr wrap="none" lIns="0" tIns="0" rIns="0" bIns="0"/>
          <a:p>
            <a:pPr>
              <a:lnSpc>
                <a:spcPct val="100000"/>
              </a:lnSpc>
            </a:pPr>
            <a:r>
              <a:rPr lang="en-US" sz="938">
                <a:solidFill>
                  <a:srgbClr val="15181D"/>
                </a:solidFill>
                <a:latin typeface="Noto Sans SC"/>
                <a:ea typeface="Noto Sans SC"/>
              </a:rPr>
              <a:t>3.5%</a:t>
            </a:r>
            <a:endParaRPr/>
          </a:p>
        </p:txBody>
      </p:sp>
      <p:sp>
        <p:nvSpPr>
          <p:cNvPr id="561" name="" descr="{&quot;isTemplate&quot;:true,&quot;type&quot;:&quot;text&quot;}"/>
          <p:cNvSpPr txBox="1"/>
          <p:nvPr/>
        </p:nvSpPr>
        <p:spPr>
          <a:xfrm rot="0" flipH="0" flipV="0">
            <a:off x="7781925" y="3000375"/>
            <a:ext cx="257175" cy="142875"/>
          </a:xfrm>
          <a:prstGeom prst="rect"/>
        </p:spPr>
        <p:txBody>
          <a:bodyPr wrap="none" lIns="0" tIns="0" rIns="0" bIns="0"/>
          <a:p>
            <a:pPr>
              <a:lnSpc>
                <a:spcPct val="100000"/>
              </a:lnSpc>
            </a:pPr>
            <a:r>
              <a:rPr lang="en-US" sz="938">
                <a:solidFill>
                  <a:srgbClr val="15181D"/>
                </a:solidFill>
                <a:latin typeface="Noto Sans SC"/>
                <a:ea typeface="Noto Sans SC"/>
              </a:rPr>
              <a:t>7.6%</a:t>
            </a:r>
            <a:endParaRPr/>
          </a:p>
        </p:txBody>
      </p:sp>
      <p:sp>
        <p:nvSpPr>
          <p:cNvPr id="562" name="" descr="{&quot;isTemplate&quot;:true,&quot;type&quot;:&quot;text&quot;}"/>
          <p:cNvSpPr txBox="1"/>
          <p:nvPr/>
        </p:nvSpPr>
        <p:spPr>
          <a:xfrm rot="0" flipH="0" flipV="0">
            <a:off x="9629775" y="3000375"/>
            <a:ext cx="361950" cy="142875"/>
          </a:xfrm>
          <a:prstGeom prst="rect"/>
        </p:spPr>
        <p:txBody>
          <a:bodyPr wrap="none" lIns="0" tIns="0" rIns="0" bIns="0"/>
          <a:p>
            <a:pPr>
              <a:lnSpc>
                <a:spcPct val="100000"/>
              </a:lnSpc>
            </a:pPr>
            <a:r>
              <a:rPr lang="en-US" sz="938">
                <a:solidFill>
                  <a:srgbClr val="15181D"/>
                </a:solidFill>
                <a:latin typeface="Noto Sans SC"/>
                <a:ea typeface="Noto Sans SC"/>
              </a:rPr>
              <a:t>2.92</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63" name="" descr="{&quot;isTemplate&quot;:true,&quot;type&quot;:&quot;text&quot;}"/>
          <p:cNvSpPr txBox="1"/>
          <p:nvPr/>
        </p:nvSpPr>
        <p:spPr>
          <a:xfrm rot="0" flipH="0" flipV="0">
            <a:off x="11229975" y="3000375"/>
            <a:ext cx="276225" cy="142875"/>
          </a:xfrm>
          <a:prstGeom prst="rect"/>
        </p:spPr>
        <p:txBody>
          <a:bodyPr wrap="none" lIns="0" tIns="0" rIns="0" bIns="0"/>
          <a:p>
            <a:pPr>
              <a:lnSpc>
                <a:spcPct val="100000"/>
              </a:lnSpc>
            </a:pPr>
            <a:r>
              <a:rPr lang="en-US" sz="938">
                <a:solidFill>
                  <a:srgbClr val="15181D"/>
                </a:solidFill>
                <a:latin typeface="Noto Sans SC"/>
                <a:ea typeface="Noto Sans SC"/>
              </a:rPr>
              <a:t>2,499</a:t>
            </a:r>
            <a:endParaRPr/>
          </a:p>
        </p:txBody>
      </p:sp>
      <p:sp>
        <p:nvSpPr>
          <p:cNvPr id="564" name=""/>
          <p:cNvSpPr/>
          <p:nvPr/>
        </p:nvSpPr>
        <p:spPr>
          <a:xfrm rot="0" flipH="0" flipV="0">
            <a:off x="609600" y="32575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65" name="" descr="{&quot;isTemplate&quot;:true,&quot;type&quot;:&quot;text&quot;}"/>
          <p:cNvSpPr txBox="1"/>
          <p:nvPr/>
        </p:nvSpPr>
        <p:spPr>
          <a:xfrm rot="0" flipH="0" flipV="0">
            <a:off x="685800" y="3362325"/>
            <a:ext cx="714375" cy="142875"/>
          </a:xfrm>
          <a:prstGeom prst="rect"/>
        </p:spPr>
        <p:txBody>
          <a:bodyPr wrap="none" lIns="0" tIns="0" rIns="0" bIns="0"/>
          <a:p>
            <a:pPr>
              <a:lnSpc>
                <a:spcPct val="100000"/>
              </a:lnSpc>
            </a:pPr>
            <a:r>
              <a:rPr lang="zh-CN" sz="938">
                <a:solidFill>
                  <a:srgbClr val="15181D"/>
                </a:solidFill>
                <a:latin typeface="Noto Sans SC"/>
                <a:ea typeface="Noto Sans SC"/>
              </a:rPr>
              <a:t>里可林旗舰店</a:t>
            </a:r>
            <a:endParaRPr/>
          </a:p>
        </p:txBody>
      </p:sp>
      <p:sp>
        <p:nvSpPr>
          <p:cNvPr id="566" name="" descr="{&quot;isTemplate&quot;:true,&quot;type&quot;:&quot;text&quot;}"/>
          <p:cNvSpPr txBox="1"/>
          <p:nvPr/>
        </p:nvSpPr>
        <p:spPr>
          <a:xfrm rot="0" flipH="0" flipV="0">
            <a:off x="4552950" y="3362325"/>
            <a:ext cx="219075" cy="142875"/>
          </a:xfrm>
          <a:prstGeom prst="rect"/>
        </p:spPr>
        <p:txBody>
          <a:bodyPr wrap="none" lIns="0" tIns="0" rIns="0" bIns="0"/>
          <a:p>
            <a:pPr>
              <a:lnSpc>
                <a:spcPct val="100000"/>
              </a:lnSpc>
            </a:pPr>
            <a:r>
              <a:rPr lang="en-US" sz="938">
                <a:solidFill>
                  <a:srgbClr val="15181D"/>
                </a:solidFill>
                <a:latin typeface="Noto Sans SC"/>
                <a:ea typeface="Noto Sans SC"/>
              </a:rPr>
              <a:t>1.67</a:t>
            </a:r>
            <a:endParaRPr/>
          </a:p>
        </p:txBody>
      </p:sp>
      <p:sp>
        <p:nvSpPr>
          <p:cNvPr id="567" name="" descr="{&quot;isTemplate&quot;:true,&quot;type&quot;:&quot;text&quot;}"/>
          <p:cNvSpPr txBox="1"/>
          <p:nvPr/>
        </p:nvSpPr>
        <p:spPr>
          <a:xfrm rot="0" flipH="0" flipV="0">
            <a:off x="6086475" y="3362325"/>
            <a:ext cx="257175" cy="142875"/>
          </a:xfrm>
          <a:prstGeom prst="rect"/>
        </p:spPr>
        <p:txBody>
          <a:bodyPr wrap="none" lIns="0" tIns="0" rIns="0" bIns="0"/>
          <a:p>
            <a:pPr>
              <a:lnSpc>
                <a:spcPct val="100000"/>
              </a:lnSpc>
            </a:pPr>
            <a:r>
              <a:rPr lang="en-US" sz="938">
                <a:solidFill>
                  <a:srgbClr val="15181D"/>
                </a:solidFill>
                <a:latin typeface="Noto Sans SC"/>
                <a:ea typeface="Noto Sans SC"/>
              </a:rPr>
              <a:t>1.7%</a:t>
            </a:r>
            <a:endParaRPr/>
          </a:p>
        </p:txBody>
      </p:sp>
      <p:sp>
        <p:nvSpPr>
          <p:cNvPr id="568" name="" descr="{&quot;isTemplate&quot;:true,&quot;type&quot;:&quot;text&quot;}"/>
          <p:cNvSpPr txBox="1"/>
          <p:nvPr/>
        </p:nvSpPr>
        <p:spPr>
          <a:xfrm rot="0" flipH="0" flipV="0">
            <a:off x="7781925" y="3362325"/>
            <a:ext cx="257175" cy="142875"/>
          </a:xfrm>
          <a:prstGeom prst="rect"/>
        </p:spPr>
        <p:txBody>
          <a:bodyPr wrap="none" lIns="0" tIns="0" rIns="0" bIns="0"/>
          <a:p>
            <a:pPr>
              <a:lnSpc>
                <a:spcPct val="100000"/>
              </a:lnSpc>
            </a:pPr>
            <a:r>
              <a:rPr lang="en-US" sz="938">
                <a:solidFill>
                  <a:srgbClr val="15181D"/>
                </a:solidFill>
                <a:latin typeface="Noto Sans SC"/>
                <a:ea typeface="Noto Sans SC"/>
              </a:rPr>
              <a:t>3.6%</a:t>
            </a:r>
            <a:endParaRPr/>
          </a:p>
        </p:txBody>
      </p:sp>
      <p:sp>
        <p:nvSpPr>
          <p:cNvPr id="569" name="" descr="{&quot;isTemplate&quot;:true,&quot;type&quot;:&quot;text&quot;}"/>
          <p:cNvSpPr txBox="1"/>
          <p:nvPr/>
        </p:nvSpPr>
        <p:spPr>
          <a:xfrm rot="0" flipH="0" flipV="0">
            <a:off x="9629775" y="3362325"/>
            <a:ext cx="361950" cy="142875"/>
          </a:xfrm>
          <a:prstGeom prst="rect"/>
        </p:spPr>
        <p:txBody>
          <a:bodyPr wrap="none" lIns="0" tIns="0" rIns="0" bIns="0"/>
          <a:p>
            <a:pPr>
              <a:lnSpc>
                <a:spcPct val="100000"/>
              </a:lnSpc>
            </a:pPr>
            <a:r>
              <a:rPr lang="en-US" sz="938">
                <a:solidFill>
                  <a:srgbClr val="15181D"/>
                </a:solidFill>
                <a:latin typeface="Noto Sans SC"/>
                <a:ea typeface="Noto Sans SC"/>
              </a:rPr>
              <a:t>2.76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70" name="" descr="{&quot;isTemplate&quot;:true,&quot;type&quot;:&quot;text&quot;}"/>
          <p:cNvSpPr txBox="1"/>
          <p:nvPr/>
        </p:nvSpPr>
        <p:spPr>
          <a:xfrm rot="0" flipH="0" flipV="0">
            <a:off x="11229975" y="3362325"/>
            <a:ext cx="276225" cy="142875"/>
          </a:xfrm>
          <a:prstGeom prst="rect"/>
        </p:spPr>
        <p:txBody>
          <a:bodyPr wrap="none" lIns="0" tIns="0" rIns="0" bIns="0"/>
          <a:p>
            <a:pPr>
              <a:lnSpc>
                <a:spcPct val="100000"/>
              </a:lnSpc>
            </a:pPr>
            <a:r>
              <a:rPr lang="en-US" sz="938">
                <a:solidFill>
                  <a:srgbClr val="15181D"/>
                </a:solidFill>
                <a:latin typeface="Noto Sans SC"/>
                <a:ea typeface="Noto Sans SC"/>
              </a:rPr>
              <a:t>2,539</a:t>
            </a:r>
            <a:endParaRPr/>
          </a:p>
        </p:txBody>
      </p:sp>
      <p:sp>
        <p:nvSpPr>
          <p:cNvPr id="571" name=""/>
          <p:cNvSpPr/>
          <p:nvPr/>
        </p:nvSpPr>
        <p:spPr>
          <a:xfrm rot="0" flipH="0" flipV="0">
            <a:off x="609600" y="36195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72" name="" descr="{&quot;isTemplate&quot;:true,&quot;type&quot;:&quot;text&quot;}"/>
          <p:cNvSpPr txBox="1"/>
          <p:nvPr/>
        </p:nvSpPr>
        <p:spPr>
          <a:xfrm rot="0" flipH="0" flipV="0">
            <a:off x="685800" y="3724275"/>
            <a:ext cx="600075" cy="142875"/>
          </a:xfrm>
          <a:prstGeom prst="rect"/>
        </p:spPr>
        <p:txBody>
          <a:bodyPr wrap="none" lIns="0" tIns="0" rIns="0" bIns="0"/>
          <a:p>
            <a:pPr>
              <a:lnSpc>
                <a:spcPct val="100000"/>
              </a:lnSpc>
            </a:pPr>
            <a:r>
              <a:rPr lang="zh-CN" sz="938">
                <a:solidFill>
                  <a:srgbClr val="15181D"/>
                </a:solidFill>
                <a:latin typeface="Noto Sans SC"/>
                <a:ea typeface="Noto Sans SC"/>
              </a:rPr>
              <a:t>里可林家居</a:t>
            </a:r>
            <a:endParaRPr/>
          </a:p>
        </p:txBody>
      </p:sp>
      <p:sp>
        <p:nvSpPr>
          <p:cNvPr id="573" name="" descr="{&quot;isTemplate&quot;:true,&quot;type&quot;:&quot;text&quot;}"/>
          <p:cNvSpPr txBox="1"/>
          <p:nvPr/>
        </p:nvSpPr>
        <p:spPr>
          <a:xfrm rot="0" flipH="0" flipV="0">
            <a:off x="4552950" y="3724275"/>
            <a:ext cx="219075" cy="142875"/>
          </a:xfrm>
          <a:prstGeom prst="rect"/>
        </p:spPr>
        <p:txBody>
          <a:bodyPr wrap="none" lIns="0" tIns="0" rIns="0" bIns="0"/>
          <a:p>
            <a:pPr>
              <a:lnSpc>
                <a:spcPct val="100000"/>
              </a:lnSpc>
            </a:pPr>
            <a:r>
              <a:rPr lang="en-US" sz="938">
                <a:solidFill>
                  <a:srgbClr val="15181D"/>
                </a:solidFill>
                <a:latin typeface="Noto Sans SC"/>
                <a:ea typeface="Noto Sans SC"/>
              </a:rPr>
              <a:t>1.50</a:t>
            </a:r>
            <a:endParaRPr/>
          </a:p>
        </p:txBody>
      </p:sp>
      <p:sp>
        <p:nvSpPr>
          <p:cNvPr id="574" name="" descr="{&quot;isTemplate&quot;:true,&quot;type&quot;:&quot;text&quot;}"/>
          <p:cNvSpPr txBox="1"/>
          <p:nvPr/>
        </p:nvSpPr>
        <p:spPr>
          <a:xfrm rot="0" flipH="0" flipV="0">
            <a:off x="6086475" y="3724275"/>
            <a:ext cx="257175" cy="142875"/>
          </a:xfrm>
          <a:prstGeom prst="rect"/>
        </p:spPr>
        <p:txBody>
          <a:bodyPr wrap="none" lIns="0" tIns="0" rIns="0" bIns="0"/>
          <a:p>
            <a:pPr>
              <a:lnSpc>
                <a:spcPct val="100000"/>
              </a:lnSpc>
            </a:pPr>
            <a:r>
              <a:rPr lang="en-US" sz="938">
                <a:solidFill>
                  <a:srgbClr val="15181D"/>
                </a:solidFill>
                <a:latin typeface="Noto Sans SC"/>
                <a:ea typeface="Noto Sans SC"/>
              </a:rPr>
              <a:t>3.1%</a:t>
            </a:r>
            <a:endParaRPr/>
          </a:p>
        </p:txBody>
      </p:sp>
      <p:sp>
        <p:nvSpPr>
          <p:cNvPr id="575" name="" descr="{&quot;isTemplate&quot;:true,&quot;type&quot;:&quot;text&quot;}"/>
          <p:cNvSpPr txBox="1"/>
          <p:nvPr/>
        </p:nvSpPr>
        <p:spPr>
          <a:xfrm rot="0" flipH="0" flipV="0">
            <a:off x="7781925" y="3724275"/>
            <a:ext cx="257175" cy="142875"/>
          </a:xfrm>
          <a:prstGeom prst="rect"/>
        </p:spPr>
        <p:txBody>
          <a:bodyPr wrap="none" lIns="0" tIns="0" rIns="0" bIns="0"/>
          <a:p>
            <a:pPr>
              <a:lnSpc>
                <a:spcPct val="100000"/>
              </a:lnSpc>
            </a:pPr>
            <a:r>
              <a:rPr lang="en-US" sz="938">
                <a:solidFill>
                  <a:srgbClr val="15181D"/>
                </a:solidFill>
                <a:latin typeface="Noto Sans SC"/>
                <a:ea typeface="Noto Sans SC"/>
              </a:rPr>
              <a:t>4.7%</a:t>
            </a:r>
            <a:endParaRPr/>
          </a:p>
        </p:txBody>
      </p:sp>
      <p:sp>
        <p:nvSpPr>
          <p:cNvPr id="576" name="" descr="{&quot;isTemplate&quot;:true,&quot;type&quot;:&quot;text&quot;}"/>
          <p:cNvSpPr txBox="1"/>
          <p:nvPr/>
        </p:nvSpPr>
        <p:spPr>
          <a:xfrm rot="0" flipH="0" flipV="0">
            <a:off x="9629775" y="3724275"/>
            <a:ext cx="361950" cy="142875"/>
          </a:xfrm>
          <a:prstGeom prst="rect"/>
        </p:spPr>
        <p:txBody>
          <a:bodyPr wrap="none" lIns="0" tIns="0" rIns="0" bIns="0"/>
          <a:p>
            <a:pPr>
              <a:lnSpc>
                <a:spcPct val="100000"/>
              </a:lnSpc>
            </a:pPr>
            <a:r>
              <a:rPr lang="en-US" sz="938">
                <a:solidFill>
                  <a:srgbClr val="15181D"/>
                </a:solidFill>
                <a:latin typeface="Noto Sans SC"/>
                <a:ea typeface="Noto Sans SC"/>
              </a:rPr>
              <a:t>2.47</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77" name="" descr="{&quot;isTemplate&quot;:true,&quot;type&quot;:&quot;text&quot;}"/>
          <p:cNvSpPr txBox="1"/>
          <p:nvPr/>
        </p:nvSpPr>
        <p:spPr>
          <a:xfrm rot="0" flipH="0" flipV="0">
            <a:off x="11229975" y="3724275"/>
            <a:ext cx="276225" cy="142875"/>
          </a:xfrm>
          <a:prstGeom prst="rect"/>
        </p:spPr>
        <p:txBody>
          <a:bodyPr wrap="none" lIns="0" tIns="0" rIns="0" bIns="0"/>
          <a:p>
            <a:pPr>
              <a:lnSpc>
                <a:spcPct val="100000"/>
              </a:lnSpc>
            </a:pPr>
            <a:r>
              <a:rPr lang="en-US" sz="938">
                <a:solidFill>
                  <a:srgbClr val="15181D"/>
                </a:solidFill>
                <a:latin typeface="Noto Sans SC"/>
                <a:ea typeface="Noto Sans SC"/>
              </a:rPr>
              <a:t>2,106</a:t>
            </a:r>
            <a:endParaRPr/>
          </a:p>
        </p:txBody>
      </p:sp>
      <p:sp>
        <p:nvSpPr>
          <p:cNvPr id="578" name=""/>
          <p:cNvSpPr/>
          <p:nvPr/>
        </p:nvSpPr>
        <p:spPr>
          <a:xfrm rot="0" flipH="0" flipV="0">
            <a:off x="609600" y="39814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79" name="" descr="{&quot;isTemplate&quot;:true,&quot;type&quot;:&quot;text&quot;}"/>
          <p:cNvSpPr txBox="1"/>
          <p:nvPr/>
        </p:nvSpPr>
        <p:spPr>
          <a:xfrm rot="0" flipH="0" flipV="0">
            <a:off x="685800" y="4086225"/>
            <a:ext cx="714375" cy="142875"/>
          </a:xfrm>
          <a:prstGeom prst="rect"/>
        </p:spPr>
        <p:txBody>
          <a:bodyPr wrap="none" lIns="0" tIns="0" rIns="0" bIns="0"/>
          <a:p>
            <a:pPr>
              <a:lnSpc>
                <a:spcPct val="100000"/>
              </a:lnSpc>
            </a:pPr>
            <a:r>
              <a:rPr lang="zh-CN" sz="938">
                <a:solidFill>
                  <a:srgbClr val="15181D"/>
                </a:solidFill>
                <a:latin typeface="Noto Sans SC"/>
                <a:ea typeface="Noto Sans SC"/>
              </a:rPr>
              <a:t>安比定制家居</a:t>
            </a:r>
            <a:endParaRPr/>
          </a:p>
        </p:txBody>
      </p:sp>
      <p:sp>
        <p:nvSpPr>
          <p:cNvPr id="580" name="" descr="{&quot;isTemplate&quot;:true,&quot;type&quot;:&quot;text&quot;}"/>
          <p:cNvSpPr txBox="1"/>
          <p:nvPr/>
        </p:nvSpPr>
        <p:spPr>
          <a:xfrm rot="0" flipH="0" flipV="0">
            <a:off x="4552950" y="4086225"/>
            <a:ext cx="219075" cy="142875"/>
          </a:xfrm>
          <a:prstGeom prst="rect"/>
        </p:spPr>
        <p:txBody>
          <a:bodyPr wrap="none" lIns="0" tIns="0" rIns="0" bIns="0"/>
          <a:p>
            <a:pPr>
              <a:lnSpc>
                <a:spcPct val="100000"/>
              </a:lnSpc>
            </a:pPr>
            <a:r>
              <a:rPr lang="en-US" sz="938">
                <a:solidFill>
                  <a:srgbClr val="15181D"/>
                </a:solidFill>
                <a:latin typeface="Noto Sans SC"/>
                <a:ea typeface="Noto Sans SC"/>
              </a:rPr>
              <a:t>1.15</a:t>
            </a:r>
            <a:endParaRPr/>
          </a:p>
        </p:txBody>
      </p:sp>
      <p:sp>
        <p:nvSpPr>
          <p:cNvPr id="581" name="" descr="{&quot;isTemplate&quot;:true,&quot;type&quot;:&quot;text&quot;}"/>
          <p:cNvSpPr txBox="1"/>
          <p:nvPr/>
        </p:nvSpPr>
        <p:spPr>
          <a:xfrm rot="0" flipH="0" flipV="0">
            <a:off x="6086475" y="4086225"/>
            <a:ext cx="257175" cy="142875"/>
          </a:xfrm>
          <a:prstGeom prst="rect"/>
        </p:spPr>
        <p:txBody>
          <a:bodyPr wrap="none" lIns="0" tIns="0" rIns="0" bIns="0"/>
          <a:p>
            <a:pPr>
              <a:lnSpc>
                <a:spcPct val="100000"/>
              </a:lnSpc>
            </a:pPr>
            <a:r>
              <a:rPr lang="en-US" sz="938">
                <a:solidFill>
                  <a:srgbClr val="15181D"/>
                </a:solidFill>
                <a:latin typeface="Noto Sans SC"/>
                <a:ea typeface="Noto Sans SC"/>
              </a:rPr>
              <a:t>9.1%</a:t>
            </a:r>
            <a:endParaRPr/>
          </a:p>
        </p:txBody>
      </p:sp>
      <p:sp>
        <p:nvSpPr>
          <p:cNvPr id="582" name="" descr="{&quot;isTemplate&quot;:true,&quot;type&quot;:&quot;text&quot;}"/>
          <p:cNvSpPr txBox="1"/>
          <p:nvPr/>
        </p:nvSpPr>
        <p:spPr>
          <a:xfrm rot="0" flipH="0" flipV="0">
            <a:off x="7781925" y="4086225"/>
            <a:ext cx="257175" cy="142875"/>
          </a:xfrm>
          <a:prstGeom prst="rect"/>
        </p:spPr>
        <p:txBody>
          <a:bodyPr wrap="none" lIns="0" tIns="0" rIns="0" bIns="0"/>
          <a:p>
            <a:pPr>
              <a:lnSpc>
                <a:spcPct val="100000"/>
              </a:lnSpc>
            </a:pPr>
            <a:r>
              <a:rPr lang="en-US" sz="938">
                <a:solidFill>
                  <a:srgbClr val="15181D"/>
                </a:solidFill>
                <a:latin typeface="Noto Sans SC"/>
                <a:ea typeface="Noto Sans SC"/>
              </a:rPr>
              <a:t>6.5%</a:t>
            </a:r>
            <a:endParaRPr/>
          </a:p>
        </p:txBody>
      </p:sp>
      <p:sp>
        <p:nvSpPr>
          <p:cNvPr id="583" name="" descr="{&quot;isTemplate&quot;:true,&quot;type&quot;:&quot;text&quot;}"/>
          <p:cNvSpPr txBox="1"/>
          <p:nvPr/>
        </p:nvSpPr>
        <p:spPr>
          <a:xfrm rot="0" flipH="0" flipV="0">
            <a:off x="9629775" y="4086225"/>
            <a:ext cx="361950" cy="142875"/>
          </a:xfrm>
          <a:prstGeom prst="rect"/>
        </p:spPr>
        <p:txBody>
          <a:bodyPr wrap="none" lIns="0" tIns="0" rIns="0" bIns="0"/>
          <a:p>
            <a:pPr>
              <a:lnSpc>
                <a:spcPct val="100000"/>
              </a:lnSpc>
            </a:pPr>
            <a:r>
              <a:rPr lang="en-US" sz="938">
                <a:solidFill>
                  <a:srgbClr val="15181D"/>
                </a:solidFill>
                <a:latin typeface="Noto Sans SC"/>
                <a:ea typeface="Noto Sans SC"/>
              </a:rPr>
              <a:t>1.89</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84" name="" descr="{&quot;isTemplate&quot;:true,&quot;type&quot;:&quot;text&quot;}"/>
          <p:cNvSpPr txBox="1"/>
          <p:nvPr/>
        </p:nvSpPr>
        <p:spPr>
          <a:xfrm rot="0" flipH="0" flipV="0">
            <a:off x="11229975" y="4086225"/>
            <a:ext cx="276225" cy="142875"/>
          </a:xfrm>
          <a:prstGeom prst="rect"/>
        </p:spPr>
        <p:txBody>
          <a:bodyPr wrap="none" lIns="0" tIns="0" rIns="0" bIns="0"/>
          <a:p>
            <a:pPr>
              <a:lnSpc>
                <a:spcPct val="100000"/>
              </a:lnSpc>
            </a:pPr>
            <a:r>
              <a:rPr lang="en-US" sz="938">
                <a:solidFill>
                  <a:srgbClr val="15181D"/>
                </a:solidFill>
                <a:latin typeface="Noto Sans SC"/>
                <a:ea typeface="Noto Sans SC"/>
              </a:rPr>
              <a:t>1,280</a:t>
            </a:r>
            <a:endParaRPr/>
          </a:p>
        </p:txBody>
      </p:sp>
      <p:sp>
        <p:nvSpPr>
          <p:cNvPr id="585" name=""/>
          <p:cNvSpPr/>
          <p:nvPr/>
        </p:nvSpPr>
        <p:spPr>
          <a:xfrm rot="0" flipH="0" flipV="0">
            <a:off x="609600" y="4343400"/>
            <a:ext cx="10972800" cy="352425"/>
          </a:xfrm>
          <a:prstGeom prst="rect">
            <a:avLst/>
          </a:prstGeom>
          <a:solidFill>
            <a:srgbClr val="FBF2EF"/>
          </a:solidFill>
          <a:ln/>
        </p:spPr>
        <p:txBody>
          <a:bodyPr/>
          <a:p/>
        </p:txBody>
      </p:sp>
      <p:sp>
        <p:nvSpPr>
          <p:cNvPr id="586" name=""/>
          <p:cNvSpPr/>
          <p:nvPr/>
        </p:nvSpPr>
        <p:spPr>
          <a:xfrm rot="0" flipH="0" flipV="0">
            <a:off x="609600" y="43434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87" name="" descr="{&quot;isTemplate&quot;:true,&quot;type&quot;:&quot;text&quot;}"/>
          <p:cNvSpPr txBox="1"/>
          <p:nvPr/>
        </p:nvSpPr>
        <p:spPr>
          <a:xfrm rot="0" flipH="0" flipV="0">
            <a:off x="685800" y="4448175"/>
            <a:ext cx="714375" cy="142875"/>
          </a:xfrm>
          <a:prstGeom prst="rect"/>
        </p:spPr>
        <p:txBody>
          <a:bodyPr wrap="none" lIns="0" tIns="0" rIns="0" bIns="0"/>
          <a:p>
            <a:pPr>
              <a:lnSpc>
                <a:spcPct val="100000"/>
              </a:lnSpc>
            </a:pPr>
            <a:r>
              <a:rPr lang="zh-CN" sz="938" b="1">
                <a:solidFill>
                  <a:srgbClr val="AE4128"/>
                </a:solidFill>
                <a:latin typeface="Noto Sans SC"/>
                <a:ea typeface="Noto Sans SC"/>
              </a:rPr>
              <a:t>科塔全卫定制</a:t>
            </a:r>
            <a:endParaRPr/>
          </a:p>
        </p:txBody>
      </p:sp>
      <p:sp>
        <p:nvSpPr>
          <p:cNvPr id="588" name="" descr="{&quot;isTemplate&quot;:true,&quot;type&quot;:&quot;text&quot;}"/>
          <p:cNvSpPr txBox="1"/>
          <p:nvPr/>
        </p:nvSpPr>
        <p:spPr>
          <a:xfrm rot="0" flipH="0" flipV="0">
            <a:off x="4552950" y="4448175"/>
            <a:ext cx="219075" cy="142875"/>
          </a:xfrm>
          <a:prstGeom prst="rect"/>
        </p:spPr>
        <p:txBody>
          <a:bodyPr wrap="none" lIns="0" tIns="0" rIns="0" bIns="0"/>
          <a:p>
            <a:pPr>
              <a:lnSpc>
                <a:spcPct val="100000"/>
              </a:lnSpc>
            </a:pPr>
            <a:r>
              <a:rPr lang="en-US" sz="938">
                <a:solidFill>
                  <a:srgbClr val="AE4128"/>
                </a:solidFill>
                <a:latin typeface="Noto Sans SC"/>
                <a:ea typeface="Noto Sans SC"/>
              </a:rPr>
              <a:t>0.40</a:t>
            </a:r>
            <a:endParaRPr/>
          </a:p>
        </p:txBody>
      </p:sp>
      <p:sp>
        <p:nvSpPr>
          <p:cNvPr id="589" name="" descr="{&quot;isTemplate&quot;:true,&quot;type&quot;:&quot;text&quot;}"/>
          <p:cNvSpPr txBox="1"/>
          <p:nvPr/>
        </p:nvSpPr>
        <p:spPr>
          <a:xfrm rot="0" flipH="0" flipV="0">
            <a:off x="6019800" y="4448175"/>
            <a:ext cx="323850" cy="142875"/>
          </a:xfrm>
          <a:prstGeom prst="rect"/>
        </p:spPr>
        <p:txBody>
          <a:bodyPr wrap="none" lIns="0" tIns="0" rIns="0" bIns="0"/>
          <a:p>
            <a:pPr>
              <a:lnSpc>
                <a:spcPct val="100000"/>
              </a:lnSpc>
            </a:pPr>
            <a:r>
              <a:rPr lang="en-US" sz="938">
                <a:solidFill>
                  <a:srgbClr val="15181D"/>
                </a:solidFill>
                <a:latin typeface="Noto Sans SC"/>
                <a:ea typeface="Noto Sans SC"/>
              </a:rPr>
              <a:t>12.4%</a:t>
            </a:r>
            <a:endParaRPr/>
          </a:p>
        </p:txBody>
      </p:sp>
      <p:sp>
        <p:nvSpPr>
          <p:cNvPr id="590" name="" descr="{&quot;isTemplate&quot;:true,&quot;type&quot;:&quot;text&quot;}"/>
          <p:cNvSpPr txBox="1"/>
          <p:nvPr/>
        </p:nvSpPr>
        <p:spPr>
          <a:xfrm rot="0" flipH="0" flipV="0">
            <a:off x="7781925" y="4448175"/>
            <a:ext cx="257175" cy="142875"/>
          </a:xfrm>
          <a:prstGeom prst="rect"/>
        </p:spPr>
        <p:txBody>
          <a:bodyPr wrap="none" lIns="0" tIns="0" rIns="0" bIns="0"/>
          <a:p>
            <a:pPr>
              <a:lnSpc>
                <a:spcPct val="100000"/>
              </a:lnSpc>
            </a:pPr>
            <a:r>
              <a:rPr lang="en-US" sz="938">
                <a:solidFill>
                  <a:srgbClr val="15181D"/>
                </a:solidFill>
                <a:latin typeface="Noto Sans SC"/>
                <a:ea typeface="Noto Sans SC"/>
              </a:rPr>
              <a:t>7.0%</a:t>
            </a:r>
            <a:endParaRPr/>
          </a:p>
        </p:txBody>
      </p:sp>
      <p:sp>
        <p:nvSpPr>
          <p:cNvPr id="591" name="" descr="{&quot;isTemplate&quot;:true,&quot;type&quot;:&quot;text&quot;}"/>
          <p:cNvSpPr txBox="1"/>
          <p:nvPr/>
        </p:nvSpPr>
        <p:spPr>
          <a:xfrm rot="0" flipH="0" flipV="0">
            <a:off x="9629775" y="4448175"/>
            <a:ext cx="361950" cy="142875"/>
          </a:xfrm>
          <a:prstGeom prst="rect"/>
        </p:spPr>
        <p:txBody>
          <a:bodyPr wrap="none" lIns="0" tIns="0" rIns="0" bIns="0"/>
          <a:p>
            <a:pPr>
              <a:lnSpc>
                <a:spcPct val="100000"/>
              </a:lnSpc>
            </a:pPr>
            <a:r>
              <a:rPr lang="en-US" sz="938">
                <a:solidFill>
                  <a:srgbClr val="15181D"/>
                </a:solidFill>
                <a:latin typeface="Noto Sans SC"/>
                <a:ea typeface="Noto Sans SC"/>
              </a:rPr>
              <a:t>0.66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592" name="" descr="{&quot;isTemplate&quot;:true,&quot;type&quot;:&quot;text&quot;}"/>
          <p:cNvSpPr txBox="1"/>
          <p:nvPr/>
        </p:nvSpPr>
        <p:spPr>
          <a:xfrm rot="0" flipH="0" flipV="0">
            <a:off x="11229975" y="4448175"/>
            <a:ext cx="276225" cy="142875"/>
          </a:xfrm>
          <a:prstGeom prst="rect"/>
        </p:spPr>
        <p:txBody>
          <a:bodyPr wrap="none" lIns="0" tIns="0" rIns="0" bIns="0"/>
          <a:p>
            <a:pPr>
              <a:lnSpc>
                <a:spcPct val="100000"/>
              </a:lnSpc>
            </a:pPr>
            <a:r>
              <a:rPr lang="en-US" sz="938">
                <a:solidFill>
                  <a:srgbClr val="15181D"/>
                </a:solidFill>
                <a:latin typeface="Noto Sans SC"/>
                <a:ea typeface="Noto Sans SC"/>
              </a:rPr>
              <a:t>2,856</a:t>
            </a:r>
            <a:endParaRPr/>
          </a:p>
        </p:txBody>
      </p:sp>
      <p:sp>
        <p:nvSpPr>
          <p:cNvPr id="593" name=""/>
          <p:cNvSpPr/>
          <p:nvPr/>
        </p:nvSpPr>
        <p:spPr>
          <a:xfrm rot="0" flipH="0" flipV="0">
            <a:off x="609600" y="4705350"/>
            <a:ext cx="10972800" cy="352425"/>
          </a:xfrm>
          <a:prstGeom prst="rect">
            <a:avLst/>
          </a:prstGeom>
          <a:solidFill>
            <a:srgbClr val="FBF2EF"/>
          </a:solidFill>
          <a:ln/>
        </p:spPr>
        <p:txBody>
          <a:bodyPr/>
          <a:p/>
        </p:txBody>
      </p:sp>
      <p:sp>
        <p:nvSpPr>
          <p:cNvPr id="594" name=""/>
          <p:cNvSpPr/>
          <p:nvPr/>
        </p:nvSpPr>
        <p:spPr>
          <a:xfrm rot="0" flipH="0" flipV="0">
            <a:off x="609600" y="47053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595" name="" descr="{&quot;isTemplate&quot;:true,&quot;type&quot;:&quot;text&quot;}"/>
          <p:cNvSpPr txBox="1"/>
          <p:nvPr/>
        </p:nvSpPr>
        <p:spPr>
          <a:xfrm rot="0" flipH="0" flipV="0">
            <a:off x="685800" y="4810125"/>
            <a:ext cx="714375" cy="142875"/>
          </a:xfrm>
          <a:prstGeom prst="rect"/>
        </p:spPr>
        <p:txBody>
          <a:bodyPr wrap="none" lIns="0" tIns="0" rIns="0" bIns="0"/>
          <a:p>
            <a:pPr>
              <a:lnSpc>
                <a:spcPct val="100000"/>
              </a:lnSpc>
            </a:pPr>
            <a:r>
              <a:rPr lang="zh-CN" sz="938" b="1">
                <a:solidFill>
                  <a:srgbClr val="AE4128"/>
                </a:solidFill>
                <a:latin typeface="Noto Sans SC"/>
                <a:ea typeface="Noto Sans SC"/>
              </a:rPr>
              <a:t>网林全卫定制</a:t>
            </a:r>
            <a:endParaRPr/>
          </a:p>
        </p:txBody>
      </p:sp>
      <p:sp>
        <p:nvSpPr>
          <p:cNvPr id="596" name="" descr="{&quot;isTemplate&quot;:true,&quot;type&quot;:&quot;text&quot;}"/>
          <p:cNvSpPr txBox="1"/>
          <p:nvPr/>
        </p:nvSpPr>
        <p:spPr>
          <a:xfrm rot="0" flipH="0" flipV="0">
            <a:off x="4552950" y="4810125"/>
            <a:ext cx="219075" cy="142875"/>
          </a:xfrm>
          <a:prstGeom prst="rect"/>
        </p:spPr>
        <p:txBody>
          <a:bodyPr wrap="none" lIns="0" tIns="0" rIns="0" bIns="0"/>
          <a:p>
            <a:pPr>
              <a:lnSpc>
                <a:spcPct val="100000"/>
              </a:lnSpc>
            </a:pPr>
            <a:r>
              <a:rPr lang="en-US" sz="938">
                <a:solidFill>
                  <a:srgbClr val="AE4128"/>
                </a:solidFill>
                <a:latin typeface="Noto Sans SC"/>
                <a:ea typeface="Noto Sans SC"/>
              </a:rPr>
              <a:t>0.40</a:t>
            </a:r>
            <a:endParaRPr/>
          </a:p>
        </p:txBody>
      </p:sp>
      <p:sp>
        <p:nvSpPr>
          <p:cNvPr id="597" name="" descr="{&quot;isTemplate&quot;:true,&quot;type&quot;:&quot;text&quot;}"/>
          <p:cNvSpPr txBox="1"/>
          <p:nvPr/>
        </p:nvSpPr>
        <p:spPr>
          <a:xfrm rot="0" flipH="0" flipV="0">
            <a:off x="6019800" y="4810125"/>
            <a:ext cx="323850" cy="142875"/>
          </a:xfrm>
          <a:prstGeom prst="rect"/>
        </p:spPr>
        <p:txBody>
          <a:bodyPr wrap="none" lIns="0" tIns="0" rIns="0" bIns="0"/>
          <a:p>
            <a:pPr>
              <a:lnSpc>
                <a:spcPct val="100000"/>
              </a:lnSpc>
            </a:pPr>
            <a:r>
              <a:rPr lang="en-US" sz="938">
                <a:solidFill>
                  <a:srgbClr val="15181D"/>
                </a:solidFill>
                <a:latin typeface="Noto Sans SC"/>
                <a:ea typeface="Noto Sans SC"/>
              </a:rPr>
              <a:t>13.5%</a:t>
            </a:r>
            <a:endParaRPr/>
          </a:p>
        </p:txBody>
      </p:sp>
      <p:sp>
        <p:nvSpPr>
          <p:cNvPr id="598" name="" descr="{&quot;isTemplate&quot;:true,&quot;type&quot;:&quot;text&quot;}"/>
          <p:cNvSpPr txBox="1"/>
          <p:nvPr/>
        </p:nvSpPr>
        <p:spPr>
          <a:xfrm rot="0" flipH="0" flipV="0">
            <a:off x="7781925" y="4810125"/>
            <a:ext cx="257175" cy="142875"/>
          </a:xfrm>
          <a:prstGeom prst="rect"/>
        </p:spPr>
        <p:txBody>
          <a:bodyPr wrap="none" lIns="0" tIns="0" rIns="0" bIns="0"/>
          <a:p>
            <a:pPr>
              <a:lnSpc>
                <a:spcPct val="100000"/>
              </a:lnSpc>
            </a:pPr>
            <a:r>
              <a:rPr lang="en-US" sz="938">
                <a:solidFill>
                  <a:srgbClr val="15181D"/>
                </a:solidFill>
                <a:latin typeface="Noto Sans SC"/>
                <a:ea typeface="Noto Sans SC"/>
              </a:rPr>
              <a:t>4.8%</a:t>
            </a:r>
            <a:endParaRPr/>
          </a:p>
        </p:txBody>
      </p:sp>
      <p:sp>
        <p:nvSpPr>
          <p:cNvPr id="599" name="" descr="{&quot;isTemplate&quot;:true,&quot;type&quot;:&quot;text&quot;}"/>
          <p:cNvSpPr txBox="1"/>
          <p:nvPr/>
        </p:nvSpPr>
        <p:spPr>
          <a:xfrm rot="0" flipH="0" flipV="0">
            <a:off x="9629775" y="4810125"/>
            <a:ext cx="361950" cy="142875"/>
          </a:xfrm>
          <a:prstGeom prst="rect"/>
        </p:spPr>
        <p:txBody>
          <a:bodyPr wrap="none" lIns="0" tIns="0" rIns="0" bIns="0"/>
          <a:p>
            <a:pPr>
              <a:lnSpc>
                <a:spcPct val="100000"/>
              </a:lnSpc>
            </a:pPr>
            <a:r>
              <a:rPr lang="en-US" sz="938">
                <a:solidFill>
                  <a:srgbClr val="15181D"/>
                </a:solidFill>
                <a:latin typeface="Noto Sans SC"/>
                <a:ea typeface="Noto Sans SC"/>
              </a:rPr>
              <a:t>0.66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600" name="" descr="{&quot;isTemplate&quot;:true,&quot;type&quot;:&quot;text&quot;}"/>
          <p:cNvSpPr txBox="1"/>
          <p:nvPr/>
        </p:nvSpPr>
        <p:spPr>
          <a:xfrm rot="0" flipH="0" flipV="0">
            <a:off x="11229975" y="4810125"/>
            <a:ext cx="276225" cy="142875"/>
          </a:xfrm>
          <a:prstGeom prst="rect"/>
        </p:spPr>
        <p:txBody>
          <a:bodyPr wrap="none" lIns="0" tIns="0" rIns="0" bIns="0"/>
          <a:p>
            <a:pPr>
              <a:lnSpc>
                <a:spcPct val="100000"/>
              </a:lnSpc>
            </a:pPr>
            <a:r>
              <a:rPr lang="en-US" sz="938">
                <a:solidFill>
                  <a:srgbClr val="15181D"/>
                </a:solidFill>
                <a:latin typeface="Noto Sans SC"/>
                <a:ea typeface="Noto Sans SC"/>
              </a:rPr>
              <a:t>1,795</a:t>
            </a:r>
            <a:endParaRPr/>
          </a:p>
        </p:txBody>
      </p:sp>
      <p:sp>
        <p:nvSpPr>
          <p:cNvPr id="601" name=""/>
          <p:cNvSpPr/>
          <p:nvPr/>
        </p:nvSpPr>
        <p:spPr>
          <a:xfrm rot="0" flipH="0" flipV="0">
            <a:off x="609600" y="5067300"/>
            <a:ext cx="10972800" cy="352425"/>
          </a:xfrm>
          <a:prstGeom prst="rect">
            <a:avLst/>
          </a:prstGeom>
          <a:solidFill>
            <a:srgbClr val="FBF2EF"/>
          </a:solidFill>
          <a:ln/>
        </p:spPr>
        <p:txBody>
          <a:bodyPr/>
          <a:p/>
        </p:txBody>
      </p:sp>
      <p:sp>
        <p:nvSpPr>
          <p:cNvPr id="602" name=""/>
          <p:cNvSpPr/>
          <p:nvPr/>
        </p:nvSpPr>
        <p:spPr>
          <a:xfrm rot="0" flipH="0" flipV="0">
            <a:off x="609600" y="50673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603" name="" descr="{&quot;isTemplate&quot;:true,&quot;type&quot;:&quot;text&quot;}"/>
          <p:cNvSpPr txBox="1"/>
          <p:nvPr/>
        </p:nvSpPr>
        <p:spPr>
          <a:xfrm rot="0" flipH="0" flipV="0">
            <a:off x="685800" y="5172075"/>
            <a:ext cx="1057275" cy="142875"/>
          </a:xfrm>
          <a:prstGeom prst="rect"/>
        </p:spPr>
        <p:txBody>
          <a:bodyPr wrap="none" lIns="0" tIns="0" rIns="0" bIns="0"/>
          <a:p>
            <a:pPr>
              <a:lnSpc>
                <a:spcPct val="100000"/>
              </a:lnSpc>
            </a:pPr>
            <a:r>
              <a:rPr lang="en-US" sz="938" b="1">
                <a:solidFill>
                  <a:srgbClr val="AE4128"/>
                </a:solidFill>
                <a:latin typeface="Noto Sans SC"/>
                <a:ea typeface="Noto Sans SC"/>
              </a:rPr>
              <a:t>Paola Lenti</a:t>
            </a:r>
            <a:r>
              <a:rPr lang="zh-CN" sz="938" b="1">
                <a:solidFill>
                  <a:srgbClr val="AE4128"/>
                </a:solidFill>
                <a:latin typeface="Noto Sans SC"/>
                <a:ea typeface="Noto Sans SC"/>
              </a:rPr>
              <a:t>保拉伦蒂</a:t>
            </a:r>
            <a:endParaRPr/>
          </a:p>
        </p:txBody>
      </p:sp>
      <p:sp>
        <p:nvSpPr>
          <p:cNvPr id="604" name="" descr="{&quot;isTemplate&quot;:true,&quot;type&quot;:&quot;text&quot;}"/>
          <p:cNvSpPr txBox="1"/>
          <p:nvPr/>
        </p:nvSpPr>
        <p:spPr>
          <a:xfrm rot="0" flipH="0" flipV="0">
            <a:off x="4552950" y="5172075"/>
            <a:ext cx="219075" cy="142875"/>
          </a:xfrm>
          <a:prstGeom prst="rect"/>
        </p:spPr>
        <p:txBody>
          <a:bodyPr wrap="none" lIns="0" tIns="0" rIns="0" bIns="0"/>
          <a:p>
            <a:pPr>
              <a:lnSpc>
                <a:spcPct val="100000"/>
              </a:lnSpc>
            </a:pPr>
            <a:r>
              <a:rPr lang="en-US" sz="938">
                <a:solidFill>
                  <a:srgbClr val="AE4128"/>
                </a:solidFill>
                <a:latin typeface="Noto Sans SC"/>
                <a:ea typeface="Noto Sans SC"/>
              </a:rPr>
              <a:t>0.40</a:t>
            </a:r>
            <a:endParaRPr/>
          </a:p>
        </p:txBody>
      </p:sp>
      <p:sp>
        <p:nvSpPr>
          <p:cNvPr id="605" name="" descr="{&quot;isTemplate&quot;:true,&quot;type&quot;:&quot;text&quot;}"/>
          <p:cNvSpPr txBox="1"/>
          <p:nvPr/>
        </p:nvSpPr>
        <p:spPr>
          <a:xfrm rot="0" flipH="0" flipV="0">
            <a:off x="6019800" y="5172075"/>
            <a:ext cx="323850" cy="142875"/>
          </a:xfrm>
          <a:prstGeom prst="rect"/>
        </p:spPr>
        <p:txBody>
          <a:bodyPr wrap="none" lIns="0" tIns="0" rIns="0" bIns="0"/>
          <a:p>
            <a:pPr>
              <a:lnSpc>
                <a:spcPct val="100000"/>
              </a:lnSpc>
            </a:pPr>
            <a:r>
              <a:rPr lang="en-US" sz="938">
                <a:solidFill>
                  <a:srgbClr val="15181D"/>
                </a:solidFill>
                <a:latin typeface="Noto Sans SC"/>
                <a:ea typeface="Noto Sans SC"/>
              </a:rPr>
              <a:t>21.8%</a:t>
            </a:r>
            <a:endParaRPr/>
          </a:p>
        </p:txBody>
      </p:sp>
      <p:sp>
        <p:nvSpPr>
          <p:cNvPr id="606" name="" descr="{&quot;isTemplate&quot;:true,&quot;type&quot;:&quot;text&quot;}"/>
          <p:cNvSpPr txBox="1"/>
          <p:nvPr/>
        </p:nvSpPr>
        <p:spPr>
          <a:xfrm rot="0" flipH="0" flipV="0">
            <a:off x="7715250" y="5172075"/>
            <a:ext cx="323850" cy="142875"/>
          </a:xfrm>
          <a:prstGeom prst="rect"/>
        </p:spPr>
        <p:txBody>
          <a:bodyPr wrap="none" lIns="0" tIns="0" rIns="0" bIns="0"/>
          <a:p>
            <a:pPr>
              <a:lnSpc>
                <a:spcPct val="100000"/>
              </a:lnSpc>
            </a:pPr>
            <a:r>
              <a:rPr lang="en-US" sz="938">
                <a:solidFill>
                  <a:srgbClr val="15181D"/>
                </a:solidFill>
                <a:latin typeface="Noto Sans SC"/>
                <a:ea typeface="Noto Sans SC"/>
              </a:rPr>
              <a:t>11.5%</a:t>
            </a:r>
            <a:endParaRPr/>
          </a:p>
        </p:txBody>
      </p:sp>
      <p:sp>
        <p:nvSpPr>
          <p:cNvPr id="607" name="" descr="{&quot;isTemplate&quot;:true,&quot;type&quot;:&quot;text&quot;}"/>
          <p:cNvSpPr txBox="1"/>
          <p:nvPr/>
        </p:nvSpPr>
        <p:spPr>
          <a:xfrm rot="0" flipH="0" flipV="0">
            <a:off x="9629775" y="5172075"/>
            <a:ext cx="361950" cy="142875"/>
          </a:xfrm>
          <a:prstGeom prst="rect"/>
        </p:spPr>
        <p:txBody>
          <a:bodyPr wrap="none" lIns="0" tIns="0" rIns="0" bIns="0"/>
          <a:p>
            <a:pPr>
              <a:lnSpc>
                <a:spcPct val="100000"/>
              </a:lnSpc>
            </a:pPr>
            <a:r>
              <a:rPr lang="en-US" sz="938">
                <a:solidFill>
                  <a:srgbClr val="15181D"/>
                </a:solidFill>
                <a:latin typeface="Noto Sans SC"/>
                <a:ea typeface="Noto Sans SC"/>
              </a:rPr>
              <a:t>0.66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608" name="" descr="{&quot;isTemplate&quot;:true,&quot;type&quot;:&quot;text&quot;}"/>
          <p:cNvSpPr txBox="1"/>
          <p:nvPr/>
        </p:nvSpPr>
        <p:spPr>
          <a:xfrm rot="0" flipH="0" flipV="0">
            <a:off x="11229975" y="5172075"/>
            <a:ext cx="276225" cy="142875"/>
          </a:xfrm>
          <a:prstGeom prst="rect"/>
        </p:spPr>
        <p:txBody>
          <a:bodyPr wrap="none" lIns="0" tIns="0" rIns="0" bIns="0"/>
          <a:p>
            <a:pPr>
              <a:lnSpc>
                <a:spcPct val="100000"/>
              </a:lnSpc>
            </a:pPr>
            <a:r>
              <a:rPr lang="en-US" sz="938">
                <a:solidFill>
                  <a:srgbClr val="15181D"/>
                </a:solidFill>
                <a:latin typeface="Noto Sans SC"/>
                <a:ea typeface="Noto Sans SC"/>
              </a:rPr>
              <a:t>2,694</a:t>
            </a:r>
            <a:endParaRPr/>
          </a:p>
        </p:txBody>
      </p:sp>
      <p:sp>
        <p:nvSpPr>
          <p:cNvPr id="609" name=""/>
          <p:cNvSpPr/>
          <p:nvPr/>
        </p:nvSpPr>
        <p:spPr>
          <a:xfrm rot="0" flipH="0" flipV="0">
            <a:off x="609600" y="5429250"/>
            <a:ext cx="10972800" cy="352425"/>
          </a:xfrm>
          <a:prstGeom prst="rect">
            <a:avLst/>
          </a:prstGeom>
          <a:solidFill>
            <a:srgbClr val="FBF2EF"/>
          </a:solidFill>
          <a:ln/>
        </p:spPr>
        <p:txBody>
          <a:bodyPr/>
          <a:p/>
        </p:txBody>
      </p:sp>
      <p:sp>
        <p:nvSpPr>
          <p:cNvPr id="610" name=""/>
          <p:cNvSpPr/>
          <p:nvPr/>
        </p:nvSpPr>
        <p:spPr>
          <a:xfrm rot="0" flipH="0" flipV="0">
            <a:off x="609600" y="542925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611" name="" descr="{&quot;isTemplate&quot;:true,&quot;type&quot;:&quot;text&quot;}"/>
          <p:cNvSpPr txBox="1"/>
          <p:nvPr/>
        </p:nvSpPr>
        <p:spPr>
          <a:xfrm rot="0" flipH="0" flipV="0">
            <a:off x="685800" y="5534025"/>
            <a:ext cx="714375" cy="142875"/>
          </a:xfrm>
          <a:prstGeom prst="rect"/>
        </p:spPr>
        <p:txBody>
          <a:bodyPr wrap="none" lIns="0" tIns="0" rIns="0" bIns="0"/>
          <a:p>
            <a:pPr>
              <a:lnSpc>
                <a:spcPct val="100000"/>
              </a:lnSpc>
            </a:pPr>
            <a:r>
              <a:rPr lang="zh-CN" sz="938" b="1">
                <a:solidFill>
                  <a:srgbClr val="AE4128"/>
                </a:solidFill>
                <a:latin typeface="Noto Sans SC"/>
                <a:ea typeface="Noto Sans SC"/>
              </a:rPr>
              <a:t>盖文全卫定制</a:t>
            </a:r>
            <a:endParaRPr/>
          </a:p>
        </p:txBody>
      </p:sp>
      <p:sp>
        <p:nvSpPr>
          <p:cNvPr id="612" name="" descr="{&quot;isTemplate&quot;:true,&quot;type&quot;:&quot;text&quot;}"/>
          <p:cNvSpPr txBox="1"/>
          <p:nvPr/>
        </p:nvSpPr>
        <p:spPr>
          <a:xfrm rot="0" flipH="0" flipV="0">
            <a:off x="4552950" y="5534025"/>
            <a:ext cx="219075" cy="142875"/>
          </a:xfrm>
          <a:prstGeom prst="rect"/>
        </p:spPr>
        <p:txBody>
          <a:bodyPr wrap="none" lIns="0" tIns="0" rIns="0" bIns="0"/>
          <a:p>
            <a:pPr>
              <a:lnSpc>
                <a:spcPct val="100000"/>
              </a:lnSpc>
            </a:pPr>
            <a:r>
              <a:rPr lang="en-US" sz="938">
                <a:solidFill>
                  <a:srgbClr val="AE4128"/>
                </a:solidFill>
                <a:latin typeface="Noto Sans SC"/>
                <a:ea typeface="Noto Sans SC"/>
              </a:rPr>
              <a:t>0.22</a:t>
            </a:r>
            <a:endParaRPr/>
          </a:p>
        </p:txBody>
      </p:sp>
      <p:sp>
        <p:nvSpPr>
          <p:cNvPr id="613" name="" descr="{&quot;isTemplate&quot;:true,&quot;type&quot;:&quot;text&quot;}"/>
          <p:cNvSpPr txBox="1"/>
          <p:nvPr/>
        </p:nvSpPr>
        <p:spPr>
          <a:xfrm rot="0" flipH="0" flipV="0">
            <a:off x="6019800" y="5534025"/>
            <a:ext cx="323850" cy="142875"/>
          </a:xfrm>
          <a:prstGeom prst="rect"/>
        </p:spPr>
        <p:txBody>
          <a:bodyPr wrap="none" lIns="0" tIns="0" rIns="0" bIns="0"/>
          <a:p>
            <a:pPr>
              <a:lnSpc>
                <a:spcPct val="100000"/>
              </a:lnSpc>
            </a:pPr>
            <a:r>
              <a:rPr lang="en-US" sz="938">
                <a:solidFill>
                  <a:srgbClr val="15181D"/>
                </a:solidFill>
                <a:latin typeface="Noto Sans SC"/>
                <a:ea typeface="Noto Sans SC"/>
              </a:rPr>
              <a:t>25.0%</a:t>
            </a:r>
            <a:endParaRPr/>
          </a:p>
        </p:txBody>
      </p:sp>
      <p:sp>
        <p:nvSpPr>
          <p:cNvPr id="614" name="" descr="{&quot;isTemplate&quot;:true,&quot;type&quot;:&quot;text&quot;}"/>
          <p:cNvSpPr txBox="1"/>
          <p:nvPr/>
        </p:nvSpPr>
        <p:spPr>
          <a:xfrm rot="0" flipH="0" flipV="0">
            <a:off x="7781925" y="5534025"/>
            <a:ext cx="257175" cy="142875"/>
          </a:xfrm>
          <a:prstGeom prst="rect"/>
        </p:spPr>
        <p:txBody>
          <a:bodyPr wrap="none" lIns="0" tIns="0" rIns="0" bIns="0"/>
          <a:p>
            <a:pPr>
              <a:lnSpc>
                <a:spcPct val="100000"/>
              </a:lnSpc>
            </a:pPr>
            <a:r>
              <a:rPr lang="en-US" sz="938">
                <a:solidFill>
                  <a:srgbClr val="15181D"/>
                </a:solidFill>
                <a:latin typeface="Noto Sans SC"/>
                <a:ea typeface="Noto Sans SC"/>
              </a:rPr>
              <a:t>7.2%</a:t>
            </a:r>
            <a:endParaRPr/>
          </a:p>
        </p:txBody>
      </p:sp>
      <p:sp>
        <p:nvSpPr>
          <p:cNvPr id="615" name="" descr="{&quot;isTemplate&quot;:true,&quot;type&quot;:&quot;text&quot;}"/>
          <p:cNvSpPr txBox="1"/>
          <p:nvPr/>
        </p:nvSpPr>
        <p:spPr>
          <a:xfrm rot="0" flipH="0" flipV="0">
            <a:off x="9629775" y="5534025"/>
            <a:ext cx="361950" cy="142875"/>
          </a:xfrm>
          <a:prstGeom prst="rect"/>
        </p:spPr>
        <p:txBody>
          <a:bodyPr wrap="none" lIns="0" tIns="0" rIns="0" bIns="0"/>
          <a:p>
            <a:pPr>
              <a:lnSpc>
                <a:spcPct val="100000"/>
              </a:lnSpc>
            </a:pPr>
            <a:r>
              <a:rPr lang="en-US" sz="938">
                <a:solidFill>
                  <a:srgbClr val="15181D"/>
                </a:solidFill>
                <a:latin typeface="Noto Sans SC"/>
                <a:ea typeface="Noto Sans SC"/>
              </a:rPr>
              <a:t>0.36</a:t>
            </a:r>
            <a:r>
              <a:rPr lang="en-US" sz="938">
                <a:solidFill>
                  <a:srgbClr val="15181D"/>
                </a:solidFill>
                <a:latin typeface="Noto Sans SC"/>
                <a:ea typeface="Noto Sans SC"/>
              </a:rPr>
              <a:t xml:space="preserve"> </a:t>
            </a:r>
            <a:r>
              <a:rPr lang="zh-CN" sz="938">
                <a:solidFill>
                  <a:srgbClr val="15181D"/>
                </a:solidFill>
                <a:latin typeface="Noto Sans SC"/>
                <a:ea typeface="Noto Sans SC"/>
              </a:rPr>
              <a:t>单</a:t>
            </a:r>
            <a:endParaRPr/>
          </a:p>
        </p:txBody>
      </p:sp>
      <p:sp>
        <p:nvSpPr>
          <p:cNvPr id="616" name="" descr="{&quot;isTemplate&quot;:true,&quot;type&quot;:&quot;text&quot;}"/>
          <p:cNvSpPr txBox="1"/>
          <p:nvPr/>
        </p:nvSpPr>
        <p:spPr>
          <a:xfrm rot="0" flipH="0" flipV="0">
            <a:off x="11229975" y="5534025"/>
            <a:ext cx="276225" cy="142875"/>
          </a:xfrm>
          <a:prstGeom prst="rect"/>
        </p:spPr>
        <p:txBody>
          <a:bodyPr wrap="none" lIns="0" tIns="0" rIns="0" bIns="0"/>
          <a:p>
            <a:pPr>
              <a:lnSpc>
                <a:spcPct val="100000"/>
              </a:lnSpc>
            </a:pPr>
            <a:r>
              <a:rPr lang="en-US" sz="938">
                <a:solidFill>
                  <a:srgbClr val="15181D"/>
                </a:solidFill>
                <a:latin typeface="Noto Sans SC"/>
                <a:ea typeface="Noto Sans SC"/>
              </a:rPr>
              <a:t>2,709</a:t>
            </a:r>
            <a:endParaRPr/>
          </a:p>
        </p:txBody>
      </p:sp>
      <p:sp>
        <p:nvSpPr>
          <p:cNvPr id="617" name="" descr="{&quot;isTemplate&quot;:true,&quot;type&quot;:&quot;text&quot;}"/>
          <p:cNvSpPr txBox="1"/>
          <p:nvPr/>
        </p:nvSpPr>
        <p:spPr>
          <a:xfrm rot="0" flipH="0" flipV="0">
            <a:off x="609600" y="5962650"/>
            <a:ext cx="3238500" cy="142875"/>
          </a:xfrm>
          <a:prstGeom prst="rect"/>
        </p:spPr>
        <p:txBody>
          <a:bodyPr wrap="none" lIns="0" tIns="0" rIns="0" bIns="0"/>
          <a:p>
            <a:pPr>
              <a:lnSpc>
                <a:spcPct val="100000"/>
              </a:lnSpc>
            </a:pPr>
            <a:r>
              <a:rPr lang="en-US" sz="938">
                <a:solidFill>
                  <a:srgbClr val="5F6975"/>
                </a:solidFill>
                <a:latin typeface="Noto Sans SC"/>
                <a:ea typeface="Noto Sans SC"/>
              </a:rPr>
              <a:t>12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家合计：客人</a:t>
            </a:r>
            <a:r>
              <a:rPr lang="en-US" sz="938">
                <a:solidFill>
                  <a:srgbClr val="5F6975"/>
                </a:solidFill>
                <a:latin typeface="Noto Sans SC"/>
                <a:ea typeface="Noto Sans SC"/>
              </a:rPr>
              <a:t>145,701</a:t>
            </a:r>
            <a:r>
              <a:rPr lang="en-US" sz="938">
                <a:solidFill>
                  <a:srgbClr val="5F6975"/>
                </a:solidFill>
                <a:latin typeface="Noto Sans SC"/>
                <a:ea typeface="Noto Sans SC"/>
              </a:rPr>
              <a:t xml:space="preserve"> </a:t>
            </a:r>
            <a:r>
              <a:rPr lang="zh-CN" sz="938">
                <a:solidFill>
                  <a:srgbClr val="5F6975"/>
                </a:solidFill>
                <a:latin typeface="Noto Sans SC"/>
                <a:ea typeface="Noto Sans SC"/>
              </a:rPr>
              <a:t>人次　成交</a:t>
            </a:r>
            <a:r>
              <a:rPr lang="en-US" sz="938">
                <a:solidFill>
                  <a:srgbClr val="5F6975"/>
                </a:solidFill>
                <a:latin typeface="Noto Sans SC"/>
                <a:ea typeface="Noto Sans SC"/>
              </a:rPr>
              <a:t>49.0</a:t>
            </a:r>
            <a:r>
              <a:rPr lang="zh-CN" sz="938">
                <a:solidFill>
                  <a:srgbClr val="5F6975"/>
                </a:solidFill>
                <a:latin typeface="Noto Sans SC"/>
                <a:ea typeface="Noto Sans SC"/>
              </a:rPr>
              <a:t>万元　客单价</a:t>
            </a:r>
            <a:r>
              <a:rPr lang="en-US" sz="938">
                <a:solidFill>
                  <a:srgbClr val="5F6975"/>
                </a:solidFill>
                <a:latin typeface="Noto Sans SC"/>
                <a:ea typeface="Noto Sans SC"/>
              </a:rPr>
              <a:t>2,044</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a:t>
            </a:r>
            <a:endParaRPr/>
          </a:p>
        </p:txBody>
      </p:sp>
      <p:sp>
        <p:nvSpPr>
          <p:cNvPr id="618" name="" descr="{&quot;isTemplate&quot;:true,&quot;type&quot;:&quot;text&quot;}"/>
          <p:cNvSpPr txBox="1"/>
          <p:nvPr/>
        </p:nvSpPr>
        <p:spPr>
          <a:xfrm rot="0" flipH="0" flipV="0">
            <a:off x="4114800" y="5962650"/>
            <a:ext cx="3343275" cy="142875"/>
          </a:xfrm>
          <a:prstGeom prst="rect"/>
        </p:spPr>
        <p:txBody>
          <a:bodyPr wrap="none" lIns="0" tIns="0" rIns="0" bIns="0"/>
          <a:p>
            <a:pPr>
              <a:lnSpc>
                <a:spcPct val="100000"/>
              </a:lnSpc>
            </a:pPr>
            <a:r>
              <a:rPr lang="zh-CN" sz="938">
                <a:solidFill>
                  <a:srgbClr val="5F6975"/>
                </a:solidFill>
                <a:latin typeface="Noto Sans SC"/>
                <a:ea typeface="Noto Sans SC"/>
              </a:rPr>
              <a:t>成交率最高的科塔建材卫浴</a:t>
            </a:r>
            <a:r>
              <a:rPr lang="en-US" sz="938">
                <a:solidFill>
                  <a:srgbClr val="5F6975"/>
                </a:solidFill>
                <a:latin typeface="Noto Sans SC"/>
                <a:ea typeface="Noto Sans SC"/>
              </a:rPr>
              <a:t>6.96</a:t>
            </a:r>
            <a:r>
              <a:rPr lang="en-US" sz="938">
                <a:solidFill>
                  <a:srgbClr val="5F6975"/>
                </a:solidFill>
                <a:latin typeface="Noto Sans SC"/>
                <a:ea typeface="Noto Sans SC"/>
              </a:rPr>
              <a:t xml:space="preserve"> </a:t>
            </a:r>
            <a:r>
              <a:rPr lang="zh-CN" sz="938">
                <a:solidFill>
                  <a:srgbClr val="5F6975"/>
                </a:solidFill>
                <a:latin typeface="Noto Sans SC"/>
                <a:ea typeface="Noto Sans SC"/>
              </a:rPr>
              <a:t>倍，最低的盖文全卫定制</a:t>
            </a:r>
            <a:r>
              <a:rPr lang="en-US" sz="938">
                <a:solidFill>
                  <a:srgbClr val="5F6975"/>
                </a:solidFill>
                <a:latin typeface="Noto Sans SC"/>
                <a:ea typeface="Noto Sans SC"/>
              </a:rPr>
              <a:t>0.22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倍</a:t>
            </a:r>
            <a:endParaRPr/>
          </a:p>
        </p:txBody>
      </p:sp>
      <p:sp>
        <p:nvSpPr>
          <p:cNvPr id="619"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620"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04</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5.xml><?xml version="1.0" encoding="utf-8"?>
<p:sld xmlns:p="http://schemas.openxmlformats.org/presentationml/2006/main" xmlns:a="http://schemas.openxmlformats.org/drawingml/2006/main">
  <p:cSld>
    <p:spTree>
      <p:nvGrpSpPr>
        <p:cNvPr id="621" name="" descr="&lt;Slide style={{ width: '1280px', height: '720px', background: '#FFFFFF', fontFamily: 'Noto Sans SC', padding: '20px 64px', flexDirection: 'column' }}&gt;&lt;Box style={{ height: '96px', flexDirection: 'column', justifyContent: 'center' }}&gt;&lt;Text style={{ fontSize: '31px', fontWeight: 700, color: '#1B3557', lineHeight: 1.25 }}&gt;{'5.3%'} 的主力商品，做出{'80.5%'} 的销售额&lt;/Text&gt;&lt;Text style={{ fontSize: '15px', color: '#5F6975', lineHeight: 1.4, marginTop: '6px' }}&gt;{'468'} 个在售商品，{'18'} 天成交{'28.0'}万元{'—'}{'—'}商品明细覆盖{'8'} 家店（占{'12'} 家成交{'59.5%'}），另{'5'} 家见动作四。&lt;/Text&gt;&lt;/Box&gt;&lt;Box style={{ height: '540px', flexDirection: 'row', gap: '40px' }}&gt;&lt;Box style={{ width: '660px', flexDirection: 'column' }}&gt;&lt;Text style={{ fontSize: '15px', fontWeight: 700, color: '#1B3557', marginBottom: '12px' }}&gt;主力{'25'} 个，按成交额排前{'5'}&lt;/Text&gt;&lt;Box style={{ flexDirection: 'row', alignItems: 'center', height: '76px', borderBottom: '1px solid #DDE2E8', gap: '14px' }}&gt;&lt;Text style={{ fontSize: '20px', fontWeight: 700, color: '#A97B28', width: '30px' }}&gt;{'1'}&lt;/Text&gt;&lt;Box style={{ width: '420px', flexDirection: 'column', gap: '3px' }}&gt;&lt;Text style={{ fontSize: '13px', color: '#15181D', lineHeight: 1.4 }}&gt;盖文Gavin人造石深泡一体浴缸日式民宿方形独立式小户型浴盆家用&lt;/Text&gt;&lt;Text style={{ fontSize: '11.5px', color: '#5F6975' }}&gt;访客{'940'}　支付买家{'5'}&lt;/Text&gt;&lt;/Box&gt;&lt;Text style={{ fontSize: '20px', fontWeight: 700, color: '#1B3557', width: '130px', textAlign: 'right' }}&gt;{'2.4'}万元&lt;/Text&gt;&lt;/Box&gt;&lt;Box style={{ flexDirection: 'row', alignItems: 'center', height: '76px', borderBottom: '1px solid #DDE2E8', gap: '14px' }}&gt;&lt;Text style={{ fontSize: '20px', fontWeight: 700, color: '#A97B28', width: '30px' }}&gt;{'2'}&lt;/Text&gt;&lt;Box style={{ width: '420px', flexDirection: 'column', gap: '3px' }}&gt;&lt;Text style={{ fontSize: '13px', color: '#15181D', lineHeight: 1.4 }}&gt;盖文Gavin独立式人造石浴缸鹅蛋型家用卫生间浴盆双人酒店民宿&lt;/Text&gt;&lt;Text style={{ fontSize: '11.5px', color: '#5F6975' }}&gt;访客{'763'}　支付买家{'4'}&lt;/Text&gt;&lt;/Box&gt;&lt;Text style={{ fontSize: '20px', fontWeight: 700, color: '#1B3557', width: '130px', textAlign: 'right' }}&gt;{'2.1'}万元&lt;/Text&gt;&lt;/Box&gt;&lt;Box style={{ flexDirection: 'row', alignItems: 'center', height: '76px', borderBottom: '1px solid #DDE2E8', gap: '14px' }}&gt;&lt;Text style={{ fontSize: '20px', fontWeight: 700, color: '#A97B28', width: '30px' }}&gt;{'3'}&lt;/Text&gt;&lt;Box style={{ width: '420px', flexDirection: 'column', gap: '3px' }}&gt;&lt;Text style={{ fontSize: '13px', color: '#15181D', lineHeight: 1.4 }}&gt;盖文Gavin小户型家用坐式浴缸人造石一体式深泡浴盆日式民宿酒店&lt;/Text&gt;&lt;Text style={{ fontSize: '11.5px', color: '#5F6975' }}&gt;访客{'2,078'}　支付买家{'5'}&lt;/Text&gt;&lt;/Box&gt;&lt;Text style={{ fontSize: '20px', fontWeight: 700, color: '#1B3557', width: '130px', textAlign: 'right' }}&gt;{'1.9'}万元&lt;/Text&gt;&lt;/Box&gt;&lt;Box style={{ flexDirection: 'row', alignItems: 'center', height: '76px', borderBottom: '1px solid #DDE2E8', gap: '14px' }}&gt;&lt;Text style={{ fontSize: '20px', fontWeight: 700, color: '#A97B28', width: '30px' }}&gt;{'4'}&lt;/Text&gt;&lt;Box style={{ width: '420px', flexDirection: 'column', gap: '3px' }}&gt;&lt;Text style={{ fontSize: '13px', color: '#15181D', lineHeight: 1.4 }}&gt;盖文纯亚克力一体盆台上盆琦美石家用洗手盆洗面盆洗脸盆台盆定制&lt;/Text&gt;&lt;Text style={{ fontSize: '11.5px', color: '#5F6975' }}&gt;访客{'21'}　支付买家{'2'}&lt;/Text&gt;&lt;/Box&gt;&lt;Text style={{ fontSize: '20px', fontWeight: 700, color: '#1B3557', width: '130px', textAlign: 'right' }}&gt;{'1.5'}万元&lt;/Text&gt;&lt;/Box&gt;&lt;Box style={{ flexDirection: 'row', alignItems: 'center', height: '76px', borderBottom: '1px solid #DDE2E8', gap: '14px' }}&gt;&lt;Text style={{ fontSize: '20px', fontWeight: 700, color: '#A97B28', width: '30px' }}&gt;{'5'}&lt;/Text&gt;&lt;Box style={{ width: '420px', flexDirection: 'column', gap: '3px' }}&gt;&lt;Text style={{ fontSize: '13px', color: '#15181D', lineHeight: 1.4 }}&gt;科塔大小户型一体人造石窄边大肚带储物收纳洗手洗脸洗漱台盆定制&lt;/Text&gt;&lt;Text style={{ fontSize: '11.5px', color: '#5F6975' }}&gt;访客{'1,019'}　支付买家{'5'}&lt;/Text&gt;&lt;/Box&gt;&lt;Text style={{ fontSize: '20px', fontWeight: 700, color: '#1B3557', width: '130px', textAlign: 'right' }}&gt;{'1.3'}万元&lt;/Text&gt;&lt;/Box&gt;&lt;Text style={{ fontSize: '12px', color: '#5F6975', marginTop: '10px' }}&gt;前{'5'} 个合计占商品层成交{'32.6%'}&lt;/Text&gt;&lt;/Box&gt;&lt;Box style={{ width: '450px', flexDirection: 'column', gap: '16px' }}&gt;&lt;Box style={{ background: '#F4F6F8', padding: '22px' }}&gt;&lt;Text style={{ fontSize: '13px', color: '#5F6975' }}&gt;补充档{'18'} 个&lt;/Text&gt;&lt;Text style={{ fontSize: '17px', color: '#15181D', marginTop: '6px', lineHeight: 1.6 }}&gt;分走{'30.4%'} 的客人，做{'14.7%'} 的销售额&lt;/Text&gt;&lt;/Box&gt;&lt;Box style={{ background: '#FBF2EF', padding: '22px' }}&gt;&lt;Text style={{ fontSize: '13px', color: '#5F6975' }}&gt;长尾档{'425'} 个&lt;/Text&gt;&lt;Text style={{ fontSize: '17px', color: '#15181D', marginTop: '6px', lineHeight: 1.6 }}&gt;分走{'53.5%'} 的客人，只做{'4.7%'} 的销售额&lt;/Text&gt;&lt;Text style={{ fontSize: '15px', fontWeight: 700, color: '#AE4128', marginTop: '10px' }}&gt;其中{'376'} 个{'18'} 天零成交&lt;/Text&gt;&lt;/Box&gt;&lt;Box style={{ borderLeft: '4px solid #A97B28', paddingLeft: '16px', marginTop: 'auto' }}&gt;&lt;Text style={{ fontSize: '17px', fontWeight: 600, color: '#1B3557', lineHeight: 1.6 }}&gt;长尾不是没货，&lt;br /&gt;是没人管。&lt;/Text&gt;&lt;/Box&gt;&lt;/Box&gt;&lt;/Box&gt;&lt;Box style={{ height: '40px', flexDirection: 'row', justifyContent: 'space-between', alignItems: 'center' }}&gt;&lt;Text style={{ fontSize: '13px', color: '#5F6975' }}&gt;经营数据诊断{'·'}{'2026-10-20'}&lt;/Text&gt;&lt;Text style={{ fontSize: '13px', color: '#5F6975' }}&gt;{'05'}{'/'}{'13'}&lt;/Text&gt;&lt;/Box&gt;&lt;/Slide&gt;&#10;"/>
        <p:cNvGrpSpPr/>
        <p:nvPr/>
      </p:nvGrpSpPr>
      <p:grpSpPr>
        <a:xfrm>
          <a:off x="0" y="0"/>
          <a:ext cx="0" cy="0"/>
          <a:chOff x="0" y="0"/>
          <a:chExt cx="0" cy="0"/>
        </a:xfrm>
      </p:grpSpPr>
      <p:sp>
        <p:nvSpPr>
          <p:cNvPr id="622" name=""/>
          <p:cNvSpPr/>
          <p:nvPr/>
        </p:nvSpPr>
        <p:spPr>
          <a:xfrm rot="0" flipH="0" flipV="0">
            <a:off x="0" y="0"/>
            <a:ext cx="12192000" cy="6858000"/>
          </a:xfrm>
          <a:prstGeom prst="rect">
            <a:avLst/>
          </a:prstGeom>
          <a:solidFill>
            <a:srgbClr val="FFFFFF"/>
          </a:solidFill>
          <a:ln/>
        </p:spPr>
        <p:txBody>
          <a:bodyPr/>
          <a:p/>
        </p:txBody>
      </p:sp>
      <p:sp>
        <p:nvSpPr>
          <p:cNvPr id="623"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en-US" sz="2325" b="1">
                <a:solidFill>
                  <a:srgbClr val="1B3557"/>
                </a:solidFill>
                <a:latin typeface="Noto Sans SC"/>
                <a:ea typeface="Noto Sans SC"/>
              </a:rPr>
              <a:t>5.3%</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的主力商品，做出</a:t>
            </a:r>
            <a:r>
              <a:rPr lang="en-US" sz="2325" b="1">
                <a:solidFill>
                  <a:srgbClr val="1B3557"/>
                </a:solidFill>
                <a:latin typeface="Noto Sans SC"/>
                <a:ea typeface="Noto Sans SC"/>
              </a:rPr>
              <a:t>80.5%</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的销售额</a:t>
            </a:r>
            <a:endParaRPr/>
          </a:p>
        </p:txBody>
      </p:sp>
      <p:sp>
        <p:nvSpPr>
          <p:cNvPr id="624"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en-US" sz="1125">
                <a:solidFill>
                  <a:srgbClr val="5F6975"/>
                </a:solidFill>
                <a:latin typeface="Noto Sans SC"/>
                <a:ea typeface="Noto Sans SC"/>
              </a:rPr>
              <a:t>468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个在售商品，</a:t>
            </a:r>
            <a:r>
              <a:rPr lang="en-US" sz="1125">
                <a:solidFill>
                  <a:srgbClr val="5F6975"/>
                </a:solidFill>
                <a:latin typeface="Noto Sans SC"/>
                <a:ea typeface="Noto Sans SC"/>
              </a:rPr>
              <a:t>18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天成交</a:t>
            </a:r>
            <a:r>
              <a:rPr lang="en-US" sz="1125">
                <a:solidFill>
                  <a:srgbClr val="5F6975"/>
                </a:solidFill>
                <a:latin typeface="Noto Sans SC"/>
                <a:ea typeface="Noto Sans SC"/>
              </a:rPr>
              <a:t>28.0</a:t>
            </a:r>
            <a:r>
              <a:rPr lang="zh-CN" sz="1125">
                <a:solidFill>
                  <a:srgbClr val="5F6975"/>
                </a:solidFill>
                <a:latin typeface="Noto Sans SC"/>
                <a:ea typeface="Noto Sans SC"/>
              </a:rPr>
              <a:t>万元</a:t>
            </a:r>
            <a:r>
              <a:rPr sz="1125">
                <a:solidFill>
                  <a:srgbClr val="5F6975"/>
                </a:solidFill>
                <a:latin typeface="Noto Sans SC"/>
                <a:ea typeface="Noto Sans SC"/>
              </a:rPr>
              <a:t>—</a:t>
            </a:r>
            <a:r>
              <a:rPr sz="1125">
                <a:solidFill>
                  <a:srgbClr val="5F6975"/>
                </a:solidFill>
                <a:latin typeface="Noto Sans SC"/>
                <a:ea typeface="Noto Sans SC"/>
              </a:rPr>
              <a:t>—</a:t>
            </a:r>
            <a:r>
              <a:rPr lang="zh-CN" sz="1125">
                <a:solidFill>
                  <a:srgbClr val="5F6975"/>
                </a:solidFill>
                <a:latin typeface="Noto Sans SC"/>
                <a:ea typeface="Noto Sans SC"/>
              </a:rPr>
              <a:t>商品明细覆盖</a:t>
            </a:r>
            <a:r>
              <a:rPr lang="en-US" sz="1125">
                <a:solidFill>
                  <a:srgbClr val="5F6975"/>
                </a:solidFill>
                <a:latin typeface="Noto Sans SC"/>
                <a:ea typeface="Noto Sans SC"/>
              </a:rPr>
              <a:t>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家店（占</a:t>
            </a:r>
            <a:r>
              <a:rPr lang="en-US" sz="1125">
                <a:solidFill>
                  <a:srgbClr val="5F6975"/>
                </a:solidFill>
                <a:latin typeface="Noto Sans SC"/>
                <a:ea typeface="Noto Sans SC"/>
              </a:rPr>
              <a:t>12</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家成交</a:t>
            </a:r>
            <a:r>
              <a:rPr lang="en-US" sz="1125">
                <a:solidFill>
                  <a:srgbClr val="5F6975"/>
                </a:solidFill>
                <a:latin typeface="Noto Sans SC"/>
                <a:ea typeface="Noto Sans SC"/>
              </a:rPr>
              <a:t>59.5%</a:t>
            </a:r>
            <a:r>
              <a:rPr lang="zh-CN" sz="1125">
                <a:solidFill>
                  <a:srgbClr val="5F6975"/>
                </a:solidFill>
                <a:latin typeface="Noto Sans SC"/>
                <a:ea typeface="Noto Sans SC"/>
              </a:rPr>
              <a:t>），另</a:t>
            </a:r>
            <a:r>
              <a:rPr lang="en-US" sz="1125">
                <a:solidFill>
                  <a:srgbClr val="5F6975"/>
                </a:solidFill>
                <a:latin typeface="Noto Sans SC"/>
                <a:ea typeface="Noto Sans SC"/>
              </a:rPr>
              <a:t>5</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家见动作四。</a:t>
            </a:r>
            <a:endParaRPr/>
          </a:p>
        </p:txBody>
      </p:sp>
      <p:sp>
        <p:nvSpPr>
          <p:cNvPr id="625" name="" descr="{&quot;isTemplate&quot;:true,&quot;type&quot;:&quot;text&quot;}"/>
          <p:cNvSpPr txBox="1"/>
          <p:nvPr/>
        </p:nvSpPr>
        <p:spPr>
          <a:xfrm rot="0" flipH="0" flipV="0">
            <a:off x="609600" y="1104900"/>
            <a:ext cx="6286500" cy="171450"/>
          </a:xfrm>
          <a:prstGeom prst="rect"/>
        </p:spPr>
        <p:txBody>
          <a:bodyPr wrap="none" lIns="0" tIns="0" rIns="0" bIns="0"/>
          <a:p>
            <a:pPr>
              <a:lnSpc>
                <a:spcPct val="100000"/>
              </a:lnSpc>
            </a:pPr>
            <a:r>
              <a:rPr lang="zh-CN" sz="1125" b="1">
                <a:solidFill>
                  <a:srgbClr val="1B3557"/>
                </a:solidFill>
                <a:latin typeface="Noto Sans SC"/>
                <a:ea typeface="Noto Sans SC"/>
              </a:rPr>
              <a:t>主力</a:t>
            </a:r>
            <a:r>
              <a:rPr lang="en-US" sz="1125" b="1">
                <a:solidFill>
                  <a:srgbClr val="1B3557"/>
                </a:solidFill>
                <a:latin typeface="Noto Sans SC"/>
                <a:ea typeface="Noto Sans SC"/>
              </a:rPr>
              <a:t>25</a:t>
            </a:r>
            <a:r>
              <a:rPr lang="en-US" sz="1125" b="1">
                <a:solidFill>
                  <a:srgbClr val="1B3557"/>
                </a:solidFill>
                <a:latin typeface="Noto Sans SC"/>
                <a:ea typeface="Noto Sans SC"/>
              </a:rPr>
              <a:t xml:space="preserve"> </a:t>
            </a:r>
            <a:r>
              <a:rPr lang="zh-CN" sz="1125" b="1">
                <a:solidFill>
                  <a:srgbClr val="1B3557"/>
                </a:solidFill>
                <a:latin typeface="Noto Sans SC"/>
                <a:ea typeface="Noto Sans SC"/>
              </a:rPr>
              <a:t>个，按成交额排前</a:t>
            </a:r>
            <a:r>
              <a:rPr lang="en-US" sz="1125" b="1">
                <a:solidFill>
                  <a:srgbClr val="1B3557"/>
                </a:solidFill>
                <a:latin typeface="Noto Sans SC"/>
                <a:ea typeface="Noto Sans SC"/>
              </a:rPr>
              <a:t>5</a:t>
            </a:r>
            <a:endParaRPr/>
          </a:p>
        </p:txBody>
      </p:sp>
      <p:sp>
        <p:nvSpPr>
          <p:cNvPr id="626" name=""/>
          <p:cNvSpPr/>
          <p:nvPr/>
        </p:nvSpPr>
        <p:spPr>
          <a:xfrm rot="0" flipH="0" flipV="0">
            <a:off x="609600" y="13906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27" name="" descr="{&quot;isTemplate&quot;:true,&quot;type&quot;:&quot;text&quot;}"/>
          <p:cNvSpPr txBox="1"/>
          <p:nvPr/>
        </p:nvSpPr>
        <p:spPr>
          <a:xfrm rot="0" flipH="0" flipV="0">
            <a:off x="609600" y="1638300"/>
            <a:ext cx="285750" cy="228600"/>
          </a:xfrm>
          <a:prstGeom prst="rect"/>
        </p:spPr>
        <p:txBody>
          <a:bodyPr wrap="none" lIns="0" tIns="0" rIns="0" bIns="0"/>
          <a:p>
            <a:pPr>
              <a:lnSpc>
                <a:spcPct val="100000"/>
              </a:lnSpc>
            </a:pPr>
            <a:r>
              <a:rPr lang="en-US" sz="1500" b="1">
                <a:solidFill>
                  <a:srgbClr val="A97B28"/>
                </a:solidFill>
                <a:latin typeface="Noto Sans SC"/>
                <a:ea typeface="Noto Sans SC"/>
              </a:rPr>
              <a:t>1</a:t>
            </a:r>
            <a:endParaRPr/>
          </a:p>
        </p:txBody>
      </p:sp>
      <p:sp>
        <p:nvSpPr>
          <p:cNvPr id="628" name="" descr="{&quot;isTemplate&quot;:true,&quot;type&quot;:&quot;text&quot;}"/>
          <p:cNvSpPr txBox="1"/>
          <p:nvPr/>
        </p:nvSpPr>
        <p:spPr>
          <a:xfrm rot="0" flipH="0" flipV="0">
            <a:off x="1028700" y="1562100"/>
            <a:ext cx="4000500" cy="209550"/>
          </a:xfrm>
          <a:prstGeom prst="rect"/>
        </p:spPr>
        <p:txBody>
          <a:bodyPr wrap="none" lIns="0" tIns="0" rIns="0" bIns="0"/>
          <a:p>
            <a:pPr>
              <a:lnSpc>
                <a:spcPct val="140000"/>
              </a:lnSpc>
            </a:pPr>
            <a:r>
              <a:rPr lang="zh-CN" sz="975">
                <a:solidFill>
                  <a:srgbClr val="15181D"/>
                </a:solidFill>
                <a:latin typeface="Noto Sans SC"/>
                <a:ea typeface="Noto Sans SC"/>
              </a:rPr>
              <a:t>盖文</a:t>
            </a:r>
            <a:r>
              <a:rPr lang="en-US" sz="975">
                <a:solidFill>
                  <a:srgbClr val="15181D"/>
                </a:solidFill>
                <a:latin typeface="Noto Sans SC"/>
                <a:ea typeface="Noto Sans SC"/>
              </a:rPr>
              <a:t>Gavin</a:t>
            </a:r>
            <a:r>
              <a:rPr lang="zh-CN" sz="975">
                <a:solidFill>
                  <a:srgbClr val="15181D"/>
                </a:solidFill>
                <a:latin typeface="Noto Sans SC"/>
                <a:ea typeface="Noto Sans SC"/>
              </a:rPr>
              <a:t>人造石深泡一体浴缸日式民宿方形独立式小户型浴盆家用</a:t>
            </a:r>
            <a:endParaRPr/>
          </a:p>
        </p:txBody>
      </p:sp>
      <p:sp>
        <p:nvSpPr>
          <p:cNvPr id="629" name="" descr="{&quot;isTemplate&quot;:true,&quot;type&quot;:&quot;text&quot;}"/>
          <p:cNvSpPr txBox="1"/>
          <p:nvPr/>
        </p:nvSpPr>
        <p:spPr>
          <a:xfrm rot="0" flipH="0" flipV="0">
            <a:off x="1028700" y="18002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940</a:t>
            </a:r>
            <a:r>
              <a:rPr lang="zh-CN" sz="863">
                <a:solidFill>
                  <a:srgbClr val="5F6975"/>
                </a:solidFill>
                <a:latin typeface="Noto Sans SC"/>
                <a:ea typeface="Noto Sans SC"/>
              </a:rPr>
              <a:t>　支付买家</a:t>
            </a:r>
            <a:r>
              <a:rPr lang="en-US" sz="863">
                <a:solidFill>
                  <a:srgbClr val="5F6975"/>
                </a:solidFill>
                <a:latin typeface="Noto Sans SC"/>
                <a:ea typeface="Noto Sans SC"/>
              </a:rPr>
              <a:t>5</a:t>
            </a:r>
            <a:endParaRPr/>
          </a:p>
        </p:txBody>
      </p:sp>
      <p:sp>
        <p:nvSpPr>
          <p:cNvPr id="630" name="" descr="{&quot;isTemplate&quot;:true,&quot;type&quot;:&quot;text&quot;}"/>
          <p:cNvSpPr txBox="1"/>
          <p:nvPr/>
        </p:nvSpPr>
        <p:spPr>
          <a:xfrm rot="0" flipH="0" flipV="0">
            <a:off x="5162550" y="16383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2.4</a:t>
            </a:r>
            <a:r>
              <a:rPr lang="zh-CN" sz="1500" b="1">
                <a:solidFill>
                  <a:srgbClr val="1B3557"/>
                </a:solidFill>
                <a:latin typeface="Noto Sans SC"/>
                <a:ea typeface="Noto Sans SC"/>
              </a:rPr>
              <a:t>万元</a:t>
            </a:r>
            <a:endParaRPr/>
          </a:p>
        </p:txBody>
      </p:sp>
      <p:sp>
        <p:nvSpPr>
          <p:cNvPr id="631" name=""/>
          <p:cNvSpPr/>
          <p:nvPr/>
        </p:nvSpPr>
        <p:spPr>
          <a:xfrm rot="0" flipH="0" flipV="0">
            <a:off x="609600" y="21145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32" name="" descr="{&quot;isTemplate&quot;:true,&quot;type&quot;:&quot;text&quot;}"/>
          <p:cNvSpPr txBox="1"/>
          <p:nvPr/>
        </p:nvSpPr>
        <p:spPr>
          <a:xfrm rot="0" flipH="0" flipV="0">
            <a:off x="609600" y="2362200"/>
            <a:ext cx="285750" cy="228600"/>
          </a:xfrm>
          <a:prstGeom prst="rect"/>
        </p:spPr>
        <p:txBody>
          <a:bodyPr wrap="none" lIns="0" tIns="0" rIns="0" bIns="0"/>
          <a:p>
            <a:pPr>
              <a:lnSpc>
                <a:spcPct val="100000"/>
              </a:lnSpc>
            </a:pPr>
            <a:r>
              <a:rPr lang="en-US" sz="1500" b="1">
                <a:solidFill>
                  <a:srgbClr val="A97B28"/>
                </a:solidFill>
                <a:latin typeface="Noto Sans SC"/>
                <a:ea typeface="Noto Sans SC"/>
              </a:rPr>
              <a:t>2</a:t>
            </a:r>
            <a:endParaRPr/>
          </a:p>
        </p:txBody>
      </p:sp>
      <p:sp>
        <p:nvSpPr>
          <p:cNvPr id="633" name="" descr="{&quot;isTemplate&quot;:true,&quot;type&quot;:&quot;text&quot;}"/>
          <p:cNvSpPr txBox="1"/>
          <p:nvPr/>
        </p:nvSpPr>
        <p:spPr>
          <a:xfrm rot="0" flipH="0" flipV="0">
            <a:off x="1028700" y="2286000"/>
            <a:ext cx="4000500" cy="209550"/>
          </a:xfrm>
          <a:prstGeom prst="rect"/>
        </p:spPr>
        <p:txBody>
          <a:bodyPr wrap="none" lIns="0" tIns="0" rIns="0" bIns="0"/>
          <a:p>
            <a:pPr>
              <a:lnSpc>
                <a:spcPct val="140000"/>
              </a:lnSpc>
            </a:pPr>
            <a:r>
              <a:rPr lang="zh-CN" sz="975">
                <a:solidFill>
                  <a:srgbClr val="15181D"/>
                </a:solidFill>
                <a:latin typeface="Noto Sans SC"/>
                <a:ea typeface="Noto Sans SC"/>
              </a:rPr>
              <a:t>盖文</a:t>
            </a:r>
            <a:r>
              <a:rPr lang="en-US" sz="975">
                <a:solidFill>
                  <a:srgbClr val="15181D"/>
                </a:solidFill>
                <a:latin typeface="Noto Sans SC"/>
                <a:ea typeface="Noto Sans SC"/>
              </a:rPr>
              <a:t>Gavin</a:t>
            </a:r>
            <a:r>
              <a:rPr lang="zh-CN" sz="975">
                <a:solidFill>
                  <a:srgbClr val="15181D"/>
                </a:solidFill>
                <a:latin typeface="Noto Sans SC"/>
                <a:ea typeface="Noto Sans SC"/>
              </a:rPr>
              <a:t>独立式人造石浴缸鹅蛋型家用卫生间浴盆双人酒店民宿</a:t>
            </a:r>
            <a:endParaRPr/>
          </a:p>
        </p:txBody>
      </p:sp>
      <p:sp>
        <p:nvSpPr>
          <p:cNvPr id="634" name="" descr="{&quot;isTemplate&quot;:true,&quot;type&quot;:&quot;text&quot;}"/>
          <p:cNvSpPr txBox="1"/>
          <p:nvPr/>
        </p:nvSpPr>
        <p:spPr>
          <a:xfrm rot="0" flipH="0" flipV="0">
            <a:off x="1028700" y="25241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763</a:t>
            </a:r>
            <a:r>
              <a:rPr lang="zh-CN" sz="863">
                <a:solidFill>
                  <a:srgbClr val="5F6975"/>
                </a:solidFill>
                <a:latin typeface="Noto Sans SC"/>
                <a:ea typeface="Noto Sans SC"/>
              </a:rPr>
              <a:t>　支付买家</a:t>
            </a:r>
            <a:r>
              <a:rPr lang="en-US" sz="863">
                <a:solidFill>
                  <a:srgbClr val="5F6975"/>
                </a:solidFill>
                <a:latin typeface="Noto Sans SC"/>
                <a:ea typeface="Noto Sans SC"/>
              </a:rPr>
              <a:t>4</a:t>
            </a:r>
            <a:endParaRPr/>
          </a:p>
        </p:txBody>
      </p:sp>
      <p:sp>
        <p:nvSpPr>
          <p:cNvPr id="635" name="" descr="{&quot;isTemplate&quot;:true,&quot;type&quot;:&quot;text&quot;}"/>
          <p:cNvSpPr txBox="1"/>
          <p:nvPr/>
        </p:nvSpPr>
        <p:spPr>
          <a:xfrm rot="0" flipH="0" flipV="0">
            <a:off x="5162550" y="23622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2.1</a:t>
            </a:r>
            <a:r>
              <a:rPr lang="zh-CN" sz="1500" b="1">
                <a:solidFill>
                  <a:srgbClr val="1B3557"/>
                </a:solidFill>
                <a:latin typeface="Noto Sans SC"/>
                <a:ea typeface="Noto Sans SC"/>
              </a:rPr>
              <a:t>万元</a:t>
            </a:r>
            <a:endParaRPr/>
          </a:p>
        </p:txBody>
      </p:sp>
      <p:sp>
        <p:nvSpPr>
          <p:cNvPr id="636" name=""/>
          <p:cNvSpPr/>
          <p:nvPr/>
        </p:nvSpPr>
        <p:spPr>
          <a:xfrm rot="0" flipH="0" flipV="0">
            <a:off x="609600" y="28384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37" name="" descr="{&quot;isTemplate&quot;:true,&quot;type&quot;:&quot;text&quot;}"/>
          <p:cNvSpPr txBox="1"/>
          <p:nvPr/>
        </p:nvSpPr>
        <p:spPr>
          <a:xfrm rot="0" flipH="0" flipV="0">
            <a:off x="609600" y="3086100"/>
            <a:ext cx="285750" cy="228600"/>
          </a:xfrm>
          <a:prstGeom prst="rect"/>
        </p:spPr>
        <p:txBody>
          <a:bodyPr wrap="none" lIns="0" tIns="0" rIns="0" bIns="0"/>
          <a:p>
            <a:pPr>
              <a:lnSpc>
                <a:spcPct val="100000"/>
              </a:lnSpc>
            </a:pPr>
            <a:r>
              <a:rPr lang="en-US" sz="1500" b="1">
                <a:solidFill>
                  <a:srgbClr val="A97B28"/>
                </a:solidFill>
                <a:latin typeface="Noto Sans SC"/>
                <a:ea typeface="Noto Sans SC"/>
              </a:rPr>
              <a:t>3</a:t>
            </a:r>
            <a:endParaRPr/>
          </a:p>
        </p:txBody>
      </p:sp>
      <p:sp>
        <p:nvSpPr>
          <p:cNvPr id="638" name="" descr="{&quot;isTemplate&quot;:true,&quot;type&quot;:&quot;text&quot;}"/>
          <p:cNvSpPr txBox="1"/>
          <p:nvPr/>
        </p:nvSpPr>
        <p:spPr>
          <a:xfrm rot="0" flipH="0" flipV="0">
            <a:off x="1028700" y="3009900"/>
            <a:ext cx="4000500" cy="209550"/>
          </a:xfrm>
          <a:prstGeom prst="rect"/>
        </p:spPr>
        <p:txBody>
          <a:bodyPr wrap="none" lIns="0" tIns="0" rIns="0" bIns="0"/>
          <a:p>
            <a:pPr>
              <a:lnSpc>
                <a:spcPct val="140000"/>
              </a:lnSpc>
            </a:pPr>
            <a:r>
              <a:rPr lang="zh-CN" sz="975">
                <a:solidFill>
                  <a:srgbClr val="15181D"/>
                </a:solidFill>
                <a:latin typeface="Noto Sans SC"/>
                <a:ea typeface="Noto Sans SC"/>
              </a:rPr>
              <a:t>盖文</a:t>
            </a:r>
            <a:r>
              <a:rPr lang="en-US" sz="975">
                <a:solidFill>
                  <a:srgbClr val="15181D"/>
                </a:solidFill>
                <a:latin typeface="Noto Sans SC"/>
                <a:ea typeface="Noto Sans SC"/>
              </a:rPr>
              <a:t>Gavin</a:t>
            </a:r>
            <a:r>
              <a:rPr lang="zh-CN" sz="975">
                <a:solidFill>
                  <a:srgbClr val="15181D"/>
                </a:solidFill>
                <a:latin typeface="Noto Sans SC"/>
                <a:ea typeface="Noto Sans SC"/>
              </a:rPr>
              <a:t>小户型家用坐式浴缸人造石一体式深泡浴盆日式民宿酒店</a:t>
            </a:r>
            <a:endParaRPr/>
          </a:p>
        </p:txBody>
      </p:sp>
      <p:sp>
        <p:nvSpPr>
          <p:cNvPr id="639" name="" descr="{&quot;isTemplate&quot;:true,&quot;type&quot;:&quot;text&quot;}"/>
          <p:cNvSpPr txBox="1"/>
          <p:nvPr/>
        </p:nvSpPr>
        <p:spPr>
          <a:xfrm rot="0" flipH="0" flipV="0">
            <a:off x="1028700" y="32480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2,078</a:t>
            </a:r>
            <a:r>
              <a:rPr lang="zh-CN" sz="863">
                <a:solidFill>
                  <a:srgbClr val="5F6975"/>
                </a:solidFill>
                <a:latin typeface="Noto Sans SC"/>
                <a:ea typeface="Noto Sans SC"/>
              </a:rPr>
              <a:t>　支付买家</a:t>
            </a:r>
            <a:r>
              <a:rPr lang="en-US" sz="863">
                <a:solidFill>
                  <a:srgbClr val="5F6975"/>
                </a:solidFill>
                <a:latin typeface="Noto Sans SC"/>
                <a:ea typeface="Noto Sans SC"/>
              </a:rPr>
              <a:t>5</a:t>
            </a:r>
            <a:endParaRPr/>
          </a:p>
        </p:txBody>
      </p:sp>
      <p:sp>
        <p:nvSpPr>
          <p:cNvPr id="640" name="" descr="{&quot;isTemplate&quot;:true,&quot;type&quot;:&quot;text&quot;}"/>
          <p:cNvSpPr txBox="1"/>
          <p:nvPr/>
        </p:nvSpPr>
        <p:spPr>
          <a:xfrm rot="0" flipH="0" flipV="0">
            <a:off x="5162550" y="30861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1.9</a:t>
            </a:r>
            <a:r>
              <a:rPr lang="zh-CN" sz="1500" b="1">
                <a:solidFill>
                  <a:srgbClr val="1B3557"/>
                </a:solidFill>
                <a:latin typeface="Noto Sans SC"/>
                <a:ea typeface="Noto Sans SC"/>
              </a:rPr>
              <a:t>万元</a:t>
            </a:r>
            <a:endParaRPr/>
          </a:p>
        </p:txBody>
      </p:sp>
      <p:sp>
        <p:nvSpPr>
          <p:cNvPr id="641" name=""/>
          <p:cNvSpPr/>
          <p:nvPr/>
        </p:nvSpPr>
        <p:spPr>
          <a:xfrm rot="0" flipH="0" flipV="0">
            <a:off x="609600" y="35623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42" name="" descr="{&quot;isTemplate&quot;:true,&quot;type&quot;:&quot;text&quot;}"/>
          <p:cNvSpPr txBox="1"/>
          <p:nvPr/>
        </p:nvSpPr>
        <p:spPr>
          <a:xfrm rot="0" flipH="0" flipV="0">
            <a:off x="609600" y="3810000"/>
            <a:ext cx="285750" cy="228600"/>
          </a:xfrm>
          <a:prstGeom prst="rect"/>
        </p:spPr>
        <p:txBody>
          <a:bodyPr wrap="none" lIns="0" tIns="0" rIns="0" bIns="0"/>
          <a:p>
            <a:pPr>
              <a:lnSpc>
                <a:spcPct val="100000"/>
              </a:lnSpc>
            </a:pPr>
            <a:r>
              <a:rPr lang="en-US" sz="1500" b="1">
                <a:solidFill>
                  <a:srgbClr val="A97B28"/>
                </a:solidFill>
                <a:latin typeface="Noto Sans SC"/>
                <a:ea typeface="Noto Sans SC"/>
              </a:rPr>
              <a:t>4</a:t>
            </a:r>
            <a:endParaRPr/>
          </a:p>
        </p:txBody>
      </p:sp>
      <p:sp>
        <p:nvSpPr>
          <p:cNvPr id="643" name="" descr="{&quot;isTemplate&quot;:true,&quot;type&quot;:&quot;text&quot;}"/>
          <p:cNvSpPr txBox="1"/>
          <p:nvPr/>
        </p:nvSpPr>
        <p:spPr>
          <a:xfrm rot="0" flipH="0" flipV="0">
            <a:off x="1028700" y="3733800"/>
            <a:ext cx="4000500" cy="209550"/>
          </a:xfrm>
          <a:prstGeom prst="rect"/>
        </p:spPr>
        <p:txBody>
          <a:bodyPr wrap="none" lIns="0" tIns="0" rIns="0" bIns="0"/>
          <a:p>
            <a:pPr>
              <a:lnSpc>
                <a:spcPct val="140000"/>
              </a:lnSpc>
            </a:pPr>
            <a:r>
              <a:rPr lang="zh-CN" sz="975">
                <a:solidFill>
                  <a:srgbClr val="15181D"/>
                </a:solidFill>
                <a:latin typeface="Noto Sans SC"/>
                <a:ea typeface="Noto Sans SC"/>
              </a:rPr>
              <a:t>盖文纯亚克力一体盆台上盆琦美石家用洗手盆洗面盆洗脸盆台盆定制</a:t>
            </a:r>
            <a:endParaRPr/>
          </a:p>
        </p:txBody>
      </p:sp>
      <p:sp>
        <p:nvSpPr>
          <p:cNvPr id="644" name="" descr="{&quot;isTemplate&quot;:true,&quot;type&quot;:&quot;text&quot;}"/>
          <p:cNvSpPr txBox="1"/>
          <p:nvPr/>
        </p:nvSpPr>
        <p:spPr>
          <a:xfrm rot="0" flipH="0" flipV="0">
            <a:off x="1028700" y="39719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21</a:t>
            </a:r>
            <a:r>
              <a:rPr lang="zh-CN" sz="863">
                <a:solidFill>
                  <a:srgbClr val="5F6975"/>
                </a:solidFill>
                <a:latin typeface="Noto Sans SC"/>
                <a:ea typeface="Noto Sans SC"/>
              </a:rPr>
              <a:t>　支付买家</a:t>
            </a:r>
            <a:r>
              <a:rPr lang="en-US" sz="863">
                <a:solidFill>
                  <a:srgbClr val="5F6975"/>
                </a:solidFill>
                <a:latin typeface="Noto Sans SC"/>
                <a:ea typeface="Noto Sans SC"/>
              </a:rPr>
              <a:t>2</a:t>
            </a:r>
            <a:endParaRPr/>
          </a:p>
        </p:txBody>
      </p:sp>
      <p:sp>
        <p:nvSpPr>
          <p:cNvPr id="645" name="" descr="{&quot;isTemplate&quot;:true,&quot;type&quot;:&quot;text&quot;}"/>
          <p:cNvSpPr txBox="1"/>
          <p:nvPr/>
        </p:nvSpPr>
        <p:spPr>
          <a:xfrm rot="0" flipH="0" flipV="0">
            <a:off x="5162550" y="38100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1.5</a:t>
            </a:r>
            <a:r>
              <a:rPr lang="zh-CN" sz="1500" b="1">
                <a:solidFill>
                  <a:srgbClr val="1B3557"/>
                </a:solidFill>
                <a:latin typeface="Noto Sans SC"/>
                <a:ea typeface="Noto Sans SC"/>
              </a:rPr>
              <a:t>万元</a:t>
            </a:r>
            <a:endParaRPr/>
          </a:p>
        </p:txBody>
      </p:sp>
      <p:sp>
        <p:nvSpPr>
          <p:cNvPr id="646" name=""/>
          <p:cNvSpPr/>
          <p:nvPr/>
        </p:nvSpPr>
        <p:spPr>
          <a:xfrm rot="0" flipH="0" flipV="0">
            <a:off x="609600" y="4286250"/>
            <a:ext cx="6286500" cy="723900"/>
          </a:xfrm>
          <a:custGeom>
            <a:pathLst>
              <a:path w="660" h="76">
                <a:moveTo>
                  <a:pt x="0" y="75"/>
                </a:moveTo>
                <a:lnTo>
                  <a:pt x="660" y="75"/>
                </a:lnTo>
                <a:lnTo>
                  <a:pt x="660" y="76"/>
                </a:lnTo>
                <a:lnTo>
                  <a:pt x="0" y="76"/>
                </a:lnTo>
                <a:close/>
              </a:path>
            </a:pathLst>
          </a:custGeom>
          <a:solidFill>
            <a:srgbClr val="DDE2E8"/>
          </a:solidFill>
          <a:ln/>
        </p:spPr>
        <p:txBody>
          <a:bodyPr/>
          <a:p/>
        </p:txBody>
      </p:sp>
      <p:sp>
        <p:nvSpPr>
          <p:cNvPr id="647" name="" descr="{&quot;isTemplate&quot;:true,&quot;type&quot;:&quot;text&quot;}"/>
          <p:cNvSpPr txBox="1"/>
          <p:nvPr/>
        </p:nvSpPr>
        <p:spPr>
          <a:xfrm rot="0" flipH="0" flipV="0">
            <a:off x="609600" y="4533900"/>
            <a:ext cx="285750" cy="228600"/>
          </a:xfrm>
          <a:prstGeom prst="rect"/>
        </p:spPr>
        <p:txBody>
          <a:bodyPr wrap="none" lIns="0" tIns="0" rIns="0" bIns="0"/>
          <a:p>
            <a:pPr>
              <a:lnSpc>
                <a:spcPct val="100000"/>
              </a:lnSpc>
            </a:pPr>
            <a:r>
              <a:rPr lang="en-US" sz="1500" b="1">
                <a:solidFill>
                  <a:srgbClr val="A97B28"/>
                </a:solidFill>
                <a:latin typeface="Noto Sans SC"/>
                <a:ea typeface="Noto Sans SC"/>
              </a:rPr>
              <a:t>5</a:t>
            </a:r>
            <a:endParaRPr/>
          </a:p>
        </p:txBody>
      </p:sp>
      <p:sp>
        <p:nvSpPr>
          <p:cNvPr id="648" name="" descr="{&quot;isTemplate&quot;:true,&quot;type&quot;:&quot;text&quot;}"/>
          <p:cNvSpPr txBox="1"/>
          <p:nvPr/>
        </p:nvSpPr>
        <p:spPr>
          <a:xfrm rot="0" flipH="0" flipV="0">
            <a:off x="1028700" y="4457700"/>
            <a:ext cx="4000500" cy="209550"/>
          </a:xfrm>
          <a:prstGeom prst="rect"/>
        </p:spPr>
        <p:txBody>
          <a:bodyPr wrap="none" lIns="0" tIns="0" rIns="0" bIns="0"/>
          <a:p>
            <a:pPr>
              <a:lnSpc>
                <a:spcPct val="140000"/>
              </a:lnSpc>
            </a:pPr>
            <a:r>
              <a:rPr lang="zh-CN" sz="975">
                <a:solidFill>
                  <a:srgbClr val="15181D"/>
                </a:solidFill>
                <a:latin typeface="Noto Sans SC"/>
                <a:ea typeface="Noto Sans SC"/>
              </a:rPr>
              <a:t>科塔大小户型一体人造石窄边大肚带储物收纳洗手洗脸洗漱台盆定制</a:t>
            </a:r>
            <a:endParaRPr/>
          </a:p>
        </p:txBody>
      </p:sp>
      <p:sp>
        <p:nvSpPr>
          <p:cNvPr id="649" name="" descr="{&quot;isTemplate&quot;:true,&quot;type&quot;:&quot;text&quot;}"/>
          <p:cNvSpPr txBox="1"/>
          <p:nvPr/>
        </p:nvSpPr>
        <p:spPr>
          <a:xfrm rot="0" flipH="0" flipV="0">
            <a:off x="1028700" y="4695825"/>
            <a:ext cx="4000500" cy="133350"/>
          </a:xfrm>
          <a:prstGeom prst="rect"/>
        </p:spPr>
        <p:txBody>
          <a:bodyPr wrap="none" lIns="0" tIns="0" rIns="0" bIns="0"/>
          <a:p>
            <a:pPr>
              <a:lnSpc>
                <a:spcPct val="100000"/>
              </a:lnSpc>
            </a:pPr>
            <a:r>
              <a:rPr lang="zh-CN" sz="863">
                <a:solidFill>
                  <a:srgbClr val="5F6975"/>
                </a:solidFill>
                <a:latin typeface="Noto Sans SC"/>
                <a:ea typeface="Noto Sans SC"/>
              </a:rPr>
              <a:t>访客</a:t>
            </a:r>
            <a:r>
              <a:rPr lang="en-US" sz="863">
                <a:solidFill>
                  <a:srgbClr val="5F6975"/>
                </a:solidFill>
                <a:latin typeface="Noto Sans SC"/>
                <a:ea typeface="Noto Sans SC"/>
              </a:rPr>
              <a:t>1,019</a:t>
            </a:r>
            <a:r>
              <a:rPr lang="zh-CN" sz="863">
                <a:solidFill>
                  <a:srgbClr val="5F6975"/>
                </a:solidFill>
                <a:latin typeface="Noto Sans SC"/>
                <a:ea typeface="Noto Sans SC"/>
              </a:rPr>
              <a:t>　支付买家</a:t>
            </a:r>
            <a:r>
              <a:rPr lang="en-US" sz="863">
                <a:solidFill>
                  <a:srgbClr val="5F6975"/>
                </a:solidFill>
                <a:latin typeface="Noto Sans SC"/>
                <a:ea typeface="Noto Sans SC"/>
              </a:rPr>
              <a:t>5</a:t>
            </a:r>
            <a:endParaRPr/>
          </a:p>
        </p:txBody>
      </p:sp>
      <p:sp>
        <p:nvSpPr>
          <p:cNvPr id="650" name="" descr="{&quot;isTemplate&quot;:true,&quot;type&quot;:&quot;text&quot;}"/>
          <p:cNvSpPr txBox="1"/>
          <p:nvPr/>
        </p:nvSpPr>
        <p:spPr>
          <a:xfrm rot="0" flipH="0" flipV="0">
            <a:off x="5162550" y="4533900"/>
            <a:ext cx="1238250" cy="228600"/>
          </a:xfrm>
          <a:prstGeom prst="rect"/>
        </p:spPr>
        <p:txBody>
          <a:bodyPr wrap="none" lIns="0" tIns="0" rIns="0" bIns="0"/>
          <a:p>
            <a:pPr algn="r">
              <a:lnSpc>
                <a:spcPct val="100000"/>
              </a:lnSpc>
            </a:pPr>
            <a:r>
              <a:rPr lang="en-US" sz="1500" b="1">
                <a:solidFill>
                  <a:srgbClr val="1B3557"/>
                </a:solidFill>
                <a:latin typeface="Noto Sans SC"/>
                <a:ea typeface="Noto Sans SC"/>
              </a:rPr>
              <a:t>1.3</a:t>
            </a:r>
            <a:r>
              <a:rPr lang="zh-CN" sz="1500" b="1">
                <a:solidFill>
                  <a:srgbClr val="1B3557"/>
                </a:solidFill>
                <a:latin typeface="Noto Sans SC"/>
                <a:ea typeface="Noto Sans SC"/>
              </a:rPr>
              <a:t>万元</a:t>
            </a:r>
            <a:endParaRPr/>
          </a:p>
        </p:txBody>
      </p:sp>
      <p:sp>
        <p:nvSpPr>
          <p:cNvPr id="651" name="" descr="{&quot;isTemplate&quot;:true,&quot;type&quot;:&quot;text&quot;}"/>
          <p:cNvSpPr txBox="1"/>
          <p:nvPr/>
        </p:nvSpPr>
        <p:spPr>
          <a:xfrm rot="0" flipH="0" flipV="0">
            <a:off x="609600" y="5105400"/>
            <a:ext cx="6286500" cy="142875"/>
          </a:xfrm>
          <a:prstGeom prst="rect"/>
        </p:spPr>
        <p:txBody>
          <a:bodyPr wrap="none" lIns="0" tIns="0" rIns="0" bIns="0"/>
          <a:p>
            <a:pPr>
              <a:lnSpc>
                <a:spcPct val="100000"/>
              </a:lnSpc>
            </a:pPr>
            <a:r>
              <a:rPr lang="zh-CN" sz="900">
                <a:solidFill>
                  <a:srgbClr val="5F6975"/>
                </a:solidFill>
                <a:latin typeface="Noto Sans SC"/>
                <a:ea typeface="Noto Sans SC"/>
              </a:rPr>
              <a:t>前</a:t>
            </a:r>
            <a:r>
              <a:rPr lang="en-US" sz="900">
                <a:solidFill>
                  <a:srgbClr val="5F6975"/>
                </a:solidFill>
                <a:latin typeface="Noto Sans SC"/>
                <a:ea typeface="Noto Sans SC"/>
              </a:rPr>
              <a:t>5</a:t>
            </a:r>
            <a:r>
              <a:rPr lang="en-US" sz="900">
                <a:solidFill>
                  <a:srgbClr val="5F6975"/>
                </a:solidFill>
                <a:latin typeface="Noto Sans SC"/>
                <a:ea typeface="Noto Sans SC"/>
              </a:rPr>
              <a:t xml:space="preserve"> </a:t>
            </a:r>
            <a:r>
              <a:rPr lang="zh-CN" sz="900">
                <a:solidFill>
                  <a:srgbClr val="5F6975"/>
                </a:solidFill>
                <a:latin typeface="Noto Sans SC"/>
                <a:ea typeface="Noto Sans SC"/>
              </a:rPr>
              <a:t>个合计占商品层成交</a:t>
            </a:r>
            <a:r>
              <a:rPr lang="en-US" sz="900">
                <a:solidFill>
                  <a:srgbClr val="5F6975"/>
                </a:solidFill>
                <a:latin typeface="Noto Sans SC"/>
                <a:ea typeface="Noto Sans SC"/>
              </a:rPr>
              <a:t>32.6%</a:t>
            </a:r>
            <a:endParaRPr/>
          </a:p>
        </p:txBody>
      </p:sp>
      <p:sp>
        <p:nvSpPr>
          <p:cNvPr id="652" name=""/>
          <p:cNvSpPr/>
          <p:nvPr/>
        </p:nvSpPr>
        <p:spPr>
          <a:xfrm rot="0" flipH="0" flipV="0">
            <a:off x="7277100" y="1104900"/>
            <a:ext cx="4286250" cy="942975"/>
          </a:xfrm>
          <a:prstGeom prst="rect">
            <a:avLst/>
          </a:prstGeom>
          <a:solidFill>
            <a:srgbClr val="F4F6F8"/>
          </a:solidFill>
          <a:ln/>
        </p:spPr>
        <p:txBody>
          <a:bodyPr/>
          <a:p/>
        </p:txBody>
      </p:sp>
      <p:sp>
        <p:nvSpPr>
          <p:cNvPr id="653" name="" descr="{&quot;isTemplate&quot;:true,&quot;type&quot;:&quot;text&quot;}"/>
          <p:cNvSpPr txBox="1"/>
          <p:nvPr/>
        </p:nvSpPr>
        <p:spPr>
          <a:xfrm rot="0" flipH="0" flipV="0">
            <a:off x="7486650" y="1314450"/>
            <a:ext cx="3867150" cy="152400"/>
          </a:xfrm>
          <a:prstGeom prst="rect"/>
        </p:spPr>
        <p:txBody>
          <a:bodyPr wrap="none" lIns="0" tIns="0" rIns="0" bIns="0"/>
          <a:p>
            <a:pPr>
              <a:lnSpc>
                <a:spcPct val="100000"/>
              </a:lnSpc>
            </a:pPr>
            <a:r>
              <a:rPr lang="zh-CN" sz="975">
                <a:solidFill>
                  <a:srgbClr val="5F6975"/>
                </a:solidFill>
                <a:latin typeface="Noto Sans SC"/>
                <a:ea typeface="Noto Sans SC"/>
              </a:rPr>
              <a:t>补充档</a:t>
            </a:r>
            <a:r>
              <a:rPr lang="en-US" sz="975">
                <a:solidFill>
                  <a:srgbClr val="5F6975"/>
                </a:solidFill>
                <a:latin typeface="Noto Sans SC"/>
                <a:ea typeface="Noto Sans SC"/>
              </a:rPr>
              <a:t>18</a:t>
            </a:r>
            <a:r>
              <a:rPr lang="en-US" sz="975">
                <a:solidFill>
                  <a:srgbClr val="5F6975"/>
                </a:solidFill>
                <a:latin typeface="Noto Sans SC"/>
                <a:ea typeface="Noto Sans SC"/>
              </a:rPr>
              <a:t xml:space="preserve"> </a:t>
            </a:r>
            <a:r>
              <a:rPr lang="zh-CN" sz="975">
                <a:solidFill>
                  <a:srgbClr val="5F6975"/>
                </a:solidFill>
                <a:latin typeface="Noto Sans SC"/>
                <a:ea typeface="Noto Sans SC"/>
              </a:rPr>
              <a:t>个</a:t>
            </a:r>
            <a:endParaRPr/>
          </a:p>
        </p:txBody>
      </p:sp>
      <p:sp>
        <p:nvSpPr>
          <p:cNvPr id="654" name="" descr="{&quot;isTemplate&quot;:true,&quot;type&quot;:&quot;text&quot;}"/>
          <p:cNvSpPr txBox="1"/>
          <p:nvPr/>
        </p:nvSpPr>
        <p:spPr>
          <a:xfrm rot="0" flipH="0" flipV="0">
            <a:off x="7486650" y="1524000"/>
            <a:ext cx="3867150" cy="314325"/>
          </a:xfrm>
          <a:prstGeom prst="rect"/>
        </p:spPr>
        <p:txBody>
          <a:bodyPr wrap="none" lIns="0" tIns="0" rIns="0" bIns="0"/>
          <a:p>
            <a:pPr>
              <a:lnSpc>
                <a:spcPct val="160000"/>
              </a:lnSpc>
            </a:pPr>
            <a:r>
              <a:rPr lang="zh-CN" sz="1275">
                <a:solidFill>
                  <a:srgbClr val="15181D"/>
                </a:solidFill>
                <a:latin typeface="Noto Sans SC"/>
                <a:ea typeface="Noto Sans SC"/>
              </a:rPr>
              <a:t>分走</a:t>
            </a:r>
            <a:r>
              <a:rPr lang="en-US" sz="1275">
                <a:solidFill>
                  <a:srgbClr val="15181D"/>
                </a:solidFill>
                <a:latin typeface="Noto Sans SC"/>
                <a:ea typeface="Noto Sans SC"/>
              </a:rPr>
              <a:t>30.4%</a:t>
            </a:r>
            <a:r>
              <a:rPr lang="en-US" sz="1275">
                <a:solidFill>
                  <a:srgbClr val="15181D"/>
                </a:solidFill>
                <a:latin typeface="Noto Sans SC"/>
                <a:ea typeface="Noto Sans SC"/>
              </a:rPr>
              <a:t xml:space="preserve"> </a:t>
            </a:r>
            <a:r>
              <a:rPr lang="zh-CN" sz="1275">
                <a:solidFill>
                  <a:srgbClr val="15181D"/>
                </a:solidFill>
                <a:latin typeface="Noto Sans SC"/>
                <a:ea typeface="Noto Sans SC"/>
              </a:rPr>
              <a:t>的客人，做</a:t>
            </a:r>
            <a:r>
              <a:rPr lang="en-US" sz="1275">
                <a:solidFill>
                  <a:srgbClr val="15181D"/>
                </a:solidFill>
                <a:latin typeface="Noto Sans SC"/>
                <a:ea typeface="Noto Sans SC"/>
              </a:rPr>
              <a:t>14.7%</a:t>
            </a:r>
            <a:r>
              <a:rPr lang="en-US" sz="1275">
                <a:solidFill>
                  <a:srgbClr val="15181D"/>
                </a:solidFill>
                <a:latin typeface="Noto Sans SC"/>
                <a:ea typeface="Noto Sans SC"/>
              </a:rPr>
              <a:t xml:space="preserve"> </a:t>
            </a:r>
            <a:r>
              <a:rPr lang="zh-CN" sz="1275">
                <a:solidFill>
                  <a:srgbClr val="15181D"/>
                </a:solidFill>
                <a:latin typeface="Noto Sans SC"/>
                <a:ea typeface="Noto Sans SC"/>
              </a:rPr>
              <a:t>的销售额</a:t>
            </a:r>
            <a:endParaRPr/>
          </a:p>
        </p:txBody>
      </p:sp>
      <p:sp>
        <p:nvSpPr>
          <p:cNvPr id="655" name=""/>
          <p:cNvSpPr/>
          <p:nvPr/>
        </p:nvSpPr>
        <p:spPr>
          <a:xfrm rot="0" flipH="0" flipV="0">
            <a:off x="7277100" y="2200275"/>
            <a:ext cx="4286250" cy="1209675"/>
          </a:xfrm>
          <a:prstGeom prst="rect">
            <a:avLst/>
          </a:prstGeom>
          <a:solidFill>
            <a:srgbClr val="FBF2EF"/>
          </a:solidFill>
          <a:ln/>
        </p:spPr>
        <p:txBody>
          <a:bodyPr/>
          <a:p/>
        </p:txBody>
      </p:sp>
      <p:sp>
        <p:nvSpPr>
          <p:cNvPr id="656" name="" descr="{&quot;isTemplate&quot;:true,&quot;type&quot;:&quot;text&quot;}"/>
          <p:cNvSpPr txBox="1"/>
          <p:nvPr/>
        </p:nvSpPr>
        <p:spPr>
          <a:xfrm rot="0" flipH="0" flipV="0">
            <a:off x="7486650" y="2409825"/>
            <a:ext cx="3867150" cy="152400"/>
          </a:xfrm>
          <a:prstGeom prst="rect"/>
        </p:spPr>
        <p:txBody>
          <a:bodyPr wrap="none" lIns="0" tIns="0" rIns="0" bIns="0"/>
          <a:p>
            <a:pPr>
              <a:lnSpc>
                <a:spcPct val="100000"/>
              </a:lnSpc>
            </a:pPr>
            <a:r>
              <a:rPr lang="zh-CN" sz="975">
                <a:solidFill>
                  <a:srgbClr val="5F6975"/>
                </a:solidFill>
                <a:latin typeface="Noto Sans SC"/>
                <a:ea typeface="Noto Sans SC"/>
              </a:rPr>
              <a:t>长尾档</a:t>
            </a:r>
            <a:r>
              <a:rPr lang="en-US" sz="975">
                <a:solidFill>
                  <a:srgbClr val="5F6975"/>
                </a:solidFill>
                <a:latin typeface="Noto Sans SC"/>
                <a:ea typeface="Noto Sans SC"/>
              </a:rPr>
              <a:t>425</a:t>
            </a:r>
            <a:r>
              <a:rPr lang="en-US" sz="975">
                <a:solidFill>
                  <a:srgbClr val="5F6975"/>
                </a:solidFill>
                <a:latin typeface="Noto Sans SC"/>
                <a:ea typeface="Noto Sans SC"/>
              </a:rPr>
              <a:t xml:space="preserve"> </a:t>
            </a:r>
            <a:r>
              <a:rPr lang="zh-CN" sz="975">
                <a:solidFill>
                  <a:srgbClr val="5F6975"/>
                </a:solidFill>
                <a:latin typeface="Noto Sans SC"/>
                <a:ea typeface="Noto Sans SC"/>
              </a:rPr>
              <a:t>个</a:t>
            </a:r>
            <a:endParaRPr/>
          </a:p>
        </p:txBody>
      </p:sp>
      <p:sp>
        <p:nvSpPr>
          <p:cNvPr id="657" name="" descr="{&quot;isTemplate&quot;:true,&quot;type&quot;:&quot;text&quot;}"/>
          <p:cNvSpPr txBox="1"/>
          <p:nvPr/>
        </p:nvSpPr>
        <p:spPr>
          <a:xfrm rot="0" flipH="0" flipV="0">
            <a:off x="7486650" y="2619375"/>
            <a:ext cx="3867150" cy="314325"/>
          </a:xfrm>
          <a:prstGeom prst="rect"/>
        </p:spPr>
        <p:txBody>
          <a:bodyPr wrap="none" lIns="0" tIns="0" rIns="0" bIns="0"/>
          <a:p>
            <a:pPr>
              <a:lnSpc>
                <a:spcPct val="160000"/>
              </a:lnSpc>
            </a:pPr>
            <a:r>
              <a:rPr lang="zh-CN" sz="1275">
                <a:solidFill>
                  <a:srgbClr val="15181D"/>
                </a:solidFill>
                <a:latin typeface="Noto Sans SC"/>
                <a:ea typeface="Noto Sans SC"/>
              </a:rPr>
              <a:t>分走</a:t>
            </a:r>
            <a:r>
              <a:rPr lang="en-US" sz="1275">
                <a:solidFill>
                  <a:srgbClr val="15181D"/>
                </a:solidFill>
                <a:latin typeface="Noto Sans SC"/>
                <a:ea typeface="Noto Sans SC"/>
              </a:rPr>
              <a:t>53.5%</a:t>
            </a:r>
            <a:r>
              <a:rPr lang="en-US" sz="1275">
                <a:solidFill>
                  <a:srgbClr val="15181D"/>
                </a:solidFill>
                <a:latin typeface="Noto Sans SC"/>
                <a:ea typeface="Noto Sans SC"/>
              </a:rPr>
              <a:t xml:space="preserve"> </a:t>
            </a:r>
            <a:r>
              <a:rPr lang="zh-CN" sz="1275">
                <a:solidFill>
                  <a:srgbClr val="15181D"/>
                </a:solidFill>
                <a:latin typeface="Noto Sans SC"/>
                <a:ea typeface="Noto Sans SC"/>
              </a:rPr>
              <a:t>的客人，只做</a:t>
            </a:r>
            <a:r>
              <a:rPr lang="en-US" sz="1275">
                <a:solidFill>
                  <a:srgbClr val="15181D"/>
                </a:solidFill>
                <a:latin typeface="Noto Sans SC"/>
                <a:ea typeface="Noto Sans SC"/>
              </a:rPr>
              <a:t>4.7%</a:t>
            </a:r>
            <a:r>
              <a:rPr lang="en-US" sz="1275">
                <a:solidFill>
                  <a:srgbClr val="15181D"/>
                </a:solidFill>
                <a:latin typeface="Noto Sans SC"/>
                <a:ea typeface="Noto Sans SC"/>
              </a:rPr>
              <a:t xml:space="preserve"> </a:t>
            </a:r>
            <a:r>
              <a:rPr lang="zh-CN" sz="1275">
                <a:solidFill>
                  <a:srgbClr val="15181D"/>
                </a:solidFill>
                <a:latin typeface="Noto Sans SC"/>
                <a:ea typeface="Noto Sans SC"/>
              </a:rPr>
              <a:t>的销售额</a:t>
            </a:r>
            <a:endParaRPr/>
          </a:p>
        </p:txBody>
      </p:sp>
      <p:sp>
        <p:nvSpPr>
          <p:cNvPr id="658" name="" descr="{&quot;isTemplate&quot;:true,&quot;type&quot;:&quot;text&quot;}"/>
          <p:cNvSpPr txBox="1"/>
          <p:nvPr/>
        </p:nvSpPr>
        <p:spPr>
          <a:xfrm rot="0" flipH="0" flipV="0">
            <a:off x="7486650" y="3028950"/>
            <a:ext cx="3867150" cy="171450"/>
          </a:xfrm>
          <a:prstGeom prst="rect"/>
        </p:spPr>
        <p:txBody>
          <a:bodyPr wrap="none" lIns="0" tIns="0" rIns="0" bIns="0"/>
          <a:p>
            <a:pPr>
              <a:lnSpc>
                <a:spcPct val="100000"/>
              </a:lnSpc>
            </a:pPr>
            <a:r>
              <a:rPr lang="zh-CN" sz="1125" b="1">
                <a:solidFill>
                  <a:srgbClr val="AE4128"/>
                </a:solidFill>
                <a:latin typeface="Noto Sans SC"/>
                <a:ea typeface="Noto Sans SC"/>
              </a:rPr>
              <a:t>其中</a:t>
            </a:r>
            <a:r>
              <a:rPr lang="en-US" sz="1125" b="1">
                <a:solidFill>
                  <a:srgbClr val="AE4128"/>
                </a:solidFill>
                <a:latin typeface="Noto Sans SC"/>
                <a:ea typeface="Noto Sans SC"/>
              </a:rPr>
              <a:t>376</a:t>
            </a:r>
            <a:r>
              <a:rPr lang="en-US" sz="1125" b="1">
                <a:solidFill>
                  <a:srgbClr val="AE4128"/>
                </a:solidFill>
                <a:latin typeface="Noto Sans SC"/>
                <a:ea typeface="Noto Sans SC"/>
              </a:rPr>
              <a:t xml:space="preserve"> </a:t>
            </a:r>
            <a:r>
              <a:rPr lang="zh-CN" sz="1125" b="1">
                <a:solidFill>
                  <a:srgbClr val="AE4128"/>
                </a:solidFill>
                <a:latin typeface="Noto Sans SC"/>
                <a:ea typeface="Noto Sans SC"/>
              </a:rPr>
              <a:t>个</a:t>
            </a:r>
            <a:r>
              <a:rPr lang="en-US" sz="1125" b="1">
                <a:solidFill>
                  <a:srgbClr val="AE4128"/>
                </a:solidFill>
                <a:latin typeface="Noto Sans SC"/>
                <a:ea typeface="Noto Sans SC"/>
              </a:rPr>
              <a:t>18</a:t>
            </a:r>
            <a:r>
              <a:rPr lang="en-US" sz="1125" b="1">
                <a:solidFill>
                  <a:srgbClr val="AE4128"/>
                </a:solidFill>
                <a:latin typeface="Noto Sans SC"/>
                <a:ea typeface="Noto Sans SC"/>
              </a:rPr>
              <a:t xml:space="preserve"> </a:t>
            </a:r>
            <a:r>
              <a:rPr lang="zh-CN" sz="1125" b="1">
                <a:solidFill>
                  <a:srgbClr val="AE4128"/>
                </a:solidFill>
                <a:latin typeface="Noto Sans SC"/>
                <a:ea typeface="Noto Sans SC"/>
              </a:rPr>
              <a:t>天零成交</a:t>
            </a:r>
            <a:endParaRPr/>
          </a:p>
        </p:txBody>
      </p:sp>
      <p:sp>
        <p:nvSpPr>
          <p:cNvPr id="659" name=""/>
          <p:cNvSpPr/>
          <p:nvPr/>
        </p:nvSpPr>
        <p:spPr>
          <a:xfrm rot="0" flipH="0" flipV="0">
            <a:off x="7277100" y="5619750"/>
            <a:ext cx="4324350" cy="628650"/>
          </a:xfrm>
          <a:custGeom>
            <a:pathLst>
              <a:path w="454" h="66">
                <a:moveTo>
                  <a:pt x="0" y="0"/>
                </a:moveTo>
                <a:lnTo>
                  <a:pt x="4" y="0"/>
                </a:lnTo>
                <a:lnTo>
                  <a:pt x="4" y="66"/>
                </a:lnTo>
                <a:lnTo>
                  <a:pt x="0" y="66"/>
                </a:lnTo>
                <a:close/>
              </a:path>
            </a:pathLst>
          </a:custGeom>
          <a:solidFill>
            <a:srgbClr val="A97B28"/>
          </a:solidFill>
          <a:ln/>
        </p:spPr>
        <p:txBody>
          <a:bodyPr/>
          <a:p/>
        </p:txBody>
      </p:sp>
      <p:sp>
        <p:nvSpPr>
          <p:cNvPr id="660" name="" descr="{&quot;isTemplate&quot;:true,&quot;type&quot;:&quot;text&quot;}"/>
          <p:cNvSpPr txBox="1"/>
          <p:nvPr/>
        </p:nvSpPr>
        <p:spPr>
          <a:xfrm rot="0" flipH="0" flipV="0">
            <a:off x="7467600" y="5619750"/>
            <a:ext cx="4095750" cy="628650"/>
          </a:xfrm>
          <a:prstGeom prst="rect"/>
        </p:spPr>
        <p:txBody>
          <a:bodyPr wrap="none" lIns="0" tIns="0" rIns="0" bIns="0"/>
          <a:p>
            <a:pPr>
              <a:lnSpc>
                <a:spcPct val="160000"/>
              </a:lnSpc>
            </a:pPr>
            <a:r>
              <a:rPr lang="zh-CN" sz="1275" b="1">
                <a:solidFill>
                  <a:srgbClr val="1B3557"/>
                </a:solidFill>
                <a:latin typeface="Noto Sans SC"/>
                <a:ea typeface="Noto Sans SC"/>
              </a:rPr>
              <a:t>长尾不是没货，</a:t>
            </a:r>
            <a:endParaRPr/>
          </a:p>
          <a:p>
            <a:pPr>
              <a:lnSpc>
                <a:spcPct val="160000"/>
              </a:lnSpc>
            </a:pPr>
            <a:r>
              <a:rPr lang="zh-CN" sz="1275" b="1">
                <a:solidFill>
                  <a:srgbClr val="1B3557"/>
                </a:solidFill>
                <a:latin typeface="Noto Sans SC"/>
                <a:ea typeface="Noto Sans SC"/>
              </a:rPr>
              <a:t>是没人管。</a:t>
            </a:r>
            <a:endParaRPr/>
          </a:p>
        </p:txBody>
      </p:sp>
      <p:sp>
        <p:nvSpPr>
          <p:cNvPr id="661"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662"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05</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6.xml><?xml version="1.0" encoding="utf-8"?>
<p:sld xmlns:p="http://schemas.openxmlformats.org/presentationml/2006/main" xmlns:a="http://schemas.openxmlformats.org/drawingml/2006/main">
  <p:cSld>
    <p:spTree>
      <p:nvGrpSpPr>
        <p:cNvPr id="663" name="" descr="&lt;Slide style={{ width: '1280px', height: '720px', background: '#FFFFFF', fontFamily: 'Noto Sans SC', padding: '20px 64px', flexDirection: 'column' }}&gt;&lt;Box style={{ height: '96px', flexDirection: 'column', justifyContent: 'center' }}&gt;&lt;Text style={{ fontSize: '31px', fontWeight: 700, color: '#1B3557', lineHeight: 1.25 }}&gt;访客最多的{'10'} 个洗手盆，吃掉{'61.9%'} 的客人，只做{'5.8%'} 的成交&lt;/Text&gt;&lt;Text style={{ fontSize: '15px', color: '#5F6975', lineHeight: 1.4, marginTop: '6px' }}&gt;洗手盆全类目{'208'} 个商品、{'81.0%'} 的客人，整体加购率只有{'1.30%'}（浴缸{'5.40%'}）。&lt;/Text&gt;&lt;/Box&gt;&lt;Box style={{ height: '540px', flexDirection: 'column' }}&gt;&lt;Box style={{ flexDirection: 'row', alignItems: 'center', height: '36px', width: '1152px', justifyContent: 'space-between', background: '#1B3557', borderBottom: '1px solid #DDE2E8',  paddingLeft: '8px', paddingRight: '8px' }}&gt;&lt;Box style={{ width: '620px', flexDirection: 'row', justifyContent: 'flex-start', alignItems: 'center' }}&gt;&lt;Text style={{ fontSize: '12px', color: '#FFFFFF', fontWeight: 700 }}&gt;商品&lt;/Text&gt;&lt;/Box&gt;&lt;Box style={{ width: '130px', flexDirection: 'row', justifyContent: 'flex-end', alignItems: 'center' }}&gt;&lt;Text style={{ fontSize: '12px', color: '#FFFFFF', fontWeight: 700 }}&gt;访客&lt;/Text&gt;&lt;/Box&gt;&lt;Box style={{ width: '120px', flexDirection: 'row', justifyContent: 'flex-end', alignItems: 'center' }}&gt;&lt;Text style={{ fontSize: '12px', color: '#FFFFFF', fontWeight: 700 }}&gt;加购率&lt;/Text&gt;&lt;/Box&gt;&lt;Box style={{ width: '140px', flexDirection: 'row', justifyContent: 'flex-end', alignItems: 'center' }}&gt;&lt;Text style={{ fontSize: '12px', color: '#FFFFFF', fontWeight: 700 }}&gt;成交（元）&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盖文人造石立柱盆家用小户型卫生间台面一体落地民宿洗漱洗手台盆&lt;/Text&gt;&lt;/Box&gt;&lt;Box style={{ width: '130px', flexDirection: 'row', justifyContent: 'flex-end', alignItems: 'center' }}&gt;&lt;Text style={{ fontSize: '12.5px', color: '#15181D', fontWeight: 400 }}&gt;{'24,271'}&lt;/Text&gt;&lt;/Box&gt;&lt;Box style={{ width: '120px', flexDirection: 'row', justifyContent: 'flex-end', alignItems: 'center' }}&gt;&lt;Text style={{ fontSize: '12.5px', color: '#15181D', fontWeight: 400 }}&gt;{'0.27%'}&lt;/Text&gt;&lt;/Box&gt;&lt;Box style={{ width: '140px', flexDirection: 'row', justifyContent: 'flex-end', alignItems: 'center' }}&gt;&lt;Text style={{ fontSize: '12.5px', color: '#15181D', fontWeight: 400 }}&gt;{'2,943'}&lt;/Text&gt;&lt;/Box&gt;&lt;/Box&gt;&lt;Box style={{ flexDirection: 'row', alignItems: 'center', height: '39px', width: '1152px', justifyContent: 'space-between', background: '#FBF2EF', borderBottom: '1px solid #DDE2E8',  paddingLeft: '8px', paddingRight: '8px' }}&gt;&lt;Box style={{ width: '620px', flexDirection: 'row', justifyContent: 'flex-start', alignItems: 'center' }}&gt;&lt;Text style={{ fontSize: '12.5px', color: '#AE4128', fontWeight: 700 }}&gt;科塔挂墙式人造石洗手盆家用卫生间洗脸盆置物延长边台面台盆定制&lt;/Text&gt;&lt;/Box&gt;&lt;Box style={{ width: '130px', flexDirection: 'row', justifyContent: 'flex-end', alignItems: 'center' }}&gt;&lt;Text style={{ fontSize: '12.5px', color: '#15181D', fontWeight: 400 }}&gt;{'10,817'}&lt;/Text&gt;&lt;/Box&gt;&lt;Box style={{ width: '120px', flexDirection: 'row', justifyContent: 'flex-end', alignItems: 'center' }}&gt;&lt;Text style={{ fontSize: '12.5px', color: '#15181D', fontWeight: 400 }}&gt;{'0.55%'}&lt;/Text&gt;&lt;/Box&gt;&lt;Box style={{ width: '140px', flexDirection: 'row', justifyContent: 'flex-end', alignItems: 'center' }}&gt;&lt;Text style={{ fontSize: '12.5px', color: '#AE4128', fontWeight: 400 }}&gt;{'0'}&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网林家用卫生间窄边人造石洗脸盆小户型储物挂墙一体式洗漱盆定制&lt;/Text&gt;&lt;/Box&gt;&lt;Box style={{ width: '130px', flexDirection: 'row', justifyContent: 'flex-end', alignItems: 'center' }}&gt;&lt;Text style={{ fontSize: '12.5px', color: '#15181D', fontWeight: 400 }}&gt;{'6,247'}&lt;/Text&gt;&lt;/Box&gt;&lt;Box style={{ width: '120px', flexDirection: 'row', justifyContent: 'flex-end', alignItems: 'center' }}&gt;&lt;Text style={{ fontSize: '12.5px', color: '#15181D', fontWeight: 400 }}&gt;{'1.41%'}&lt;/Text&gt;&lt;/Box&gt;&lt;Box style={{ width: '140px', flexDirection: 'row', justifyContent: 'flex-end', alignItems: 'center' }}&gt;&lt;Text style={{ fontSize: '12.5px', color: '#15181D', fontWeight: 400 }}&gt;{'7,002'}&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网林人造石独立式方形一体成型落地洗脸盆民宿酒店阳台立柱盆定制&lt;/Text&gt;&lt;/Box&gt;&lt;Box style={{ width: '130px', flexDirection: 'row', justifyContent: 'flex-end', alignItems: 'center' }}&gt;&lt;Text style={{ fontSize: '12.5px', color: '#15181D', fontWeight: 400 }}&gt;{'5,572'}&lt;/Text&gt;&lt;/Box&gt;&lt;Box style={{ width: '120px', flexDirection: 'row', justifyContent: 'flex-end', alignItems: 'center' }}&gt;&lt;Text style={{ fontSize: '12.5px', color: '#15181D', fontWeight: 400 }}&gt;{'0.57%'}&lt;/Text&gt;&lt;/Box&gt;&lt;Box style={{ width: '140px', flexDirection: 'row', justifyContent: 'flex-end', alignItems: 'center' }}&gt;&lt;Text style={{ fontSize: '12.5px', color: '#15181D', fontWeight: 400 }}&gt;{'140'}&lt;/Text&gt;&lt;/Box&gt;&lt;/Box&gt;&lt;Box style={{ flexDirection: 'row', alignItems: 'center', height: '39px', width: '1152px', justifyContent: 'space-between', background: '#FBF2EF', borderBottom: '1px solid #DDE2E8',  paddingLeft: '8px', paddingRight: '8px' }}&gt;&lt;Box style={{ width: '620px', flexDirection: 'row', justifyContent: 'flex-start', alignItems: 'center' }}&gt;&lt;Text style={{ fontSize: '12.5px', color: '#AE4128', fontWeight: 700 }}&gt;盖文一体人造石储物立柱盆酒店家用小户型卫生间落地式洗手池台盆&lt;/Text&gt;&lt;/Box&gt;&lt;Box style={{ width: '130px', flexDirection: 'row', justifyContent: 'flex-end', alignItems: 'center' }}&gt;&lt;Text style={{ fontSize: '12.5px', color: '#15181D', fontWeight: 400 }}&gt;{'5,223'}&lt;/Text&gt;&lt;/Box&gt;&lt;Box style={{ width: '120px', flexDirection: 'row', justifyContent: 'flex-end', alignItems: 'center' }}&gt;&lt;Text style={{ fontSize: '12.5px', color: '#15181D', fontWeight: 400 }}&gt;{'0.34%'}&lt;/Text&gt;&lt;/Box&gt;&lt;Box style={{ width: '140px', flexDirection: 'row', justifyContent: 'flex-end', alignItems: 'center' }}&gt;&lt;Text style={{ fontSize: '12.5px', color: '#AE4128', fontWeight: 400 }}&gt;{'0'}&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网林简约现代人造石立柱盆家用卫生间落地一体式置物台面洗手台盆&lt;/Text&gt;&lt;/Box&gt;&lt;Box style={{ width: '130px', flexDirection: 'row', justifyContent: 'flex-end', alignItems: 'center' }}&gt;&lt;Text style={{ fontSize: '12.5px', color: '#15181D', fontWeight: 400 }}&gt;{'3,796'}&lt;/Text&gt;&lt;/Box&gt;&lt;Box style={{ width: '120px', flexDirection: 'row', justifyContent: 'flex-end', alignItems: 'center' }}&gt;&lt;Text style={{ fontSize: '12.5px', color: '#15181D', fontWeight: 400 }}&gt;{'0.29%'}&lt;/Text&gt;&lt;/Box&gt;&lt;Box style={{ width: '140px', flexDirection: 'row', justifyContent: 'flex-end', alignItems: 'center' }}&gt;&lt;Text style={{ fontSize: '12.5px', color: '#15181D', fontWeight: 400 }}&gt;{'130'}&lt;/Text&gt;&lt;/Box&gt;&lt;/Box&gt;&lt;Box style={{ flexDirection: 'row', alignItems: 'center', height: '39px', width: '1152px', justifyContent: 'space-between', background: '#FBF2EF', borderBottom: '1px solid #DDE2E8',  paddingLeft: '8px', paddingRight: '8px' }}&gt;&lt;Box style={{ width: '620px', flexDirection: 'row', justifyContent: 'flex-start', alignItems: 'center' }}&gt;&lt;Text style={{ fontSize: '12.5px', color: '#AE4128', fontWeight: 700 }}&gt;盖文绮美人造石洗手盆一体落地式洗脸台酒店家用储物方形立柱盆&lt;/Text&gt;&lt;/Box&gt;&lt;Box style={{ width: '130px', flexDirection: 'row', justifyContent: 'flex-end', alignItems: 'center' }}&gt;&lt;Text style={{ fontSize: '12.5px', color: '#15181D', fontWeight: 400 }}&gt;{'3,747'}&lt;/Text&gt;&lt;/Box&gt;&lt;Box style={{ width: '120px', flexDirection: 'row', justifyContent: 'flex-end', alignItems: 'center' }}&gt;&lt;Text style={{ fontSize: '12.5px', color: '#15181D', fontWeight: 400 }}&gt;{'0.83%'}&lt;/Text&gt;&lt;/Box&gt;&lt;Box style={{ width: '140px', flexDirection: 'row', justifyContent: 'flex-end', alignItems: 'center' }}&gt;&lt;Text style={{ fontSize: '12.5px', color: '#AE4128', fontWeight: 400 }}&gt;{'0'}&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科塔人造石高分子空格置物立柱盆家用酒店民宿浴室落地洗手盆定制&lt;/Text&gt;&lt;/Box&gt;&lt;Box style={{ width: '130px', flexDirection: 'row', justifyContent: 'flex-end', alignItems: 'center' }}&gt;&lt;Text style={{ fontSize: '12.5px', color: '#15181D', fontWeight: 400 }}&gt;{'2,661'}&lt;/Text&gt;&lt;/Box&gt;&lt;Box style={{ width: '120px', flexDirection: 'row', justifyContent: 'flex-end', alignItems: 'center' }}&gt;&lt;Text style={{ fontSize: '12.5px', color: '#15181D', fontWeight: 400 }}&gt;{'0.64%'}&lt;/Text&gt;&lt;/Box&gt;&lt;Box style={{ width: '140px', flexDirection: 'row', justifyContent: 'flex-end', alignItems: 'center' }}&gt;&lt;Text style={{ fontSize: '12.5px', color: '#15181D', fontWeight: 400 }}&gt;{'2,622'}&lt;/Text&gt;&lt;/Box&gt;&lt;/Box&gt;&lt;Box style={{ flexDirection: 'row', alignItems: 'center', height: '39px', width: '1152px', justifyContent: 'space-between', background: '#FBF2EF', borderBottom: '1px solid #DDE2E8',  paddingLeft: '8px', paddingRight: '8px' }}&gt;&lt;Box style={{ width: '620px', flexDirection: 'row', justifyContent: 'flex-start', alignItems: 'center' }}&gt;&lt;Text style={{ fontSize: '12.5px', color: '#AE4128', fontWeight: 700 }}&gt;科塔超窄边人造石洗漱盆家用民宿挂墙式一体成型洗手洗脸台盆定制&lt;/Text&gt;&lt;/Box&gt;&lt;Box style={{ width: '130px', flexDirection: 'row', justifyContent: 'flex-end', alignItems: 'center' }}&gt;&lt;Text style={{ fontSize: '12.5px', color: '#15181D', fontWeight: 400 }}&gt;{'2,295'}&lt;/Text&gt;&lt;/Box&gt;&lt;Box style={{ width: '120px', flexDirection: 'row', justifyContent: 'flex-end', alignItems: 'center' }}&gt;&lt;Text style={{ fontSize: '12.5px', color: '#A97B28', fontWeight: 400 }}&gt;{'5.49%'}&lt;/Text&gt;&lt;/Box&gt;&lt;Box style={{ width: '140px', flexDirection: 'row', justifyContent: 'flex-end', alignItems: 'center' }}&gt;&lt;Text style={{ fontSize: '12.5px', color: '#AE4128', fontWeight: 400 }}&gt;{'0'}&lt;/Text&gt;&lt;/Box&gt;&lt;/Box&gt;&lt;Box style={{ flexDirection: 'row', alignItems: 'center', height: '39px', width: '1152px', justifyContent: 'space-between', background: 'transparent', borderBottom: '1px solid #DDE2E8',  paddingLeft: '8px', paddingRight: '8px' }}&gt;&lt;Box style={{ width: '620px', flexDirection: 'row', justifyContent: 'flex-start', alignItems: 'center' }}&gt;&lt;Text style={{ fontSize: '12.5px', color: '#15181D', fontWeight: 400 }}&gt;盖文一体人造石立柱盆方形储物酒店家用卫生间阳台落地式洗手台盆&lt;/Text&gt;&lt;/Box&gt;&lt;Box style={{ width: '130px', flexDirection: 'row', justifyContent: 'flex-end', alignItems: 'center' }}&gt;&lt;Text style={{ fontSize: '12.5px', color: '#15181D', fontWeight: 400 }}&gt;{'1,970'}&lt;/Text&gt;&lt;/Box&gt;&lt;Box style={{ width: '120px', flexDirection: 'row', justifyContent: 'flex-end', alignItems: 'center' }}&gt;&lt;Text style={{ fontSize: '12.5px', color: '#15181D', fontWeight: 400 }}&gt;{'0.76%'}&lt;/Text&gt;&lt;/Box&gt;&lt;Box style={{ width: '140px', flexDirection: 'row', justifyContent: 'flex-end', alignItems: 'center' }}&gt;&lt;Text style={{ fontSize: '12.5px', color: '#15181D', fontWeight: 400 }}&gt;{'3,530'}&lt;/Text&gt;&lt;/Box&gt;&lt;/Box&gt;&lt;Box style={{ flexDirection: 'row', justifyContent: 'space-between', alignItems: 'center', marginTop: '14px' }}&gt;&lt;Text style={{ fontSize: '12.5px', color: '#5F6975' }}&gt;{'10'} 个合计：访客{'66,599'}　成交{'16,367'} 元&lt;/Text&gt;&lt;Text style={{ fontSize: '12.5px', color: '#5F6975' }}&gt;加购率＝加购人数{'÷'} 进店访客&lt;/Text&gt;&lt;/Box&gt;&lt;Box style={{ background: '#F4F6F8', borderLeft: '4px solid #AE4128', padding: '16px 20px', marginTop: '18px' }}&gt;&lt;Text style={{ fontSize: '16px', fontWeight: 600, color: '#1B3557', lineHeight: 1.55 }}&gt; 加购率最高的那个（科塔超窄边，{'5.49%'}）也是零成交{'—'}{'—'}问题在商品页，不在流量。&lt;/Text&gt;&lt;/Box&gt;&lt;/Box&gt;&lt;Box style={{ height: '40px', flexDirection: 'row', justifyContent: 'space-between', alignItems: 'center' }}&gt;&lt;Text style={{ fontSize: '13px', color: '#5F6975' }}&gt;经营数据诊断{'·'}{'2026-10-20'}&lt;/Text&gt;&lt;Text style={{ fontSize: '13px', color: '#5F6975' }}&gt;{'06'}{'/'}{'13'}&lt;/Text&gt;&lt;/Box&gt;&lt;/Slide&gt;&#10;"/>
        <p:cNvGrpSpPr/>
        <p:nvPr/>
      </p:nvGrpSpPr>
      <p:grpSpPr>
        <a:xfrm>
          <a:off x="0" y="0"/>
          <a:ext cx="0" cy="0"/>
          <a:chOff x="0" y="0"/>
          <a:chExt cx="0" cy="0"/>
        </a:xfrm>
      </p:grpSpPr>
      <p:sp>
        <p:nvSpPr>
          <p:cNvPr id="664" name=""/>
          <p:cNvSpPr/>
          <p:nvPr/>
        </p:nvSpPr>
        <p:spPr>
          <a:xfrm rot="0" flipH="0" flipV="0">
            <a:off x="0" y="0"/>
            <a:ext cx="12192000" cy="6858000"/>
          </a:xfrm>
          <a:prstGeom prst="rect">
            <a:avLst/>
          </a:prstGeom>
          <a:solidFill>
            <a:srgbClr val="FFFFFF"/>
          </a:solidFill>
          <a:ln/>
        </p:spPr>
        <p:txBody>
          <a:bodyPr/>
          <a:p/>
        </p:txBody>
      </p:sp>
      <p:sp>
        <p:nvSpPr>
          <p:cNvPr id="665"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访客最多的</a:t>
            </a:r>
            <a:r>
              <a:rPr lang="en-US" sz="2325" b="1">
                <a:solidFill>
                  <a:srgbClr val="1B3557"/>
                </a:solidFill>
                <a:latin typeface="Noto Sans SC"/>
                <a:ea typeface="Noto Sans SC"/>
              </a:rPr>
              <a:t>10</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个洗手盆，吃掉</a:t>
            </a:r>
            <a:r>
              <a:rPr lang="en-US" sz="2325" b="1">
                <a:solidFill>
                  <a:srgbClr val="1B3557"/>
                </a:solidFill>
                <a:latin typeface="Noto Sans SC"/>
                <a:ea typeface="Noto Sans SC"/>
              </a:rPr>
              <a:t>61.9%</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的客人，只做</a:t>
            </a:r>
            <a:r>
              <a:rPr lang="en-US" sz="2325" b="1">
                <a:solidFill>
                  <a:srgbClr val="1B3557"/>
                </a:solidFill>
                <a:latin typeface="Noto Sans SC"/>
                <a:ea typeface="Noto Sans SC"/>
              </a:rPr>
              <a:t>5.8%</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的成交</a:t>
            </a:r>
            <a:endParaRPr/>
          </a:p>
        </p:txBody>
      </p:sp>
      <p:sp>
        <p:nvSpPr>
          <p:cNvPr id="666"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洗手盆全类目</a:t>
            </a:r>
            <a:r>
              <a:rPr lang="en-US" sz="1125">
                <a:solidFill>
                  <a:srgbClr val="5F6975"/>
                </a:solidFill>
                <a:latin typeface="Noto Sans SC"/>
                <a:ea typeface="Noto Sans SC"/>
              </a:rPr>
              <a:t>208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个商品、</a:t>
            </a:r>
            <a:r>
              <a:rPr lang="en-US" sz="1125">
                <a:solidFill>
                  <a:srgbClr val="5F6975"/>
                </a:solidFill>
                <a:latin typeface="Noto Sans SC"/>
                <a:ea typeface="Noto Sans SC"/>
              </a:rPr>
              <a:t>81.0%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的客人，整体加购率只有</a:t>
            </a:r>
            <a:r>
              <a:rPr lang="en-US" sz="1125">
                <a:solidFill>
                  <a:srgbClr val="5F6975"/>
                </a:solidFill>
                <a:latin typeface="Noto Sans SC"/>
                <a:ea typeface="Noto Sans SC"/>
              </a:rPr>
              <a:t>1.30%</a:t>
            </a:r>
            <a:r>
              <a:rPr lang="zh-CN" sz="1125">
                <a:solidFill>
                  <a:srgbClr val="5F6975"/>
                </a:solidFill>
                <a:latin typeface="Noto Sans SC"/>
                <a:ea typeface="Noto Sans SC"/>
              </a:rPr>
              <a:t>（浴缸</a:t>
            </a:r>
            <a:r>
              <a:rPr lang="en-US" sz="1125">
                <a:solidFill>
                  <a:srgbClr val="5F6975"/>
                </a:solidFill>
                <a:latin typeface="Noto Sans SC"/>
                <a:ea typeface="Noto Sans SC"/>
              </a:rPr>
              <a:t>5.40%</a:t>
            </a:r>
            <a:r>
              <a:rPr lang="zh-CN" sz="1125">
                <a:solidFill>
                  <a:srgbClr val="5F6975"/>
                </a:solidFill>
                <a:latin typeface="Noto Sans SC"/>
                <a:ea typeface="Noto Sans SC"/>
              </a:rPr>
              <a:t>）。</a:t>
            </a:r>
            <a:endParaRPr/>
          </a:p>
        </p:txBody>
      </p:sp>
      <p:sp>
        <p:nvSpPr>
          <p:cNvPr id="667" name=""/>
          <p:cNvSpPr/>
          <p:nvPr/>
        </p:nvSpPr>
        <p:spPr>
          <a:xfrm rot="0" flipH="0" flipV="0">
            <a:off x="609600" y="1104900"/>
            <a:ext cx="10972800" cy="333375"/>
          </a:xfrm>
          <a:prstGeom prst="rect">
            <a:avLst/>
          </a:prstGeom>
          <a:solidFill>
            <a:srgbClr val="1B3557"/>
          </a:solidFill>
          <a:ln/>
        </p:spPr>
        <p:txBody>
          <a:bodyPr/>
          <a:p/>
        </p:txBody>
      </p:sp>
      <p:sp>
        <p:nvSpPr>
          <p:cNvPr id="668" name=""/>
          <p:cNvSpPr/>
          <p:nvPr/>
        </p:nvSpPr>
        <p:spPr>
          <a:xfrm rot="0" flipH="0" flipV="0">
            <a:off x="609600" y="1104900"/>
            <a:ext cx="10972800" cy="342900"/>
          </a:xfrm>
          <a:custGeom>
            <a:pathLst>
              <a:path w="1152" h="36">
                <a:moveTo>
                  <a:pt x="0" y="35"/>
                </a:moveTo>
                <a:lnTo>
                  <a:pt x="1152" y="35"/>
                </a:lnTo>
                <a:lnTo>
                  <a:pt x="1152" y="36"/>
                </a:lnTo>
                <a:lnTo>
                  <a:pt x="0" y="36"/>
                </a:lnTo>
                <a:close/>
              </a:path>
            </a:pathLst>
          </a:custGeom>
          <a:solidFill>
            <a:srgbClr val="DDE2E8"/>
          </a:solidFill>
          <a:ln/>
        </p:spPr>
        <p:txBody>
          <a:bodyPr/>
          <a:p/>
        </p:txBody>
      </p:sp>
      <p:sp>
        <p:nvSpPr>
          <p:cNvPr id="669" name="" descr="{&quot;isTemplate&quot;:true,&quot;type&quot;:&quot;text&quot;}"/>
          <p:cNvSpPr txBox="1"/>
          <p:nvPr/>
        </p:nvSpPr>
        <p:spPr>
          <a:xfrm rot="0" flipH="0" flipV="0">
            <a:off x="685800"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商品</a:t>
            </a:r>
            <a:endParaRPr/>
          </a:p>
        </p:txBody>
      </p:sp>
      <p:sp>
        <p:nvSpPr>
          <p:cNvPr id="670" name="" descr="{&quot;isTemplate&quot;:true,&quot;type&quot;:&quot;text&quot;}"/>
          <p:cNvSpPr txBox="1"/>
          <p:nvPr/>
        </p:nvSpPr>
        <p:spPr>
          <a:xfrm rot="0" flipH="0" flipV="0">
            <a:off x="8001000"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访客</a:t>
            </a:r>
            <a:endParaRPr/>
          </a:p>
        </p:txBody>
      </p:sp>
      <p:sp>
        <p:nvSpPr>
          <p:cNvPr id="671" name="" descr="{&quot;isTemplate&quot;:true,&quot;type&quot;:&quot;text&quot;}"/>
          <p:cNvSpPr txBox="1"/>
          <p:nvPr/>
        </p:nvSpPr>
        <p:spPr>
          <a:xfrm rot="0" flipH="0" flipV="0">
            <a:off x="9429750" y="1200150"/>
            <a:ext cx="342900" cy="142875"/>
          </a:xfrm>
          <a:prstGeom prst="rect"/>
        </p:spPr>
        <p:txBody>
          <a:bodyPr wrap="none" lIns="0" tIns="0" rIns="0" bIns="0"/>
          <a:p>
            <a:pPr>
              <a:lnSpc>
                <a:spcPct val="100000"/>
              </a:lnSpc>
            </a:pPr>
            <a:r>
              <a:rPr lang="zh-CN" sz="900" b="1">
                <a:solidFill>
                  <a:srgbClr val="FFFFFF"/>
                </a:solidFill>
                <a:latin typeface="Noto Sans SC"/>
                <a:ea typeface="Noto Sans SC"/>
              </a:rPr>
              <a:t>加购率</a:t>
            </a:r>
            <a:endParaRPr/>
          </a:p>
        </p:txBody>
      </p:sp>
      <p:sp>
        <p:nvSpPr>
          <p:cNvPr id="672" name="" descr="{&quot;isTemplate&quot;:true,&quot;type&quot;:&quot;text&quot;}"/>
          <p:cNvSpPr txBox="1"/>
          <p:nvPr/>
        </p:nvSpPr>
        <p:spPr>
          <a:xfrm rot="0" flipH="0" flipV="0">
            <a:off x="10934700" y="1200150"/>
            <a:ext cx="571500" cy="142875"/>
          </a:xfrm>
          <a:prstGeom prst="rect"/>
        </p:spPr>
        <p:txBody>
          <a:bodyPr wrap="none" lIns="0" tIns="0" rIns="0" bIns="0"/>
          <a:p>
            <a:pPr>
              <a:lnSpc>
                <a:spcPct val="100000"/>
              </a:lnSpc>
            </a:pPr>
            <a:r>
              <a:rPr lang="zh-CN" sz="900" b="1">
                <a:solidFill>
                  <a:srgbClr val="FFFFFF"/>
                </a:solidFill>
                <a:latin typeface="Noto Sans SC"/>
                <a:ea typeface="Noto Sans SC"/>
              </a:rPr>
              <a:t>成交（元）</a:t>
            </a:r>
            <a:endParaRPr/>
          </a:p>
        </p:txBody>
      </p:sp>
      <p:sp>
        <p:nvSpPr>
          <p:cNvPr id="673" name=""/>
          <p:cNvSpPr/>
          <p:nvPr/>
        </p:nvSpPr>
        <p:spPr>
          <a:xfrm rot="0" flipH="0" flipV="0">
            <a:off x="609600" y="144780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74" name="" descr="{&quot;isTemplate&quot;:true,&quot;type&quot;:&quot;text&quot;}"/>
          <p:cNvSpPr txBox="1"/>
          <p:nvPr/>
        </p:nvSpPr>
        <p:spPr>
          <a:xfrm rot="0" flipH="0" flipV="0">
            <a:off x="685800" y="1562100"/>
            <a:ext cx="3571875" cy="142875"/>
          </a:xfrm>
          <a:prstGeom prst="rect"/>
        </p:spPr>
        <p:txBody>
          <a:bodyPr wrap="none" lIns="0" tIns="0" rIns="0" bIns="0"/>
          <a:p>
            <a:pPr>
              <a:lnSpc>
                <a:spcPct val="100000"/>
              </a:lnSpc>
            </a:pPr>
            <a:r>
              <a:rPr lang="zh-CN" sz="938">
                <a:solidFill>
                  <a:srgbClr val="15181D"/>
                </a:solidFill>
                <a:latin typeface="Noto Sans SC"/>
                <a:ea typeface="Noto Sans SC"/>
              </a:rPr>
              <a:t>盖文人造石立柱盆家用小户型卫生间台面一体落地民宿洗漱洗手台盆</a:t>
            </a:r>
            <a:endParaRPr/>
          </a:p>
        </p:txBody>
      </p:sp>
      <p:sp>
        <p:nvSpPr>
          <p:cNvPr id="675" name="" descr="{&quot;isTemplate&quot;:true,&quot;type&quot;:&quot;text&quot;}"/>
          <p:cNvSpPr txBox="1"/>
          <p:nvPr/>
        </p:nvSpPr>
        <p:spPr>
          <a:xfrm rot="0" flipH="0" flipV="0">
            <a:off x="7886700" y="1562100"/>
            <a:ext cx="342900" cy="142875"/>
          </a:xfrm>
          <a:prstGeom prst="rect"/>
        </p:spPr>
        <p:txBody>
          <a:bodyPr wrap="none" lIns="0" tIns="0" rIns="0" bIns="0"/>
          <a:p>
            <a:pPr>
              <a:lnSpc>
                <a:spcPct val="100000"/>
              </a:lnSpc>
            </a:pPr>
            <a:r>
              <a:rPr lang="en-US" sz="938">
                <a:solidFill>
                  <a:srgbClr val="15181D"/>
                </a:solidFill>
                <a:latin typeface="Noto Sans SC"/>
                <a:ea typeface="Noto Sans SC"/>
              </a:rPr>
              <a:t>24,271</a:t>
            </a:r>
            <a:endParaRPr/>
          </a:p>
        </p:txBody>
      </p:sp>
      <p:sp>
        <p:nvSpPr>
          <p:cNvPr id="676" name="" descr="{&quot;isTemplate&quot;:true,&quot;type&quot;:&quot;text&quot;}"/>
          <p:cNvSpPr txBox="1"/>
          <p:nvPr/>
        </p:nvSpPr>
        <p:spPr>
          <a:xfrm rot="0" flipH="0" flipV="0">
            <a:off x="9448800" y="1562100"/>
            <a:ext cx="323850" cy="142875"/>
          </a:xfrm>
          <a:prstGeom prst="rect"/>
        </p:spPr>
        <p:txBody>
          <a:bodyPr wrap="none" lIns="0" tIns="0" rIns="0" bIns="0"/>
          <a:p>
            <a:pPr>
              <a:lnSpc>
                <a:spcPct val="100000"/>
              </a:lnSpc>
            </a:pPr>
            <a:r>
              <a:rPr lang="en-US" sz="938">
                <a:solidFill>
                  <a:srgbClr val="15181D"/>
                </a:solidFill>
                <a:latin typeface="Noto Sans SC"/>
                <a:ea typeface="Noto Sans SC"/>
              </a:rPr>
              <a:t>0.27%</a:t>
            </a:r>
            <a:endParaRPr/>
          </a:p>
        </p:txBody>
      </p:sp>
      <p:sp>
        <p:nvSpPr>
          <p:cNvPr id="677" name="" descr="{&quot;isTemplate&quot;:true,&quot;type&quot;:&quot;text&quot;}"/>
          <p:cNvSpPr txBox="1"/>
          <p:nvPr/>
        </p:nvSpPr>
        <p:spPr>
          <a:xfrm rot="0" flipH="0" flipV="0">
            <a:off x="11229975" y="1562100"/>
            <a:ext cx="276225" cy="142875"/>
          </a:xfrm>
          <a:prstGeom prst="rect"/>
        </p:spPr>
        <p:txBody>
          <a:bodyPr wrap="none" lIns="0" tIns="0" rIns="0" bIns="0"/>
          <a:p>
            <a:pPr>
              <a:lnSpc>
                <a:spcPct val="100000"/>
              </a:lnSpc>
            </a:pPr>
            <a:r>
              <a:rPr lang="en-US" sz="938">
                <a:solidFill>
                  <a:srgbClr val="15181D"/>
                </a:solidFill>
                <a:latin typeface="Noto Sans SC"/>
                <a:ea typeface="Noto Sans SC"/>
              </a:rPr>
              <a:t>2,943</a:t>
            </a:r>
            <a:endParaRPr/>
          </a:p>
        </p:txBody>
      </p:sp>
      <p:sp>
        <p:nvSpPr>
          <p:cNvPr id="678" name=""/>
          <p:cNvSpPr/>
          <p:nvPr/>
        </p:nvSpPr>
        <p:spPr>
          <a:xfrm rot="0" flipH="0" flipV="0">
            <a:off x="609600" y="1819275"/>
            <a:ext cx="10972800" cy="361950"/>
          </a:xfrm>
          <a:prstGeom prst="rect">
            <a:avLst/>
          </a:prstGeom>
          <a:solidFill>
            <a:srgbClr val="FBF2EF"/>
          </a:solidFill>
          <a:ln/>
        </p:spPr>
        <p:txBody>
          <a:bodyPr/>
          <a:p/>
        </p:txBody>
      </p:sp>
      <p:sp>
        <p:nvSpPr>
          <p:cNvPr id="679" name=""/>
          <p:cNvSpPr/>
          <p:nvPr/>
        </p:nvSpPr>
        <p:spPr>
          <a:xfrm rot="0" flipH="0" flipV="0">
            <a:off x="609600" y="181927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80" name="" descr="{&quot;isTemplate&quot;:true,&quot;type&quot;:&quot;text&quot;}"/>
          <p:cNvSpPr txBox="1"/>
          <p:nvPr/>
        </p:nvSpPr>
        <p:spPr>
          <a:xfrm rot="0" flipH="0" flipV="0">
            <a:off x="685800" y="1933575"/>
            <a:ext cx="3571875" cy="142875"/>
          </a:xfrm>
          <a:prstGeom prst="rect"/>
        </p:spPr>
        <p:txBody>
          <a:bodyPr wrap="none" lIns="0" tIns="0" rIns="0" bIns="0"/>
          <a:p>
            <a:pPr>
              <a:lnSpc>
                <a:spcPct val="100000"/>
              </a:lnSpc>
            </a:pPr>
            <a:r>
              <a:rPr lang="zh-CN" sz="938" b="1">
                <a:solidFill>
                  <a:srgbClr val="AE4128"/>
                </a:solidFill>
                <a:latin typeface="Noto Sans SC"/>
                <a:ea typeface="Noto Sans SC"/>
              </a:rPr>
              <a:t>科塔挂墙式人造石洗手盆家用卫生间洗脸盆置物延长边台面台盆定制</a:t>
            </a:r>
            <a:endParaRPr/>
          </a:p>
        </p:txBody>
      </p:sp>
      <p:sp>
        <p:nvSpPr>
          <p:cNvPr id="681" name="" descr="{&quot;isTemplate&quot;:true,&quot;type&quot;:&quot;text&quot;}"/>
          <p:cNvSpPr txBox="1"/>
          <p:nvPr/>
        </p:nvSpPr>
        <p:spPr>
          <a:xfrm rot="0" flipH="0" flipV="0">
            <a:off x="7886700" y="1933575"/>
            <a:ext cx="342900" cy="142875"/>
          </a:xfrm>
          <a:prstGeom prst="rect"/>
        </p:spPr>
        <p:txBody>
          <a:bodyPr wrap="none" lIns="0" tIns="0" rIns="0" bIns="0"/>
          <a:p>
            <a:pPr>
              <a:lnSpc>
                <a:spcPct val="100000"/>
              </a:lnSpc>
            </a:pPr>
            <a:r>
              <a:rPr lang="en-US" sz="938">
                <a:solidFill>
                  <a:srgbClr val="15181D"/>
                </a:solidFill>
                <a:latin typeface="Noto Sans SC"/>
                <a:ea typeface="Noto Sans SC"/>
              </a:rPr>
              <a:t>10,817</a:t>
            </a:r>
            <a:endParaRPr/>
          </a:p>
        </p:txBody>
      </p:sp>
      <p:sp>
        <p:nvSpPr>
          <p:cNvPr id="682" name="" descr="{&quot;isTemplate&quot;:true,&quot;type&quot;:&quot;text&quot;}"/>
          <p:cNvSpPr txBox="1"/>
          <p:nvPr/>
        </p:nvSpPr>
        <p:spPr>
          <a:xfrm rot="0" flipH="0" flipV="0">
            <a:off x="9448800" y="1933575"/>
            <a:ext cx="323850" cy="142875"/>
          </a:xfrm>
          <a:prstGeom prst="rect"/>
        </p:spPr>
        <p:txBody>
          <a:bodyPr wrap="none" lIns="0" tIns="0" rIns="0" bIns="0"/>
          <a:p>
            <a:pPr>
              <a:lnSpc>
                <a:spcPct val="100000"/>
              </a:lnSpc>
            </a:pPr>
            <a:r>
              <a:rPr lang="en-US" sz="938">
                <a:solidFill>
                  <a:srgbClr val="15181D"/>
                </a:solidFill>
                <a:latin typeface="Noto Sans SC"/>
                <a:ea typeface="Noto Sans SC"/>
              </a:rPr>
              <a:t>0.55%</a:t>
            </a:r>
            <a:endParaRPr/>
          </a:p>
        </p:txBody>
      </p:sp>
      <p:sp>
        <p:nvSpPr>
          <p:cNvPr id="683" name="" descr="{&quot;isTemplate&quot;:true,&quot;type&quot;:&quot;text&quot;}"/>
          <p:cNvSpPr txBox="1"/>
          <p:nvPr/>
        </p:nvSpPr>
        <p:spPr>
          <a:xfrm rot="0" flipH="0" flipV="0">
            <a:off x="11439525" y="1933575"/>
            <a:ext cx="66675" cy="142875"/>
          </a:xfrm>
          <a:prstGeom prst="rect"/>
        </p:spPr>
        <p:txBody>
          <a:bodyPr wrap="none" lIns="0" tIns="0" rIns="0" bIns="0"/>
          <a:p>
            <a:pPr>
              <a:lnSpc>
                <a:spcPct val="100000"/>
              </a:lnSpc>
            </a:pPr>
            <a:r>
              <a:rPr lang="en-US" sz="938">
                <a:solidFill>
                  <a:srgbClr val="AE4128"/>
                </a:solidFill>
                <a:latin typeface="Noto Sans SC"/>
                <a:ea typeface="Noto Sans SC"/>
              </a:rPr>
              <a:t>0</a:t>
            </a:r>
            <a:endParaRPr/>
          </a:p>
        </p:txBody>
      </p:sp>
      <p:sp>
        <p:nvSpPr>
          <p:cNvPr id="684" name=""/>
          <p:cNvSpPr/>
          <p:nvPr/>
        </p:nvSpPr>
        <p:spPr>
          <a:xfrm rot="0" flipH="0" flipV="0">
            <a:off x="609600" y="219075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85" name="" descr="{&quot;isTemplate&quot;:true,&quot;type&quot;:&quot;text&quot;}"/>
          <p:cNvSpPr txBox="1"/>
          <p:nvPr/>
        </p:nvSpPr>
        <p:spPr>
          <a:xfrm rot="0" flipH="0" flipV="0">
            <a:off x="685800" y="2305050"/>
            <a:ext cx="3571875" cy="142875"/>
          </a:xfrm>
          <a:prstGeom prst="rect"/>
        </p:spPr>
        <p:txBody>
          <a:bodyPr wrap="none" lIns="0" tIns="0" rIns="0" bIns="0"/>
          <a:p>
            <a:pPr>
              <a:lnSpc>
                <a:spcPct val="100000"/>
              </a:lnSpc>
            </a:pPr>
            <a:r>
              <a:rPr lang="zh-CN" sz="938">
                <a:solidFill>
                  <a:srgbClr val="15181D"/>
                </a:solidFill>
                <a:latin typeface="Noto Sans SC"/>
                <a:ea typeface="Noto Sans SC"/>
              </a:rPr>
              <a:t>网林家用卫生间窄边人造石洗脸盆小户型储物挂墙一体式洗漱盆定制</a:t>
            </a:r>
            <a:endParaRPr/>
          </a:p>
        </p:txBody>
      </p:sp>
      <p:sp>
        <p:nvSpPr>
          <p:cNvPr id="686" name="" descr="{&quot;isTemplate&quot;:true,&quot;type&quot;:&quot;text&quot;}"/>
          <p:cNvSpPr txBox="1"/>
          <p:nvPr/>
        </p:nvSpPr>
        <p:spPr>
          <a:xfrm rot="0" flipH="0" flipV="0">
            <a:off x="7953375" y="2305050"/>
            <a:ext cx="276225" cy="142875"/>
          </a:xfrm>
          <a:prstGeom prst="rect"/>
        </p:spPr>
        <p:txBody>
          <a:bodyPr wrap="none" lIns="0" tIns="0" rIns="0" bIns="0"/>
          <a:p>
            <a:pPr>
              <a:lnSpc>
                <a:spcPct val="100000"/>
              </a:lnSpc>
            </a:pPr>
            <a:r>
              <a:rPr lang="en-US" sz="938">
                <a:solidFill>
                  <a:srgbClr val="15181D"/>
                </a:solidFill>
                <a:latin typeface="Noto Sans SC"/>
                <a:ea typeface="Noto Sans SC"/>
              </a:rPr>
              <a:t>6,247</a:t>
            </a:r>
            <a:endParaRPr/>
          </a:p>
        </p:txBody>
      </p:sp>
      <p:sp>
        <p:nvSpPr>
          <p:cNvPr id="687" name="" descr="{&quot;isTemplate&quot;:true,&quot;type&quot;:&quot;text&quot;}"/>
          <p:cNvSpPr txBox="1"/>
          <p:nvPr/>
        </p:nvSpPr>
        <p:spPr>
          <a:xfrm rot="0" flipH="0" flipV="0">
            <a:off x="9448800" y="2305050"/>
            <a:ext cx="323850" cy="142875"/>
          </a:xfrm>
          <a:prstGeom prst="rect"/>
        </p:spPr>
        <p:txBody>
          <a:bodyPr wrap="none" lIns="0" tIns="0" rIns="0" bIns="0"/>
          <a:p>
            <a:pPr>
              <a:lnSpc>
                <a:spcPct val="100000"/>
              </a:lnSpc>
            </a:pPr>
            <a:r>
              <a:rPr lang="en-US" sz="938">
                <a:solidFill>
                  <a:srgbClr val="15181D"/>
                </a:solidFill>
                <a:latin typeface="Noto Sans SC"/>
                <a:ea typeface="Noto Sans SC"/>
              </a:rPr>
              <a:t>1.41%</a:t>
            </a:r>
            <a:endParaRPr/>
          </a:p>
        </p:txBody>
      </p:sp>
      <p:sp>
        <p:nvSpPr>
          <p:cNvPr id="688" name="" descr="{&quot;isTemplate&quot;:true,&quot;type&quot;:&quot;text&quot;}"/>
          <p:cNvSpPr txBox="1"/>
          <p:nvPr/>
        </p:nvSpPr>
        <p:spPr>
          <a:xfrm rot="0" flipH="0" flipV="0">
            <a:off x="11229975" y="2305050"/>
            <a:ext cx="276225" cy="142875"/>
          </a:xfrm>
          <a:prstGeom prst="rect"/>
        </p:spPr>
        <p:txBody>
          <a:bodyPr wrap="none" lIns="0" tIns="0" rIns="0" bIns="0"/>
          <a:p>
            <a:pPr>
              <a:lnSpc>
                <a:spcPct val="100000"/>
              </a:lnSpc>
            </a:pPr>
            <a:r>
              <a:rPr lang="en-US" sz="938">
                <a:solidFill>
                  <a:srgbClr val="15181D"/>
                </a:solidFill>
                <a:latin typeface="Noto Sans SC"/>
                <a:ea typeface="Noto Sans SC"/>
              </a:rPr>
              <a:t>7,002</a:t>
            </a:r>
            <a:endParaRPr/>
          </a:p>
        </p:txBody>
      </p:sp>
      <p:sp>
        <p:nvSpPr>
          <p:cNvPr id="689" name=""/>
          <p:cNvSpPr/>
          <p:nvPr/>
        </p:nvSpPr>
        <p:spPr>
          <a:xfrm rot="0" flipH="0" flipV="0">
            <a:off x="609600" y="256222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90" name="" descr="{&quot;isTemplate&quot;:true,&quot;type&quot;:&quot;text&quot;}"/>
          <p:cNvSpPr txBox="1"/>
          <p:nvPr/>
        </p:nvSpPr>
        <p:spPr>
          <a:xfrm rot="0" flipH="0" flipV="0">
            <a:off x="685800" y="2676525"/>
            <a:ext cx="3571875" cy="142875"/>
          </a:xfrm>
          <a:prstGeom prst="rect"/>
        </p:spPr>
        <p:txBody>
          <a:bodyPr wrap="none" lIns="0" tIns="0" rIns="0" bIns="0"/>
          <a:p>
            <a:pPr>
              <a:lnSpc>
                <a:spcPct val="100000"/>
              </a:lnSpc>
            </a:pPr>
            <a:r>
              <a:rPr lang="zh-CN" sz="938">
                <a:solidFill>
                  <a:srgbClr val="15181D"/>
                </a:solidFill>
                <a:latin typeface="Noto Sans SC"/>
                <a:ea typeface="Noto Sans SC"/>
              </a:rPr>
              <a:t>网林人造石独立式方形一体成型落地洗脸盆民宿酒店阳台立柱盆定制</a:t>
            </a:r>
            <a:endParaRPr/>
          </a:p>
        </p:txBody>
      </p:sp>
      <p:sp>
        <p:nvSpPr>
          <p:cNvPr id="691" name="" descr="{&quot;isTemplate&quot;:true,&quot;type&quot;:&quot;text&quot;}"/>
          <p:cNvSpPr txBox="1"/>
          <p:nvPr/>
        </p:nvSpPr>
        <p:spPr>
          <a:xfrm rot="0" flipH="0" flipV="0">
            <a:off x="7953375" y="2676525"/>
            <a:ext cx="276225" cy="142875"/>
          </a:xfrm>
          <a:prstGeom prst="rect"/>
        </p:spPr>
        <p:txBody>
          <a:bodyPr wrap="none" lIns="0" tIns="0" rIns="0" bIns="0"/>
          <a:p>
            <a:pPr>
              <a:lnSpc>
                <a:spcPct val="100000"/>
              </a:lnSpc>
            </a:pPr>
            <a:r>
              <a:rPr lang="en-US" sz="938">
                <a:solidFill>
                  <a:srgbClr val="15181D"/>
                </a:solidFill>
                <a:latin typeface="Noto Sans SC"/>
                <a:ea typeface="Noto Sans SC"/>
              </a:rPr>
              <a:t>5,572</a:t>
            </a:r>
            <a:endParaRPr/>
          </a:p>
        </p:txBody>
      </p:sp>
      <p:sp>
        <p:nvSpPr>
          <p:cNvPr id="692" name="" descr="{&quot;isTemplate&quot;:true,&quot;type&quot;:&quot;text&quot;}"/>
          <p:cNvSpPr txBox="1"/>
          <p:nvPr/>
        </p:nvSpPr>
        <p:spPr>
          <a:xfrm rot="0" flipH="0" flipV="0">
            <a:off x="9448800" y="2676525"/>
            <a:ext cx="323850" cy="142875"/>
          </a:xfrm>
          <a:prstGeom prst="rect"/>
        </p:spPr>
        <p:txBody>
          <a:bodyPr wrap="none" lIns="0" tIns="0" rIns="0" bIns="0"/>
          <a:p>
            <a:pPr>
              <a:lnSpc>
                <a:spcPct val="100000"/>
              </a:lnSpc>
            </a:pPr>
            <a:r>
              <a:rPr lang="en-US" sz="938">
                <a:solidFill>
                  <a:srgbClr val="15181D"/>
                </a:solidFill>
                <a:latin typeface="Noto Sans SC"/>
                <a:ea typeface="Noto Sans SC"/>
              </a:rPr>
              <a:t>0.57%</a:t>
            </a:r>
            <a:endParaRPr/>
          </a:p>
        </p:txBody>
      </p:sp>
      <p:sp>
        <p:nvSpPr>
          <p:cNvPr id="693" name="" descr="{&quot;isTemplate&quot;:true,&quot;type&quot;:&quot;text&quot;}"/>
          <p:cNvSpPr txBox="1"/>
          <p:nvPr/>
        </p:nvSpPr>
        <p:spPr>
          <a:xfrm rot="0" flipH="0" flipV="0">
            <a:off x="11315700" y="2676525"/>
            <a:ext cx="190500" cy="142875"/>
          </a:xfrm>
          <a:prstGeom prst="rect"/>
        </p:spPr>
        <p:txBody>
          <a:bodyPr wrap="none" lIns="0" tIns="0" rIns="0" bIns="0"/>
          <a:p>
            <a:pPr>
              <a:lnSpc>
                <a:spcPct val="100000"/>
              </a:lnSpc>
            </a:pPr>
            <a:r>
              <a:rPr lang="en-US" sz="938">
                <a:solidFill>
                  <a:srgbClr val="15181D"/>
                </a:solidFill>
                <a:latin typeface="Noto Sans SC"/>
                <a:ea typeface="Noto Sans SC"/>
              </a:rPr>
              <a:t>140</a:t>
            </a:r>
            <a:endParaRPr/>
          </a:p>
        </p:txBody>
      </p:sp>
      <p:sp>
        <p:nvSpPr>
          <p:cNvPr id="694" name=""/>
          <p:cNvSpPr/>
          <p:nvPr/>
        </p:nvSpPr>
        <p:spPr>
          <a:xfrm rot="0" flipH="0" flipV="0">
            <a:off x="609600" y="2933700"/>
            <a:ext cx="10972800" cy="361950"/>
          </a:xfrm>
          <a:prstGeom prst="rect">
            <a:avLst/>
          </a:prstGeom>
          <a:solidFill>
            <a:srgbClr val="FBF2EF"/>
          </a:solidFill>
          <a:ln/>
        </p:spPr>
        <p:txBody>
          <a:bodyPr/>
          <a:p/>
        </p:txBody>
      </p:sp>
      <p:sp>
        <p:nvSpPr>
          <p:cNvPr id="695" name=""/>
          <p:cNvSpPr/>
          <p:nvPr/>
        </p:nvSpPr>
        <p:spPr>
          <a:xfrm rot="0" flipH="0" flipV="0">
            <a:off x="609600" y="293370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696" name="" descr="{&quot;isTemplate&quot;:true,&quot;type&quot;:&quot;text&quot;}"/>
          <p:cNvSpPr txBox="1"/>
          <p:nvPr/>
        </p:nvSpPr>
        <p:spPr>
          <a:xfrm rot="0" flipH="0" flipV="0">
            <a:off x="685800" y="3048000"/>
            <a:ext cx="3571875" cy="142875"/>
          </a:xfrm>
          <a:prstGeom prst="rect"/>
        </p:spPr>
        <p:txBody>
          <a:bodyPr wrap="none" lIns="0" tIns="0" rIns="0" bIns="0"/>
          <a:p>
            <a:pPr>
              <a:lnSpc>
                <a:spcPct val="100000"/>
              </a:lnSpc>
            </a:pPr>
            <a:r>
              <a:rPr lang="zh-CN" sz="938" b="1">
                <a:solidFill>
                  <a:srgbClr val="AE4128"/>
                </a:solidFill>
                <a:latin typeface="Noto Sans SC"/>
                <a:ea typeface="Noto Sans SC"/>
              </a:rPr>
              <a:t>盖文一体人造石储物立柱盆酒店家用小户型卫生间落地式洗手池台盆</a:t>
            </a:r>
            <a:endParaRPr/>
          </a:p>
        </p:txBody>
      </p:sp>
      <p:sp>
        <p:nvSpPr>
          <p:cNvPr id="697" name="" descr="{&quot;isTemplate&quot;:true,&quot;type&quot;:&quot;text&quot;}"/>
          <p:cNvSpPr txBox="1"/>
          <p:nvPr/>
        </p:nvSpPr>
        <p:spPr>
          <a:xfrm rot="0" flipH="0" flipV="0">
            <a:off x="7953375" y="3048000"/>
            <a:ext cx="276225" cy="142875"/>
          </a:xfrm>
          <a:prstGeom prst="rect"/>
        </p:spPr>
        <p:txBody>
          <a:bodyPr wrap="none" lIns="0" tIns="0" rIns="0" bIns="0"/>
          <a:p>
            <a:pPr>
              <a:lnSpc>
                <a:spcPct val="100000"/>
              </a:lnSpc>
            </a:pPr>
            <a:r>
              <a:rPr lang="en-US" sz="938">
                <a:solidFill>
                  <a:srgbClr val="15181D"/>
                </a:solidFill>
                <a:latin typeface="Noto Sans SC"/>
                <a:ea typeface="Noto Sans SC"/>
              </a:rPr>
              <a:t>5,223</a:t>
            </a:r>
            <a:endParaRPr/>
          </a:p>
        </p:txBody>
      </p:sp>
      <p:sp>
        <p:nvSpPr>
          <p:cNvPr id="698" name="" descr="{&quot;isTemplate&quot;:true,&quot;type&quot;:&quot;text&quot;}"/>
          <p:cNvSpPr txBox="1"/>
          <p:nvPr/>
        </p:nvSpPr>
        <p:spPr>
          <a:xfrm rot="0" flipH="0" flipV="0">
            <a:off x="9448800" y="3048000"/>
            <a:ext cx="323850" cy="142875"/>
          </a:xfrm>
          <a:prstGeom prst="rect"/>
        </p:spPr>
        <p:txBody>
          <a:bodyPr wrap="none" lIns="0" tIns="0" rIns="0" bIns="0"/>
          <a:p>
            <a:pPr>
              <a:lnSpc>
                <a:spcPct val="100000"/>
              </a:lnSpc>
            </a:pPr>
            <a:r>
              <a:rPr lang="en-US" sz="938">
                <a:solidFill>
                  <a:srgbClr val="15181D"/>
                </a:solidFill>
                <a:latin typeface="Noto Sans SC"/>
                <a:ea typeface="Noto Sans SC"/>
              </a:rPr>
              <a:t>0.34%</a:t>
            </a:r>
            <a:endParaRPr/>
          </a:p>
        </p:txBody>
      </p:sp>
      <p:sp>
        <p:nvSpPr>
          <p:cNvPr id="699" name="" descr="{&quot;isTemplate&quot;:true,&quot;type&quot;:&quot;text&quot;}"/>
          <p:cNvSpPr txBox="1"/>
          <p:nvPr/>
        </p:nvSpPr>
        <p:spPr>
          <a:xfrm rot="0" flipH="0" flipV="0">
            <a:off x="11439525" y="3048000"/>
            <a:ext cx="66675" cy="142875"/>
          </a:xfrm>
          <a:prstGeom prst="rect"/>
        </p:spPr>
        <p:txBody>
          <a:bodyPr wrap="none" lIns="0" tIns="0" rIns="0" bIns="0"/>
          <a:p>
            <a:pPr>
              <a:lnSpc>
                <a:spcPct val="100000"/>
              </a:lnSpc>
            </a:pPr>
            <a:r>
              <a:rPr lang="en-US" sz="938">
                <a:solidFill>
                  <a:srgbClr val="AE4128"/>
                </a:solidFill>
                <a:latin typeface="Noto Sans SC"/>
                <a:ea typeface="Noto Sans SC"/>
              </a:rPr>
              <a:t>0</a:t>
            </a:r>
            <a:endParaRPr/>
          </a:p>
        </p:txBody>
      </p:sp>
      <p:sp>
        <p:nvSpPr>
          <p:cNvPr id="700" name=""/>
          <p:cNvSpPr/>
          <p:nvPr/>
        </p:nvSpPr>
        <p:spPr>
          <a:xfrm rot="0" flipH="0" flipV="0">
            <a:off x="609600" y="330517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01" name="" descr="{&quot;isTemplate&quot;:true,&quot;type&quot;:&quot;text&quot;}"/>
          <p:cNvSpPr txBox="1"/>
          <p:nvPr/>
        </p:nvSpPr>
        <p:spPr>
          <a:xfrm rot="0" flipH="0" flipV="0">
            <a:off x="685800" y="3419475"/>
            <a:ext cx="3571875" cy="142875"/>
          </a:xfrm>
          <a:prstGeom prst="rect"/>
        </p:spPr>
        <p:txBody>
          <a:bodyPr wrap="none" lIns="0" tIns="0" rIns="0" bIns="0"/>
          <a:p>
            <a:pPr>
              <a:lnSpc>
                <a:spcPct val="100000"/>
              </a:lnSpc>
            </a:pPr>
            <a:r>
              <a:rPr lang="zh-CN" sz="938">
                <a:solidFill>
                  <a:srgbClr val="15181D"/>
                </a:solidFill>
                <a:latin typeface="Noto Sans SC"/>
                <a:ea typeface="Noto Sans SC"/>
              </a:rPr>
              <a:t>网林简约现代人造石立柱盆家用卫生间落地一体式置物台面洗手台盆</a:t>
            </a:r>
            <a:endParaRPr/>
          </a:p>
        </p:txBody>
      </p:sp>
      <p:sp>
        <p:nvSpPr>
          <p:cNvPr id="702" name="" descr="{&quot;isTemplate&quot;:true,&quot;type&quot;:&quot;text&quot;}"/>
          <p:cNvSpPr txBox="1"/>
          <p:nvPr/>
        </p:nvSpPr>
        <p:spPr>
          <a:xfrm rot="0" flipH="0" flipV="0">
            <a:off x="7953375" y="3419475"/>
            <a:ext cx="276225" cy="142875"/>
          </a:xfrm>
          <a:prstGeom prst="rect"/>
        </p:spPr>
        <p:txBody>
          <a:bodyPr wrap="none" lIns="0" tIns="0" rIns="0" bIns="0"/>
          <a:p>
            <a:pPr>
              <a:lnSpc>
                <a:spcPct val="100000"/>
              </a:lnSpc>
            </a:pPr>
            <a:r>
              <a:rPr lang="en-US" sz="938">
                <a:solidFill>
                  <a:srgbClr val="15181D"/>
                </a:solidFill>
                <a:latin typeface="Noto Sans SC"/>
                <a:ea typeface="Noto Sans SC"/>
              </a:rPr>
              <a:t>3,796</a:t>
            </a:r>
            <a:endParaRPr/>
          </a:p>
        </p:txBody>
      </p:sp>
      <p:sp>
        <p:nvSpPr>
          <p:cNvPr id="703" name="" descr="{&quot;isTemplate&quot;:true,&quot;type&quot;:&quot;text&quot;}"/>
          <p:cNvSpPr txBox="1"/>
          <p:nvPr/>
        </p:nvSpPr>
        <p:spPr>
          <a:xfrm rot="0" flipH="0" flipV="0">
            <a:off x="9448800" y="3419475"/>
            <a:ext cx="323850" cy="142875"/>
          </a:xfrm>
          <a:prstGeom prst="rect"/>
        </p:spPr>
        <p:txBody>
          <a:bodyPr wrap="none" lIns="0" tIns="0" rIns="0" bIns="0"/>
          <a:p>
            <a:pPr>
              <a:lnSpc>
                <a:spcPct val="100000"/>
              </a:lnSpc>
            </a:pPr>
            <a:r>
              <a:rPr lang="en-US" sz="938">
                <a:solidFill>
                  <a:srgbClr val="15181D"/>
                </a:solidFill>
                <a:latin typeface="Noto Sans SC"/>
                <a:ea typeface="Noto Sans SC"/>
              </a:rPr>
              <a:t>0.29%</a:t>
            </a:r>
            <a:endParaRPr/>
          </a:p>
        </p:txBody>
      </p:sp>
      <p:sp>
        <p:nvSpPr>
          <p:cNvPr id="704" name="" descr="{&quot;isTemplate&quot;:true,&quot;type&quot;:&quot;text&quot;}"/>
          <p:cNvSpPr txBox="1"/>
          <p:nvPr/>
        </p:nvSpPr>
        <p:spPr>
          <a:xfrm rot="0" flipH="0" flipV="0">
            <a:off x="11315700" y="3419475"/>
            <a:ext cx="190500" cy="142875"/>
          </a:xfrm>
          <a:prstGeom prst="rect"/>
        </p:spPr>
        <p:txBody>
          <a:bodyPr wrap="none" lIns="0" tIns="0" rIns="0" bIns="0"/>
          <a:p>
            <a:pPr>
              <a:lnSpc>
                <a:spcPct val="100000"/>
              </a:lnSpc>
            </a:pPr>
            <a:r>
              <a:rPr lang="en-US" sz="938">
                <a:solidFill>
                  <a:srgbClr val="15181D"/>
                </a:solidFill>
                <a:latin typeface="Noto Sans SC"/>
                <a:ea typeface="Noto Sans SC"/>
              </a:rPr>
              <a:t>130</a:t>
            </a:r>
            <a:endParaRPr/>
          </a:p>
        </p:txBody>
      </p:sp>
      <p:sp>
        <p:nvSpPr>
          <p:cNvPr id="705" name=""/>
          <p:cNvSpPr/>
          <p:nvPr/>
        </p:nvSpPr>
        <p:spPr>
          <a:xfrm rot="0" flipH="0" flipV="0">
            <a:off x="609600" y="3676650"/>
            <a:ext cx="10972800" cy="361950"/>
          </a:xfrm>
          <a:prstGeom prst="rect">
            <a:avLst/>
          </a:prstGeom>
          <a:solidFill>
            <a:srgbClr val="FBF2EF"/>
          </a:solidFill>
          <a:ln/>
        </p:spPr>
        <p:txBody>
          <a:bodyPr/>
          <a:p/>
        </p:txBody>
      </p:sp>
      <p:sp>
        <p:nvSpPr>
          <p:cNvPr id="706" name=""/>
          <p:cNvSpPr/>
          <p:nvPr/>
        </p:nvSpPr>
        <p:spPr>
          <a:xfrm rot="0" flipH="0" flipV="0">
            <a:off x="609600" y="367665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07" name="" descr="{&quot;isTemplate&quot;:true,&quot;type&quot;:&quot;text&quot;}"/>
          <p:cNvSpPr txBox="1"/>
          <p:nvPr/>
        </p:nvSpPr>
        <p:spPr>
          <a:xfrm rot="0" flipH="0" flipV="0">
            <a:off x="685800" y="3790950"/>
            <a:ext cx="3457575" cy="142875"/>
          </a:xfrm>
          <a:prstGeom prst="rect"/>
        </p:spPr>
        <p:txBody>
          <a:bodyPr wrap="none" lIns="0" tIns="0" rIns="0" bIns="0"/>
          <a:p>
            <a:pPr>
              <a:lnSpc>
                <a:spcPct val="100000"/>
              </a:lnSpc>
            </a:pPr>
            <a:r>
              <a:rPr lang="zh-CN" sz="938" b="1">
                <a:solidFill>
                  <a:srgbClr val="AE4128"/>
                </a:solidFill>
                <a:latin typeface="Noto Sans SC"/>
                <a:ea typeface="Noto Sans SC"/>
              </a:rPr>
              <a:t>盖文绮美人造石洗手盆一体落地式洗脸台酒店家用储物方形立柱盆</a:t>
            </a:r>
            <a:endParaRPr/>
          </a:p>
        </p:txBody>
      </p:sp>
      <p:sp>
        <p:nvSpPr>
          <p:cNvPr id="708" name="" descr="{&quot;isTemplate&quot;:true,&quot;type&quot;:&quot;text&quot;}"/>
          <p:cNvSpPr txBox="1"/>
          <p:nvPr/>
        </p:nvSpPr>
        <p:spPr>
          <a:xfrm rot="0" flipH="0" flipV="0">
            <a:off x="7953375" y="3790950"/>
            <a:ext cx="276225" cy="142875"/>
          </a:xfrm>
          <a:prstGeom prst="rect"/>
        </p:spPr>
        <p:txBody>
          <a:bodyPr wrap="none" lIns="0" tIns="0" rIns="0" bIns="0"/>
          <a:p>
            <a:pPr>
              <a:lnSpc>
                <a:spcPct val="100000"/>
              </a:lnSpc>
            </a:pPr>
            <a:r>
              <a:rPr lang="en-US" sz="938">
                <a:solidFill>
                  <a:srgbClr val="15181D"/>
                </a:solidFill>
                <a:latin typeface="Noto Sans SC"/>
                <a:ea typeface="Noto Sans SC"/>
              </a:rPr>
              <a:t>3,747</a:t>
            </a:r>
            <a:endParaRPr/>
          </a:p>
        </p:txBody>
      </p:sp>
      <p:sp>
        <p:nvSpPr>
          <p:cNvPr id="709" name="" descr="{&quot;isTemplate&quot;:true,&quot;type&quot;:&quot;text&quot;}"/>
          <p:cNvSpPr txBox="1"/>
          <p:nvPr/>
        </p:nvSpPr>
        <p:spPr>
          <a:xfrm rot="0" flipH="0" flipV="0">
            <a:off x="9448800" y="3790950"/>
            <a:ext cx="323850" cy="142875"/>
          </a:xfrm>
          <a:prstGeom prst="rect"/>
        </p:spPr>
        <p:txBody>
          <a:bodyPr wrap="none" lIns="0" tIns="0" rIns="0" bIns="0"/>
          <a:p>
            <a:pPr>
              <a:lnSpc>
                <a:spcPct val="100000"/>
              </a:lnSpc>
            </a:pPr>
            <a:r>
              <a:rPr lang="en-US" sz="938">
                <a:solidFill>
                  <a:srgbClr val="15181D"/>
                </a:solidFill>
                <a:latin typeface="Noto Sans SC"/>
                <a:ea typeface="Noto Sans SC"/>
              </a:rPr>
              <a:t>0.83%</a:t>
            </a:r>
            <a:endParaRPr/>
          </a:p>
        </p:txBody>
      </p:sp>
      <p:sp>
        <p:nvSpPr>
          <p:cNvPr id="710" name="" descr="{&quot;isTemplate&quot;:true,&quot;type&quot;:&quot;text&quot;}"/>
          <p:cNvSpPr txBox="1"/>
          <p:nvPr/>
        </p:nvSpPr>
        <p:spPr>
          <a:xfrm rot="0" flipH="0" flipV="0">
            <a:off x="11439525" y="3790950"/>
            <a:ext cx="66675" cy="142875"/>
          </a:xfrm>
          <a:prstGeom prst="rect"/>
        </p:spPr>
        <p:txBody>
          <a:bodyPr wrap="none" lIns="0" tIns="0" rIns="0" bIns="0"/>
          <a:p>
            <a:pPr>
              <a:lnSpc>
                <a:spcPct val="100000"/>
              </a:lnSpc>
            </a:pPr>
            <a:r>
              <a:rPr lang="en-US" sz="938">
                <a:solidFill>
                  <a:srgbClr val="AE4128"/>
                </a:solidFill>
                <a:latin typeface="Noto Sans SC"/>
                <a:ea typeface="Noto Sans SC"/>
              </a:rPr>
              <a:t>0</a:t>
            </a:r>
            <a:endParaRPr/>
          </a:p>
        </p:txBody>
      </p:sp>
      <p:sp>
        <p:nvSpPr>
          <p:cNvPr id="711" name=""/>
          <p:cNvSpPr/>
          <p:nvPr/>
        </p:nvSpPr>
        <p:spPr>
          <a:xfrm rot="0" flipH="0" flipV="0">
            <a:off x="609600" y="404812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12" name="" descr="{&quot;isTemplate&quot;:true,&quot;type&quot;:&quot;text&quot;}"/>
          <p:cNvSpPr txBox="1"/>
          <p:nvPr/>
        </p:nvSpPr>
        <p:spPr>
          <a:xfrm rot="0" flipH="0" flipV="0">
            <a:off x="685800" y="4162425"/>
            <a:ext cx="3571875" cy="142875"/>
          </a:xfrm>
          <a:prstGeom prst="rect"/>
        </p:spPr>
        <p:txBody>
          <a:bodyPr wrap="none" lIns="0" tIns="0" rIns="0" bIns="0"/>
          <a:p>
            <a:pPr>
              <a:lnSpc>
                <a:spcPct val="100000"/>
              </a:lnSpc>
            </a:pPr>
            <a:r>
              <a:rPr lang="zh-CN" sz="938">
                <a:solidFill>
                  <a:srgbClr val="15181D"/>
                </a:solidFill>
                <a:latin typeface="Noto Sans SC"/>
                <a:ea typeface="Noto Sans SC"/>
              </a:rPr>
              <a:t>科塔人造石高分子空格置物立柱盆家用酒店民宿浴室落地洗手盆定制</a:t>
            </a:r>
            <a:endParaRPr/>
          </a:p>
        </p:txBody>
      </p:sp>
      <p:sp>
        <p:nvSpPr>
          <p:cNvPr id="713" name="" descr="{&quot;isTemplate&quot;:true,&quot;type&quot;:&quot;text&quot;}"/>
          <p:cNvSpPr txBox="1"/>
          <p:nvPr/>
        </p:nvSpPr>
        <p:spPr>
          <a:xfrm rot="0" flipH="0" flipV="0">
            <a:off x="7953375" y="4162425"/>
            <a:ext cx="276225" cy="142875"/>
          </a:xfrm>
          <a:prstGeom prst="rect"/>
        </p:spPr>
        <p:txBody>
          <a:bodyPr wrap="none" lIns="0" tIns="0" rIns="0" bIns="0"/>
          <a:p>
            <a:pPr>
              <a:lnSpc>
                <a:spcPct val="100000"/>
              </a:lnSpc>
            </a:pPr>
            <a:r>
              <a:rPr lang="en-US" sz="938">
                <a:solidFill>
                  <a:srgbClr val="15181D"/>
                </a:solidFill>
                <a:latin typeface="Noto Sans SC"/>
                <a:ea typeface="Noto Sans SC"/>
              </a:rPr>
              <a:t>2,661</a:t>
            </a:r>
            <a:endParaRPr/>
          </a:p>
        </p:txBody>
      </p:sp>
      <p:sp>
        <p:nvSpPr>
          <p:cNvPr id="714" name="" descr="{&quot;isTemplate&quot;:true,&quot;type&quot;:&quot;text&quot;}"/>
          <p:cNvSpPr txBox="1"/>
          <p:nvPr/>
        </p:nvSpPr>
        <p:spPr>
          <a:xfrm rot="0" flipH="0" flipV="0">
            <a:off x="9448800" y="4162425"/>
            <a:ext cx="323850" cy="142875"/>
          </a:xfrm>
          <a:prstGeom prst="rect"/>
        </p:spPr>
        <p:txBody>
          <a:bodyPr wrap="none" lIns="0" tIns="0" rIns="0" bIns="0"/>
          <a:p>
            <a:pPr>
              <a:lnSpc>
                <a:spcPct val="100000"/>
              </a:lnSpc>
            </a:pPr>
            <a:r>
              <a:rPr lang="en-US" sz="938">
                <a:solidFill>
                  <a:srgbClr val="15181D"/>
                </a:solidFill>
                <a:latin typeface="Noto Sans SC"/>
                <a:ea typeface="Noto Sans SC"/>
              </a:rPr>
              <a:t>0.64%</a:t>
            </a:r>
            <a:endParaRPr/>
          </a:p>
        </p:txBody>
      </p:sp>
      <p:sp>
        <p:nvSpPr>
          <p:cNvPr id="715" name="" descr="{&quot;isTemplate&quot;:true,&quot;type&quot;:&quot;text&quot;}"/>
          <p:cNvSpPr txBox="1"/>
          <p:nvPr/>
        </p:nvSpPr>
        <p:spPr>
          <a:xfrm rot="0" flipH="0" flipV="0">
            <a:off x="11229975" y="4162425"/>
            <a:ext cx="276225" cy="142875"/>
          </a:xfrm>
          <a:prstGeom prst="rect"/>
        </p:spPr>
        <p:txBody>
          <a:bodyPr wrap="none" lIns="0" tIns="0" rIns="0" bIns="0"/>
          <a:p>
            <a:pPr>
              <a:lnSpc>
                <a:spcPct val="100000"/>
              </a:lnSpc>
            </a:pPr>
            <a:r>
              <a:rPr lang="en-US" sz="938">
                <a:solidFill>
                  <a:srgbClr val="15181D"/>
                </a:solidFill>
                <a:latin typeface="Noto Sans SC"/>
                <a:ea typeface="Noto Sans SC"/>
              </a:rPr>
              <a:t>2,622</a:t>
            </a:r>
            <a:endParaRPr/>
          </a:p>
        </p:txBody>
      </p:sp>
      <p:sp>
        <p:nvSpPr>
          <p:cNvPr id="716" name=""/>
          <p:cNvSpPr/>
          <p:nvPr/>
        </p:nvSpPr>
        <p:spPr>
          <a:xfrm rot="0" flipH="0" flipV="0">
            <a:off x="609600" y="4419600"/>
            <a:ext cx="10972800" cy="361950"/>
          </a:xfrm>
          <a:prstGeom prst="rect">
            <a:avLst/>
          </a:prstGeom>
          <a:solidFill>
            <a:srgbClr val="FBF2EF"/>
          </a:solidFill>
          <a:ln/>
        </p:spPr>
        <p:txBody>
          <a:bodyPr/>
          <a:p/>
        </p:txBody>
      </p:sp>
      <p:sp>
        <p:nvSpPr>
          <p:cNvPr id="717" name=""/>
          <p:cNvSpPr/>
          <p:nvPr/>
        </p:nvSpPr>
        <p:spPr>
          <a:xfrm rot="0" flipH="0" flipV="0">
            <a:off x="609600" y="4419600"/>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18" name="" descr="{&quot;isTemplate&quot;:true,&quot;type&quot;:&quot;text&quot;}"/>
          <p:cNvSpPr txBox="1"/>
          <p:nvPr/>
        </p:nvSpPr>
        <p:spPr>
          <a:xfrm rot="0" flipH="0" flipV="0">
            <a:off x="685800" y="4533900"/>
            <a:ext cx="3571875" cy="142875"/>
          </a:xfrm>
          <a:prstGeom prst="rect"/>
        </p:spPr>
        <p:txBody>
          <a:bodyPr wrap="none" lIns="0" tIns="0" rIns="0" bIns="0"/>
          <a:p>
            <a:pPr>
              <a:lnSpc>
                <a:spcPct val="100000"/>
              </a:lnSpc>
            </a:pPr>
            <a:r>
              <a:rPr lang="zh-CN" sz="938" b="1">
                <a:solidFill>
                  <a:srgbClr val="AE4128"/>
                </a:solidFill>
                <a:latin typeface="Noto Sans SC"/>
                <a:ea typeface="Noto Sans SC"/>
              </a:rPr>
              <a:t>科塔超窄边人造石洗漱盆家用民宿挂墙式一体成型洗手洗脸台盆定制</a:t>
            </a:r>
            <a:endParaRPr/>
          </a:p>
        </p:txBody>
      </p:sp>
      <p:sp>
        <p:nvSpPr>
          <p:cNvPr id="719" name="" descr="{&quot;isTemplate&quot;:true,&quot;type&quot;:&quot;text&quot;}"/>
          <p:cNvSpPr txBox="1"/>
          <p:nvPr/>
        </p:nvSpPr>
        <p:spPr>
          <a:xfrm rot="0" flipH="0" flipV="0">
            <a:off x="7953375" y="4533900"/>
            <a:ext cx="276225" cy="142875"/>
          </a:xfrm>
          <a:prstGeom prst="rect"/>
        </p:spPr>
        <p:txBody>
          <a:bodyPr wrap="none" lIns="0" tIns="0" rIns="0" bIns="0"/>
          <a:p>
            <a:pPr>
              <a:lnSpc>
                <a:spcPct val="100000"/>
              </a:lnSpc>
            </a:pPr>
            <a:r>
              <a:rPr lang="en-US" sz="938">
                <a:solidFill>
                  <a:srgbClr val="15181D"/>
                </a:solidFill>
                <a:latin typeface="Noto Sans SC"/>
                <a:ea typeface="Noto Sans SC"/>
              </a:rPr>
              <a:t>2,295</a:t>
            </a:r>
            <a:endParaRPr/>
          </a:p>
        </p:txBody>
      </p:sp>
      <p:sp>
        <p:nvSpPr>
          <p:cNvPr id="720" name="" descr="{&quot;isTemplate&quot;:true,&quot;type&quot;:&quot;text&quot;}"/>
          <p:cNvSpPr txBox="1"/>
          <p:nvPr/>
        </p:nvSpPr>
        <p:spPr>
          <a:xfrm rot="0" flipH="0" flipV="0">
            <a:off x="9448800" y="4533900"/>
            <a:ext cx="323850" cy="142875"/>
          </a:xfrm>
          <a:prstGeom prst="rect"/>
        </p:spPr>
        <p:txBody>
          <a:bodyPr wrap="none" lIns="0" tIns="0" rIns="0" bIns="0"/>
          <a:p>
            <a:pPr>
              <a:lnSpc>
                <a:spcPct val="100000"/>
              </a:lnSpc>
            </a:pPr>
            <a:r>
              <a:rPr lang="en-US" sz="938">
                <a:solidFill>
                  <a:srgbClr val="A97B28"/>
                </a:solidFill>
                <a:latin typeface="Noto Sans SC"/>
                <a:ea typeface="Noto Sans SC"/>
              </a:rPr>
              <a:t>5.49%</a:t>
            </a:r>
            <a:endParaRPr/>
          </a:p>
        </p:txBody>
      </p:sp>
      <p:sp>
        <p:nvSpPr>
          <p:cNvPr id="721" name="" descr="{&quot;isTemplate&quot;:true,&quot;type&quot;:&quot;text&quot;}"/>
          <p:cNvSpPr txBox="1"/>
          <p:nvPr/>
        </p:nvSpPr>
        <p:spPr>
          <a:xfrm rot="0" flipH="0" flipV="0">
            <a:off x="11439525" y="4533900"/>
            <a:ext cx="66675" cy="142875"/>
          </a:xfrm>
          <a:prstGeom prst="rect"/>
        </p:spPr>
        <p:txBody>
          <a:bodyPr wrap="none" lIns="0" tIns="0" rIns="0" bIns="0"/>
          <a:p>
            <a:pPr>
              <a:lnSpc>
                <a:spcPct val="100000"/>
              </a:lnSpc>
            </a:pPr>
            <a:r>
              <a:rPr lang="en-US" sz="938">
                <a:solidFill>
                  <a:srgbClr val="AE4128"/>
                </a:solidFill>
                <a:latin typeface="Noto Sans SC"/>
                <a:ea typeface="Noto Sans SC"/>
              </a:rPr>
              <a:t>0</a:t>
            </a:r>
            <a:endParaRPr/>
          </a:p>
        </p:txBody>
      </p:sp>
      <p:sp>
        <p:nvSpPr>
          <p:cNvPr id="722" name=""/>
          <p:cNvSpPr/>
          <p:nvPr/>
        </p:nvSpPr>
        <p:spPr>
          <a:xfrm rot="0" flipH="0" flipV="0">
            <a:off x="609600" y="4791075"/>
            <a:ext cx="10972800" cy="371475"/>
          </a:xfrm>
          <a:custGeom>
            <a:pathLst>
              <a:path w="1152" h="39">
                <a:moveTo>
                  <a:pt x="0" y="38"/>
                </a:moveTo>
                <a:lnTo>
                  <a:pt x="1152" y="38"/>
                </a:lnTo>
                <a:lnTo>
                  <a:pt x="1152" y="39"/>
                </a:lnTo>
                <a:lnTo>
                  <a:pt x="0" y="39"/>
                </a:lnTo>
                <a:close/>
              </a:path>
            </a:pathLst>
          </a:custGeom>
          <a:solidFill>
            <a:srgbClr val="DDE2E8"/>
          </a:solidFill>
          <a:ln/>
        </p:spPr>
        <p:txBody>
          <a:bodyPr/>
          <a:p/>
        </p:txBody>
      </p:sp>
      <p:sp>
        <p:nvSpPr>
          <p:cNvPr id="723" name="" descr="{&quot;isTemplate&quot;:true,&quot;type&quot;:&quot;text&quot;}"/>
          <p:cNvSpPr txBox="1"/>
          <p:nvPr/>
        </p:nvSpPr>
        <p:spPr>
          <a:xfrm rot="0" flipH="0" flipV="0">
            <a:off x="685800" y="4905375"/>
            <a:ext cx="3571875" cy="142875"/>
          </a:xfrm>
          <a:prstGeom prst="rect"/>
        </p:spPr>
        <p:txBody>
          <a:bodyPr wrap="none" lIns="0" tIns="0" rIns="0" bIns="0"/>
          <a:p>
            <a:pPr>
              <a:lnSpc>
                <a:spcPct val="100000"/>
              </a:lnSpc>
            </a:pPr>
            <a:r>
              <a:rPr lang="zh-CN" sz="938">
                <a:solidFill>
                  <a:srgbClr val="15181D"/>
                </a:solidFill>
                <a:latin typeface="Noto Sans SC"/>
                <a:ea typeface="Noto Sans SC"/>
              </a:rPr>
              <a:t>盖文一体人造石立柱盆方形储物酒店家用卫生间阳台落地式洗手台盆</a:t>
            </a:r>
            <a:endParaRPr/>
          </a:p>
        </p:txBody>
      </p:sp>
      <p:sp>
        <p:nvSpPr>
          <p:cNvPr id="724" name="" descr="{&quot;isTemplate&quot;:true,&quot;type&quot;:&quot;text&quot;}"/>
          <p:cNvSpPr txBox="1"/>
          <p:nvPr/>
        </p:nvSpPr>
        <p:spPr>
          <a:xfrm rot="0" flipH="0" flipV="0">
            <a:off x="7953375" y="4905375"/>
            <a:ext cx="276225" cy="142875"/>
          </a:xfrm>
          <a:prstGeom prst="rect"/>
        </p:spPr>
        <p:txBody>
          <a:bodyPr wrap="none" lIns="0" tIns="0" rIns="0" bIns="0"/>
          <a:p>
            <a:pPr>
              <a:lnSpc>
                <a:spcPct val="100000"/>
              </a:lnSpc>
            </a:pPr>
            <a:r>
              <a:rPr lang="en-US" sz="938">
                <a:solidFill>
                  <a:srgbClr val="15181D"/>
                </a:solidFill>
                <a:latin typeface="Noto Sans SC"/>
                <a:ea typeface="Noto Sans SC"/>
              </a:rPr>
              <a:t>1,970</a:t>
            </a:r>
            <a:endParaRPr/>
          </a:p>
        </p:txBody>
      </p:sp>
      <p:sp>
        <p:nvSpPr>
          <p:cNvPr id="725" name="" descr="{&quot;isTemplate&quot;:true,&quot;type&quot;:&quot;text&quot;}"/>
          <p:cNvSpPr txBox="1"/>
          <p:nvPr/>
        </p:nvSpPr>
        <p:spPr>
          <a:xfrm rot="0" flipH="0" flipV="0">
            <a:off x="9448800" y="4905375"/>
            <a:ext cx="323850" cy="142875"/>
          </a:xfrm>
          <a:prstGeom prst="rect"/>
        </p:spPr>
        <p:txBody>
          <a:bodyPr wrap="none" lIns="0" tIns="0" rIns="0" bIns="0"/>
          <a:p>
            <a:pPr>
              <a:lnSpc>
                <a:spcPct val="100000"/>
              </a:lnSpc>
            </a:pPr>
            <a:r>
              <a:rPr lang="en-US" sz="938">
                <a:solidFill>
                  <a:srgbClr val="15181D"/>
                </a:solidFill>
                <a:latin typeface="Noto Sans SC"/>
                <a:ea typeface="Noto Sans SC"/>
              </a:rPr>
              <a:t>0.76%</a:t>
            </a:r>
            <a:endParaRPr/>
          </a:p>
        </p:txBody>
      </p:sp>
      <p:sp>
        <p:nvSpPr>
          <p:cNvPr id="726" name="" descr="{&quot;isTemplate&quot;:true,&quot;type&quot;:&quot;text&quot;}"/>
          <p:cNvSpPr txBox="1"/>
          <p:nvPr/>
        </p:nvSpPr>
        <p:spPr>
          <a:xfrm rot="0" flipH="0" flipV="0">
            <a:off x="11229975" y="4905375"/>
            <a:ext cx="276225" cy="142875"/>
          </a:xfrm>
          <a:prstGeom prst="rect"/>
        </p:spPr>
        <p:txBody>
          <a:bodyPr wrap="none" lIns="0" tIns="0" rIns="0" bIns="0"/>
          <a:p>
            <a:pPr>
              <a:lnSpc>
                <a:spcPct val="100000"/>
              </a:lnSpc>
            </a:pPr>
            <a:r>
              <a:rPr lang="en-US" sz="938">
                <a:solidFill>
                  <a:srgbClr val="15181D"/>
                </a:solidFill>
                <a:latin typeface="Noto Sans SC"/>
                <a:ea typeface="Noto Sans SC"/>
              </a:rPr>
              <a:t>3,530</a:t>
            </a:r>
            <a:endParaRPr/>
          </a:p>
        </p:txBody>
      </p:sp>
      <p:sp>
        <p:nvSpPr>
          <p:cNvPr id="727" name="" descr="{&quot;isTemplate&quot;:true,&quot;type&quot;:&quot;text&quot;}"/>
          <p:cNvSpPr txBox="1"/>
          <p:nvPr/>
        </p:nvSpPr>
        <p:spPr>
          <a:xfrm rot="0" flipH="0" flipV="0">
            <a:off x="609600" y="5295900"/>
            <a:ext cx="2047875" cy="142875"/>
          </a:xfrm>
          <a:prstGeom prst="rect"/>
        </p:spPr>
        <p:txBody>
          <a:bodyPr wrap="none" lIns="0" tIns="0" rIns="0" bIns="0"/>
          <a:p>
            <a:pPr>
              <a:lnSpc>
                <a:spcPct val="100000"/>
              </a:lnSpc>
            </a:pPr>
            <a:r>
              <a:rPr lang="en-US" sz="938">
                <a:solidFill>
                  <a:srgbClr val="5F6975"/>
                </a:solidFill>
                <a:latin typeface="Noto Sans SC"/>
                <a:ea typeface="Noto Sans SC"/>
              </a:rPr>
              <a:t>10</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个合计：访客</a:t>
            </a:r>
            <a:r>
              <a:rPr lang="en-US" sz="938">
                <a:solidFill>
                  <a:srgbClr val="5F6975"/>
                </a:solidFill>
                <a:latin typeface="Noto Sans SC"/>
                <a:ea typeface="Noto Sans SC"/>
              </a:rPr>
              <a:t>66,599</a:t>
            </a:r>
            <a:r>
              <a:rPr lang="zh-CN" sz="938">
                <a:solidFill>
                  <a:srgbClr val="5F6975"/>
                </a:solidFill>
                <a:latin typeface="Noto Sans SC"/>
                <a:ea typeface="Noto Sans SC"/>
              </a:rPr>
              <a:t>　成交</a:t>
            </a:r>
            <a:r>
              <a:rPr lang="en-US" sz="938">
                <a:solidFill>
                  <a:srgbClr val="5F6975"/>
                </a:solidFill>
                <a:latin typeface="Noto Sans SC"/>
                <a:ea typeface="Noto Sans SC"/>
              </a:rPr>
              <a:t>16,367</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a:t>
            </a:r>
            <a:endParaRPr/>
          </a:p>
        </p:txBody>
      </p:sp>
      <p:sp>
        <p:nvSpPr>
          <p:cNvPr id="728" name="" descr="{&quot;isTemplate&quot;:true,&quot;type&quot;:&quot;text&quot;}"/>
          <p:cNvSpPr txBox="1"/>
          <p:nvPr/>
        </p:nvSpPr>
        <p:spPr>
          <a:xfrm rot="0" flipH="0" flipV="0">
            <a:off x="10001250" y="5295900"/>
            <a:ext cx="1581150" cy="142875"/>
          </a:xfrm>
          <a:prstGeom prst="rect"/>
        </p:spPr>
        <p:txBody>
          <a:bodyPr wrap="none" lIns="0" tIns="0" rIns="0" bIns="0"/>
          <a:p>
            <a:pPr>
              <a:lnSpc>
                <a:spcPct val="100000"/>
              </a:lnSpc>
            </a:pPr>
            <a:r>
              <a:rPr lang="zh-CN" sz="938">
                <a:solidFill>
                  <a:srgbClr val="5F6975"/>
                </a:solidFill>
                <a:latin typeface="Noto Sans SC"/>
                <a:ea typeface="Noto Sans SC"/>
              </a:rPr>
              <a:t>加购率＝加购人数</a:t>
            </a:r>
            <a:r>
              <a:rPr sz="938">
                <a:solidFill>
                  <a:srgbClr val="5F6975"/>
                </a:solidFill>
                <a:latin typeface="Noto Sans SC"/>
                <a:ea typeface="Noto Sans SC"/>
              </a:rPr>
              <a:t>÷</a:t>
            </a:r>
            <a:r>
              <a:rPr lang="en-US" sz="938">
                <a:solidFill>
                  <a:srgbClr val="5F6975"/>
                </a:solidFill>
                <a:latin typeface="Noto Sans SC"/>
                <a:ea typeface="Noto Sans SC"/>
              </a:rPr>
              <a:t xml:space="preserve"> </a:t>
            </a:r>
            <a:r>
              <a:rPr lang="zh-CN" sz="938">
                <a:solidFill>
                  <a:srgbClr val="5F6975"/>
                </a:solidFill>
                <a:latin typeface="Noto Sans SC"/>
                <a:ea typeface="Noto Sans SC"/>
              </a:rPr>
              <a:t>进店访客</a:t>
            </a:r>
            <a:endParaRPr/>
          </a:p>
        </p:txBody>
      </p:sp>
      <p:sp>
        <p:nvSpPr>
          <p:cNvPr id="729" name=""/>
          <p:cNvSpPr/>
          <p:nvPr/>
        </p:nvSpPr>
        <p:spPr>
          <a:xfrm rot="0" flipH="0" flipV="0">
            <a:off x="647700" y="5610225"/>
            <a:ext cx="10972800" cy="590550"/>
          </a:xfrm>
          <a:prstGeom prst="rect">
            <a:avLst/>
          </a:prstGeom>
          <a:solidFill>
            <a:srgbClr val="F4F6F8"/>
          </a:solidFill>
          <a:ln/>
        </p:spPr>
        <p:txBody>
          <a:bodyPr/>
          <a:p/>
        </p:txBody>
      </p:sp>
      <p:sp>
        <p:nvSpPr>
          <p:cNvPr id="730" name=""/>
          <p:cNvSpPr/>
          <p:nvPr/>
        </p:nvSpPr>
        <p:spPr>
          <a:xfrm rot="0" flipH="0" flipV="0">
            <a:off x="609600" y="5610225"/>
            <a:ext cx="11010900" cy="590550"/>
          </a:xfrm>
          <a:custGeom>
            <a:pathLst>
              <a:path w="1156" h="62">
                <a:moveTo>
                  <a:pt x="0" y="0"/>
                </a:moveTo>
                <a:lnTo>
                  <a:pt x="4" y="0"/>
                </a:lnTo>
                <a:lnTo>
                  <a:pt x="4" y="62"/>
                </a:lnTo>
                <a:lnTo>
                  <a:pt x="0" y="62"/>
                </a:lnTo>
                <a:close/>
              </a:path>
            </a:pathLst>
          </a:custGeom>
          <a:solidFill>
            <a:srgbClr val="AE4128"/>
          </a:solidFill>
          <a:ln/>
        </p:spPr>
        <p:txBody>
          <a:bodyPr/>
          <a:p/>
        </p:txBody>
      </p:sp>
      <p:sp>
        <p:nvSpPr>
          <p:cNvPr id="731" name="" descr="{&quot;isTemplate&quot;:true,&quot;type&quot;:&quot;text&quot;}"/>
          <p:cNvSpPr txBox="1"/>
          <p:nvPr/>
        </p:nvSpPr>
        <p:spPr>
          <a:xfrm rot="0" flipH="0" flipV="0">
            <a:off x="838200" y="5762625"/>
            <a:ext cx="10553700" cy="285750"/>
          </a:xfrm>
          <a:prstGeom prst="rect"/>
        </p:spPr>
        <p:txBody>
          <a:bodyPr wrap="none" lIns="0" tIns="0" rIns="0" bIns="0"/>
          <a:p>
            <a:pPr>
              <a:lnSpc>
                <a:spcPct val="155000"/>
              </a:lnSpc>
            </a:pP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加购率最高的那个（科塔超窄边，</a:t>
            </a:r>
            <a:r>
              <a:rPr lang="en-US" sz="1200" b="1">
                <a:solidFill>
                  <a:srgbClr val="1B3557"/>
                </a:solidFill>
                <a:latin typeface="Noto Sans SC"/>
                <a:ea typeface="Noto Sans SC"/>
              </a:rPr>
              <a:t>5.49%</a:t>
            </a:r>
            <a:r>
              <a:rPr lang="zh-CN" sz="1200" b="1">
                <a:solidFill>
                  <a:srgbClr val="1B3557"/>
                </a:solidFill>
                <a:latin typeface="Noto Sans SC"/>
                <a:ea typeface="Noto Sans SC"/>
              </a:rPr>
              <a:t>）也是零成交</a:t>
            </a:r>
            <a:r>
              <a:rPr sz="1200" b="1">
                <a:solidFill>
                  <a:srgbClr val="1B3557"/>
                </a:solidFill>
                <a:latin typeface="Noto Sans SC"/>
                <a:ea typeface="Noto Sans SC"/>
              </a:rPr>
              <a:t>—</a:t>
            </a:r>
            <a:r>
              <a:rPr sz="1200" b="1">
                <a:solidFill>
                  <a:srgbClr val="1B3557"/>
                </a:solidFill>
                <a:latin typeface="Noto Sans SC"/>
                <a:ea typeface="Noto Sans SC"/>
              </a:rPr>
              <a:t>—</a:t>
            </a:r>
            <a:r>
              <a:rPr lang="zh-CN" sz="1200" b="1">
                <a:solidFill>
                  <a:srgbClr val="1B3557"/>
                </a:solidFill>
                <a:latin typeface="Noto Sans SC"/>
                <a:ea typeface="Noto Sans SC"/>
              </a:rPr>
              <a:t>问题在商品页，不在流量。</a:t>
            </a:r>
            <a:endParaRPr/>
          </a:p>
        </p:txBody>
      </p:sp>
      <p:sp>
        <p:nvSpPr>
          <p:cNvPr id="732"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733"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06</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7.xml><?xml version="1.0" encoding="utf-8"?>
<p:sld xmlns:p="http://schemas.openxmlformats.org/presentationml/2006/main" xmlns:a="http://schemas.openxmlformats.org/drawingml/2006/main">
  <p:cSld>
    <p:spTree>
      <p:nvGrpSpPr>
        <p:cNvPr id="734" name="" descr="&lt;Slide style={{ width: '1280px', height: '720px', background: '#FFFFFF', fontFamily: 'Noto Sans SC', padding: '20px 64px', flexDirection: 'column' }}&gt;&lt;Box style={{ height: '96px', flexDirection: 'column', justifyContent: 'center' }}&gt;&lt;Text style={{ fontSize: '31px', fontWeight: 700, color: '#1B3557', lineHeight: 1.25 }}&gt;{'72'} 个零成交商品，{'18'} 天烧掉{'1.31'}万元&lt;/Text&gt;&lt;Text style={{ fontSize: '15px', color: '#5F6975', lineHeight: 1.4, marginTop: '6px' }}&gt;{'468'} 个商品里{'376'} 个零成交，其中{'72'} 个同时在投推广，{'18'} 天花掉这些钱，占推广总花费{'47.6%'}。下表是按花费排的前{'10'} 个。&lt;/Text&gt;&lt;/Box&gt;&lt;Box style={{ height: '540px', flexDirection: 'column' }}&gt;&lt;Box style={{ flexDirection: 'row', alignItems: 'center', height: '36px', width: '1152px', justifyContent: 'space-between', background: '#1B3557', borderBottom: '1px solid #DDE2E8',  paddingLeft: '8px', paddingRight: '8px' }}&gt;&lt;Box style={{ width: '30px', flexDirection: 'row', justifyContent: 'flex-start', alignItems: 'center' }}&gt;&lt;Text style={{ fontSize: '12px', color: '#FFFFFF', fontWeight: 700 }}&gt;{'#'}&lt;/Text&gt;&lt;/Box&gt;&lt;Box style={{ width: '630px', flexDirection: 'row', justifyContent: 'flex-end', alignItems: 'center' }}&gt;&lt;Text style={{ fontSize: '12px', color: '#FFFFFF', fontWeight: 700 }}&gt;商品&lt;/Text&gt;&lt;/Box&gt;&lt;Box style={{ width: '140px', flexDirection: 'row', justifyContent: 'flex-end', alignItems: 'center' }}&gt;&lt;Text style={{ fontSize: '12px', color: '#FFFFFF', fontWeight: 700 }}&gt;花费（元）&lt;/Text&gt;&lt;/Box&gt;&lt;Box style={{ width: '120px', flexDirection: 'row', justifyContent: 'flex-end', alignItems: 'center' }}&gt;&lt;Text style={{ fontSize: '12px', color: '#FFFFFF', fontWeight: 700 }}&gt;点击&lt;/Text&gt;&lt;/Box&gt;&lt;Box style={{ width: '140px', flexDirection: 'row', justifyContent: 'flex-end', alignItems: 'center' }}&gt;&lt;Text style={{ fontSize: '12px', color: '#FFFFFF', fontWeight: 700 }}&gt;曝光&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1'}&lt;/Text&gt;&lt;/Box&gt;&lt;Box style={{ width: '630px', flexDirection: 'row', justifyContent: 'flex-end', alignItems: 'center' }}&gt;&lt;Text style={{ fontSize: '12.5px', color: '#15181D', fontWeight: 400 }}&gt;Nicoline设计师款式洞石人造石浴缸艺术家用民宿酒店一体独立浴池&lt;/Text&gt;&lt;/Box&gt;&lt;Box style={{ width: '140px', flexDirection: 'row', justifyContent: 'flex-end', alignItems: 'center' }}&gt;&lt;Text style={{ fontSize: '12.5px', color: '#AE4128', fontWeight: 700 }}&gt;{'1,179'}&lt;/Text&gt;&lt;/Box&gt;&lt;Box style={{ width: '120px', flexDirection: 'row', justifyContent: 'flex-end', alignItems: 'center' }}&gt;&lt;Text style={{ fontSize: '12.5px', color: '#15181D', fontWeight: 400 }}&gt;{'480'}&lt;/Text&gt;&lt;/Box&gt;&lt;Box style={{ width: '140px', flexDirection: 'row', justifyContent: 'flex-end', alignItems: 'center' }}&gt;&lt;Text style={{ fontSize: '12.5px', color: '#15181D', fontWeight: 400 }}&gt;{'8,811'}&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2'}&lt;/Text&gt;&lt;/Box&gt;&lt;Box style={{ width: '630px', flexDirection: 'row', justifyContent: 'flex-end', alignItems: 'center' }}&gt;&lt;Text style={{ fontSize: '12.5px', color: '#15181D', fontWeight: 400 }}&gt;Nicoline哑光粉色长方形一体绮美石浴池酒店网红双人民宿家用浴缸&lt;/Text&gt;&lt;/Box&gt;&lt;Box style={{ width: '140px', flexDirection: 'row', justifyContent: 'flex-end', alignItems: 'center' }}&gt;&lt;Text style={{ fontSize: '12.5px', color: '#AE4128', fontWeight: 700 }}&gt;{'692'}&lt;/Text&gt;&lt;/Box&gt;&lt;Box style={{ width: '120px', flexDirection: 'row', justifyContent: 'flex-end', alignItems: 'center' }}&gt;&lt;Text style={{ fontSize: '12.5px', color: '#15181D', fontWeight: 400 }}&gt;{'685'}&lt;/Text&gt;&lt;/Box&gt;&lt;Box style={{ width: '140px', flexDirection: 'row', justifyContent: 'flex-end', alignItems: 'center' }}&gt;&lt;Text style={{ fontSize: '12.5px', color: '#15181D', fontWeight: 400 }}&gt;{'10,166'}&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3'}&lt;/Text&gt;&lt;/Box&gt;&lt;Box style={{ width: '630px', flexDirection: 'row', justifyContent: 'flex-end', alignItems: 'center' }}&gt;&lt;Text style={{ fontSize: '12.5px', color: '#15181D', fontWeight: 400 }}&gt;盖文侘寂风洞石圆柱立柱盆小户型家用酒店民宿方形一体落地洗手盆&lt;/Text&gt;&lt;/Box&gt;&lt;Box style={{ width: '140px', flexDirection: 'row', justifyContent: 'flex-end', alignItems: 'center' }}&gt;&lt;Text style={{ fontSize: '12.5px', color: '#AE4128', fontWeight: 700 }}&gt;{'648'}&lt;/Text&gt;&lt;/Box&gt;&lt;Box style={{ width: '120px', flexDirection: 'row', justifyContent: 'flex-end', alignItems: 'center' }}&gt;&lt;Text style={{ fontSize: '12.5px', color: '#15181D', fontWeight: 400 }}&gt;{'310'}&lt;/Text&gt;&lt;/Box&gt;&lt;Box style={{ width: '140px', flexDirection: 'row', justifyContent: 'flex-end', alignItems: 'center' }}&gt;&lt;Text style={{ fontSize: '12.5px', color: '#15181D', fontWeight: 400 }}&gt;{'6,733'}&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4'}&lt;/Text&gt;&lt;/Box&gt;&lt;Box style={{ width: '630px', flexDirection: 'row', justifyContent: 'flex-end', alignItems: 'center' }}&gt;&lt;Text style={{ fontSize: '12.5px', color: '#15181D', fontWeight: 400 }}&gt;科塔超窄边人造石洗漱盆家用民宿挂墙式一体成型洗手洗脸台盆定制&lt;/Text&gt;&lt;/Box&gt;&lt;Box style={{ width: '140px', flexDirection: 'row', justifyContent: 'flex-end', alignItems: 'center' }}&gt;&lt;Text style={{ fontSize: '12.5px', color: '#AE4128', fontWeight: 700 }}&gt;{'629'}&lt;/Text&gt;&lt;/Box&gt;&lt;Box style={{ width: '120px', flexDirection: 'row', justifyContent: 'flex-end', alignItems: 'center' }}&gt;&lt;Text style={{ fontSize: '12.5px', color: '#15181D', fontWeight: 400 }}&gt;{'1,154'}&lt;/Text&gt;&lt;/Box&gt;&lt;Box style={{ width: '140px', flexDirection: 'row', justifyContent: 'flex-end', alignItems: 'center' }}&gt;&lt;Text style={{ fontSize: '12.5px', color: '#15181D', fontWeight: 400 }}&gt;{'11,615'}&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5'}&lt;/Text&gt;&lt;/Box&gt;&lt;Box style={{ width: '630px', flexDirection: 'row', justifyContent: 'flex-end', alignItems: 'center' }}&gt;&lt;Text style={{ fontSize: '12.5px', color: '#15181D', fontWeight: 400 }}&gt;Gavin盖文家用人造石PMMA浴缸独立一体式双人酒店民宿鹅蛋型浴盆&lt;/Text&gt;&lt;/Box&gt;&lt;Box style={{ width: '140px', flexDirection: 'row', justifyContent: 'flex-end', alignItems: 'center' }}&gt;&lt;Text style={{ fontSize: '12.5px', color: '#AE4128', fontWeight: 700 }}&gt;{'557'}&lt;/Text&gt;&lt;/Box&gt;&lt;Box style={{ width: '120px', flexDirection: 'row', justifyContent: 'flex-end', alignItems: 'center' }}&gt;&lt;Text style={{ fontSize: '12.5px', color: '#15181D', fontWeight: 400 }}&gt;{'202'}&lt;/Text&gt;&lt;/Box&gt;&lt;Box style={{ width: '140px', flexDirection: 'row', justifyContent: 'flex-end', alignItems: 'center' }}&gt;&lt;Text style={{ fontSize: '12.5px', color: '#15181D', fontWeight: 400 }}&gt;{'3,569'}&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6'}&lt;/Text&gt;&lt;/Box&gt;&lt;Box style={{ width: '630px', flexDirection: 'row', justifyContent: 'flex-end', alignItems: 'center' }}&gt;&lt;Text style={{ fontSize: '12.5px', color: '#15181D', fontWeight: 400 }}&gt;网林人造石方形浴缸一体式小户型家用深泡浴池坐式可拆卸浴盆&lt;/Text&gt;&lt;/Box&gt;&lt;Box style={{ width: '140px', flexDirection: 'row', justifyContent: 'flex-end', alignItems: 'center' }}&gt;&lt;Text style={{ fontSize: '12.5px', color: '#AE4128', fontWeight: 700 }}&gt;{'556'}&lt;/Text&gt;&lt;/Box&gt;&lt;Box style={{ width: '120px', flexDirection: 'row', justifyContent: 'flex-end', alignItems: 'center' }}&gt;&lt;Text style={{ fontSize: '12.5px', color: '#15181D', fontWeight: 400 }}&gt;{'326'}&lt;/Text&gt;&lt;/Box&gt;&lt;Box style={{ width: '140px', flexDirection: 'row', justifyContent: 'flex-end', alignItems: 'center' }}&gt;&lt;Text style={{ fontSize: '12.5px', color: '#15181D', fontWeight: 400 }}&gt;{'8,290'}&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7'}&lt;/Text&gt;&lt;/Box&gt;&lt;Box style={{ width: '630px', flexDirection: 'row', justifyContent: 'flex-end', alignItems: 'center' }}&gt;&lt;Text style={{ fontSize: '12.5px', color: '#15181D', fontWeight: 400 }}&gt;网林日系侘寂风岩石立柱盆设计师款个性创意洞石一体式落地洗手盆&lt;/Text&gt;&lt;/Box&gt;&lt;Box style={{ width: '140px', flexDirection: 'row', justifyContent: 'flex-end', alignItems: 'center' }}&gt;&lt;Text style={{ fontSize: '12.5px', color: '#AE4128', fontWeight: 700 }}&gt;{'493'}&lt;/Text&gt;&lt;/Box&gt;&lt;Box style={{ width: '120px', flexDirection: 'row', justifyContent: 'flex-end', alignItems: 'center' }}&gt;&lt;Text style={{ fontSize: '12.5px', color: '#15181D', fontWeight: 400 }}&gt;{'326'}&lt;/Text&gt;&lt;/Box&gt;&lt;Box style={{ width: '140px', flexDirection: 'row', justifyContent: 'flex-end', alignItems: 'center' }}&gt;&lt;Text style={{ fontSize: '12.5px', color: '#15181D', fontWeight: 400 }}&gt;{'6,918'}&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8'}&lt;/Text&gt;&lt;/Box&gt;&lt;Box style={{ width: '630px', flexDirection: 'row', justifyContent: 'flex-end', alignItems: 'center' }}&gt;&lt;Text style={{ fontSize: '12.5px', color: '#15181D', fontWeight: 400 }}&gt;盖文浴缸人造石深泡家用小户型方形洞石浴池一体坐式独立洗浴盆&lt;/Text&gt;&lt;/Box&gt;&lt;Box style={{ width: '140px', flexDirection: 'row', justifyContent: 'flex-end', alignItems: 'center' }}&gt;&lt;Text style={{ fontSize: '12.5px', color: '#AE4128', fontWeight: 700 }}&gt;{'458'}&lt;/Text&gt;&lt;/Box&gt;&lt;Box style={{ width: '120px', flexDirection: 'row', justifyContent: 'flex-end', alignItems: 'center' }}&gt;&lt;Text style={{ fontSize: '12.5px', color: '#15181D', fontWeight: 400 }}&gt;{'262'}&lt;/Text&gt;&lt;/Box&gt;&lt;Box style={{ width: '140px', flexDirection: 'row', justifyContent: 'flex-end', alignItems: 'center' }}&gt;&lt;Text style={{ fontSize: '12.5px', color: '#15181D', fontWeight: 400 }}&gt;{'4,812'}&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9'}&lt;/Text&gt;&lt;/Box&gt;&lt;Box style={{ width: '630px', flexDirection: 'row', justifyContent: 'flex-end', alignItems: 'center' }}&gt;&lt;Text style={{ fontSize: '12.5px', color: '#15181D', fontWeight: 400 }}&gt;网林小户型家用坐式浴缸人造石一体式深泡浴盆日式新型泡澡浴池&lt;/Text&gt;&lt;/Box&gt;&lt;Box style={{ width: '140px', flexDirection: 'row', justifyContent: 'flex-end', alignItems: 'center' }}&gt;&lt;Text style={{ fontSize: '12.5px', color: '#AE4128', fontWeight: 700 }}&gt;{'450'}&lt;/Text&gt;&lt;/Box&gt;&lt;Box style={{ width: '120px', flexDirection: 'row', justifyContent: 'flex-end', alignItems: 'center' }}&gt;&lt;Text style={{ fontSize: '12.5px', color: '#15181D', fontWeight: 400 }}&gt;{'160'}&lt;/Text&gt;&lt;/Box&gt;&lt;Box style={{ width: '140px', flexDirection: 'row', justifyContent: 'flex-end', alignItems: 'center' }}&gt;&lt;Text style={{ fontSize: '12.5px', color: '#15181D', fontWeight: 400 }}&gt;{'2,421'}&lt;/Text&gt;&lt;/Box&gt;&lt;/Box&gt;&lt;Box style={{ flexDirection: 'row', alignItems: 'center', height: '34px', width: '1152px', justifyContent: 'space-between', background: 'transparent', borderBottom: '1px solid #DDE2E8',  paddingLeft: '8px', paddingRight: '8px' }}&gt;&lt;Box style={{ width: '30px', flexDirection: 'row', justifyContent: 'flex-start', alignItems: 'center' }}&gt;&lt;Text style={{ fontSize: '12.5px', color: '#15181D', fontWeight: 400 }}&gt;{'10'}&lt;/Text&gt;&lt;/Box&gt;&lt;Box style={{ width: '630px', flexDirection: 'row', justifyContent: 'flex-end', alignItems: 'center' }}&gt;&lt;Text style={{ fontSize: '12.5px', color: '#15181D', fontWeight: 400 }}&gt;Nicoline洞石款人造石浴缸家用酒店民宿别墅轻奢简约艺术独立浴池&lt;/Text&gt;&lt;/Box&gt;&lt;Box style={{ width: '140px', flexDirection: 'row', justifyContent: 'flex-end', alignItems: 'center' }}&gt;&lt;Text style={{ fontSize: '12.5px', color: '#AE4128', fontWeight: 700 }}&gt;{'435'}&lt;/Text&gt;&lt;/Box&gt;&lt;Box style={{ width: '120px', flexDirection: 'row', justifyContent: 'flex-end', alignItems: 'center' }}&gt;&lt;Text style={{ fontSize: '12.5px', color: '#15181D', fontWeight: 400 }}&gt;{'243'}&lt;/Text&gt;&lt;/Box&gt;&lt;Box style={{ width: '140px', flexDirection: 'row', justifyContent: 'flex-end', alignItems: 'center' }}&gt;&lt;Text style={{ fontSize: '12.5px', color: '#15181D', fontWeight: 400 }}&gt;{'4,336'}&lt;/Text&gt;&lt;/Box&gt;&lt;/Box&gt;&lt;Box style={{ flexDirection: 'row', alignItems: 'center', height: '38px', width: '1152px', justifyContent: 'space-between', background: '#F4F6F8', borderBottom: '1px solid #DDE2E8', borderTop: '2px solid #1B3557', paddingLeft: '8px', paddingRight: '8px' }}&gt;&lt;Box style={{ width: '30px', flexDirection: 'row', justifyContent: 'flex-start', alignItems: 'center' }}&gt;&lt;Text style={{ fontSize: '12.5px', color: '#15181D', fontWeight: 400 }}&gt;&lt;/Text&gt;&lt;/Box&gt;&lt;Box style={{ width: '630px', flexDirection: 'row', justifyContent: 'flex-end', alignItems: 'center' }}&gt;&lt;Text style={{ fontSize: '12.5px', color: '#15181D', fontWeight: 700 }}&gt;前{'10'} 个合计{'6,098'} 元&lt;/Text&gt;&lt;/Box&gt;&lt;Box style={{ width: '140px', flexDirection: 'row', justifyContent: 'flex-end', alignItems: 'center' }}&gt;&lt;Text style={{ fontSize: '12.5px', color: '#AE4128', fontWeight: 700 }}&gt;{'13,120'}&lt;/Text&gt;&lt;/Box&gt;&lt;Box style={{ width: '120px', flexDirection: 'row', justifyContent: 'flex-end', alignItems: 'center' }}&gt;&lt;Text style={{ fontSize: '12.5px', color: '#15181D', fontWeight: 700 }}&gt;{'10,910'}&lt;/Text&gt;&lt;/Box&gt;&lt;Box style={{ width: '140px', flexDirection: 'row', justifyContent: 'flex-end', alignItems: 'center' }}&gt;&lt;Text style={{ fontSize: '12.5px', color: '#15181D', fontWeight: 400 }}&gt;&lt;/Text&gt;&lt;/Box&gt;&lt;/Box&gt;&lt;Box style={{ background: '#F4F6F8', borderLeft: '4px solid #A97B28', padding: '13px 20px', marginTop: '14px' }}&gt;&lt;Text style={{ fontSize: '15.5px', fontWeight: 600, color: '#1B3557', lineHeight: 1.5 }}&gt;{'72'} 个合计{'13,120'} 元、{'10,910'} 次点击，一次成交都没有{'—'}{'—'}这{'72'} 个可以今天停。&lt;/Text&gt;&lt;Text style={{ fontSize: '12px', color: '#5F6975', marginTop: '4px' }}&gt;完整{'72'} 个名单（含商品 ID）见附录 A，可发给推广直接执行。&lt;/Text&gt;&lt;/Box&gt;&lt;/Box&gt;&lt;Box style={{ height: '40px', flexDirection: 'row', justifyContent: 'space-between', alignItems: 'center' }}&gt;&lt;Text style={{ fontSize: '13px', color: '#5F6975' }}&gt;经营数据诊断{'·'}{'2026-10-20'}&lt;/Text&gt;&lt;Text style={{ fontSize: '13px', color: '#5F6975' }}&gt;{'07'}{'/'}{'13'}&lt;/Text&gt;&lt;/Box&gt;&lt;/Slide&gt;&#10;"/>
        <p:cNvGrpSpPr/>
        <p:nvPr/>
      </p:nvGrpSpPr>
      <p:grpSpPr>
        <a:xfrm>
          <a:off x="0" y="0"/>
          <a:ext cx="0" cy="0"/>
          <a:chOff x="0" y="0"/>
          <a:chExt cx="0" cy="0"/>
        </a:xfrm>
      </p:grpSpPr>
      <p:sp>
        <p:nvSpPr>
          <p:cNvPr id="735" name=""/>
          <p:cNvSpPr/>
          <p:nvPr/>
        </p:nvSpPr>
        <p:spPr>
          <a:xfrm rot="0" flipH="0" flipV="0">
            <a:off x="0" y="0"/>
            <a:ext cx="12192000" cy="6858000"/>
          </a:xfrm>
          <a:prstGeom prst="rect">
            <a:avLst/>
          </a:prstGeom>
          <a:solidFill>
            <a:srgbClr val="FFFFFF"/>
          </a:solidFill>
          <a:ln/>
        </p:spPr>
        <p:txBody>
          <a:bodyPr/>
          <a:p/>
        </p:txBody>
      </p:sp>
      <p:sp>
        <p:nvSpPr>
          <p:cNvPr id="736"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en-US" sz="2325" b="1">
                <a:solidFill>
                  <a:srgbClr val="1B3557"/>
                </a:solidFill>
                <a:latin typeface="Noto Sans SC"/>
                <a:ea typeface="Noto Sans SC"/>
              </a:rPr>
              <a:t>72</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个零成交商品，</a:t>
            </a:r>
            <a:r>
              <a:rPr lang="en-US" sz="2325" b="1">
                <a:solidFill>
                  <a:srgbClr val="1B3557"/>
                </a:solidFill>
                <a:latin typeface="Noto Sans SC"/>
                <a:ea typeface="Noto Sans SC"/>
              </a:rPr>
              <a:t>18</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天烧掉</a:t>
            </a:r>
            <a:r>
              <a:rPr lang="en-US" sz="2325" b="1">
                <a:solidFill>
                  <a:srgbClr val="1B3557"/>
                </a:solidFill>
                <a:latin typeface="Noto Sans SC"/>
                <a:ea typeface="Noto Sans SC"/>
              </a:rPr>
              <a:t>1.31</a:t>
            </a:r>
            <a:r>
              <a:rPr lang="zh-CN" sz="2325" b="1">
                <a:solidFill>
                  <a:srgbClr val="1B3557"/>
                </a:solidFill>
                <a:latin typeface="Noto Sans SC"/>
                <a:ea typeface="Noto Sans SC"/>
              </a:rPr>
              <a:t>万元</a:t>
            </a:r>
            <a:endParaRPr/>
          </a:p>
        </p:txBody>
      </p:sp>
      <p:sp>
        <p:nvSpPr>
          <p:cNvPr id="737"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en-US" sz="1125">
                <a:solidFill>
                  <a:srgbClr val="5F6975"/>
                </a:solidFill>
                <a:latin typeface="Noto Sans SC"/>
                <a:ea typeface="Noto Sans SC"/>
              </a:rPr>
              <a:t>468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个商品里</a:t>
            </a:r>
            <a:r>
              <a:rPr lang="en-US" sz="1125">
                <a:solidFill>
                  <a:srgbClr val="5F6975"/>
                </a:solidFill>
                <a:latin typeface="Noto Sans SC"/>
                <a:ea typeface="Noto Sans SC"/>
              </a:rPr>
              <a:t>376</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个零成交，其中</a:t>
            </a:r>
            <a:r>
              <a:rPr lang="en-US" sz="1125">
                <a:solidFill>
                  <a:srgbClr val="5F6975"/>
                </a:solidFill>
                <a:latin typeface="Noto Sans SC"/>
                <a:ea typeface="Noto Sans SC"/>
              </a:rPr>
              <a:t>72</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个同时在投推广，</a:t>
            </a:r>
            <a:r>
              <a:rPr lang="en-US" sz="1125">
                <a:solidFill>
                  <a:srgbClr val="5F6975"/>
                </a:solidFill>
                <a:latin typeface="Noto Sans SC"/>
                <a:ea typeface="Noto Sans SC"/>
              </a:rPr>
              <a:t>18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天花掉这些钱，占推广总花费</a:t>
            </a:r>
            <a:r>
              <a:rPr lang="en-US" sz="1125">
                <a:solidFill>
                  <a:srgbClr val="5F6975"/>
                </a:solidFill>
                <a:latin typeface="Noto Sans SC"/>
                <a:ea typeface="Noto Sans SC"/>
              </a:rPr>
              <a:t>47.6%</a:t>
            </a:r>
            <a:r>
              <a:rPr lang="zh-CN" sz="1125">
                <a:solidFill>
                  <a:srgbClr val="5F6975"/>
                </a:solidFill>
                <a:latin typeface="Noto Sans SC"/>
                <a:ea typeface="Noto Sans SC"/>
              </a:rPr>
              <a:t>。下表是按花费排的前</a:t>
            </a:r>
            <a:r>
              <a:rPr lang="en-US" sz="1125">
                <a:solidFill>
                  <a:srgbClr val="5F6975"/>
                </a:solidFill>
                <a:latin typeface="Noto Sans SC"/>
                <a:ea typeface="Noto Sans SC"/>
              </a:rPr>
              <a:t>10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a:t>
            </a:r>
            <a:endParaRPr/>
          </a:p>
        </p:txBody>
      </p:sp>
      <p:sp>
        <p:nvSpPr>
          <p:cNvPr id="738" name=""/>
          <p:cNvSpPr/>
          <p:nvPr/>
        </p:nvSpPr>
        <p:spPr>
          <a:xfrm rot="0" flipH="0" flipV="0">
            <a:off x="609600" y="1104900"/>
            <a:ext cx="10972800" cy="333375"/>
          </a:xfrm>
          <a:prstGeom prst="rect">
            <a:avLst/>
          </a:prstGeom>
          <a:solidFill>
            <a:srgbClr val="1B3557"/>
          </a:solidFill>
          <a:ln/>
        </p:spPr>
        <p:txBody>
          <a:bodyPr/>
          <a:p/>
        </p:txBody>
      </p:sp>
      <p:sp>
        <p:nvSpPr>
          <p:cNvPr id="739" name=""/>
          <p:cNvSpPr/>
          <p:nvPr/>
        </p:nvSpPr>
        <p:spPr>
          <a:xfrm rot="0" flipH="0" flipV="0">
            <a:off x="609600" y="1104900"/>
            <a:ext cx="10972800" cy="342900"/>
          </a:xfrm>
          <a:custGeom>
            <a:pathLst>
              <a:path w="1152" h="36">
                <a:moveTo>
                  <a:pt x="0" y="35"/>
                </a:moveTo>
                <a:lnTo>
                  <a:pt x="1152" y="35"/>
                </a:lnTo>
                <a:lnTo>
                  <a:pt x="1152" y="36"/>
                </a:lnTo>
                <a:lnTo>
                  <a:pt x="0" y="36"/>
                </a:lnTo>
                <a:close/>
              </a:path>
            </a:pathLst>
          </a:custGeom>
          <a:solidFill>
            <a:srgbClr val="DDE2E8"/>
          </a:solidFill>
          <a:ln/>
        </p:spPr>
        <p:txBody>
          <a:bodyPr/>
          <a:p/>
        </p:txBody>
      </p:sp>
      <p:sp>
        <p:nvSpPr>
          <p:cNvPr id="740" name="" descr="{&quot;isTemplate&quot;:true,&quot;type&quot;:&quot;text&quot;}"/>
          <p:cNvSpPr txBox="1"/>
          <p:nvPr/>
        </p:nvSpPr>
        <p:spPr>
          <a:xfrm rot="0" flipH="0" flipV="0">
            <a:off x="685800" y="1200150"/>
            <a:ext cx="66675" cy="142875"/>
          </a:xfrm>
          <a:prstGeom prst="rect"/>
        </p:spPr>
        <p:txBody>
          <a:bodyPr wrap="none" lIns="0" tIns="0" rIns="0" bIns="0"/>
          <a:p>
            <a:pPr>
              <a:lnSpc>
                <a:spcPct val="100000"/>
              </a:lnSpc>
            </a:pPr>
            <a:r>
              <a:rPr lang="en-US" sz="900" b="1">
                <a:solidFill>
                  <a:srgbClr val="FFFFFF"/>
                </a:solidFill>
                <a:latin typeface="Noto Sans SC"/>
                <a:ea typeface="Noto Sans SC"/>
              </a:rPr>
              <a:t>#</a:t>
            </a:r>
            <a:endParaRPr/>
          </a:p>
        </p:txBody>
      </p:sp>
      <p:sp>
        <p:nvSpPr>
          <p:cNvPr id="741" name="" descr="{&quot;isTemplate&quot;:true,&quot;type&quot;:&quot;text&quot;}"/>
          <p:cNvSpPr txBox="1"/>
          <p:nvPr/>
        </p:nvSpPr>
        <p:spPr>
          <a:xfrm rot="0" flipH="0" flipV="0">
            <a:off x="6924675"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商品</a:t>
            </a:r>
            <a:endParaRPr/>
          </a:p>
        </p:txBody>
      </p:sp>
      <p:sp>
        <p:nvSpPr>
          <p:cNvPr id="742" name="" descr="{&quot;isTemplate&quot;:true,&quot;type&quot;:&quot;text&quot;}"/>
          <p:cNvSpPr txBox="1"/>
          <p:nvPr/>
        </p:nvSpPr>
        <p:spPr>
          <a:xfrm rot="0" flipH="0" flipV="0">
            <a:off x="8096250" y="1200150"/>
            <a:ext cx="571500" cy="142875"/>
          </a:xfrm>
          <a:prstGeom prst="rect"/>
        </p:spPr>
        <p:txBody>
          <a:bodyPr wrap="none" lIns="0" tIns="0" rIns="0" bIns="0"/>
          <a:p>
            <a:pPr>
              <a:lnSpc>
                <a:spcPct val="100000"/>
              </a:lnSpc>
            </a:pPr>
            <a:r>
              <a:rPr lang="zh-CN" sz="900" b="1">
                <a:solidFill>
                  <a:srgbClr val="FFFFFF"/>
                </a:solidFill>
                <a:latin typeface="Noto Sans SC"/>
                <a:ea typeface="Noto Sans SC"/>
              </a:rPr>
              <a:t>花费（元）</a:t>
            </a:r>
            <a:endParaRPr/>
          </a:p>
        </p:txBody>
      </p:sp>
      <p:sp>
        <p:nvSpPr>
          <p:cNvPr id="743" name="" descr="{&quot;isTemplate&quot;:true,&quot;type&quot;:&quot;text&quot;}"/>
          <p:cNvSpPr txBox="1"/>
          <p:nvPr/>
        </p:nvSpPr>
        <p:spPr>
          <a:xfrm rot="0" flipH="0" flipV="0">
            <a:off x="9763125"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点击</a:t>
            </a:r>
            <a:endParaRPr/>
          </a:p>
        </p:txBody>
      </p:sp>
      <p:sp>
        <p:nvSpPr>
          <p:cNvPr id="744" name="" descr="{&quot;isTemplate&quot;:true,&quot;type&quot;:&quot;text&quot;}"/>
          <p:cNvSpPr txBox="1"/>
          <p:nvPr/>
        </p:nvSpPr>
        <p:spPr>
          <a:xfrm rot="0" flipH="0" flipV="0">
            <a:off x="11277600" y="1200150"/>
            <a:ext cx="228600" cy="142875"/>
          </a:xfrm>
          <a:prstGeom prst="rect"/>
        </p:spPr>
        <p:txBody>
          <a:bodyPr wrap="none" lIns="0" tIns="0" rIns="0" bIns="0"/>
          <a:p>
            <a:pPr>
              <a:lnSpc>
                <a:spcPct val="100000"/>
              </a:lnSpc>
            </a:pPr>
            <a:r>
              <a:rPr lang="zh-CN" sz="900" b="1">
                <a:solidFill>
                  <a:srgbClr val="FFFFFF"/>
                </a:solidFill>
                <a:latin typeface="Noto Sans SC"/>
                <a:ea typeface="Noto Sans SC"/>
              </a:rPr>
              <a:t>曝光</a:t>
            </a:r>
            <a:endParaRPr/>
          </a:p>
        </p:txBody>
      </p:sp>
      <p:sp>
        <p:nvSpPr>
          <p:cNvPr id="745" name=""/>
          <p:cNvSpPr/>
          <p:nvPr/>
        </p:nvSpPr>
        <p:spPr>
          <a:xfrm rot="0" flipH="0" flipV="0">
            <a:off x="609600" y="14478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46" name="" descr="{&quot;isTemplate&quot;:true,&quot;type&quot;:&quot;text&quot;}"/>
          <p:cNvSpPr txBox="1"/>
          <p:nvPr/>
        </p:nvSpPr>
        <p:spPr>
          <a:xfrm rot="0" flipH="0" flipV="0">
            <a:off x="685800" y="1533525"/>
            <a:ext cx="66675" cy="142875"/>
          </a:xfrm>
          <a:prstGeom prst="rect"/>
        </p:spPr>
        <p:txBody>
          <a:bodyPr wrap="none" lIns="0" tIns="0" rIns="0" bIns="0"/>
          <a:p>
            <a:pPr>
              <a:lnSpc>
                <a:spcPct val="100000"/>
              </a:lnSpc>
            </a:pPr>
            <a:r>
              <a:rPr lang="en-US" sz="938">
                <a:solidFill>
                  <a:srgbClr val="15181D"/>
                </a:solidFill>
                <a:latin typeface="Noto Sans SC"/>
                <a:ea typeface="Noto Sans SC"/>
              </a:rPr>
              <a:t>1</a:t>
            </a:r>
            <a:endParaRPr/>
          </a:p>
        </p:txBody>
      </p:sp>
      <p:sp>
        <p:nvSpPr>
          <p:cNvPr id="747" name="" descr="{&quot;isTemplate&quot;:true,&quot;type&quot;:&quot;text&quot;}"/>
          <p:cNvSpPr txBox="1"/>
          <p:nvPr/>
        </p:nvSpPr>
        <p:spPr>
          <a:xfrm rot="0" flipH="0" flipV="0">
            <a:off x="3619500" y="1533525"/>
            <a:ext cx="3533775" cy="142875"/>
          </a:xfrm>
          <a:prstGeom prst="rect"/>
        </p:spPr>
        <p:txBody>
          <a:bodyPr wrap="none" lIns="0" tIns="0" rIns="0" bIns="0"/>
          <a:p>
            <a:pPr>
              <a:lnSpc>
                <a:spcPct val="100000"/>
              </a:lnSpc>
            </a:pPr>
            <a:r>
              <a:rPr lang="en-US" sz="938">
                <a:solidFill>
                  <a:srgbClr val="15181D"/>
                </a:solidFill>
                <a:latin typeface="Noto Sans SC"/>
                <a:ea typeface="Noto Sans SC"/>
              </a:rPr>
              <a:t>Nicoline</a:t>
            </a:r>
            <a:r>
              <a:rPr lang="zh-CN" sz="938">
                <a:solidFill>
                  <a:srgbClr val="15181D"/>
                </a:solidFill>
                <a:latin typeface="Noto Sans SC"/>
                <a:ea typeface="Noto Sans SC"/>
              </a:rPr>
              <a:t>设计师款式洞石人造石浴缸艺术家用民宿酒店一体独立浴池</a:t>
            </a:r>
            <a:endParaRPr/>
          </a:p>
        </p:txBody>
      </p:sp>
      <p:sp>
        <p:nvSpPr>
          <p:cNvPr id="748" name="" descr="{&quot;isTemplate&quot;:true,&quot;type&quot;:&quot;text&quot;}"/>
          <p:cNvSpPr txBox="1"/>
          <p:nvPr/>
        </p:nvSpPr>
        <p:spPr>
          <a:xfrm rot="0" flipH="0" flipV="0">
            <a:off x="8391525" y="1533525"/>
            <a:ext cx="276225" cy="142875"/>
          </a:xfrm>
          <a:prstGeom prst="rect"/>
        </p:spPr>
        <p:txBody>
          <a:bodyPr wrap="none" lIns="0" tIns="0" rIns="0" bIns="0"/>
          <a:p>
            <a:pPr>
              <a:lnSpc>
                <a:spcPct val="100000"/>
              </a:lnSpc>
            </a:pPr>
            <a:r>
              <a:rPr lang="en-US" sz="938" b="1">
                <a:solidFill>
                  <a:srgbClr val="AE4128"/>
                </a:solidFill>
                <a:latin typeface="Noto Sans SC"/>
                <a:ea typeface="Noto Sans SC"/>
              </a:rPr>
              <a:t>1,179</a:t>
            </a:r>
            <a:endParaRPr/>
          </a:p>
        </p:txBody>
      </p:sp>
      <p:sp>
        <p:nvSpPr>
          <p:cNvPr id="749" name="" descr="{&quot;isTemplate&quot;:true,&quot;type&quot;:&quot;text&quot;}"/>
          <p:cNvSpPr txBox="1"/>
          <p:nvPr/>
        </p:nvSpPr>
        <p:spPr>
          <a:xfrm rot="0" flipH="0" flipV="0">
            <a:off x="9801225" y="1533525"/>
            <a:ext cx="190500" cy="142875"/>
          </a:xfrm>
          <a:prstGeom prst="rect"/>
        </p:spPr>
        <p:txBody>
          <a:bodyPr wrap="none" lIns="0" tIns="0" rIns="0" bIns="0"/>
          <a:p>
            <a:pPr>
              <a:lnSpc>
                <a:spcPct val="100000"/>
              </a:lnSpc>
            </a:pPr>
            <a:r>
              <a:rPr lang="en-US" sz="938">
                <a:solidFill>
                  <a:srgbClr val="15181D"/>
                </a:solidFill>
                <a:latin typeface="Noto Sans SC"/>
                <a:ea typeface="Noto Sans SC"/>
              </a:rPr>
              <a:t>480</a:t>
            </a:r>
            <a:endParaRPr/>
          </a:p>
        </p:txBody>
      </p:sp>
      <p:sp>
        <p:nvSpPr>
          <p:cNvPr id="750" name="" descr="{&quot;isTemplate&quot;:true,&quot;type&quot;:&quot;text&quot;}"/>
          <p:cNvSpPr txBox="1"/>
          <p:nvPr/>
        </p:nvSpPr>
        <p:spPr>
          <a:xfrm rot="0" flipH="0" flipV="0">
            <a:off x="11229975" y="1533525"/>
            <a:ext cx="276225" cy="142875"/>
          </a:xfrm>
          <a:prstGeom prst="rect"/>
        </p:spPr>
        <p:txBody>
          <a:bodyPr wrap="none" lIns="0" tIns="0" rIns="0" bIns="0"/>
          <a:p>
            <a:pPr>
              <a:lnSpc>
                <a:spcPct val="100000"/>
              </a:lnSpc>
            </a:pPr>
            <a:r>
              <a:rPr lang="en-US" sz="938">
                <a:solidFill>
                  <a:srgbClr val="15181D"/>
                </a:solidFill>
                <a:latin typeface="Noto Sans SC"/>
                <a:ea typeface="Noto Sans SC"/>
              </a:rPr>
              <a:t>8,811</a:t>
            </a:r>
            <a:endParaRPr/>
          </a:p>
        </p:txBody>
      </p:sp>
      <p:sp>
        <p:nvSpPr>
          <p:cNvPr id="751" name=""/>
          <p:cNvSpPr/>
          <p:nvPr/>
        </p:nvSpPr>
        <p:spPr>
          <a:xfrm rot="0" flipH="0" flipV="0">
            <a:off x="609600" y="17716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52" name="" descr="{&quot;isTemplate&quot;:true,&quot;type&quot;:&quot;text&quot;}"/>
          <p:cNvSpPr txBox="1"/>
          <p:nvPr/>
        </p:nvSpPr>
        <p:spPr>
          <a:xfrm rot="0" flipH="0" flipV="0">
            <a:off x="685800" y="1857375"/>
            <a:ext cx="66675" cy="142875"/>
          </a:xfrm>
          <a:prstGeom prst="rect"/>
        </p:spPr>
        <p:txBody>
          <a:bodyPr wrap="none" lIns="0" tIns="0" rIns="0" bIns="0"/>
          <a:p>
            <a:pPr>
              <a:lnSpc>
                <a:spcPct val="100000"/>
              </a:lnSpc>
            </a:pPr>
            <a:r>
              <a:rPr lang="en-US" sz="938">
                <a:solidFill>
                  <a:srgbClr val="15181D"/>
                </a:solidFill>
                <a:latin typeface="Noto Sans SC"/>
                <a:ea typeface="Noto Sans SC"/>
              </a:rPr>
              <a:t>2</a:t>
            </a:r>
            <a:endParaRPr/>
          </a:p>
        </p:txBody>
      </p:sp>
      <p:sp>
        <p:nvSpPr>
          <p:cNvPr id="753" name="" descr="{&quot;isTemplate&quot;:true,&quot;type&quot;:&quot;text&quot;}"/>
          <p:cNvSpPr txBox="1"/>
          <p:nvPr/>
        </p:nvSpPr>
        <p:spPr>
          <a:xfrm rot="0" flipH="0" flipV="0">
            <a:off x="3619500" y="1857375"/>
            <a:ext cx="3533775" cy="142875"/>
          </a:xfrm>
          <a:prstGeom prst="rect"/>
        </p:spPr>
        <p:txBody>
          <a:bodyPr wrap="none" lIns="0" tIns="0" rIns="0" bIns="0"/>
          <a:p>
            <a:pPr>
              <a:lnSpc>
                <a:spcPct val="100000"/>
              </a:lnSpc>
            </a:pPr>
            <a:r>
              <a:rPr lang="en-US" sz="938">
                <a:solidFill>
                  <a:srgbClr val="15181D"/>
                </a:solidFill>
                <a:latin typeface="Noto Sans SC"/>
                <a:ea typeface="Noto Sans SC"/>
              </a:rPr>
              <a:t>Nicoline</a:t>
            </a:r>
            <a:r>
              <a:rPr lang="zh-CN" sz="938">
                <a:solidFill>
                  <a:srgbClr val="15181D"/>
                </a:solidFill>
                <a:latin typeface="Noto Sans SC"/>
                <a:ea typeface="Noto Sans SC"/>
              </a:rPr>
              <a:t>哑光粉色长方形一体绮美石浴池酒店网红双人民宿家用浴缸</a:t>
            </a:r>
            <a:endParaRPr/>
          </a:p>
        </p:txBody>
      </p:sp>
      <p:sp>
        <p:nvSpPr>
          <p:cNvPr id="754" name="" descr="{&quot;isTemplate&quot;:true,&quot;type&quot;:&quot;text&quot;}"/>
          <p:cNvSpPr txBox="1"/>
          <p:nvPr/>
        </p:nvSpPr>
        <p:spPr>
          <a:xfrm rot="0" flipH="0" flipV="0">
            <a:off x="8477250" y="1857375"/>
            <a:ext cx="190500" cy="142875"/>
          </a:xfrm>
          <a:prstGeom prst="rect"/>
        </p:spPr>
        <p:txBody>
          <a:bodyPr wrap="none" lIns="0" tIns="0" rIns="0" bIns="0"/>
          <a:p>
            <a:pPr>
              <a:lnSpc>
                <a:spcPct val="100000"/>
              </a:lnSpc>
            </a:pPr>
            <a:r>
              <a:rPr lang="en-US" sz="938" b="1">
                <a:solidFill>
                  <a:srgbClr val="AE4128"/>
                </a:solidFill>
                <a:latin typeface="Noto Sans SC"/>
                <a:ea typeface="Noto Sans SC"/>
              </a:rPr>
              <a:t>692</a:t>
            </a:r>
            <a:endParaRPr/>
          </a:p>
        </p:txBody>
      </p:sp>
      <p:sp>
        <p:nvSpPr>
          <p:cNvPr id="755" name="" descr="{&quot;isTemplate&quot;:true,&quot;type&quot;:&quot;text&quot;}"/>
          <p:cNvSpPr txBox="1"/>
          <p:nvPr/>
        </p:nvSpPr>
        <p:spPr>
          <a:xfrm rot="0" flipH="0" flipV="0">
            <a:off x="9801225" y="1857375"/>
            <a:ext cx="190500" cy="142875"/>
          </a:xfrm>
          <a:prstGeom prst="rect"/>
        </p:spPr>
        <p:txBody>
          <a:bodyPr wrap="none" lIns="0" tIns="0" rIns="0" bIns="0"/>
          <a:p>
            <a:pPr>
              <a:lnSpc>
                <a:spcPct val="100000"/>
              </a:lnSpc>
            </a:pPr>
            <a:r>
              <a:rPr lang="en-US" sz="938">
                <a:solidFill>
                  <a:srgbClr val="15181D"/>
                </a:solidFill>
                <a:latin typeface="Noto Sans SC"/>
                <a:ea typeface="Noto Sans SC"/>
              </a:rPr>
              <a:t>685</a:t>
            </a:r>
            <a:endParaRPr/>
          </a:p>
        </p:txBody>
      </p:sp>
      <p:sp>
        <p:nvSpPr>
          <p:cNvPr id="756" name="" descr="{&quot;isTemplate&quot;:true,&quot;type&quot;:&quot;text&quot;}"/>
          <p:cNvSpPr txBox="1"/>
          <p:nvPr/>
        </p:nvSpPr>
        <p:spPr>
          <a:xfrm rot="0" flipH="0" flipV="0">
            <a:off x="11163300" y="1857375"/>
            <a:ext cx="342900" cy="142875"/>
          </a:xfrm>
          <a:prstGeom prst="rect"/>
        </p:spPr>
        <p:txBody>
          <a:bodyPr wrap="none" lIns="0" tIns="0" rIns="0" bIns="0"/>
          <a:p>
            <a:pPr>
              <a:lnSpc>
                <a:spcPct val="100000"/>
              </a:lnSpc>
            </a:pPr>
            <a:r>
              <a:rPr lang="en-US" sz="938">
                <a:solidFill>
                  <a:srgbClr val="15181D"/>
                </a:solidFill>
                <a:latin typeface="Noto Sans SC"/>
                <a:ea typeface="Noto Sans SC"/>
              </a:rPr>
              <a:t>10,166</a:t>
            </a:r>
            <a:endParaRPr/>
          </a:p>
        </p:txBody>
      </p:sp>
      <p:sp>
        <p:nvSpPr>
          <p:cNvPr id="757" name=""/>
          <p:cNvSpPr/>
          <p:nvPr/>
        </p:nvSpPr>
        <p:spPr>
          <a:xfrm rot="0" flipH="0" flipV="0">
            <a:off x="609600" y="20955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58" name="" descr="{&quot;isTemplate&quot;:true,&quot;type&quot;:&quot;text&quot;}"/>
          <p:cNvSpPr txBox="1"/>
          <p:nvPr/>
        </p:nvSpPr>
        <p:spPr>
          <a:xfrm rot="0" flipH="0" flipV="0">
            <a:off x="685800" y="2181225"/>
            <a:ext cx="66675" cy="142875"/>
          </a:xfrm>
          <a:prstGeom prst="rect"/>
        </p:spPr>
        <p:txBody>
          <a:bodyPr wrap="none" lIns="0" tIns="0" rIns="0" bIns="0"/>
          <a:p>
            <a:pPr>
              <a:lnSpc>
                <a:spcPct val="100000"/>
              </a:lnSpc>
            </a:pPr>
            <a:r>
              <a:rPr lang="en-US" sz="938">
                <a:solidFill>
                  <a:srgbClr val="15181D"/>
                </a:solidFill>
                <a:latin typeface="Noto Sans SC"/>
                <a:ea typeface="Noto Sans SC"/>
              </a:rPr>
              <a:t>3</a:t>
            </a:r>
            <a:endParaRPr/>
          </a:p>
        </p:txBody>
      </p:sp>
      <p:sp>
        <p:nvSpPr>
          <p:cNvPr id="759" name="" descr="{&quot;isTemplate&quot;:true,&quot;type&quot;:&quot;text&quot;}"/>
          <p:cNvSpPr txBox="1"/>
          <p:nvPr/>
        </p:nvSpPr>
        <p:spPr>
          <a:xfrm rot="0" flipH="0" flipV="0">
            <a:off x="3581400" y="2181225"/>
            <a:ext cx="3571875" cy="142875"/>
          </a:xfrm>
          <a:prstGeom prst="rect"/>
        </p:spPr>
        <p:txBody>
          <a:bodyPr wrap="none" lIns="0" tIns="0" rIns="0" bIns="0"/>
          <a:p>
            <a:pPr>
              <a:lnSpc>
                <a:spcPct val="100000"/>
              </a:lnSpc>
            </a:pPr>
            <a:r>
              <a:rPr lang="zh-CN" sz="938">
                <a:solidFill>
                  <a:srgbClr val="15181D"/>
                </a:solidFill>
                <a:latin typeface="Noto Sans SC"/>
                <a:ea typeface="Noto Sans SC"/>
              </a:rPr>
              <a:t>盖文侘寂风洞石圆柱立柱盆小户型家用酒店民宿方形一体落地洗手盆</a:t>
            </a:r>
            <a:endParaRPr/>
          </a:p>
        </p:txBody>
      </p:sp>
      <p:sp>
        <p:nvSpPr>
          <p:cNvPr id="760" name="" descr="{&quot;isTemplate&quot;:true,&quot;type&quot;:&quot;text&quot;}"/>
          <p:cNvSpPr txBox="1"/>
          <p:nvPr/>
        </p:nvSpPr>
        <p:spPr>
          <a:xfrm rot="0" flipH="0" flipV="0">
            <a:off x="8477250" y="2181225"/>
            <a:ext cx="190500" cy="142875"/>
          </a:xfrm>
          <a:prstGeom prst="rect"/>
        </p:spPr>
        <p:txBody>
          <a:bodyPr wrap="none" lIns="0" tIns="0" rIns="0" bIns="0"/>
          <a:p>
            <a:pPr>
              <a:lnSpc>
                <a:spcPct val="100000"/>
              </a:lnSpc>
            </a:pPr>
            <a:r>
              <a:rPr lang="en-US" sz="938" b="1">
                <a:solidFill>
                  <a:srgbClr val="AE4128"/>
                </a:solidFill>
                <a:latin typeface="Noto Sans SC"/>
                <a:ea typeface="Noto Sans SC"/>
              </a:rPr>
              <a:t>648</a:t>
            </a:r>
            <a:endParaRPr/>
          </a:p>
        </p:txBody>
      </p:sp>
      <p:sp>
        <p:nvSpPr>
          <p:cNvPr id="761" name="" descr="{&quot;isTemplate&quot;:true,&quot;type&quot;:&quot;text&quot;}"/>
          <p:cNvSpPr txBox="1"/>
          <p:nvPr/>
        </p:nvSpPr>
        <p:spPr>
          <a:xfrm rot="0" flipH="0" flipV="0">
            <a:off x="9801225" y="2181225"/>
            <a:ext cx="190500" cy="142875"/>
          </a:xfrm>
          <a:prstGeom prst="rect"/>
        </p:spPr>
        <p:txBody>
          <a:bodyPr wrap="none" lIns="0" tIns="0" rIns="0" bIns="0"/>
          <a:p>
            <a:pPr>
              <a:lnSpc>
                <a:spcPct val="100000"/>
              </a:lnSpc>
            </a:pPr>
            <a:r>
              <a:rPr lang="en-US" sz="938">
                <a:solidFill>
                  <a:srgbClr val="15181D"/>
                </a:solidFill>
                <a:latin typeface="Noto Sans SC"/>
                <a:ea typeface="Noto Sans SC"/>
              </a:rPr>
              <a:t>310</a:t>
            </a:r>
            <a:endParaRPr/>
          </a:p>
        </p:txBody>
      </p:sp>
      <p:sp>
        <p:nvSpPr>
          <p:cNvPr id="762" name="" descr="{&quot;isTemplate&quot;:true,&quot;type&quot;:&quot;text&quot;}"/>
          <p:cNvSpPr txBox="1"/>
          <p:nvPr/>
        </p:nvSpPr>
        <p:spPr>
          <a:xfrm rot="0" flipH="0" flipV="0">
            <a:off x="11229975" y="2181225"/>
            <a:ext cx="276225" cy="142875"/>
          </a:xfrm>
          <a:prstGeom prst="rect"/>
        </p:spPr>
        <p:txBody>
          <a:bodyPr wrap="none" lIns="0" tIns="0" rIns="0" bIns="0"/>
          <a:p>
            <a:pPr>
              <a:lnSpc>
                <a:spcPct val="100000"/>
              </a:lnSpc>
            </a:pPr>
            <a:r>
              <a:rPr lang="en-US" sz="938">
                <a:solidFill>
                  <a:srgbClr val="15181D"/>
                </a:solidFill>
                <a:latin typeface="Noto Sans SC"/>
                <a:ea typeface="Noto Sans SC"/>
              </a:rPr>
              <a:t>6,733</a:t>
            </a:r>
            <a:endParaRPr/>
          </a:p>
        </p:txBody>
      </p:sp>
      <p:sp>
        <p:nvSpPr>
          <p:cNvPr id="763" name=""/>
          <p:cNvSpPr/>
          <p:nvPr/>
        </p:nvSpPr>
        <p:spPr>
          <a:xfrm rot="0" flipH="0" flipV="0">
            <a:off x="609600" y="24193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64" name="" descr="{&quot;isTemplate&quot;:true,&quot;type&quot;:&quot;text&quot;}"/>
          <p:cNvSpPr txBox="1"/>
          <p:nvPr/>
        </p:nvSpPr>
        <p:spPr>
          <a:xfrm rot="0" flipH="0" flipV="0">
            <a:off x="685800" y="2505075"/>
            <a:ext cx="66675" cy="142875"/>
          </a:xfrm>
          <a:prstGeom prst="rect"/>
        </p:spPr>
        <p:txBody>
          <a:bodyPr wrap="none" lIns="0" tIns="0" rIns="0" bIns="0"/>
          <a:p>
            <a:pPr>
              <a:lnSpc>
                <a:spcPct val="100000"/>
              </a:lnSpc>
            </a:pPr>
            <a:r>
              <a:rPr lang="en-US" sz="938">
                <a:solidFill>
                  <a:srgbClr val="15181D"/>
                </a:solidFill>
                <a:latin typeface="Noto Sans SC"/>
                <a:ea typeface="Noto Sans SC"/>
              </a:rPr>
              <a:t>4</a:t>
            </a:r>
            <a:endParaRPr/>
          </a:p>
        </p:txBody>
      </p:sp>
      <p:sp>
        <p:nvSpPr>
          <p:cNvPr id="765" name="" descr="{&quot;isTemplate&quot;:true,&quot;type&quot;:&quot;text&quot;}"/>
          <p:cNvSpPr txBox="1"/>
          <p:nvPr/>
        </p:nvSpPr>
        <p:spPr>
          <a:xfrm rot="0" flipH="0" flipV="0">
            <a:off x="3581400" y="2505075"/>
            <a:ext cx="3571875" cy="142875"/>
          </a:xfrm>
          <a:prstGeom prst="rect"/>
        </p:spPr>
        <p:txBody>
          <a:bodyPr wrap="none" lIns="0" tIns="0" rIns="0" bIns="0"/>
          <a:p>
            <a:pPr>
              <a:lnSpc>
                <a:spcPct val="100000"/>
              </a:lnSpc>
            </a:pPr>
            <a:r>
              <a:rPr lang="zh-CN" sz="938">
                <a:solidFill>
                  <a:srgbClr val="15181D"/>
                </a:solidFill>
                <a:latin typeface="Noto Sans SC"/>
                <a:ea typeface="Noto Sans SC"/>
              </a:rPr>
              <a:t>科塔超窄边人造石洗漱盆家用民宿挂墙式一体成型洗手洗脸台盆定制</a:t>
            </a:r>
            <a:endParaRPr/>
          </a:p>
        </p:txBody>
      </p:sp>
      <p:sp>
        <p:nvSpPr>
          <p:cNvPr id="766" name="" descr="{&quot;isTemplate&quot;:true,&quot;type&quot;:&quot;text&quot;}"/>
          <p:cNvSpPr txBox="1"/>
          <p:nvPr/>
        </p:nvSpPr>
        <p:spPr>
          <a:xfrm rot="0" flipH="0" flipV="0">
            <a:off x="8477250" y="2505075"/>
            <a:ext cx="190500" cy="142875"/>
          </a:xfrm>
          <a:prstGeom prst="rect"/>
        </p:spPr>
        <p:txBody>
          <a:bodyPr wrap="none" lIns="0" tIns="0" rIns="0" bIns="0"/>
          <a:p>
            <a:pPr>
              <a:lnSpc>
                <a:spcPct val="100000"/>
              </a:lnSpc>
            </a:pPr>
            <a:r>
              <a:rPr lang="en-US" sz="938" b="1">
                <a:solidFill>
                  <a:srgbClr val="AE4128"/>
                </a:solidFill>
                <a:latin typeface="Noto Sans SC"/>
                <a:ea typeface="Noto Sans SC"/>
              </a:rPr>
              <a:t>629</a:t>
            </a:r>
            <a:endParaRPr/>
          </a:p>
        </p:txBody>
      </p:sp>
      <p:sp>
        <p:nvSpPr>
          <p:cNvPr id="767" name="" descr="{&quot;isTemplate&quot;:true,&quot;type&quot;:&quot;text&quot;}"/>
          <p:cNvSpPr txBox="1"/>
          <p:nvPr/>
        </p:nvSpPr>
        <p:spPr>
          <a:xfrm rot="0" flipH="0" flipV="0">
            <a:off x="9715500" y="2505075"/>
            <a:ext cx="276225" cy="142875"/>
          </a:xfrm>
          <a:prstGeom prst="rect"/>
        </p:spPr>
        <p:txBody>
          <a:bodyPr wrap="none" lIns="0" tIns="0" rIns="0" bIns="0"/>
          <a:p>
            <a:pPr>
              <a:lnSpc>
                <a:spcPct val="100000"/>
              </a:lnSpc>
            </a:pPr>
            <a:r>
              <a:rPr lang="en-US" sz="938">
                <a:solidFill>
                  <a:srgbClr val="15181D"/>
                </a:solidFill>
                <a:latin typeface="Noto Sans SC"/>
                <a:ea typeface="Noto Sans SC"/>
              </a:rPr>
              <a:t>1,154</a:t>
            </a:r>
            <a:endParaRPr/>
          </a:p>
        </p:txBody>
      </p:sp>
      <p:sp>
        <p:nvSpPr>
          <p:cNvPr id="768" name="" descr="{&quot;isTemplate&quot;:true,&quot;type&quot;:&quot;text&quot;}"/>
          <p:cNvSpPr txBox="1"/>
          <p:nvPr/>
        </p:nvSpPr>
        <p:spPr>
          <a:xfrm rot="0" flipH="0" flipV="0">
            <a:off x="11163300" y="2505075"/>
            <a:ext cx="342900" cy="142875"/>
          </a:xfrm>
          <a:prstGeom prst="rect"/>
        </p:spPr>
        <p:txBody>
          <a:bodyPr wrap="none" lIns="0" tIns="0" rIns="0" bIns="0"/>
          <a:p>
            <a:pPr>
              <a:lnSpc>
                <a:spcPct val="100000"/>
              </a:lnSpc>
            </a:pPr>
            <a:r>
              <a:rPr lang="en-US" sz="938">
                <a:solidFill>
                  <a:srgbClr val="15181D"/>
                </a:solidFill>
                <a:latin typeface="Noto Sans SC"/>
                <a:ea typeface="Noto Sans SC"/>
              </a:rPr>
              <a:t>11,615</a:t>
            </a:r>
            <a:endParaRPr/>
          </a:p>
        </p:txBody>
      </p:sp>
      <p:sp>
        <p:nvSpPr>
          <p:cNvPr id="769" name=""/>
          <p:cNvSpPr/>
          <p:nvPr/>
        </p:nvSpPr>
        <p:spPr>
          <a:xfrm rot="0" flipH="0" flipV="0">
            <a:off x="609600" y="27432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70" name="" descr="{&quot;isTemplate&quot;:true,&quot;type&quot;:&quot;text&quot;}"/>
          <p:cNvSpPr txBox="1"/>
          <p:nvPr/>
        </p:nvSpPr>
        <p:spPr>
          <a:xfrm rot="0" flipH="0" flipV="0">
            <a:off x="685800" y="2828925"/>
            <a:ext cx="66675" cy="142875"/>
          </a:xfrm>
          <a:prstGeom prst="rect"/>
        </p:spPr>
        <p:txBody>
          <a:bodyPr wrap="none" lIns="0" tIns="0" rIns="0" bIns="0"/>
          <a:p>
            <a:pPr>
              <a:lnSpc>
                <a:spcPct val="100000"/>
              </a:lnSpc>
            </a:pPr>
            <a:r>
              <a:rPr lang="en-US" sz="938">
                <a:solidFill>
                  <a:srgbClr val="15181D"/>
                </a:solidFill>
                <a:latin typeface="Noto Sans SC"/>
                <a:ea typeface="Noto Sans SC"/>
              </a:rPr>
              <a:t>5</a:t>
            </a:r>
            <a:endParaRPr/>
          </a:p>
        </p:txBody>
      </p:sp>
      <p:sp>
        <p:nvSpPr>
          <p:cNvPr id="771" name="" descr="{&quot;isTemplate&quot;:true,&quot;type&quot;:&quot;text&quot;}"/>
          <p:cNvSpPr txBox="1"/>
          <p:nvPr/>
        </p:nvSpPr>
        <p:spPr>
          <a:xfrm rot="0" flipH="0" flipV="0">
            <a:off x="3552825" y="2828925"/>
            <a:ext cx="3600450" cy="142875"/>
          </a:xfrm>
          <a:prstGeom prst="rect"/>
        </p:spPr>
        <p:txBody>
          <a:bodyPr wrap="none" lIns="0" tIns="0" rIns="0" bIns="0"/>
          <a:p>
            <a:pPr>
              <a:lnSpc>
                <a:spcPct val="100000"/>
              </a:lnSpc>
            </a:pPr>
            <a:r>
              <a:rPr lang="en-US" sz="938">
                <a:solidFill>
                  <a:srgbClr val="15181D"/>
                </a:solidFill>
                <a:latin typeface="Noto Sans SC"/>
                <a:ea typeface="Noto Sans SC"/>
              </a:rPr>
              <a:t>Gavin</a:t>
            </a:r>
            <a:r>
              <a:rPr lang="zh-CN" sz="938">
                <a:solidFill>
                  <a:srgbClr val="15181D"/>
                </a:solidFill>
                <a:latin typeface="Noto Sans SC"/>
                <a:ea typeface="Noto Sans SC"/>
              </a:rPr>
              <a:t>盖文家用人造石</a:t>
            </a:r>
            <a:r>
              <a:rPr lang="en-US" sz="938">
                <a:solidFill>
                  <a:srgbClr val="15181D"/>
                </a:solidFill>
                <a:latin typeface="Noto Sans SC"/>
                <a:ea typeface="Noto Sans SC"/>
              </a:rPr>
              <a:t>PMMA</a:t>
            </a:r>
            <a:r>
              <a:rPr lang="zh-CN" sz="938">
                <a:solidFill>
                  <a:srgbClr val="15181D"/>
                </a:solidFill>
                <a:latin typeface="Noto Sans SC"/>
                <a:ea typeface="Noto Sans SC"/>
              </a:rPr>
              <a:t>浴缸独立一体式双人酒店民宿鹅蛋型浴盆</a:t>
            </a:r>
            <a:endParaRPr/>
          </a:p>
        </p:txBody>
      </p:sp>
      <p:sp>
        <p:nvSpPr>
          <p:cNvPr id="772" name="" descr="{&quot;isTemplate&quot;:true,&quot;type&quot;:&quot;text&quot;}"/>
          <p:cNvSpPr txBox="1"/>
          <p:nvPr/>
        </p:nvSpPr>
        <p:spPr>
          <a:xfrm rot="0" flipH="0" flipV="0">
            <a:off x="8477250" y="2828925"/>
            <a:ext cx="190500" cy="142875"/>
          </a:xfrm>
          <a:prstGeom prst="rect"/>
        </p:spPr>
        <p:txBody>
          <a:bodyPr wrap="none" lIns="0" tIns="0" rIns="0" bIns="0"/>
          <a:p>
            <a:pPr>
              <a:lnSpc>
                <a:spcPct val="100000"/>
              </a:lnSpc>
            </a:pPr>
            <a:r>
              <a:rPr lang="en-US" sz="938" b="1">
                <a:solidFill>
                  <a:srgbClr val="AE4128"/>
                </a:solidFill>
                <a:latin typeface="Noto Sans SC"/>
                <a:ea typeface="Noto Sans SC"/>
              </a:rPr>
              <a:t>557</a:t>
            </a:r>
            <a:endParaRPr/>
          </a:p>
        </p:txBody>
      </p:sp>
      <p:sp>
        <p:nvSpPr>
          <p:cNvPr id="773" name="" descr="{&quot;isTemplate&quot;:true,&quot;type&quot;:&quot;text&quot;}"/>
          <p:cNvSpPr txBox="1"/>
          <p:nvPr/>
        </p:nvSpPr>
        <p:spPr>
          <a:xfrm rot="0" flipH="0" flipV="0">
            <a:off x="9801225" y="2828925"/>
            <a:ext cx="190500" cy="142875"/>
          </a:xfrm>
          <a:prstGeom prst="rect"/>
        </p:spPr>
        <p:txBody>
          <a:bodyPr wrap="none" lIns="0" tIns="0" rIns="0" bIns="0"/>
          <a:p>
            <a:pPr>
              <a:lnSpc>
                <a:spcPct val="100000"/>
              </a:lnSpc>
            </a:pPr>
            <a:r>
              <a:rPr lang="en-US" sz="938">
                <a:solidFill>
                  <a:srgbClr val="15181D"/>
                </a:solidFill>
                <a:latin typeface="Noto Sans SC"/>
                <a:ea typeface="Noto Sans SC"/>
              </a:rPr>
              <a:t>202</a:t>
            </a:r>
            <a:endParaRPr/>
          </a:p>
        </p:txBody>
      </p:sp>
      <p:sp>
        <p:nvSpPr>
          <p:cNvPr id="774" name="" descr="{&quot;isTemplate&quot;:true,&quot;type&quot;:&quot;text&quot;}"/>
          <p:cNvSpPr txBox="1"/>
          <p:nvPr/>
        </p:nvSpPr>
        <p:spPr>
          <a:xfrm rot="0" flipH="0" flipV="0">
            <a:off x="11229975" y="2828925"/>
            <a:ext cx="276225" cy="142875"/>
          </a:xfrm>
          <a:prstGeom prst="rect"/>
        </p:spPr>
        <p:txBody>
          <a:bodyPr wrap="none" lIns="0" tIns="0" rIns="0" bIns="0"/>
          <a:p>
            <a:pPr>
              <a:lnSpc>
                <a:spcPct val="100000"/>
              </a:lnSpc>
            </a:pPr>
            <a:r>
              <a:rPr lang="en-US" sz="938">
                <a:solidFill>
                  <a:srgbClr val="15181D"/>
                </a:solidFill>
                <a:latin typeface="Noto Sans SC"/>
                <a:ea typeface="Noto Sans SC"/>
              </a:rPr>
              <a:t>3,569</a:t>
            </a:r>
            <a:endParaRPr/>
          </a:p>
        </p:txBody>
      </p:sp>
      <p:sp>
        <p:nvSpPr>
          <p:cNvPr id="775" name=""/>
          <p:cNvSpPr/>
          <p:nvPr/>
        </p:nvSpPr>
        <p:spPr>
          <a:xfrm rot="0" flipH="0" flipV="0">
            <a:off x="609600" y="30670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76" name="" descr="{&quot;isTemplate&quot;:true,&quot;type&quot;:&quot;text&quot;}"/>
          <p:cNvSpPr txBox="1"/>
          <p:nvPr/>
        </p:nvSpPr>
        <p:spPr>
          <a:xfrm rot="0" flipH="0" flipV="0">
            <a:off x="685800" y="3152775"/>
            <a:ext cx="66675" cy="142875"/>
          </a:xfrm>
          <a:prstGeom prst="rect"/>
        </p:spPr>
        <p:txBody>
          <a:bodyPr wrap="none" lIns="0" tIns="0" rIns="0" bIns="0"/>
          <a:p>
            <a:pPr>
              <a:lnSpc>
                <a:spcPct val="100000"/>
              </a:lnSpc>
            </a:pPr>
            <a:r>
              <a:rPr lang="en-US" sz="938">
                <a:solidFill>
                  <a:srgbClr val="15181D"/>
                </a:solidFill>
                <a:latin typeface="Noto Sans SC"/>
                <a:ea typeface="Noto Sans SC"/>
              </a:rPr>
              <a:t>6</a:t>
            </a:r>
            <a:endParaRPr/>
          </a:p>
        </p:txBody>
      </p:sp>
      <p:sp>
        <p:nvSpPr>
          <p:cNvPr id="777" name="" descr="{&quot;isTemplate&quot;:true,&quot;type&quot;:&quot;text&quot;}"/>
          <p:cNvSpPr txBox="1"/>
          <p:nvPr/>
        </p:nvSpPr>
        <p:spPr>
          <a:xfrm rot="0" flipH="0" flipV="0">
            <a:off x="3819525" y="3152775"/>
            <a:ext cx="3333750" cy="142875"/>
          </a:xfrm>
          <a:prstGeom prst="rect"/>
        </p:spPr>
        <p:txBody>
          <a:bodyPr wrap="none" lIns="0" tIns="0" rIns="0" bIns="0"/>
          <a:p>
            <a:pPr>
              <a:lnSpc>
                <a:spcPct val="100000"/>
              </a:lnSpc>
            </a:pPr>
            <a:r>
              <a:rPr lang="zh-CN" sz="938">
                <a:solidFill>
                  <a:srgbClr val="15181D"/>
                </a:solidFill>
                <a:latin typeface="Noto Sans SC"/>
                <a:ea typeface="Noto Sans SC"/>
              </a:rPr>
              <a:t>网林人造石方形浴缸一体式小户型家用深泡浴池坐式可拆卸浴盆</a:t>
            </a:r>
            <a:endParaRPr/>
          </a:p>
        </p:txBody>
      </p:sp>
      <p:sp>
        <p:nvSpPr>
          <p:cNvPr id="778" name="" descr="{&quot;isTemplate&quot;:true,&quot;type&quot;:&quot;text&quot;}"/>
          <p:cNvSpPr txBox="1"/>
          <p:nvPr/>
        </p:nvSpPr>
        <p:spPr>
          <a:xfrm rot="0" flipH="0" flipV="0">
            <a:off x="8477250" y="3152775"/>
            <a:ext cx="190500" cy="142875"/>
          </a:xfrm>
          <a:prstGeom prst="rect"/>
        </p:spPr>
        <p:txBody>
          <a:bodyPr wrap="none" lIns="0" tIns="0" rIns="0" bIns="0"/>
          <a:p>
            <a:pPr>
              <a:lnSpc>
                <a:spcPct val="100000"/>
              </a:lnSpc>
            </a:pPr>
            <a:r>
              <a:rPr lang="en-US" sz="938" b="1">
                <a:solidFill>
                  <a:srgbClr val="AE4128"/>
                </a:solidFill>
                <a:latin typeface="Noto Sans SC"/>
                <a:ea typeface="Noto Sans SC"/>
              </a:rPr>
              <a:t>556</a:t>
            </a:r>
            <a:endParaRPr/>
          </a:p>
        </p:txBody>
      </p:sp>
      <p:sp>
        <p:nvSpPr>
          <p:cNvPr id="779" name="" descr="{&quot;isTemplate&quot;:true,&quot;type&quot;:&quot;text&quot;}"/>
          <p:cNvSpPr txBox="1"/>
          <p:nvPr/>
        </p:nvSpPr>
        <p:spPr>
          <a:xfrm rot="0" flipH="0" flipV="0">
            <a:off x="9801225" y="3152775"/>
            <a:ext cx="190500" cy="142875"/>
          </a:xfrm>
          <a:prstGeom prst="rect"/>
        </p:spPr>
        <p:txBody>
          <a:bodyPr wrap="none" lIns="0" tIns="0" rIns="0" bIns="0"/>
          <a:p>
            <a:pPr>
              <a:lnSpc>
                <a:spcPct val="100000"/>
              </a:lnSpc>
            </a:pPr>
            <a:r>
              <a:rPr lang="en-US" sz="938">
                <a:solidFill>
                  <a:srgbClr val="15181D"/>
                </a:solidFill>
                <a:latin typeface="Noto Sans SC"/>
                <a:ea typeface="Noto Sans SC"/>
              </a:rPr>
              <a:t>326</a:t>
            </a:r>
            <a:endParaRPr/>
          </a:p>
        </p:txBody>
      </p:sp>
      <p:sp>
        <p:nvSpPr>
          <p:cNvPr id="780" name="" descr="{&quot;isTemplate&quot;:true,&quot;type&quot;:&quot;text&quot;}"/>
          <p:cNvSpPr txBox="1"/>
          <p:nvPr/>
        </p:nvSpPr>
        <p:spPr>
          <a:xfrm rot="0" flipH="0" flipV="0">
            <a:off x="11229975" y="3152775"/>
            <a:ext cx="276225" cy="142875"/>
          </a:xfrm>
          <a:prstGeom prst="rect"/>
        </p:spPr>
        <p:txBody>
          <a:bodyPr wrap="none" lIns="0" tIns="0" rIns="0" bIns="0"/>
          <a:p>
            <a:pPr>
              <a:lnSpc>
                <a:spcPct val="100000"/>
              </a:lnSpc>
            </a:pPr>
            <a:r>
              <a:rPr lang="en-US" sz="938">
                <a:solidFill>
                  <a:srgbClr val="15181D"/>
                </a:solidFill>
                <a:latin typeface="Noto Sans SC"/>
                <a:ea typeface="Noto Sans SC"/>
              </a:rPr>
              <a:t>8,290</a:t>
            </a:r>
            <a:endParaRPr/>
          </a:p>
        </p:txBody>
      </p:sp>
      <p:sp>
        <p:nvSpPr>
          <p:cNvPr id="781" name=""/>
          <p:cNvSpPr/>
          <p:nvPr/>
        </p:nvSpPr>
        <p:spPr>
          <a:xfrm rot="0" flipH="0" flipV="0">
            <a:off x="609600" y="33909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82" name="" descr="{&quot;isTemplate&quot;:true,&quot;type&quot;:&quot;text&quot;}"/>
          <p:cNvSpPr txBox="1"/>
          <p:nvPr/>
        </p:nvSpPr>
        <p:spPr>
          <a:xfrm rot="0" flipH="0" flipV="0">
            <a:off x="685800" y="3476625"/>
            <a:ext cx="66675" cy="142875"/>
          </a:xfrm>
          <a:prstGeom prst="rect"/>
        </p:spPr>
        <p:txBody>
          <a:bodyPr wrap="none" lIns="0" tIns="0" rIns="0" bIns="0"/>
          <a:p>
            <a:pPr>
              <a:lnSpc>
                <a:spcPct val="100000"/>
              </a:lnSpc>
            </a:pPr>
            <a:r>
              <a:rPr lang="en-US" sz="938">
                <a:solidFill>
                  <a:srgbClr val="15181D"/>
                </a:solidFill>
                <a:latin typeface="Noto Sans SC"/>
                <a:ea typeface="Noto Sans SC"/>
              </a:rPr>
              <a:t>7</a:t>
            </a:r>
            <a:endParaRPr/>
          </a:p>
        </p:txBody>
      </p:sp>
      <p:sp>
        <p:nvSpPr>
          <p:cNvPr id="783" name="" descr="{&quot;isTemplate&quot;:true,&quot;type&quot;:&quot;text&quot;}"/>
          <p:cNvSpPr txBox="1"/>
          <p:nvPr/>
        </p:nvSpPr>
        <p:spPr>
          <a:xfrm rot="0" flipH="0" flipV="0">
            <a:off x="3581400" y="3476625"/>
            <a:ext cx="3571875" cy="142875"/>
          </a:xfrm>
          <a:prstGeom prst="rect"/>
        </p:spPr>
        <p:txBody>
          <a:bodyPr wrap="none" lIns="0" tIns="0" rIns="0" bIns="0"/>
          <a:p>
            <a:pPr>
              <a:lnSpc>
                <a:spcPct val="100000"/>
              </a:lnSpc>
            </a:pPr>
            <a:r>
              <a:rPr lang="zh-CN" sz="938">
                <a:solidFill>
                  <a:srgbClr val="15181D"/>
                </a:solidFill>
                <a:latin typeface="Noto Sans SC"/>
                <a:ea typeface="Noto Sans SC"/>
              </a:rPr>
              <a:t>网林日系侘寂风岩石立柱盆设计师款个性创意洞石一体式落地洗手盆</a:t>
            </a:r>
            <a:endParaRPr/>
          </a:p>
        </p:txBody>
      </p:sp>
      <p:sp>
        <p:nvSpPr>
          <p:cNvPr id="784" name="" descr="{&quot;isTemplate&quot;:true,&quot;type&quot;:&quot;text&quot;}"/>
          <p:cNvSpPr txBox="1"/>
          <p:nvPr/>
        </p:nvSpPr>
        <p:spPr>
          <a:xfrm rot="0" flipH="0" flipV="0">
            <a:off x="8477250" y="3476625"/>
            <a:ext cx="190500" cy="142875"/>
          </a:xfrm>
          <a:prstGeom prst="rect"/>
        </p:spPr>
        <p:txBody>
          <a:bodyPr wrap="none" lIns="0" tIns="0" rIns="0" bIns="0"/>
          <a:p>
            <a:pPr>
              <a:lnSpc>
                <a:spcPct val="100000"/>
              </a:lnSpc>
            </a:pPr>
            <a:r>
              <a:rPr lang="en-US" sz="938" b="1">
                <a:solidFill>
                  <a:srgbClr val="AE4128"/>
                </a:solidFill>
                <a:latin typeface="Noto Sans SC"/>
                <a:ea typeface="Noto Sans SC"/>
              </a:rPr>
              <a:t>493</a:t>
            </a:r>
            <a:endParaRPr/>
          </a:p>
        </p:txBody>
      </p:sp>
      <p:sp>
        <p:nvSpPr>
          <p:cNvPr id="785" name="" descr="{&quot;isTemplate&quot;:true,&quot;type&quot;:&quot;text&quot;}"/>
          <p:cNvSpPr txBox="1"/>
          <p:nvPr/>
        </p:nvSpPr>
        <p:spPr>
          <a:xfrm rot="0" flipH="0" flipV="0">
            <a:off x="9801225" y="3476625"/>
            <a:ext cx="190500" cy="142875"/>
          </a:xfrm>
          <a:prstGeom prst="rect"/>
        </p:spPr>
        <p:txBody>
          <a:bodyPr wrap="none" lIns="0" tIns="0" rIns="0" bIns="0"/>
          <a:p>
            <a:pPr>
              <a:lnSpc>
                <a:spcPct val="100000"/>
              </a:lnSpc>
            </a:pPr>
            <a:r>
              <a:rPr lang="en-US" sz="938">
                <a:solidFill>
                  <a:srgbClr val="15181D"/>
                </a:solidFill>
                <a:latin typeface="Noto Sans SC"/>
                <a:ea typeface="Noto Sans SC"/>
              </a:rPr>
              <a:t>326</a:t>
            </a:r>
            <a:endParaRPr/>
          </a:p>
        </p:txBody>
      </p:sp>
      <p:sp>
        <p:nvSpPr>
          <p:cNvPr id="786" name="" descr="{&quot;isTemplate&quot;:true,&quot;type&quot;:&quot;text&quot;}"/>
          <p:cNvSpPr txBox="1"/>
          <p:nvPr/>
        </p:nvSpPr>
        <p:spPr>
          <a:xfrm rot="0" flipH="0" flipV="0">
            <a:off x="11229975" y="3476625"/>
            <a:ext cx="276225" cy="142875"/>
          </a:xfrm>
          <a:prstGeom prst="rect"/>
        </p:spPr>
        <p:txBody>
          <a:bodyPr wrap="none" lIns="0" tIns="0" rIns="0" bIns="0"/>
          <a:p>
            <a:pPr>
              <a:lnSpc>
                <a:spcPct val="100000"/>
              </a:lnSpc>
            </a:pPr>
            <a:r>
              <a:rPr lang="en-US" sz="938">
                <a:solidFill>
                  <a:srgbClr val="15181D"/>
                </a:solidFill>
                <a:latin typeface="Noto Sans SC"/>
                <a:ea typeface="Noto Sans SC"/>
              </a:rPr>
              <a:t>6,918</a:t>
            </a:r>
            <a:endParaRPr/>
          </a:p>
        </p:txBody>
      </p:sp>
      <p:sp>
        <p:nvSpPr>
          <p:cNvPr id="787" name=""/>
          <p:cNvSpPr/>
          <p:nvPr/>
        </p:nvSpPr>
        <p:spPr>
          <a:xfrm rot="0" flipH="0" flipV="0">
            <a:off x="609600" y="37147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88" name="" descr="{&quot;isTemplate&quot;:true,&quot;type&quot;:&quot;text&quot;}"/>
          <p:cNvSpPr txBox="1"/>
          <p:nvPr/>
        </p:nvSpPr>
        <p:spPr>
          <a:xfrm rot="0" flipH="0" flipV="0">
            <a:off x="685800" y="3800475"/>
            <a:ext cx="66675" cy="142875"/>
          </a:xfrm>
          <a:prstGeom prst="rect"/>
        </p:spPr>
        <p:txBody>
          <a:bodyPr wrap="none" lIns="0" tIns="0" rIns="0" bIns="0"/>
          <a:p>
            <a:pPr>
              <a:lnSpc>
                <a:spcPct val="100000"/>
              </a:lnSpc>
            </a:pPr>
            <a:r>
              <a:rPr lang="en-US" sz="938">
                <a:solidFill>
                  <a:srgbClr val="15181D"/>
                </a:solidFill>
                <a:latin typeface="Noto Sans SC"/>
                <a:ea typeface="Noto Sans SC"/>
              </a:rPr>
              <a:t>8</a:t>
            </a:r>
            <a:endParaRPr/>
          </a:p>
        </p:txBody>
      </p:sp>
      <p:sp>
        <p:nvSpPr>
          <p:cNvPr id="789" name="" descr="{&quot;isTemplate&quot;:true,&quot;type&quot;:&quot;text&quot;}"/>
          <p:cNvSpPr txBox="1"/>
          <p:nvPr/>
        </p:nvSpPr>
        <p:spPr>
          <a:xfrm rot="0" flipH="0" flipV="0">
            <a:off x="3695700" y="3800475"/>
            <a:ext cx="3457575" cy="142875"/>
          </a:xfrm>
          <a:prstGeom prst="rect"/>
        </p:spPr>
        <p:txBody>
          <a:bodyPr wrap="none" lIns="0" tIns="0" rIns="0" bIns="0"/>
          <a:p>
            <a:pPr>
              <a:lnSpc>
                <a:spcPct val="100000"/>
              </a:lnSpc>
            </a:pPr>
            <a:r>
              <a:rPr lang="zh-CN" sz="938">
                <a:solidFill>
                  <a:srgbClr val="15181D"/>
                </a:solidFill>
                <a:latin typeface="Noto Sans SC"/>
                <a:ea typeface="Noto Sans SC"/>
              </a:rPr>
              <a:t>盖文浴缸人造石深泡家用小户型方形洞石浴池一体坐式独立洗浴盆</a:t>
            </a:r>
            <a:endParaRPr/>
          </a:p>
        </p:txBody>
      </p:sp>
      <p:sp>
        <p:nvSpPr>
          <p:cNvPr id="790" name="" descr="{&quot;isTemplate&quot;:true,&quot;type&quot;:&quot;text&quot;}"/>
          <p:cNvSpPr txBox="1"/>
          <p:nvPr/>
        </p:nvSpPr>
        <p:spPr>
          <a:xfrm rot="0" flipH="0" flipV="0">
            <a:off x="8477250" y="3800475"/>
            <a:ext cx="190500" cy="142875"/>
          </a:xfrm>
          <a:prstGeom prst="rect"/>
        </p:spPr>
        <p:txBody>
          <a:bodyPr wrap="none" lIns="0" tIns="0" rIns="0" bIns="0"/>
          <a:p>
            <a:pPr>
              <a:lnSpc>
                <a:spcPct val="100000"/>
              </a:lnSpc>
            </a:pPr>
            <a:r>
              <a:rPr lang="en-US" sz="938" b="1">
                <a:solidFill>
                  <a:srgbClr val="AE4128"/>
                </a:solidFill>
                <a:latin typeface="Noto Sans SC"/>
                <a:ea typeface="Noto Sans SC"/>
              </a:rPr>
              <a:t>458</a:t>
            </a:r>
            <a:endParaRPr/>
          </a:p>
        </p:txBody>
      </p:sp>
      <p:sp>
        <p:nvSpPr>
          <p:cNvPr id="791" name="" descr="{&quot;isTemplate&quot;:true,&quot;type&quot;:&quot;text&quot;}"/>
          <p:cNvSpPr txBox="1"/>
          <p:nvPr/>
        </p:nvSpPr>
        <p:spPr>
          <a:xfrm rot="0" flipH="0" flipV="0">
            <a:off x="9801225" y="3800475"/>
            <a:ext cx="190500" cy="142875"/>
          </a:xfrm>
          <a:prstGeom prst="rect"/>
        </p:spPr>
        <p:txBody>
          <a:bodyPr wrap="none" lIns="0" tIns="0" rIns="0" bIns="0"/>
          <a:p>
            <a:pPr>
              <a:lnSpc>
                <a:spcPct val="100000"/>
              </a:lnSpc>
            </a:pPr>
            <a:r>
              <a:rPr lang="en-US" sz="938">
                <a:solidFill>
                  <a:srgbClr val="15181D"/>
                </a:solidFill>
                <a:latin typeface="Noto Sans SC"/>
                <a:ea typeface="Noto Sans SC"/>
              </a:rPr>
              <a:t>262</a:t>
            </a:r>
            <a:endParaRPr/>
          </a:p>
        </p:txBody>
      </p:sp>
      <p:sp>
        <p:nvSpPr>
          <p:cNvPr id="792" name="" descr="{&quot;isTemplate&quot;:true,&quot;type&quot;:&quot;text&quot;}"/>
          <p:cNvSpPr txBox="1"/>
          <p:nvPr/>
        </p:nvSpPr>
        <p:spPr>
          <a:xfrm rot="0" flipH="0" flipV="0">
            <a:off x="11229975" y="3800475"/>
            <a:ext cx="276225" cy="142875"/>
          </a:xfrm>
          <a:prstGeom prst="rect"/>
        </p:spPr>
        <p:txBody>
          <a:bodyPr wrap="none" lIns="0" tIns="0" rIns="0" bIns="0"/>
          <a:p>
            <a:pPr>
              <a:lnSpc>
                <a:spcPct val="100000"/>
              </a:lnSpc>
            </a:pPr>
            <a:r>
              <a:rPr lang="en-US" sz="938">
                <a:solidFill>
                  <a:srgbClr val="15181D"/>
                </a:solidFill>
                <a:latin typeface="Noto Sans SC"/>
                <a:ea typeface="Noto Sans SC"/>
              </a:rPr>
              <a:t>4,812</a:t>
            </a:r>
            <a:endParaRPr/>
          </a:p>
        </p:txBody>
      </p:sp>
      <p:sp>
        <p:nvSpPr>
          <p:cNvPr id="793" name=""/>
          <p:cNvSpPr/>
          <p:nvPr/>
        </p:nvSpPr>
        <p:spPr>
          <a:xfrm rot="0" flipH="0" flipV="0">
            <a:off x="609600" y="403860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794" name="" descr="{&quot;isTemplate&quot;:true,&quot;type&quot;:&quot;text&quot;}"/>
          <p:cNvSpPr txBox="1"/>
          <p:nvPr/>
        </p:nvSpPr>
        <p:spPr>
          <a:xfrm rot="0" flipH="0" flipV="0">
            <a:off x="685800" y="4124325"/>
            <a:ext cx="66675" cy="142875"/>
          </a:xfrm>
          <a:prstGeom prst="rect"/>
        </p:spPr>
        <p:txBody>
          <a:bodyPr wrap="none" lIns="0" tIns="0" rIns="0" bIns="0"/>
          <a:p>
            <a:pPr>
              <a:lnSpc>
                <a:spcPct val="100000"/>
              </a:lnSpc>
            </a:pPr>
            <a:r>
              <a:rPr lang="en-US" sz="938">
                <a:solidFill>
                  <a:srgbClr val="15181D"/>
                </a:solidFill>
                <a:latin typeface="Noto Sans SC"/>
                <a:ea typeface="Noto Sans SC"/>
              </a:rPr>
              <a:t>9</a:t>
            </a:r>
            <a:endParaRPr/>
          </a:p>
        </p:txBody>
      </p:sp>
      <p:sp>
        <p:nvSpPr>
          <p:cNvPr id="795" name="" descr="{&quot;isTemplate&quot;:true,&quot;type&quot;:&quot;text&quot;}"/>
          <p:cNvSpPr txBox="1"/>
          <p:nvPr/>
        </p:nvSpPr>
        <p:spPr>
          <a:xfrm rot="0" flipH="0" flipV="0">
            <a:off x="3695700" y="4124325"/>
            <a:ext cx="3457575" cy="142875"/>
          </a:xfrm>
          <a:prstGeom prst="rect"/>
        </p:spPr>
        <p:txBody>
          <a:bodyPr wrap="none" lIns="0" tIns="0" rIns="0" bIns="0"/>
          <a:p>
            <a:pPr>
              <a:lnSpc>
                <a:spcPct val="100000"/>
              </a:lnSpc>
            </a:pPr>
            <a:r>
              <a:rPr lang="zh-CN" sz="938">
                <a:solidFill>
                  <a:srgbClr val="15181D"/>
                </a:solidFill>
                <a:latin typeface="Noto Sans SC"/>
                <a:ea typeface="Noto Sans SC"/>
              </a:rPr>
              <a:t>网林小户型家用坐式浴缸人造石一体式深泡浴盆日式新型泡澡浴池</a:t>
            </a:r>
            <a:endParaRPr/>
          </a:p>
        </p:txBody>
      </p:sp>
      <p:sp>
        <p:nvSpPr>
          <p:cNvPr id="796" name="" descr="{&quot;isTemplate&quot;:true,&quot;type&quot;:&quot;text&quot;}"/>
          <p:cNvSpPr txBox="1"/>
          <p:nvPr/>
        </p:nvSpPr>
        <p:spPr>
          <a:xfrm rot="0" flipH="0" flipV="0">
            <a:off x="8477250" y="4124325"/>
            <a:ext cx="190500" cy="142875"/>
          </a:xfrm>
          <a:prstGeom prst="rect"/>
        </p:spPr>
        <p:txBody>
          <a:bodyPr wrap="none" lIns="0" tIns="0" rIns="0" bIns="0"/>
          <a:p>
            <a:pPr>
              <a:lnSpc>
                <a:spcPct val="100000"/>
              </a:lnSpc>
            </a:pPr>
            <a:r>
              <a:rPr lang="en-US" sz="938" b="1">
                <a:solidFill>
                  <a:srgbClr val="AE4128"/>
                </a:solidFill>
                <a:latin typeface="Noto Sans SC"/>
                <a:ea typeface="Noto Sans SC"/>
              </a:rPr>
              <a:t>450</a:t>
            </a:r>
            <a:endParaRPr/>
          </a:p>
        </p:txBody>
      </p:sp>
      <p:sp>
        <p:nvSpPr>
          <p:cNvPr id="797" name="" descr="{&quot;isTemplate&quot;:true,&quot;type&quot;:&quot;text&quot;}"/>
          <p:cNvSpPr txBox="1"/>
          <p:nvPr/>
        </p:nvSpPr>
        <p:spPr>
          <a:xfrm rot="0" flipH="0" flipV="0">
            <a:off x="9801225" y="4124325"/>
            <a:ext cx="190500" cy="142875"/>
          </a:xfrm>
          <a:prstGeom prst="rect"/>
        </p:spPr>
        <p:txBody>
          <a:bodyPr wrap="none" lIns="0" tIns="0" rIns="0" bIns="0"/>
          <a:p>
            <a:pPr>
              <a:lnSpc>
                <a:spcPct val="100000"/>
              </a:lnSpc>
            </a:pPr>
            <a:r>
              <a:rPr lang="en-US" sz="938">
                <a:solidFill>
                  <a:srgbClr val="15181D"/>
                </a:solidFill>
                <a:latin typeface="Noto Sans SC"/>
                <a:ea typeface="Noto Sans SC"/>
              </a:rPr>
              <a:t>160</a:t>
            </a:r>
            <a:endParaRPr/>
          </a:p>
        </p:txBody>
      </p:sp>
      <p:sp>
        <p:nvSpPr>
          <p:cNvPr id="798" name="" descr="{&quot;isTemplate&quot;:true,&quot;type&quot;:&quot;text&quot;}"/>
          <p:cNvSpPr txBox="1"/>
          <p:nvPr/>
        </p:nvSpPr>
        <p:spPr>
          <a:xfrm rot="0" flipH="0" flipV="0">
            <a:off x="11229975" y="4124325"/>
            <a:ext cx="276225" cy="142875"/>
          </a:xfrm>
          <a:prstGeom prst="rect"/>
        </p:spPr>
        <p:txBody>
          <a:bodyPr wrap="none" lIns="0" tIns="0" rIns="0" bIns="0"/>
          <a:p>
            <a:pPr>
              <a:lnSpc>
                <a:spcPct val="100000"/>
              </a:lnSpc>
            </a:pPr>
            <a:r>
              <a:rPr lang="en-US" sz="938">
                <a:solidFill>
                  <a:srgbClr val="15181D"/>
                </a:solidFill>
                <a:latin typeface="Noto Sans SC"/>
                <a:ea typeface="Noto Sans SC"/>
              </a:rPr>
              <a:t>2,421</a:t>
            </a:r>
            <a:endParaRPr/>
          </a:p>
        </p:txBody>
      </p:sp>
      <p:sp>
        <p:nvSpPr>
          <p:cNvPr id="799" name=""/>
          <p:cNvSpPr/>
          <p:nvPr/>
        </p:nvSpPr>
        <p:spPr>
          <a:xfrm rot="0" flipH="0" flipV="0">
            <a:off x="609600" y="4362450"/>
            <a:ext cx="10972800" cy="323850"/>
          </a:xfrm>
          <a:custGeom>
            <a:pathLst>
              <a:path w="1152" h="34">
                <a:moveTo>
                  <a:pt x="0" y="33"/>
                </a:moveTo>
                <a:lnTo>
                  <a:pt x="1152" y="33"/>
                </a:lnTo>
                <a:lnTo>
                  <a:pt x="1152" y="34"/>
                </a:lnTo>
                <a:lnTo>
                  <a:pt x="0" y="34"/>
                </a:lnTo>
                <a:close/>
              </a:path>
            </a:pathLst>
          </a:custGeom>
          <a:solidFill>
            <a:srgbClr val="DDE2E8"/>
          </a:solidFill>
          <a:ln/>
        </p:spPr>
        <p:txBody>
          <a:bodyPr/>
          <a:p/>
        </p:txBody>
      </p:sp>
      <p:sp>
        <p:nvSpPr>
          <p:cNvPr id="800" name="" descr="{&quot;isTemplate&quot;:true,&quot;type&quot;:&quot;text&quot;}"/>
          <p:cNvSpPr txBox="1"/>
          <p:nvPr/>
        </p:nvSpPr>
        <p:spPr>
          <a:xfrm rot="0" flipH="0" flipV="0">
            <a:off x="685800" y="4448175"/>
            <a:ext cx="133350" cy="142875"/>
          </a:xfrm>
          <a:prstGeom prst="rect"/>
        </p:spPr>
        <p:txBody>
          <a:bodyPr wrap="none" lIns="0" tIns="0" rIns="0" bIns="0"/>
          <a:p>
            <a:pPr>
              <a:lnSpc>
                <a:spcPct val="100000"/>
              </a:lnSpc>
            </a:pPr>
            <a:r>
              <a:rPr lang="en-US" sz="938">
                <a:solidFill>
                  <a:srgbClr val="15181D"/>
                </a:solidFill>
                <a:latin typeface="Noto Sans SC"/>
                <a:ea typeface="Noto Sans SC"/>
              </a:rPr>
              <a:t>10</a:t>
            </a:r>
            <a:endParaRPr/>
          </a:p>
        </p:txBody>
      </p:sp>
      <p:sp>
        <p:nvSpPr>
          <p:cNvPr id="801" name="" descr="{&quot;isTemplate&quot;:true,&quot;type&quot;:&quot;text&quot;}"/>
          <p:cNvSpPr txBox="1"/>
          <p:nvPr/>
        </p:nvSpPr>
        <p:spPr>
          <a:xfrm rot="0" flipH="0" flipV="0">
            <a:off x="3619500" y="4448175"/>
            <a:ext cx="3533775" cy="142875"/>
          </a:xfrm>
          <a:prstGeom prst="rect"/>
        </p:spPr>
        <p:txBody>
          <a:bodyPr wrap="none" lIns="0" tIns="0" rIns="0" bIns="0"/>
          <a:p>
            <a:pPr>
              <a:lnSpc>
                <a:spcPct val="100000"/>
              </a:lnSpc>
            </a:pPr>
            <a:r>
              <a:rPr lang="en-US" sz="938">
                <a:solidFill>
                  <a:srgbClr val="15181D"/>
                </a:solidFill>
                <a:latin typeface="Noto Sans SC"/>
                <a:ea typeface="Noto Sans SC"/>
              </a:rPr>
              <a:t>Nicoline</a:t>
            </a:r>
            <a:r>
              <a:rPr lang="zh-CN" sz="938">
                <a:solidFill>
                  <a:srgbClr val="15181D"/>
                </a:solidFill>
                <a:latin typeface="Noto Sans SC"/>
                <a:ea typeface="Noto Sans SC"/>
              </a:rPr>
              <a:t>洞石款人造石浴缸家用酒店民宿别墅轻奢简约艺术独立浴池</a:t>
            </a:r>
            <a:endParaRPr/>
          </a:p>
        </p:txBody>
      </p:sp>
      <p:sp>
        <p:nvSpPr>
          <p:cNvPr id="802" name="" descr="{&quot;isTemplate&quot;:true,&quot;type&quot;:&quot;text&quot;}"/>
          <p:cNvSpPr txBox="1"/>
          <p:nvPr/>
        </p:nvSpPr>
        <p:spPr>
          <a:xfrm rot="0" flipH="0" flipV="0">
            <a:off x="8477250" y="4448175"/>
            <a:ext cx="190500" cy="142875"/>
          </a:xfrm>
          <a:prstGeom prst="rect"/>
        </p:spPr>
        <p:txBody>
          <a:bodyPr wrap="none" lIns="0" tIns="0" rIns="0" bIns="0"/>
          <a:p>
            <a:pPr>
              <a:lnSpc>
                <a:spcPct val="100000"/>
              </a:lnSpc>
            </a:pPr>
            <a:r>
              <a:rPr lang="en-US" sz="938" b="1">
                <a:solidFill>
                  <a:srgbClr val="AE4128"/>
                </a:solidFill>
                <a:latin typeface="Noto Sans SC"/>
                <a:ea typeface="Noto Sans SC"/>
              </a:rPr>
              <a:t>435</a:t>
            </a:r>
            <a:endParaRPr/>
          </a:p>
        </p:txBody>
      </p:sp>
      <p:sp>
        <p:nvSpPr>
          <p:cNvPr id="803" name="" descr="{&quot;isTemplate&quot;:true,&quot;type&quot;:&quot;text&quot;}"/>
          <p:cNvSpPr txBox="1"/>
          <p:nvPr/>
        </p:nvSpPr>
        <p:spPr>
          <a:xfrm rot="0" flipH="0" flipV="0">
            <a:off x="9801225" y="4448175"/>
            <a:ext cx="190500" cy="142875"/>
          </a:xfrm>
          <a:prstGeom prst="rect"/>
        </p:spPr>
        <p:txBody>
          <a:bodyPr wrap="none" lIns="0" tIns="0" rIns="0" bIns="0"/>
          <a:p>
            <a:pPr>
              <a:lnSpc>
                <a:spcPct val="100000"/>
              </a:lnSpc>
            </a:pPr>
            <a:r>
              <a:rPr lang="en-US" sz="938">
                <a:solidFill>
                  <a:srgbClr val="15181D"/>
                </a:solidFill>
                <a:latin typeface="Noto Sans SC"/>
                <a:ea typeface="Noto Sans SC"/>
              </a:rPr>
              <a:t>243</a:t>
            </a:r>
            <a:endParaRPr/>
          </a:p>
        </p:txBody>
      </p:sp>
      <p:sp>
        <p:nvSpPr>
          <p:cNvPr id="804" name="" descr="{&quot;isTemplate&quot;:true,&quot;type&quot;:&quot;text&quot;}"/>
          <p:cNvSpPr txBox="1"/>
          <p:nvPr/>
        </p:nvSpPr>
        <p:spPr>
          <a:xfrm rot="0" flipH="0" flipV="0">
            <a:off x="11229975" y="4448175"/>
            <a:ext cx="276225" cy="142875"/>
          </a:xfrm>
          <a:prstGeom prst="rect"/>
        </p:spPr>
        <p:txBody>
          <a:bodyPr wrap="none" lIns="0" tIns="0" rIns="0" bIns="0"/>
          <a:p>
            <a:pPr>
              <a:lnSpc>
                <a:spcPct val="100000"/>
              </a:lnSpc>
            </a:pPr>
            <a:r>
              <a:rPr lang="en-US" sz="938">
                <a:solidFill>
                  <a:srgbClr val="15181D"/>
                </a:solidFill>
                <a:latin typeface="Noto Sans SC"/>
                <a:ea typeface="Noto Sans SC"/>
              </a:rPr>
              <a:t>4,336</a:t>
            </a:r>
            <a:endParaRPr/>
          </a:p>
        </p:txBody>
      </p:sp>
      <p:sp>
        <p:nvSpPr>
          <p:cNvPr id="805" name=""/>
          <p:cNvSpPr/>
          <p:nvPr/>
        </p:nvSpPr>
        <p:spPr>
          <a:xfrm rot="0" flipH="0" flipV="0">
            <a:off x="609600" y="4705350"/>
            <a:ext cx="10972800" cy="333375"/>
          </a:xfrm>
          <a:prstGeom prst="rect">
            <a:avLst/>
          </a:prstGeom>
          <a:solidFill>
            <a:srgbClr val="F4F6F8"/>
          </a:solidFill>
          <a:ln/>
        </p:spPr>
        <p:txBody>
          <a:bodyPr/>
          <a:p/>
        </p:txBody>
      </p:sp>
      <p:sp>
        <p:nvSpPr>
          <p:cNvPr id="806" name=""/>
          <p:cNvSpPr/>
          <p:nvPr/>
        </p:nvSpPr>
        <p:spPr>
          <a:xfrm rot="0" flipH="0" flipV="0">
            <a:off x="609600" y="4686300"/>
            <a:ext cx="10972800" cy="361950"/>
          </a:xfrm>
          <a:custGeom>
            <a:pathLst>
              <a:path w="1152" h="38">
                <a:moveTo>
                  <a:pt x="0" y="0"/>
                </a:moveTo>
                <a:lnTo>
                  <a:pt x="1152" y="0"/>
                </a:lnTo>
                <a:lnTo>
                  <a:pt x="1152" y="2"/>
                </a:lnTo>
                <a:lnTo>
                  <a:pt x="0" y="2"/>
                </a:lnTo>
                <a:close/>
              </a:path>
            </a:pathLst>
          </a:custGeom>
          <a:solidFill>
            <a:srgbClr val="1B3557"/>
          </a:solidFill>
          <a:ln/>
        </p:spPr>
        <p:txBody>
          <a:bodyPr/>
          <a:p/>
        </p:txBody>
      </p:sp>
      <p:sp>
        <p:nvSpPr>
          <p:cNvPr id="807" name=""/>
          <p:cNvSpPr/>
          <p:nvPr/>
        </p:nvSpPr>
        <p:spPr>
          <a:xfrm rot="0" flipH="0" flipV="0">
            <a:off x="609600" y="4686300"/>
            <a:ext cx="10972800" cy="361950"/>
          </a:xfrm>
          <a:custGeom>
            <a:pathLst>
              <a:path w="1152" h="38">
                <a:moveTo>
                  <a:pt x="0" y="37"/>
                </a:moveTo>
                <a:lnTo>
                  <a:pt x="1152" y="37"/>
                </a:lnTo>
                <a:lnTo>
                  <a:pt x="1152" y="38"/>
                </a:lnTo>
                <a:lnTo>
                  <a:pt x="0" y="38"/>
                </a:lnTo>
                <a:close/>
              </a:path>
            </a:pathLst>
          </a:custGeom>
          <a:solidFill>
            <a:srgbClr val="DDE2E8"/>
          </a:solidFill>
          <a:ln/>
        </p:spPr>
        <p:txBody>
          <a:bodyPr/>
          <a:p/>
        </p:txBody>
      </p:sp>
      <p:sp>
        <p:nvSpPr>
          <p:cNvPr id="808" name="" descr="{&quot;isTemplate&quot;:true,&quot;type&quot;:&quot;text&quot;}"/>
          <p:cNvSpPr txBox="1"/>
          <p:nvPr/>
        </p:nvSpPr>
        <p:spPr>
          <a:xfrm rot="0" flipH="0" flipV="0">
            <a:off x="685800" y="4876800"/>
            <a:ext cx="0" cy="0"/>
          </a:xfrm>
          <a:prstGeom prst="rect"/>
        </p:spPr>
        <p:txBody>
          <a:bodyPr wrap="none" lIns="0" tIns="0" rIns="0" bIns="0"/>
          <a:p>
            <a:pPr/>
            <a:endParaRPr/>
          </a:p>
        </p:txBody>
      </p:sp>
      <p:sp>
        <p:nvSpPr>
          <p:cNvPr id="809" name="" descr="{&quot;isTemplate&quot;:true,&quot;type&quot;:&quot;text&quot;}"/>
          <p:cNvSpPr txBox="1"/>
          <p:nvPr/>
        </p:nvSpPr>
        <p:spPr>
          <a:xfrm rot="0" flipH="0" flipV="0">
            <a:off x="6105525" y="4800600"/>
            <a:ext cx="1047750" cy="142875"/>
          </a:xfrm>
          <a:prstGeom prst="rect"/>
        </p:spPr>
        <p:txBody>
          <a:bodyPr wrap="none" lIns="0" tIns="0" rIns="0" bIns="0"/>
          <a:p>
            <a:pPr>
              <a:lnSpc>
                <a:spcPct val="100000"/>
              </a:lnSpc>
            </a:pPr>
            <a:r>
              <a:rPr lang="zh-CN" sz="938" b="1">
                <a:solidFill>
                  <a:srgbClr val="15181D"/>
                </a:solidFill>
                <a:latin typeface="Noto Sans SC"/>
                <a:ea typeface="Noto Sans SC"/>
              </a:rPr>
              <a:t>前</a:t>
            </a:r>
            <a:r>
              <a:rPr lang="en-US" sz="938" b="1">
                <a:solidFill>
                  <a:srgbClr val="15181D"/>
                </a:solidFill>
                <a:latin typeface="Noto Sans SC"/>
                <a:ea typeface="Noto Sans SC"/>
              </a:rPr>
              <a:t>10</a:t>
            </a:r>
            <a:r>
              <a:rPr lang="en-US" sz="938" b="1">
                <a:solidFill>
                  <a:srgbClr val="15181D"/>
                </a:solidFill>
                <a:latin typeface="Noto Sans SC"/>
                <a:ea typeface="Noto Sans SC"/>
              </a:rPr>
              <a:t xml:space="preserve"> </a:t>
            </a:r>
            <a:r>
              <a:rPr lang="zh-CN" sz="938" b="1">
                <a:solidFill>
                  <a:srgbClr val="15181D"/>
                </a:solidFill>
                <a:latin typeface="Noto Sans SC"/>
                <a:ea typeface="Noto Sans SC"/>
              </a:rPr>
              <a:t>个合计</a:t>
            </a:r>
            <a:r>
              <a:rPr lang="en-US" sz="938" b="1">
                <a:solidFill>
                  <a:srgbClr val="15181D"/>
                </a:solidFill>
                <a:latin typeface="Noto Sans SC"/>
                <a:ea typeface="Noto Sans SC"/>
              </a:rPr>
              <a:t>6,098</a:t>
            </a:r>
            <a:r>
              <a:rPr lang="en-US" sz="938" b="1">
                <a:solidFill>
                  <a:srgbClr val="15181D"/>
                </a:solidFill>
                <a:latin typeface="Noto Sans SC"/>
                <a:ea typeface="Noto Sans SC"/>
              </a:rPr>
              <a:t xml:space="preserve"> </a:t>
            </a:r>
            <a:r>
              <a:rPr lang="zh-CN" sz="938" b="1">
                <a:solidFill>
                  <a:srgbClr val="15181D"/>
                </a:solidFill>
                <a:latin typeface="Noto Sans SC"/>
                <a:ea typeface="Noto Sans SC"/>
              </a:rPr>
              <a:t>元</a:t>
            </a:r>
            <a:endParaRPr/>
          </a:p>
        </p:txBody>
      </p:sp>
      <p:sp>
        <p:nvSpPr>
          <p:cNvPr id="810" name="" descr="{&quot;isTemplate&quot;:true,&quot;type&quot;:&quot;text&quot;}"/>
          <p:cNvSpPr txBox="1"/>
          <p:nvPr/>
        </p:nvSpPr>
        <p:spPr>
          <a:xfrm rot="0" flipH="0" flipV="0">
            <a:off x="8324850" y="4800600"/>
            <a:ext cx="342900" cy="142875"/>
          </a:xfrm>
          <a:prstGeom prst="rect"/>
        </p:spPr>
        <p:txBody>
          <a:bodyPr wrap="none" lIns="0" tIns="0" rIns="0" bIns="0"/>
          <a:p>
            <a:pPr>
              <a:lnSpc>
                <a:spcPct val="100000"/>
              </a:lnSpc>
            </a:pPr>
            <a:r>
              <a:rPr lang="en-US" sz="938" b="1">
                <a:solidFill>
                  <a:srgbClr val="AE4128"/>
                </a:solidFill>
                <a:latin typeface="Noto Sans SC"/>
                <a:ea typeface="Noto Sans SC"/>
              </a:rPr>
              <a:t>13,120</a:t>
            </a:r>
            <a:endParaRPr/>
          </a:p>
        </p:txBody>
      </p:sp>
      <p:sp>
        <p:nvSpPr>
          <p:cNvPr id="811" name="" descr="{&quot;isTemplate&quot;:true,&quot;type&quot;:&quot;text&quot;}"/>
          <p:cNvSpPr txBox="1"/>
          <p:nvPr/>
        </p:nvSpPr>
        <p:spPr>
          <a:xfrm rot="0" flipH="0" flipV="0">
            <a:off x="9648825" y="4800600"/>
            <a:ext cx="342900" cy="142875"/>
          </a:xfrm>
          <a:prstGeom prst="rect"/>
        </p:spPr>
        <p:txBody>
          <a:bodyPr wrap="none" lIns="0" tIns="0" rIns="0" bIns="0"/>
          <a:p>
            <a:pPr>
              <a:lnSpc>
                <a:spcPct val="100000"/>
              </a:lnSpc>
            </a:pPr>
            <a:r>
              <a:rPr lang="en-US" sz="938" b="1">
                <a:solidFill>
                  <a:srgbClr val="15181D"/>
                </a:solidFill>
                <a:latin typeface="Noto Sans SC"/>
                <a:ea typeface="Noto Sans SC"/>
              </a:rPr>
              <a:t>10,910</a:t>
            </a:r>
            <a:endParaRPr/>
          </a:p>
        </p:txBody>
      </p:sp>
      <p:sp>
        <p:nvSpPr>
          <p:cNvPr id="812" name="" descr="{&quot;isTemplate&quot;:true,&quot;type&quot;:&quot;text&quot;}"/>
          <p:cNvSpPr txBox="1"/>
          <p:nvPr/>
        </p:nvSpPr>
        <p:spPr>
          <a:xfrm rot="0" flipH="0" flipV="0">
            <a:off x="11506200" y="4876800"/>
            <a:ext cx="0" cy="0"/>
          </a:xfrm>
          <a:prstGeom prst="rect"/>
        </p:spPr>
        <p:txBody>
          <a:bodyPr wrap="none" lIns="0" tIns="0" rIns="0" bIns="0"/>
          <a:p>
            <a:pPr/>
            <a:endParaRPr/>
          </a:p>
        </p:txBody>
      </p:sp>
      <p:sp>
        <p:nvSpPr>
          <p:cNvPr id="813" name=""/>
          <p:cNvSpPr/>
          <p:nvPr/>
        </p:nvSpPr>
        <p:spPr>
          <a:xfrm rot="0" flipH="0" flipV="0">
            <a:off x="647700" y="5181600"/>
            <a:ext cx="10972800" cy="695325"/>
          </a:xfrm>
          <a:prstGeom prst="rect">
            <a:avLst/>
          </a:prstGeom>
          <a:solidFill>
            <a:srgbClr val="F4F6F8"/>
          </a:solidFill>
          <a:ln/>
        </p:spPr>
        <p:txBody>
          <a:bodyPr/>
          <a:p/>
        </p:txBody>
      </p:sp>
      <p:sp>
        <p:nvSpPr>
          <p:cNvPr id="814" name=""/>
          <p:cNvSpPr/>
          <p:nvPr/>
        </p:nvSpPr>
        <p:spPr>
          <a:xfrm rot="0" flipH="0" flipV="0">
            <a:off x="609600" y="5181600"/>
            <a:ext cx="11010900" cy="695325"/>
          </a:xfrm>
          <a:custGeom>
            <a:pathLst>
              <a:path w="1156" h="73">
                <a:moveTo>
                  <a:pt x="0" y="0"/>
                </a:moveTo>
                <a:lnTo>
                  <a:pt x="4" y="0"/>
                </a:lnTo>
                <a:lnTo>
                  <a:pt x="4" y="73"/>
                </a:lnTo>
                <a:lnTo>
                  <a:pt x="0" y="73"/>
                </a:lnTo>
                <a:close/>
              </a:path>
            </a:pathLst>
          </a:custGeom>
          <a:solidFill>
            <a:srgbClr val="A97B28"/>
          </a:solidFill>
          <a:ln/>
        </p:spPr>
        <p:txBody>
          <a:bodyPr/>
          <a:p/>
        </p:txBody>
      </p:sp>
      <p:sp>
        <p:nvSpPr>
          <p:cNvPr id="815" name="" descr="{&quot;isTemplate&quot;:true,&quot;type&quot;:&quot;text&quot;}"/>
          <p:cNvSpPr txBox="1"/>
          <p:nvPr/>
        </p:nvSpPr>
        <p:spPr>
          <a:xfrm rot="0" flipH="0" flipV="0">
            <a:off x="838200" y="5305425"/>
            <a:ext cx="10553700" cy="266700"/>
          </a:xfrm>
          <a:prstGeom prst="rect"/>
        </p:spPr>
        <p:txBody>
          <a:bodyPr wrap="none" lIns="0" tIns="0" rIns="0" bIns="0"/>
          <a:p>
            <a:pPr>
              <a:lnSpc>
                <a:spcPct val="150000"/>
              </a:lnSpc>
            </a:pPr>
            <a:r>
              <a:rPr lang="en-US" sz="1163" b="1">
                <a:solidFill>
                  <a:srgbClr val="1B3557"/>
                </a:solidFill>
                <a:latin typeface="Noto Sans SC"/>
                <a:ea typeface="Noto Sans SC"/>
              </a:rPr>
              <a:t>72</a:t>
            </a:r>
            <a:r>
              <a:rPr lang="en-US" sz="1163" b="1">
                <a:solidFill>
                  <a:srgbClr val="1B3557"/>
                </a:solidFill>
                <a:latin typeface="Noto Sans SC"/>
                <a:ea typeface="Noto Sans SC"/>
              </a:rPr>
              <a:t xml:space="preserve"> </a:t>
            </a:r>
            <a:r>
              <a:rPr lang="zh-CN" sz="1163" b="1">
                <a:solidFill>
                  <a:srgbClr val="1B3557"/>
                </a:solidFill>
                <a:latin typeface="Noto Sans SC"/>
                <a:ea typeface="Noto Sans SC"/>
              </a:rPr>
              <a:t>个合计</a:t>
            </a:r>
            <a:r>
              <a:rPr lang="en-US" sz="1163" b="1">
                <a:solidFill>
                  <a:srgbClr val="1B3557"/>
                </a:solidFill>
                <a:latin typeface="Noto Sans SC"/>
                <a:ea typeface="Noto Sans SC"/>
              </a:rPr>
              <a:t>13,120</a:t>
            </a:r>
            <a:r>
              <a:rPr lang="en-US" sz="1163" b="1">
                <a:solidFill>
                  <a:srgbClr val="1B3557"/>
                </a:solidFill>
                <a:latin typeface="Noto Sans SC"/>
                <a:ea typeface="Noto Sans SC"/>
              </a:rPr>
              <a:t xml:space="preserve"> </a:t>
            </a:r>
            <a:r>
              <a:rPr lang="zh-CN" sz="1163" b="1">
                <a:solidFill>
                  <a:srgbClr val="1B3557"/>
                </a:solidFill>
                <a:latin typeface="Noto Sans SC"/>
                <a:ea typeface="Noto Sans SC"/>
              </a:rPr>
              <a:t>元、</a:t>
            </a:r>
            <a:r>
              <a:rPr lang="en-US" sz="1163" b="1">
                <a:solidFill>
                  <a:srgbClr val="1B3557"/>
                </a:solidFill>
                <a:latin typeface="Noto Sans SC"/>
                <a:ea typeface="Noto Sans SC"/>
              </a:rPr>
              <a:t>10,910</a:t>
            </a:r>
            <a:r>
              <a:rPr lang="en-US" sz="1163" b="1">
                <a:solidFill>
                  <a:srgbClr val="1B3557"/>
                </a:solidFill>
                <a:latin typeface="Noto Sans SC"/>
                <a:ea typeface="Noto Sans SC"/>
              </a:rPr>
              <a:t xml:space="preserve"> </a:t>
            </a:r>
            <a:r>
              <a:rPr lang="zh-CN" sz="1163" b="1">
                <a:solidFill>
                  <a:srgbClr val="1B3557"/>
                </a:solidFill>
                <a:latin typeface="Noto Sans SC"/>
                <a:ea typeface="Noto Sans SC"/>
              </a:rPr>
              <a:t>次点击，一次成交都没有</a:t>
            </a:r>
            <a:r>
              <a:rPr sz="1163" b="1">
                <a:solidFill>
                  <a:srgbClr val="1B3557"/>
                </a:solidFill>
                <a:latin typeface="Noto Sans SC"/>
                <a:ea typeface="Noto Sans SC"/>
              </a:rPr>
              <a:t>—</a:t>
            </a:r>
            <a:r>
              <a:rPr sz="1163" b="1">
                <a:solidFill>
                  <a:srgbClr val="1B3557"/>
                </a:solidFill>
                <a:latin typeface="Noto Sans SC"/>
                <a:ea typeface="Noto Sans SC"/>
              </a:rPr>
              <a:t>—</a:t>
            </a:r>
            <a:r>
              <a:rPr lang="zh-CN" sz="1163" b="1">
                <a:solidFill>
                  <a:srgbClr val="1B3557"/>
                </a:solidFill>
                <a:latin typeface="Noto Sans SC"/>
                <a:ea typeface="Noto Sans SC"/>
              </a:rPr>
              <a:t>这</a:t>
            </a:r>
            <a:r>
              <a:rPr lang="en-US" sz="1163" b="1">
                <a:solidFill>
                  <a:srgbClr val="1B3557"/>
                </a:solidFill>
                <a:latin typeface="Noto Sans SC"/>
                <a:ea typeface="Noto Sans SC"/>
              </a:rPr>
              <a:t>72</a:t>
            </a:r>
            <a:r>
              <a:rPr lang="en-US" sz="1163" b="1">
                <a:solidFill>
                  <a:srgbClr val="1B3557"/>
                </a:solidFill>
                <a:latin typeface="Noto Sans SC"/>
                <a:ea typeface="Noto Sans SC"/>
              </a:rPr>
              <a:t xml:space="preserve"> </a:t>
            </a:r>
            <a:r>
              <a:rPr lang="zh-CN" sz="1163" b="1">
                <a:solidFill>
                  <a:srgbClr val="1B3557"/>
                </a:solidFill>
                <a:latin typeface="Noto Sans SC"/>
                <a:ea typeface="Noto Sans SC"/>
              </a:rPr>
              <a:t>个可以今天停。</a:t>
            </a:r>
            <a:endParaRPr/>
          </a:p>
        </p:txBody>
      </p:sp>
      <p:sp>
        <p:nvSpPr>
          <p:cNvPr id="816" name="" descr="{&quot;isTemplate&quot;:true,&quot;type&quot;:&quot;text&quot;}"/>
          <p:cNvSpPr txBox="1"/>
          <p:nvPr/>
        </p:nvSpPr>
        <p:spPr>
          <a:xfrm rot="0" flipH="0" flipV="0">
            <a:off x="838200" y="5610225"/>
            <a:ext cx="10553700" cy="142875"/>
          </a:xfrm>
          <a:prstGeom prst="rect"/>
        </p:spPr>
        <p:txBody>
          <a:bodyPr wrap="none" lIns="0" tIns="0" rIns="0" bIns="0"/>
          <a:p>
            <a:pPr>
              <a:lnSpc>
                <a:spcPct val="100000"/>
              </a:lnSpc>
            </a:pPr>
            <a:r>
              <a:rPr lang="zh-CN" sz="900">
                <a:solidFill>
                  <a:srgbClr val="5F6975"/>
                </a:solidFill>
                <a:latin typeface="Noto Sans SC"/>
                <a:ea typeface="Noto Sans SC"/>
              </a:rPr>
              <a:t>完整</a:t>
            </a:r>
            <a:r>
              <a:rPr lang="en-US" sz="900">
                <a:solidFill>
                  <a:srgbClr val="5F6975"/>
                </a:solidFill>
                <a:latin typeface="Noto Sans SC"/>
                <a:ea typeface="Noto Sans SC"/>
              </a:rPr>
              <a:t>72</a:t>
            </a:r>
            <a:r>
              <a:rPr lang="en-US" sz="900">
                <a:solidFill>
                  <a:srgbClr val="5F6975"/>
                </a:solidFill>
                <a:latin typeface="Noto Sans SC"/>
                <a:ea typeface="Noto Sans SC"/>
              </a:rPr>
              <a:t xml:space="preserve"> </a:t>
            </a:r>
            <a:r>
              <a:rPr lang="zh-CN" sz="900">
                <a:solidFill>
                  <a:srgbClr val="5F6975"/>
                </a:solidFill>
                <a:latin typeface="Noto Sans SC"/>
                <a:ea typeface="Noto Sans SC"/>
              </a:rPr>
              <a:t>个名单（含商品</a:t>
            </a:r>
            <a:r>
              <a:rPr lang="en-US" sz="900">
                <a:solidFill>
                  <a:srgbClr val="5F6975"/>
                </a:solidFill>
                <a:latin typeface="Noto Sans SC"/>
                <a:ea typeface="Noto Sans SC"/>
              </a:rPr>
              <a:t xml:space="preserve"> ID</a:t>
            </a:r>
            <a:r>
              <a:rPr lang="zh-CN" sz="900">
                <a:solidFill>
                  <a:srgbClr val="5F6975"/>
                </a:solidFill>
                <a:latin typeface="Noto Sans SC"/>
                <a:ea typeface="Noto Sans SC"/>
              </a:rPr>
              <a:t>）见附录</a:t>
            </a:r>
            <a:r>
              <a:rPr lang="en-US" sz="900">
                <a:solidFill>
                  <a:srgbClr val="5F6975"/>
                </a:solidFill>
                <a:latin typeface="Noto Sans SC"/>
                <a:ea typeface="Noto Sans SC"/>
              </a:rPr>
              <a:t xml:space="preserve"> A</a:t>
            </a:r>
            <a:r>
              <a:rPr lang="zh-CN" sz="900">
                <a:solidFill>
                  <a:srgbClr val="5F6975"/>
                </a:solidFill>
                <a:latin typeface="Noto Sans SC"/>
                <a:ea typeface="Noto Sans SC"/>
              </a:rPr>
              <a:t>，可发给推广直接执行。</a:t>
            </a:r>
            <a:endParaRPr/>
          </a:p>
        </p:txBody>
      </p:sp>
      <p:sp>
        <p:nvSpPr>
          <p:cNvPr id="817"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818"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07</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8.xml><?xml version="1.0" encoding="utf-8"?>
<p:sld xmlns:p="http://schemas.openxmlformats.org/presentationml/2006/main" xmlns:a="http://schemas.openxmlformats.org/drawingml/2006/main">
  <p:cSld>
    <p:spTree>
      <p:nvGrpSpPr>
        <p:cNvPr id="819" name="" descr="&lt;Slide style={{ width: '1280px', height: '720px', background: '#FFFFFF', fontFamily: 'Noto Sans SC', padding: '20px 64px', flexDirection: 'column' }}&gt;&lt;Box style={{ height: '96px', flexDirection: 'column', justifyContent: 'center' }}&gt;&lt;Text style={{ fontSize: '31px', fontWeight: 700, color: '#1B3557', lineHeight: 1.25 }}&gt;高效组里，{'8.3%'} 的预算做出{'31.2%'} 的成交&lt;/Text&gt;&lt;Text style={{ fontSize: '15px', color: '#5F6975', lineHeight: 1.4, marginTop: '6px' }}&gt;{'13'} 个高效商品{'18'} 天共花{'8,928'} 元、带回{'8.1'}万元。&lt;/Text&gt;&lt;/Box&gt;&lt;Box style={{ height: '540px', flexDirection: 'row', gap: '40px' }}&gt;&lt;Box style={{ width: '620px', flexDirection: 'column' }}&gt;&lt;Text style={{ fontSize: '15px', fontWeight: 700, color: '#1B3557', marginBottom: '10px' }}&gt;每{'1'} 元推广费换回最多钱的{'4'} 个&lt;/Text&gt;&lt;Box style={{ flexDirection: 'row', alignItems: 'center', height: '72px', borderBottom: '1px solid #DDE2E8', gap: '12px' }}&gt;&lt;Text style={{ fontSize: '18px', fontWeight: 700, color: '#A97B28', width: '26px' }}&gt;{'1'}&lt;/Text&gt;&lt;Box style={{ width: '400px', flexDirection: 'column', gap: '3px' }}&gt;&lt;Text style={{ fontSize: '12.5px', color: '#15181D', lineHeight: 1.35 }}&gt;科塔半嵌入挂墙洗手盆家用小户型卫生间洗脸盆民宿浴室洗漱盆定制&lt;/Text&gt;&lt;Text style={{ fontSize: '11.5px', color: '#5F6975' }}&gt;只花了{'87'} 元&lt;/Text&gt;&lt;/Box&gt;&lt;Text style={{ fontSize: '19px', fontWeight: 700, color: '#1B3557', width: '150px', textAlign: 'right' }}&gt;每{'1'} 元回{'80.12'} 元&lt;/Text&gt;&lt;/Box&gt;&lt;Box style={{ flexDirection: 'row', alignItems: 'center', height: '72px', borderBottom: '1px solid #DDE2E8', gap: '12px' }}&gt;&lt;Text style={{ fontSize: '18px', fontWeight: 700, color: '#A97B28', width: '26px' }}&gt;{'2'}&lt;/Text&gt;&lt;Box style={{ width: '400px', flexDirection: 'column', gap: '3px' }}&gt;&lt;Text style={{ fontSize: '12.5px', color: '#15181D', lineHeight: 1.35 }}&gt;网林一体式挂墙人造石洗脸盆户外阳台洗手盆家用小户型洗漱柱台盆&lt;/Text&gt;&lt;Text style={{ fontSize: '11.5px', color: '#5F6975' }}&gt;只花了{'118'} 元&lt;/Text&gt;&lt;/Box&gt;&lt;Text style={{ fontSize: '19px', fontWeight: 700, color: '#1B3557', width: '150px', textAlign: 'right' }}&gt;每{'1'} 元回{'54.77'} 元&lt;/Text&gt;&lt;/Box&gt;&lt;Box style={{ flexDirection: 'row', alignItems: 'center', height: '72px', borderBottom: '1px solid #DDE2E8', gap: '12px' }}&gt;&lt;Text style={{ fontSize: '18px', fontWeight: 700, color: '#A97B28', width: '26px' }}&gt;{'3'}&lt;/Text&gt;&lt;Box style={{ width: '400px', flexDirection: 'column', gap: '3px' }}&gt;&lt;Text style={{ fontSize: '12.5px', color: '#15181D', lineHeight: 1.35 }}&gt;盖文Gavin人造绮美石浴缸一体独立式长方形家用双人浴盆酒店民宿&lt;/Text&gt;&lt;Text style={{ fontSize: '11.5px', color: '#5F6975' }}&gt;只花了{'241'} 元&lt;/Text&gt;&lt;/Box&gt;&lt;Text style={{ fontSize: '19px', fontWeight: 700, color: '#1B3557', width: '150px', textAlign: 'right' }}&gt;每{'1'} 元回{'27.23'} 元&lt;/Text&gt;&lt;/Box&gt;&lt;Box style={{ flexDirection: 'row', alignItems: 'center', height: '72px', borderBottom: '1px solid #DDE2E8', gap: '12px' }}&gt;&lt;Text style={{ fontSize: '18px', fontWeight: 700, color: '#A97B28', width: '26px' }}&gt;{'4'}&lt;/Text&gt;&lt;Box style={{ width: '400px', flexDirection: 'column', gap: '3px' }}&gt;&lt;Text style={{ fontSize: '12.5px', color: '#15181D', lineHeight: 1.35 }}&gt;科塔大小户型一体人造石窄边大肚带储物收纳洗手洗脸洗漱台盆定制&lt;/Text&gt;&lt;Text style={{ fontSize: '11.5px', color: '#5F6975' }}&gt;只花了{'292'} 元&lt;/Text&gt;&lt;/Box&gt;&lt;Text style={{ fontSize: '19px', fontWeight: 700, color: '#1B3557', width: '150px', textAlign: 'right' }}&gt;每{'1'} 元回{'18.32'} 元&lt;/Text&gt;&lt;/Box&gt;&lt;Text style={{ fontSize: '12.5px', color: '#5F6975', marginTop: '12px' }}&gt;这{'4'} 个加起来只花了{'739'} 元，占高效组预算{'8.3%'}&lt;/Text&gt;&lt;/Box&gt;&lt;Box style={{ width: '460px', flexDirection: 'column', gap: '16px' }}&gt;&lt;Box style={{ background: '#FBF2EF', padding: '24px' }}&gt;&lt;Text style={{ fontSize: '13px', color: '#5F6975' }}&gt;反面：花得最多的那一个&lt;/Text&gt;&lt;Text style={{ fontSize: '13.5px', color: '#15181D', marginTop: '8px', lineHeight: 1.45 }}&gt;盖文Gavin小户型家用坐式浴缸人造石一体式深泡浴盆日式民宿酒店&lt;/Text&gt;&lt;Box style={{ flexDirection: 'row', alignItems: 'baseline', gap: '10px', marginTop: '12px' }}&gt;&lt;Text style={{ fontSize: '30px', fontWeight: 700, color: '#AE4128' }}&gt;{'2,204'}&lt;/Text&gt;&lt;Text style={{ fontSize: '14px', color: '#5F6975' }}&gt;元，每{'1'} 元只回{'3.25'} 元&lt;/Text&gt;&lt;/Box&gt;&lt;Text style={{ fontSize: '12.5px', color: '#5F6975', marginTop: '6px' }}&gt;占高效组预算{'24.7%'}，只做{'8.8%'} 的成交&lt;/Text&gt;&lt;/Box&gt;&lt;Box style={{ background: '#F4F6F8', padding: '24px' }}&gt;&lt;Text style={{ fontSize: '13px', color: '#5F6975' }}&gt;把钱挪过来&lt;/Text&gt;&lt;Text style={{ fontSize: '16px', color: '#15181D', marginTop: '8px', lineHeight: 1.65 }}&gt; 低效组{'18'} 天花了{'17,160'} 元。砍一半（{'8,580'} 元）挪到高效端，&lt;/Text&gt;&lt;Text style={{ fontSize: '26px', fontWeight: 700, color: '#1B3557', marginTop: '10px' }}&gt;静态净增{'7.74'}万元&lt;/Text&gt;&lt;Text style={{ fontSize: '12.5px', color: '#5F6975', marginTop: '6px' }}&gt;占商品层成交{'27.6%'}，不是预测&lt;/Text&gt;&lt;/Box&gt;&lt;/Box&gt;&lt;/Box&gt;&lt;Box style={{ height: '40px', flexDirection: 'row', justifyContent: 'space-between', alignItems: 'center' }}&gt;&lt;Text style={{ fontSize: '13px', color: '#5F6975' }}&gt;经营数据诊断{'·'}{'2026-10-20'}&lt;/Text&gt;&lt;Text style={{ fontSize: '13px', color: '#5F6975' }}&gt;{'08'}{'/'}{'13'}&lt;/Text&gt;&lt;/Box&gt;&lt;/Slide&gt;&#10;"/>
        <p:cNvGrpSpPr/>
        <p:nvPr/>
      </p:nvGrpSpPr>
      <p:grpSpPr>
        <a:xfrm>
          <a:off x="0" y="0"/>
          <a:ext cx="0" cy="0"/>
          <a:chOff x="0" y="0"/>
          <a:chExt cx="0" cy="0"/>
        </a:xfrm>
      </p:grpSpPr>
      <p:sp>
        <p:nvSpPr>
          <p:cNvPr id="820" name=""/>
          <p:cNvSpPr/>
          <p:nvPr/>
        </p:nvSpPr>
        <p:spPr>
          <a:xfrm rot="0" flipH="0" flipV="0">
            <a:off x="0" y="0"/>
            <a:ext cx="12192000" cy="6858000"/>
          </a:xfrm>
          <a:prstGeom prst="rect">
            <a:avLst/>
          </a:prstGeom>
          <a:solidFill>
            <a:srgbClr val="FFFFFF"/>
          </a:solidFill>
          <a:ln/>
        </p:spPr>
        <p:txBody>
          <a:bodyPr/>
          <a:p/>
        </p:txBody>
      </p:sp>
      <p:sp>
        <p:nvSpPr>
          <p:cNvPr id="821"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高效组里，</a:t>
            </a:r>
            <a:r>
              <a:rPr lang="en-US" sz="2325" b="1">
                <a:solidFill>
                  <a:srgbClr val="1B3557"/>
                </a:solidFill>
                <a:latin typeface="Noto Sans SC"/>
                <a:ea typeface="Noto Sans SC"/>
              </a:rPr>
              <a:t>8.3%</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的预算做出</a:t>
            </a:r>
            <a:r>
              <a:rPr lang="en-US" sz="2325" b="1">
                <a:solidFill>
                  <a:srgbClr val="1B3557"/>
                </a:solidFill>
                <a:latin typeface="Noto Sans SC"/>
                <a:ea typeface="Noto Sans SC"/>
              </a:rPr>
              <a:t>31.2%</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的成交</a:t>
            </a:r>
            <a:endParaRPr/>
          </a:p>
        </p:txBody>
      </p:sp>
      <p:sp>
        <p:nvSpPr>
          <p:cNvPr id="822"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en-US" sz="1125">
                <a:solidFill>
                  <a:srgbClr val="5F6975"/>
                </a:solidFill>
                <a:latin typeface="Noto Sans SC"/>
                <a:ea typeface="Noto Sans SC"/>
              </a:rPr>
              <a:t>13</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个高效商品</a:t>
            </a:r>
            <a:r>
              <a:rPr lang="en-US" sz="1125">
                <a:solidFill>
                  <a:srgbClr val="5F6975"/>
                </a:solidFill>
                <a:latin typeface="Noto Sans SC"/>
                <a:ea typeface="Noto Sans SC"/>
              </a:rPr>
              <a:t>18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天共花</a:t>
            </a:r>
            <a:r>
              <a:rPr lang="en-US" sz="1125">
                <a:solidFill>
                  <a:srgbClr val="5F6975"/>
                </a:solidFill>
                <a:latin typeface="Noto Sans SC"/>
                <a:ea typeface="Noto Sans SC"/>
              </a:rPr>
              <a:t>8,928</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元、带回</a:t>
            </a:r>
            <a:r>
              <a:rPr lang="en-US" sz="1125">
                <a:solidFill>
                  <a:srgbClr val="5F6975"/>
                </a:solidFill>
                <a:latin typeface="Noto Sans SC"/>
                <a:ea typeface="Noto Sans SC"/>
              </a:rPr>
              <a:t>8.1</a:t>
            </a:r>
            <a:r>
              <a:rPr lang="zh-CN" sz="1125">
                <a:solidFill>
                  <a:srgbClr val="5F6975"/>
                </a:solidFill>
                <a:latin typeface="Noto Sans SC"/>
                <a:ea typeface="Noto Sans SC"/>
              </a:rPr>
              <a:t>万元。</a:t>
            </a:r>
            <a:endParaRPr/>
          </a:p>
        </p:txBody>
      </p:sp>
      <p:sp>
        <p:nvSpPr>
          <p:cNvPr id="823" name="" descr="{&quot;isTemplate&quot;:true,&quot;type&quot;:&quot;text&quot;}"/>
          <p:cNvSpPr txBox="1"/>
          <p:nvPr/>
        </p:nvSpPr>
        <p:spPr>
          <a:xfrm rot="0" flipH="0" flipV="0">
            <a:off x="609600" y="1104900"/>
            <a:ext cx="5905500" cy="171450"/>
          </a:xfrm>
          <a:prstGeom prst="rect"/>
        </p:spPr>
        <p:txBody>
          <a:bodyPr wrap="none" lIns="0" tIns="0" rIns="0" bIns="0"/>
          <a:p>
            <a:pPr>
              <a:lnSpc>
                <a:spcPct val="100000"/>
              </a:lnSpc>
            </a:pPr>
            <a:r>
              <a:rPr lang="zh-CN" sz="1125" b="1">
                <a:solidFill>
                  <a:srgbClr val="1B3557"/>
                </a:solidFill>
                <a:latin typeface="Noto Sans SC"/>
                <a:ea typeface="Noto Sans SC"/>
              </a:rPr>
              <a:t>每</a:t>
            </a:r>
            <a:r>
              <a:rPr lang="en-US" sz="1125" b="1">
                <a:solidFill>
                  <a:srgbClr val="1B3557"/>
                </a:solidFill>
                <a:latin typeface="Noto Sans SC"/>
                <a:ea typeface="Noto Sans SC"/>
              </a:rPr>
              <a:t>1</a:t>
            </a:r>
            <a:r>
              <a:rPr lang="en-US" sz="1125" b="1">
                <a:solidFill>
                  <a:srgbClr val="1B3557"/>
                </a:solidFill>
                <a:latin typeface="Noto Sans SC"/>
                <a:ea typeface="Noto Sans SC"/>
              </a:rPr>
              <a:t xml:space="preserve"> </a:t>
            </a:r>
            <a:r>
              <a:rPr lang="zh-CN" sz="1125" b="1">
                <a:solidFill>
                  <a:srgbClr val="1B3557"/>
                </a:solidFill>
                <a:latin typeface="Noto Sans SC"/>
                <a:ea typeface="Noto Sans SC"/>
              </a:rPr>
              <a:t>元推广费换回最多钱的</a:t>
            </a:r>
            <a:r>
              <a:rPr lang="en-US" sz="1125" b="1">
                <a:solidFill>
                  <a:srgbClr val="1B3557"/>
                </a:solidFill>
                <a:latin typeface="Noto Sans SC"/>
                <a:ea typeface="Noto Sans SC"/>
              </a:rPr>
              <a:t>4</a:t>
            </a:r>
            <a:r>
              <a:rPr lang="en-US" sz="1125" b="1">
                <a:solidFill>
                  <a:srgbClr val="1B3557"/>
                </a:solidFill>
                <a:latin typeface="Noto Sans SC"/>
                <a:ea typeface="Noto Sans SC"/>
              </a:rPr>
              <a:t xml:space="preserve"> </a:t>
            </a:r>
            <a:r>
              <a:rPr lang="zh-CN" sz="1125" b="1">
                <a:solidFill>
                  <a:srgbClr val="1B3557"/>
                </a:solidFill>
                <a:latin typeface="Noto Sans SC"/>
                <a:ea typeface="Noto Sans SC"/>
              </a:rPr>
              <a:t>个</a:t>
            </a:r>
            <a:endParaRPr/>
          </a:p>
        </p:txBody>
      </p:sp>
      <p:sp>
        <p:nvSpPr>
          <p:cNvPr id="824" name=""/>
          <p:cNvSpPr/>
          <p:nvPr/>
        </p:nvSpPr>
        <p:spPr>
          <a:xfrm rot="0" flipH="0" flipV="0">
            <a:off x="609600" y="1371600"/>
            <a:ext cx="5905500" cy="685800"/>
          </a:xfrm>
          <a:custGeom>
            <a:pathLst>
              <a:path w="620" h="72">
                <a:moveTo>
                  <a:pt x="0" y="71"/>
                </a:moveTo>
                <a:lnTo>
                  <a:pt x="620" y="71"/>
                </a:lnTo>
                <a:lnTo>
                  <a:pt x="620" y="72"/>
                </a:lnTo>
                <a:lnTo>
                  <a:pt x="0" y="72"/>
                </a:lnTo>
                <a:close/>
              </a:path>
            </a:pathLst>
          </a:custGeom>
          <a:solidFill>
            <a:srgbClr val="DDE2E8"/>
          </a:solidFill>
          <a:ln/>
        </p:spPr>
        <p:txBody>
          <a:bodyPr/>
          <a:p/>
        </p:txBody>
      </p:sp>
      <p:sp>
        <p:nvSpPr>
          <p:cNvPr id="825" name="" descr="{&quot;isTemplate&quot;:true,&quot;type&quot;:&quot;text&quot;}"/>
          <p:cNvSpPr txBox="1"/>
          <p:nvPr/>
        </p:nvSpPr>
        <p:spPr>
          <a:xfrm rot="0" flipH="0" flipV="0">
            <a:off x="609600" y="1609725"/>
            <a:ext cx="247650" cy="209550"/>
          </a:xfrm>
          <a:prstGeom prst="rect"/>
        </p:spPr>
        <p:txBody>
          <a:bodyPr wrap="none" lIns="0" tIns="0" rIns="0" bIns="0"/>
          <a:p>
            <a:pPr>
              <a:lnSpc>
                <a:spcPct val="100000"/>
              </a:lnSpc>
            </a:pPr>
            <a:r>
              <a:rPr lang="en-US" sz="1350" b="1">
                <a:solidFill>
                  <a:srgbClr val="A97B28"/>
                </a:solidFill>
                <a:latin typeface="Noto Sans SC"/>
                <a:ea typeface="Noto Sans SC"/>
              </a:rPr>
              <a:t>1</a:t>
            </a:r>
            <a:endParaRPr/>
          </a:p>
        </p:txBody>
      </p:sp>
      <p:sp>
        <p:nvSpPr>
          <p:cNvPr id="826" name="" descr="{&quot;isTemplate&quot;:true,&quot;type&quot;:&quot;text&quot;}"/>
          <p:cNvSpPr txBox="1"/>
          <p:nvPr/>
        </p:nvSpPr>
        <p:spPr>
          <a:xfrm rot="0" flipH="0" flipV="0">
            <a:off x="971550" y="1533525"/>
            <a:ext cx="3810000" cy="200025"/>
          </a:xfrm>
          <a:prstGeom prst="rect"/>
        </p:spPr>
        <p:txBody>
          <a:bodyPr wrap="none" lIns="0" tIns="0" rIns="0" bIns="0"/>
          <a:p>
            <a:pPr>
              <a:lnSpc>
                <a:spcPct val="135000"/>
              </a:lnSpc>
            </a:pPr>
            <a:r>
              <a:rPr lang="zh-CN" sz="938">
                <a:solidFill>
                  <a:srgbClr val="15181D"/>
                </a:solidFill>
                <a:latin typeface="Noto Sans SC"/>
                <a:ea typeface="Noto Sans SC"/>
              </a:rPr>
              <a:t>科塔半嵌入挂墙洗手盆家用小户型卫生间洗脸盆民宿浴室洗漱盆定制</a:t>
            </a:r>
            <a:endParaRPr/>
          </a:p>
        </p:txBody>
      </p:sp>
      <p:sp>
        <p:nvSpPr>
          <p:cNvPr id="827" name="" descr="{&quot;isTemplate&quot;:true,&quot;type&quot;:&quot;text&quot;}"/>
          <p:cNvSpPr txBox="1"/>
          <p:nvPr/>
        </p:nvSpPr>
        <p:spPr>
          <a:xfrm rot="0" flipH="0" flipV="0">
            <a:off x="971550" y="1762125"/>
            <a:ext cx="3810000" cy="133350"/>
          </a:xfrm>
          <a:prstGeom prst="rect"/>
        </p:spPr>
        <p:txBody>
          <a:bodyPr wrap="none" lIns="0" tIns="0" rIns="0" bIns="0"/>
          <a:p>
            <a:pPr>
              <a:lnSpc>
                <a:spcPct val="100000"/>
              </a:lnSpc>
            </a:pPr>
            <a:r>
              <a:rPr lang="zh-CN" sz="863">
                <a:solidFill>
                  <a:srgbClr val="5F6975"/>
                </a:solidFill>
                <a:latin typeface="Noto Sans SC"/>
                <a:ea typeface="Noto Sans SC"/>
              </a:rPr>
              <a:t>只花了</a:t>
            </a:r>
            <a:r>
              <a:rPr lang="en-US" sz="863">
                <a:solidFill>
                  <a:srgbClr val="5F6975"/>
                </a:solidFill>
                <a:latin typeface="Noto Sans SC"/>
                <a:ea typeface="Noto Sans SC"/>
              </a:rPr>
              <a:t>87</a:t>
            </a:r>
            <a:r>
              <a:rPr lang="en-US" sz="863">
                <a:solidFill>
                  <a:srgbClr val="5F6975"/>
                </a:solidFill>
                <a:latin typeface="Noto Sans SC"/>
                <a:ea typeface="Noto Sans SC"/>
              </a:rPr>
              <a:t xml:space="preserve"> </a:t>
            </a:r>
            <a:r>
              <a:rPr lang="zh-CN" sz="863">
                <a:solidFill>
                  <a:srgbClr val="5F6975"/>
                </a:solidFill>
                <a:latin typeface="Noto Sans SC"/>
                <a:ea typeface="Noto Sans SC"/>
              </a:rPr>
              <a:t>元</a:t>
            </a:r>
            <a:endParaRPr/>
          </a:p>
        </p:txBody>
      </p:sp>
      <p:sp>
        <p:nvSpPr>
          <p:cNvPr id="828" name="" descr="{&quot;isTemplate&quot;:true,&quot;type&quot;:&quot;text&quot;}"/>
          <p:cNvSpPr txBox="1"/>
          <p:nvPr/>
        </p:nvSpPr>
        <p:spPr>
          <a:xfrm rot="0" flipH="0" flipV="0">
            <a:off x="4895850" y="1600200"/>
            <a:ext cx="1428750" cy="219075"/>
          </a:xfrm>
          <a:prstGeom prst="rect"/>
        </p:spPr>
        <p:txBody>
          <a:bodyPr wrap="none" lIns="0" tIns="0" rIns="0" bIns="0"/>
          <a:p>
            <a:pPr algn="r">
              <a:lnSpc>
                <a:spcPct val="100000"/>
              </a:lnSpc>
            </a:pPr>
            <a:r>
              <a:rPr lang="zh-CN" sz="1425" b="1">
                <a:solidFill>
                  <a:srgbClr val="1B3557"/>
                </a:solidFill>
                <a:latin typeface="Noto Sans SC"/>
                <a:ea typeface="Noto Sans SC"/>
              </a:rPr>
              <a:t>每</a:t>
            </a:r>
            <a:r>
              <a:rPr lang="en-US" sz="1425" b="1">
                <a:solidFill>
                  <a:srgbClr val="1B3557"/>
                </a:solidFill>
                <a:latin typeface="Noto Sans SC"/>
                <a:ea typeface="Noto Sans SC"/>
              </a:rPr>
              <a:t>1</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元回</a:t>
            </a:r>
            <a:r>
              <a:rPr lang="en-US" sz="1425" b="1">
                <a:solidFill>
                  <a:srgbClr val="1B3557"/>
                </a:solidFill>
                <a:latin typeface="Noto Sans SC"/>
                <a:ea typeface="Noto Sans SC"/>
              </a:rPr>
              <a:t>80.12</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a:t>
            </a:r>
            <a:endParaRPr/>
          </a:p>
        </p:txBody>
      </p:sp>
      <p:sp>
        <p:nvSpPr>
          <p:cNvPr id="829" name=""/>
          <p:cNvSpPr/>
          <p:nvPr/>
        </p:nvSpPr>
        <p:spPr>
          <a:xfrm rot="0" flipH="0" flipV="0">
            <a:off x="609600" y="2057400"/>
            <a:ext cx="5905500" cy="685800"/>
          </a:xfrm>
          <a:custGeom>
            <a:pathLst>
              <a:path w="620" h="72">
                <a:moveTo>
                  <a:pt x="0" y="71"/>
                </a:moveTo>
                <a:lnTo>
                  <a:pt x="620" y="71"/>
                </a:lnTo>
                <a:lnTo>
                  <a:pt x="620" y="72"/>
                </a:lnTo>
                <a:lnTo>
                  <a:pt x="0" y="72"/>
                </a:lnTo>
                <a:close/>
              </a:path>
            </a:pathLst>
          </a:custGeom>
          <a:solidFill>
            <a:srgbClr val="DDE2E8"/>
          </a:solidFill>
          <a:ln/>
        </p:spPr>
        <p:txBody>
          <a:bodyPr/>
          <a:p/>
        </p:txBody>
      </p:sp>
      <p:sp>
        <p:nvSpPr>
          <p:cNvPr id="830" name="" descr="{&quot;isTemplate&quot;:true,&quot;type&quot;:&quot;text&quot;}"/>
          <p:cNvSpPr txBox="1"/>
          <p:nvPr/>
        </p:nvSpPr>
        <p:spPr>
          <a:xfrm rot="0" flipH="0" flipV="0">
            <a:off x="609600" y="2295525"/>
            <a:ext cx="247650" cy="209550"/>
          </a:xfrm>
          <a:prstGeom prst="rect"/>
        </p:spPr>
        <p:txBody>
          <a:bodyPr wrap="none" lIns="0" tIns="0" rIns="0" bIns="0"/>
          <a:p>
            <a:pPr>
              <a:lnSpc>
                <a:spcPct val="100000"/>
              </a:lnSpc>
            </a:pPr>
            <a:r>
              <a:rPr lang="en-US" sz="1350" b="1">
                <a:solidFill>
                  <a:srgbClr val="A97B28"/>
                </a:solidFill>
                <a:latin typeface="Noto Sans SC"/>
                <a:ea typeface="Noto Sans SC"/>
              </a:rPr>
              <a:t>2</a:t>
            </a:r>
            <a:endParaRPr/>
          </a:p>
        </p:txBody>
      </p:sp>
      <p:sp>
        <p:nvSpPr>
          <p:cNvPr id="831" name="" descr="{&quot;isTemplate&quot;:true,&quot;type&quot;:&quot;text&quot;}"/>
          <p:cNvSpPr txBox="1"/>
          <p:nvPr/>
        </p:nvSpPr>
        <p:spPr>
          <a:xfrm rot="0" flipH="0" flipV="0">
            <a:off x="971550" y="2219325"/>
            <a:ext cx="3810000" cy="200025"/>
          </a:xfrm>
          <a:prstGeom prst="rect"/>
        </p:spPr>
        <p:txBody>
          <a:bodyPr wrap="none" lIns="0" tIns="0" rIns="0" bIns="0"/>
          <a:p>
            <a:pPr>
              <a:lnSpc>
                <a:spcPct val="135000"/>
              </a:lnSpc>
            </a:pPr>
            <a:r>
              <a:rPr lang="zh-CN" sz="938">
                <a:solidFill>
                  <a:srgbClr val="15181D"/>
                </a:solidFill>
                <a:latin typeface="Noto Sans SC"/>
                <a:ea typeface="Noto Sans SC"/>
              </a:rPr>
              <a:t>网林一体式挂墙人造石洗脸盆户外阳台洗手盆家用小户型洗漱柱台盆</a:t>
            </a:r>
            <a:endParaRPr/>
          </a:p>
        </p:txBody>
      </p:sp>
      <p:sp>
        <p:nvSpPr>
          <p:cNvPr id="832" name="" descr="{&quot;isTemplate&quot;:true,&quot;type&quot;:&quot;text&quot;}"/>
          <p:cNvSpPr txBox="1"/>
          <p:nvPr/>
        </p:nvSpPr>
        <p:spPr>
          <a:xfrm rot="0" flipH="0" flipV="0">
            <a:off x="971550" y="2447925"/>
            <a:ext cx="3810000" cy="133350"/>
          </a:xfrm>
          <a:prstGeom prst="rect"/>
        </p:spPr>
        <p:txBody>
          <a:bodyPr wrap="none" lIns="0" tIns="0" rIns="0" bIns="0"/>
          <a:p>
            <a:pPr>
              <a:lnSpc>
                <a:spcPct val="100000"/>
              </a:lnSpc>
            </a:pPr>
            <a:r>
              <a:rPr lang="zh-CN" sz="863">
                <a:solidFill>
                  <a:srgbClr val="5F6975"/>
                </a:solidFill>
                <a:latin typeface="Noto Sans SC"/>
                <a:ea typeface="Noto Sans SC"/>
              </a:rPr>
              <a:t>只花了</a:t>
            </a:r>
            <a:r>
              <a:rPr lang="en-US" sz="863">
                <a:solidFill>
                  <a:srgbClr val="5F6975"/>
                </a:solidFill>
                <a:latin typeface="Noto Sans SC"/>
                <a:ea typeface="Noto Sans SC"/>
              </a:rPr>
              <a:t>118</a:t>
            </a:r>
            <a:r>
              <a:rPr lang="en-US" sz="863">
                <a:solidFill>
                  <a:srgbClr val="5F6975"/>
                </a:solidFill>
                <a:latin typeface="Noto Sans SC"/>
                <a:ea typeface="Noto Sans SC"/>
              </a:rPr>
              <a:t xml:space="preserve"> </a:t>
            </a:r>
            <a:r>
              <a:rPr lang="zh-CN" sz="863">
                <a:solidFill>
                  <a:srgbClr val="5F6975"/>
                </a:solidFill>
                <a:latin typeface="Noto Sans SC"/>
                <a:ea typeface="Noto Sans SC"/>
              </a:rPr>
              <a:t>元</a:t>
            </a:r>
            <a:endParaRPr/>
          </a:p>
        </p:txBody>
      </p:sp>
      <p:sp>
        <p:nvSpPr>
          <p:cNvPr id="833" name="" descr="{&quot;isTemplate&quot;:true,&quot;type&quot;:&quot;text&quot;}"/>
          <p:cNvSpPr txBox="1"/>
          <p:nvPr/>
        </p:nvSpPr>
        <p:spPr>
          <a:xfrm rot="0" flipH="0" flipV="0">
            <a:off x="4895850" y="2286000"/>
            <a:ext cx="1428750" cy="219075"/>
          </a:xfrm>
          <a:prstGeom prst="rect"/>
        </p:spPr>
        <p:txBody>
          <a:bodyPr wrap="none" lIns="0" tIns="0" rIns="0" bIns="0"/>
          <a:p>
            <a:pPr algn="r">
              <a:lnSpc>
                <a:spcPct val="100000"/>
              </a:lnSpc>
            </a:pPr>
            <a:r>
              <a:rPr lang="zh-CN" sz="1425" b="1">
                <a:solidFill>
                  <a:srgbClr val="1B3557"/>
                </a:solidFill>
                <a:latin typeface="Noto Sans SC"/>
                <a:ea typeface="Noto Sans SC"/>
              </a:rPr>
              <a:t>每</a:t>
            </a:r>
            <a:r>
              <a:rPr lang="en-US" sz="1425" b="1">
                <a:solidFill>
                  <a:srgbClr val="1B3557"/>
                </a:solidFill>
                <a:latin typeface="Noto Sans SC"/>
                <a:ea typeface="Noto Sans SC"/>
              </a:rPr>
              <a:t>1</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元回</a:t>
            </a:r>
            <a:r>
              <a:rPr lang="en-US" sz="1425" b="1">
                <a:solidFill>
                  <a:srgbClr val="1B3557"/>
                </a:solidFill>
                <a:latin typeface="Noto Sans SC"/>
                <a:ea typeface="Noto Sans SC"/>
              </a:rPr>
              <a:t>54.77</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a:t>
            </a:r>
            <a:endParaRPr/>
          </a:p>
        </p:txBody>
      </p:sp>
      <p:sp>
        <p:nvSpPr>
          <p:cNvPr id="834" name=""/>
          <p:cNvSpPr/>
          <p:nvPr/>
        </p:nvSpPr>
        <p:spPr>
          <a:xfrm rot="0" flipH="0" flipV="0">
            <a:off x="609600" y="2743200"/>
            <a:ext cx="5905500" cy="685800"/>
          </a:xfrm>
          <a:custGeom>
            <a:pathLst>
              <a:path w="620" h="72">
                <a:moveTo>
                  <a:pt x="0" y="71"/>
                </a:moveTo>
                <a:lnTo>
                  <a:pt x="620" y="71"/>
                </a:lnTo>
                <a:lnTo>
                  <a:pt x="620" y="72"/>
                </a:lnTo>
                <a:lnTo>
                  <a:pt x="0" y="72"/>
                </a:lnTo>
                <a:close/>
              </a:path>
            </a:pathLst>
          </a:custGeom>
          <a:solidFill>
            <a:srgbClr val="DDE2E8"/>
          </a:solidFill>
          <a:ln/>
        </p:spPr>
        <p:txBody>
          <a:bodyPr/>
          <a:p/>
        </p:txBody>
      </p:sp>
      <p:sp>
        <p:nvSpPr>
          <p:cNvPr id="835" name="" descr="{&quot;isTemplate&quot;:true,&quot;type&quot;:&quot;text&quot;}"/>
          <p:cNvSpPr txBox="1"/>
          <p:nvPr/>
        </p:nvSpPr>
        <p:spPr>
          <a:xfrm rot="0" flipH="0" flipV="0">
            <a:off x="609600" y="2981325"/>
            <a:ext cx="247650" cy="209550"/>
          </a:xfrm>
          <a:prstGeom prst="rect"/>
        </p:spPr>
        <p:txBody>
          <a:bodyPr wrap="none" lIns="0" tIns="0" rIns="0" bIns="0"/>
          <a:p>
            <a:pPr>
              <a:lnSpc>
                <a:spcPct val="100000"/>
              </a:lnSpc>
            </a:pPr>
            <a:r>
              <a:rPr lang="en-US" sz="1350" b="1">
                <a:solidFill>
                  <a:srgbClr val="A97B28"/>
                </a:solidFill>
                <a:latin typeface="Noto Sans SC"/>
                <a:ea typeface="Noto Sans SC"/>
              </a:rPr>
              <a:t>3</a:t>
            </a:r>
            <a:endParaRPr/>
          </a:p>
        </p:txBody>
      </p:sp>
      <p:sp>
        <p:nvSpPr>
          <p:cNvPr id="836" name="" descr="{&quot;isTemplate&quot;:true,&quot;type&quot;:&quot;text&quot;}"/>
          <p:cNvSpPr txBox="1"/>
          <p:nvPr/>
        </p:nvSpPr>
        <p:spPr>
          <a:xfrm rot="0" flipH="0" flipV="0">
            <a:off x="971550" y="2905125"/>
            <a:ext cx="3810000" cy="200025"/>
          </a:xfrm>
          <a:prstGeom prst="rect"/>
        </p:spPr>
        <p:txBody>
          <a:bodyPr wrap="none" lIns="0" tIns="0" rIns="0" bIns="0"/>
          <a:p>
            <a:pPr>
              <a:lnSpc>
                <a:spcPct val="135000"/>
              </a:lnSpc>
            </a:pPr>
            <a:r>
              <a:rPr lang="zh-CN" sz="938">
                <a:solidFill>
                  <a:srgbClr val="15181D"/>
                </a:solidFill>
                <a:latin typeface="Noto Sans SC"/>
                <a:ea typeface="Noto Sans SC"/>
              </a:rPr>
              <a:t>盖文</a:t>
            </a:r>
            <a:r>
              <a:rPr lang="en-US" sz="938">
                <a:solidFill>
                  <a:srgbClr val="15181D"/>
                </a:solidFill>
                <a:latin typeface="Noto Sans SC"/>
                <a:ea typeface="Noto Sans SC"/>
              </a:rPr>
              <a:t>Gavin</a:t>
            </a:r>
            <a:r>
              <a:rPr lang="zh-CN" sz="938">
                <a:solidFill>
                  <a:srgbClr val="15181D"/>
                </a:solidFill>
                <a:latin typeface="Noto Sans SC"/>
                <a:ea typeface="Noto Sans SC"/>
              </a:rPr>
              <a:t>人造绮美石浴缸一体独立式长方形家用双人浴盆酒店民宿</a:t>
            </a:r>
            <a:endParaRPr/>
          </a:p>
        </p:txBody>
      </p:sp>
      <p:sp>
        <p:nvSpPr>
          <p:cNvPr id="837" name="" descr="{&quot;isTemplate&quot;:true,&quot;type&quot;:&quot;text&quot;}"/>
          <p:cNvSpPr txBox="1"/>
          <p:nvPr/>
        </p:nvSpPr>
        <p:spPr>
          <a:xfrm rot="0" flipH="0" flipV="0">
            <a:off x="971550" y="3133725"/>
            <a:ext cx="3810000" cy="133350"/>
          </a:xfrm>
          <a:prstGeom prst="rect"/>
        </p:spPr>
        <p:txBody>
          <a:bodyPr wrap="none" lIns="0" tIns="0" rIns="0" bIns="0"/>
          <a:p>
            <a:pPr>
              <a:lnSpc>
                <a:spcPct val="100000"/>
              </a:lnSpc>
            </a:pPr>
            <a:r>
              <a:rPr lang="zh-CN" sz="863">
                <a:solidFill>
                  <a:srgbClr val="5F6975"/>
                </a:solidFill>
                <a:latin typeface="Noto Sans SC"/>
                <a:ea typeface="Noto Sans SC"/>
              </a:rPr>
              <a:t>只花了</a:t>
            </a:r>
            <a:r>
              <a:rPr lang="en-US" sz="863">
                <a:solidFill>
                  <a:srgbClr val="5F6975"/>
                </a:solidFill>
                <a:latin typeface="Noto Sans SC"/>
                <a:ea typeface="Noto Sans SC"/>
              </a:rPr>
              <a:t>241</a:t>
            </a:r>
            <a:r>
              <a:rPr lang="en-US" sz="863">
                <a:solidFill>
                  <a:srgbClr val="5F6975"/>
                </a:solidFill>
                <a:latin typeface="Noto Sans SC"/>
                <a:ea typeface="Noto Sans SC"/>
              </a:rPr>
              <a:t xml:space="preserve"> </a:t>
            </a:r>
            <a:r>
              <a:rPr lang="zh-CN" sz="863">
                <a:solidFill>
                  <a:srgbClr val="5F6975"/>
                </a:solidFill>
                <a:latin typeface="Noto Sans SC"/>
                <a:ea typeface="Noto Sans SC"/>
              </a:rPr>
              <a:t>元</a:t>
            </a:r>
            <a:endParaRPr/>
          </a:p>
        </p:txBody>
      </p:sp>
      <p:sp>
        <p:nvSpPr>
          <p:cNvPr id="838" name="" descr="{&quot;isTemplate&quot;:true,&quot;type&quot;:&quot;text&quot;}"/>
          <p:cNvSpPr txBox="1"/>
          <p:nvPr/>
        </p:nvSpPr>
        <p:spPr>
          <a:xfrm rot="0" flipH="0" flipV="0">
            <a:off x="4895850" y="2971800"/>
            <a:ext cx="1428750" cy="219075"/>
          </a:xfrm>
          <a:prstGeom prst="rect"/>
        </p:spPr>
        <p:txBody>
          <a:bodyPr wrap="none" lIns="0" tIns="0" rIns="0" bIns="0"/>
          <a:p>
            <a:pPr algn="r">
              <a:lnSpc>
                <a:spcPct val="100000"/>
              </a:lnSpc>
            </a:pPr>
            <a:r>
              <a:rPr lang="zh-CN" sz="1425" b="1">
                <a:solidFill>
                  <a:srgbClr val="1B3557"/>
                </a:solidFill>
                <a:latin typeface="Noto Sans SC"/>
                <a:ea typeface="Noto Sans SC"/>
              </a:rPr>
              <a:t>每</a:t>
            </a:r>
            <a:r>
              <a:rPr lang="en-US" sz="1425" b="1">
                <a:solidFill>
                  <a:srgbClr val="1B3557"/>
                </a:solidFill>
                <a:latin typeface="Noto Sans SC"/>
                <a:ea typeface="Noto Sans SC"/>
              </a:rPr>
              <a:t>1</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元回</a:t>
            </a:r>
            <a:r>
              <a:rPr lang="en-US" sz="1425" b="1">
                <a:solidFill>
                  <a:srgbClr val="1B3557"/>
                </a:solidFill>
                <a:latin typeface="Noto Sans SC"/>
                <a:ea typeface="Noto Sans SC"/>
              </a:rPr>
              <a:t>27.23</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a:t>
            </a:r>
            <a:endParaRPr/>
          </a:p>
        </p:txBody>
      </p:sp>
      <p:sp>
        <p:nvSpPr>
          <p:cNvPr id="839" name=""/>
          <p:cNvSpPr/>
          <p:nvPr/>
        </p:nvSpPr>
        <p:spPr>
          <a:xfrm rot="0" flipH="0" flipV="0">
            <a:off x="609600" y="3429000"/>
            <a:ext cx="5905500" cy="685800"/>
          </a:xfrm>
          <a:custGeom>
            <a:pathLst>
              <a:path w="620" h="72">
                <a:moveTo>
                  <a:pt x="0" y="71"/>
                </a:moveTo>
                <a:lnTo>
                  <a:pt x="620" y="71"/>
                </a:lnTo>
                <a:lnTo>
                  <a:pt x="620" y="72"/>
                </a:lnTo>
                <a:lnTo>
                  <a:pt x="0" y="72"/>
                </a:lnTo>
                <a:close/>
              </a:path>
            </a:pathLst>
          </a:custGeom>
          <a:solidFill>
            <a:srgbClr val="DDE2E8"/>
          </a:solidFill>
          <a:ln/>
        </p:spPr>
        <p:txBody>
          <a:bodyPr/>
          <a:p/>
        </p:txBody>
      </p:sp>
      <p:sp>
        <p:nvSpPr>
          <p:cNvPr id="840" name="" descr="{&quot;isTemplate&quot;:true,&quot;type&quot;:&quot;text&quot;}"/>
          <p:cNvSpPr txBox="1"/>
          <p:nvPr/>
        </p:nvSpPr>
        <p:spPr>
          <a:xfrm rot="0" flipH="0" flipV="0">
            <a:off x="609600" y="3667125"/>
            <a:ext cx="247650" cy="209550"/>
          </a:xfrm>
          <a:prstGeom prst="rect"/>
        </p:spPr>
        <p:txBody>
          <a:bodyPr wrap="none" lIns="0" tIns="0" rIns="0" bIns="0"/>
          <a:p>
            <a:pPr>
              <a:lnSpc>
                <a:spcPct val="100000"/>
              </a:lnSpc>
            </a:pPr>
            <a:r>
              <a:rPr lang="en-US" sz="1350" b="1">
                <a:solidFill>
                  <a:srgbClr val="A97B28"/>
                </a:solidFill>
                <a:latin typeface="Noto Sans SC"/>
                <a:ea typeface="Noto Sans SC"/>
              </a:rPr>
              <a:t>4</a:t>
            </a:r>
            <a:endParaRPr/>
          </a:p>
        </p:txBody>
      </p:sp>
      <p:sp>
        <p:nvSpPr>
          <p:cNvPr id="841" name="" descr="{&quot;isTemplate&quot;:true,&quot;type&quot;:&quot;text&quot;}"/>
          <p:cNvSpPr txBox="1"/>
          <p:nvPr/>
        </p:nvSpPr>
        <p:spPr>
          <a:xfrm rot="0" flipH="0" flipV="0">
            <a:off x="971550" y="3590925"/>
            <a:ext cx="3810000" cy="200025"/>
          </a:xfrm>
          <a:prstGeom prst="rect"/>
        </p:spPr>
        <p:txBody>
          <a:bodyPr wrap="none" lIns="0" tIns="0" rIns="0" bIns="0"/>
          <a:p>
            <a:pPr>
              <a:lnSpc>
                <a:spcPct val="135000"/>
              </a:lnSpc>
            </a:pPr>
            <a:r>
              <a:rPr lang="zh-CN" sz="938">
                <a:solidFill>
                  <a:srgbClr val="15181D"/>
                </a:solidFill>
                <a:latin typeface="Noto Sans SC"/>
                <a:ea typeface="Noto Sans SC"/>
              </a:rPr>
              <a:t>科塔大小户型一体人造石窄边大肚带储物收纳洗手洗脸洗漱台盆定制</a:t>
            </a:r>
            <a:endParaRPr/>
          </a:p>
        </p:txBody>
      </p:sp>
      <p:sp>
        <p:nvSpPr>
          <p:cNvPr id="842" name="" descr="{&quot;isTemplate&quot;:true,&quot;type&quot;:&quot;text&quot;}"/>
          <p:cNvSpPr txBox="1"/>
          <p:nvPr/>
        </p:nvSpPr>
        <p:spPr>
          <a:xfrm rot="0" flipH="0" flipV="0">
            <a:off x="971550" y="3819525"/>
            <a:ext cx="3810000" cy="133350"/>
          </a:xfrm>
          <a:prstGeom prst="rect"/>
        </p:spPr>
        <p:txBody>
          <a:bodyPr wrap="none" lIns="0" tIns="0" rIns="0" bIns="0"/>
          <a:p>
            <a:pPr>
              <a:lnSpc>
                <a:spcPct val="100000"/>
              </a:lnSpc>
            </a:pPr>
            <a:r>
              <a:rPr lang="zh-CN" sz="863">
                <a:solidFill>
                  <a:srgbClr val="5F6975"/>
                </a:solidFill>
                <a:latin typeface="Noto Sans SC"/>
                <a:ea typeface="Noto Sans SC"/>
              </a:rPr>
              <a:t>只花了</a:t>
            </a:r>
            <a:r>
              <a:rPr lang="en-US" sz="863">
                <a:solidFill>
                  <a:srgbClr val="5F6975"/>
                </a:solidFill>
                <a:latin typeface="Noto Sans SC"/>
                <a:ea typeface="Noto Sans SC"/>
              </a:rPr>
              <a:t>292</a:t>
            </a:r>
            <a:r>
              <a:rPr lang="en-US" sz="863">
                <a:solidFill>
                  <a:srgbClr val="5F6975"/>
                </a:solidFill>
                <a:latin typeface="Noto Sans SC"/>
                <a:ea typeface="Noto Sans SC"/>
              </a:rPr>
              <a:t xml:space="preserve"> </a:t>
            </a:r>
            <a:r>
              <a:rPr lang="zh-CN" sz="863">
                <a:solidFill>
                  <a:srgbClr val="5F6975"/>
                </a:solidFill>
                <a:latin typeface="Noto Sans SC"/>
                <a:ea typeface="Noto Sans SC"/>
              </a:rPr>
              <a:t>元</a:t>
            </a:r>
            <a:endParaRPr/>
          </a:p>
        </p:txBody>
      </p:sp>
      <p:sp>
        <p:nvSpPr>
          <p:cNvPr id="843" name="" descr="{&quot;isTemplate&quot;:true,&quot;type&quot;:&quot;text&quot;}"/>
          <p:cNvSpPr txBox="1"/>
          <p:nvPr/>
        </p:nvSpPr>
        <p:spPr>
          <a:xfrm rot="0" flipH="0" flipV="0">
            <a:off x="4895850" y="3657600"/>
            <a:ext cx="1428750" cy="219075"/>
          </a:xfrm>
          <a:prstGeom prst="rect"/>
        </p:spPr>
        <p:txBody>
          <a:bodyPr wrap="none" lIns="0" tIns="0" rIns="0" bIns="0"/>
          <a:p>
            <a:pPr algn="r">
              <a:lnSpc>
                <a:spcPct val="100000"/>
              </a:lnSpc>
            </a:pPr>
            <a:r>
              <a:rPr lang="zh-CN" sz="1425" b="1">
                <a:solidFill>
                  <a:srgbClr val="1B3557"/>
                </a:solidFill>
                <a:latin typeface="Noto Sans SC"/>
                <a:ea typeface="Noto Sans SC"/>
              </a:rPr>
              <a:t>每</a:t>
            </a:r>
            <a:r>
              <a:rPr lang="en-US" sz="1425" b="1">
                <a:solidFill>
                  <a:srgbClr val="1B3557"/>
                </a:solidFill>
                <a:latin typeface="Noto Sans SC"/>
                <a:ea typeface="Noto Sans SC"/>
              </a:rPr>
              <a:t>1</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元回</a:t>
            </a:r>
            <a:r>
              <a:rPr lang="en-US" sz="1425" b="1">
                <a:solidFill>
                  <a:srgbClr val="1B3557"/>
                </a:solidFill>
                <a:latin typeface="Noto Sans SC"/>
                <a:ea typeface="Noto Sans SC"/>
              </a:rPr>
              <a:t>18.32</a:t>
            </a:r>
            <a:r>
              <a:rPr lang="en-US" sz="1425" b="1">
                <a:solidFill>
                  <a:srgbClr val="1B3557"/>
                </a:solidFill>
                <a:latin typeface="Noto Sans SC"/>
                <a:ea typeface="Noto Sans SC"/>
              </a:rPr>
              <a:t xml:space="preserve"> </a:t>
            </a:r>
            <a:r>
              <a:rPr lang="zh-CN" sz="1425" b="1">
                <a:solidFill>
                  <a:srgbClr val="1B3557"/>
                </a:solidFill>
                <a:latin typeface="Noto Sans SC"/>
                <a:ea typeface="Noto Sans SC"/>
              </a:rPr>
              <a:t>元</a:t>
            </a:r>
            <a:endParaRPr/>
          </a:p>
        </p:txBody>
      </p:sp>
      <p:sp>
        <p:nvSpPr>
          <p:cNvPr id="844" name="" descr="{&quot;isTemplate&quot;:true,&quot;type&quot;:&quot;text&quot;}"/>
          <p:cNvSpPr txBox="1"/>
          <p:nvPr/>
        </p:nvSpPr>
        <p:spPr>
          <a:xfrm rot="0" flipH="0" flipV="0">
            <a:off x="609600" y="4229100"/>
            <a:ext cx="5905500" cy="142875"/>
          </a:xfrm>
          <a:prstGeom prst="rect"/>
        </p:spPr>
        <p:txBody>
          <a:bodyPr wrap="none" lIns="0" tIns="0" rIns="0" bIns="0"/>
          <a:p>
            <a:pPr>
              <a:lnSpc>
                <a:spcPct val="100000"/>
              </a:lnSpc>
            </a:pPr>
            <a:r>
              <a:rPr lang="zh-CN" sz="938">
                <a:solidFill>
                  <a:srgbClr val="5F6975"/>
                </a:solidFill>
                <a:latin typeface="Noto Sans SC"/>
                <a:ea typeface="Noto Sans SC"/>
              </a:rPr>
              <a:t>这</a:t>
            </a:r>
            <a:r>
              <a:rPr lang="en-US" sz="938">
                <a:solidFill>
                  <a:srgbClr val="5F6975"/>
                </a:solidFill>
                <a:latin typeface="Noto Sans SC"/>
                <a:ea typeface="Noto Sans SC"/>
              </a:rPr>
              <a:t>4</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个加起来只花了</a:t>
            </a:r>
            <a:r>
              <a:rPr lang="en-US" sz="938">
                <a:solidFill>
                  <a:srgbClr val="5F6975"/>
                </a:solidFill>
                <a:latin typeface="Noto Sans SC"/>
                <a:ea typeface="Noto Sans SC"/>
              </a:rPr>
              <a:t>739</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元，占高效组预算</a:t>
            </a:r>
            <a:r>
              <a:rPr lang="en-US" sz="938">
                <a:solidFill>
                  <a:srgbClr val="5F6975"/>
                </a:solidFill>
                <a:latin typeface="Noto Sans SC"/>
                <a:ea typeface="Noto Sans SC"/>
              </a:rPr>
              <a:t>8.3%</a:t>
            </a:r>
            <a:endParaRPr/>
          </a:p>
        </p:txBody>
      </p:sp>
      <p:sp>
        <p:nvSpPr>
          <p:cNvPr id="845" name=""/>
          <p:cNvSpPr/>
          <p:nvPr/>
        </p:nvSpPr>
        <p:spPr>
          <a:xfrm rot="0" flipH="0" flipV="0">
            <a:off x="6896100" y="1104900"/>
            <a:ext cx="4381500" cy="1571625"/>
          </a:xfrm>
          <a:prstGeom prst="rect">
            <a:avLst/>
          </a:prstGeom>
          <a:solidFill>
            <a:srgbClr val="FBF2EF"/>
          </a:solidFill>
          <a:ln/>
        </p:spPr>
        <p:txBody>
          <a:bodyPr/>
          <a:p/>
        </p:txBody>
      </p:sp>
      <p:sp>
        <p:nvSpPr>
          <p:cNvPr id="846" name="" descr="{&quot;isTemplate&quot;:true,&quot;type&quot;:&quot;text&quot;}"/>
          <p:cNvSpPr txBox="1"/>
          <p:nvPr/>
        </p:nvSpPr>
        <p:spPr>
          <a:xfrm rot="0" flipH="0" flipV="0">
            <a:off x="7124700" y="1333500"/>
            <a:ext cx="3924300" cy="152400"/>
          </a:xfrm>
          <a:prstGeom prst="rect"/>
        </p:spPr>
        <p:txBody>
          <a:bodyPr wrap="none" lIns="0" tIns="0" rIns="0" bIns="0"/>
          <a:p>
            <a:pPr>
              <a:lnSpc>
                <a:spcPct val="100000"/>
              </a:lnSpc>
            </a:pPr>
            <a:r>
              <a:rPr lang="zh-CN" sz="975">
                <a:solidFill>
                  <a:srgbClr val="5F6975"/>
                </a:solidFill>
                <a:latin typeface="Noto Sans SC"/>
                <a:ea typeface="Noto Sans SC"/>
              </a:rPr>
              <a:t>反面：花得最多的那一个</a:t>
            </a:r>
            <a:endParaRPr/>
          </a:p>
        </p:txBody>
      </p:sp>
      <p:sp>
        <p:nvSpPr>
          <p:cNvPr id="847" name="" descr="{&quot;isTemplate&quot;:true,&quot;type&quot;:&quot;text&quot;}"/>
          <p:cNvSpPr txBox="1"/>
          <p:nvPr/>
        </p:nvSpPr>
        <p:spPr>
          <a:xfrm rot="0" flipH="0" flipV="0">
            <a:off x="7124700" y="1562100"/>
            <a:ext cx="3924300" cy="228600"/>
          </a:xfrm>
          <a:prstGeom prst="rect"/>
        </p:spPr>
        <p:txBody>
          <a:bodyPr wrap="none" lIns="0" tIns="0" rIns="0" bIns="0"/>
          <a:p>
            <a:pPr>
              <a:lnSpc>
                <a:spcPct val="145000"/>
              </a:lnSpc>
            </a:pPr>
            <a:r>
              <a:rPr lang="zh-CN" sz="1013">
                <a:solidFill>
                  <a:srgbClr val="15181D"/>
                </a:solidFill>
                <a:latin typeface="Noto Sans SC"/>
                <a:ea typeface="Noto Sans SC"/>
              </a:rPr>
              <a:t>盖文</a:t>
            </a:r>
            <a:r>
              <a:rPr lang="en-US" sz="1013">
                <a:solidFill>
                  <a:srgbClr val="15181D"/>
                </a:solidFill>
                <a:latin typeface="Noto Sans SC"/>
                <a:ea typeface="Noto Sans SC"/>
              </a:rPr>
              <a:t>Gavin</a:t>
            </a:r>
            <a:r>
              <a:rPr lang="zh-CN" sz="1013">
                <a:solidFill>
                  <a:srgbClr val="15181D"/>
                </a:solidFill>
                <a:latin typeface="Noto Sans SC"/>
                <a:ea typeface="Noto Sans SC"/>
              </a:rPr>
              <a:t>小户型家用坐式浴缸人造石一体式深泡浴盆日式民宿酒店</a:t>
            </a:r>
            <a:endParaRPr/>
          </a:p>
        </p:txBody>
      </p:sp>
      <p:sp>
        <p:nvSpPr>
          <p:cNvPr id="848" name="" descr="{&quot;isTemplate&quot;:true,&quot;type&quot;:&quot;text&quot;}"/>
          <p:cNvSpPr txBox="1"/>
          <p:nvPr/>
        </p:nvSpPr>
        <p:spPr>
          <a:xfrm rot="0" flipH="0" flipV="0">
            <a:off x="7124700" y="1905000"/>
            <a:ext cx="666750" cy="342900"/>
          </a:xfrm>
          <a:prstGeom prst="rect"/>
        </p:spPr>
        <p:txBody>
          <a:bodyPr wrap="none" lIns="0" tIns="0" rIns="0" bIns="0"/>
          <a:p>
            <a:pPr>
              <a:lnSpc>
                <a:spcPct val="100000"/>
              </a:lnSpc>
            </a:pPr>
            <a:r>
              <a:rPr lang="en-US" sz="2250" b="1">
                <a:solidFill>
                  <a:srgbClr val="AE4128"/>
                </a:solidFill>
                <a:latin typeface="Noto Sans SC"/>
                <a:ea typeface="Noto Sans SC"/>
              </a:rPr>
              <a:t>2,204</a:t>
            </a:r>
            <a:endParaRPr/>
          </a:p>
        </p:txBody>
      </p:sp>
      <p:sp>
        <p:nvSpPr>
          <p:cNvPr id="849" name="" descr="{&quot;isTemplate&quot;:true,&quot;type&quot;:&quot;text&quot;}"/>
          <p:cNvSpPr txBox="1"/>
          <p:nvPr/>
        </p:nvSpPr>
        <p:spPr>
          <a:xfrm rot="0" flipH="0" flipV="0">
            <a:off x="7886700" y="1905000"/>
            <a:ext cx="1304925" cy="342900"/>
          </a:xfrm>
          <a:prstGeom prst="rect"/>
        </p:spPr>
        <p:txBody>
          <a:bodyPr wrap="none" lIns="0" tIns="0" rIns="0" bIns="0"/>
          <a:p>
            <a:pPr>
              <a:lnSpc>
                <a:spcPct val="100000"/>
              </a:lnSpc>
            </a:pPr>
            <a:r>
              <a:rPr lang="zh-CN" sz="1050">
                <a:solidFill>
                  <a:srgbClr val="5F6975"/>
                </a:solidFill>
                <a:latin typeface="Noto Sans SC"/>
                <a:ea typeface="Noto Sans SC"/>
              </a:rPr>
              <a:t>元，每</a:t>
            </a:r>
            <a:r>
              <a:rPr lang="en-US" sz="1050">
                <a:solidFill>
                  <a:srgbClr val="5F6975"/>
                </a:solidFill>
                <a:latin typeface="Noto Sans SC"/>
                <a:ea typeface="Noto Sans SC"/>
              </a:rPr>
              <a:t>1</a:t>
            </a:r>
            <a:r>
              <a:rPr lang="en-US" sz="1050">
                <a:solidFill>
                  <a:srgbClr val="5F6975"/>
                </a:solidFill>
                <a:latin typeface="Noto Sans SC"/>
                <a:ea typeface="Noto Sans SC"/>
              </a:rPr>
              <a:t xml:space="preserve"> </a:t>
            </a:r>
            <a:r>
              <a:rPr lang="zh-CN" sz="1050">
                <a:solidFill>
                  <a:srgbClr val="5F6975"/>
                </a:solidFill>
                <a:latin typeface="Noto Sans SC"/>
                <a:ea typeface="Noto Sans SC"/>
              </a:rPr>
              <a:t>元只回</a:t>
            </a:r>
            <a:r>
              <a:rPr lang="en-US" sz="1050">
                <a:solidFill>
                  <a:srgbClr val="5F6975"/>
                </a:solidFill>
                <a:latin typeface="Noto Sans SC"/>
                <a:ea typeface="Noto Sans SC"/>
              </a:rPr>
              <a:t>3.25</a:t>
            </a:r>
            <a:r>
              <a:rPr lang="en-US" sz="1050">
                <a:solidFill>
                  <a:srgbClr val="5F6975"/>
                </a:solidFill>
                <a:latin typeface="Noto Sans SC"/>
                <a:ea typeface="Noto Sans SC"/>
              </a:rPr>
              <a:t xml:space="preserve"> </a:t>
            </a:r>
            <a:r>
              <a:rPr lang="zh-CN" sz="1050">
                <a:solidFill>
                  <a:srgbClr val="5F6975"/>
                </a:solidFill>
                <a:latin typeface="Noto Sans SC"/>
                <a:ea typeface="Noto Sans SC"/>
              </a:rPr>
              <a:t>元</a:t>
            </a:r>
            <a:endParaRPr/>
          </a:p>
        </p:txBody>
      </p:sp>
      <p:sp>
        <p:nvSpPr>
          <p:cNvPr id="850" name="" descr="{&quot;isTemplate&quot;:true,&quot;type&quot;:&quot;text&quot;}"/>
          <p:cNvSpPr txBox="1"/>
          <p:nvPr/>
        </p:nvSpPr>
        <p:spPr>
          <a:xfrm rot="0" flipH="0" flipV="0">
            <a:off x="7124700" y="2305050"/>
            <a:ext cx="3924300" cy="142875"/>
          </a:xfrm>
          <a:prstGeom prst="rect"/>
        </p:spPr>
        <p:txBody>
          <a:bodyPr wrap="none" lIns="0" tIns="0" rIns="0" bIns="0"/>
          <a:p>
            <a:pPr>
              <a:lnSpc>
                <a:spcPct val="100000"/>
              </a:lnSpc>
            </a:pPr>
            <a:r>
              <a:rPr lang="zh-CN" sz="938">
                <a:solidFill>
                  <a:srgbClr val="5F6975"/>
                </a:solidFill>
                <a:latin typeface="Noto Sans SC"/>
                <a:ea typeface="Noto Sans SC"/>
              </a:rPr>
              <a:t>占高效组预算</a:t>
            </a:r>
            <a:r>
              <a:rPr lang="en-US" sz="938">
                <a:solidFill>
                  <a:srgbClr val="5F6975"/>
                </a:solidFill>
                <a:latin typeface="Noto Sans SC"/>
                <a:ea typeface="Noto Sans SC"/>
              </a:rPr>
              <a:t>24.7%</a:t>
            </a:r>
            <a:r>
              <a:rPr lang="zh-CN" sz="938">
                <a:solidFill>
                  <a:srgbClr val="5F6975"/>
                </a:solidFill>
                <a:latin typeface="Noto Sans SC"/>
                <a:ea typeface="Noto Sans SC"/>
              </a:rPr>
              <a:t>，只做</a:t>
            </a:r>
            <a:r>
              <a:rPr lang="en-US" sz="938">
                <a:solidFill>
                  <a:srgbClr val="5F6975"/>
                </a:solidFill>
                <a:latin typeface="Noto Sans SC"/>
                <a:ea typeface="Noto Sans SC"/>
              </a:rPr>
              <a:t>8.8%</a:t>
            </a:r>
            <a:r>
              <a:rPr lang="en-US" sz="938">
                <a:solidFill>
                  <a:srgbClr val="5F6975"/>
                </a:solidFill>
                <a:latin typeface="Noto Sans SC"/>
                <a:ea typeface="Noto Sans SC"/>
              </a:rPr>
              <a:t xml:space="preserve"> </a:t>
            </a:r>
            <a:r>
              <a:rPr lang="zh-CN" sz="938">
                <a:solidFill>
                  <a:srgbClr val="5F6975"/>
                </a:solidFill>
                <a:latin typeface="Noto Sans SC"/>
                <a:ea typeface="Noto Sans SC"/>
              </a:rPr>
              <a:t>的成交</a:t>
            </a:r>
            <a:endParaRPr/>
          </a:p>
        </p:txBody>
      </p:sp>
      <p:sp>
        <p:nvSpPr>
          <p:cNvPr id="851" name=""/>
          <p:cNvSpPr/>
          <p:nvPr/>
        </p:nvSpPr>
        <p:spPr>
          <a:xfrm rot="0" flipH="0" flipV="0">
            <a:off x="6896100" y="2828925"/>
            <a:ext cx="4381500" cy="1895475"/>
          </a:xfrm>
          <a:prstGeom prst="rect">
            <a:avLst/>
          </a:prstGeom>
          <a:solidFill>
            <a:srgbClr val="F4F6F8"/>
          </a:solidFill>
          <a:ln/>
        </p:spPr>
        <p:txBody>
          <a:bodyPr/>
          <a:p/>
        </p:txBody>
      </p:sp>
      <p:sp>
        <p:nvSpPr>
          <p:cNvPr id="852" name="" descr="{&quot;isTemplate&quot;:true,&quot;type&quot;:&quot;text&quot;}"/>
          <p:cNvSpPr txBox="1"/>
          <p:nvPr/>
        </p:nvSpPr>
        <p:spPr>
          <a:xfrm rot="0" flipH="0" flipV="0">
            <a:off x="7124700" y="3057525"/>
            <a:ext cx="3924300" cy="152400"/>
          </a:xfrm>
          <a:prstGeom prst="rect"/>
        </p:spPr>
        <p:txBody>
          <a:bodyPr wrap="none" lIns="0" tIns="0" rIns="0" bIns="0"/>
          <a:p>
            <a:pPr>
              <a:lnSpc>
                <a:spcPct val="100000"/>
              </a:lnSpc>
            </a:pPr>
            <a:r>
              <a:rPr lang="zh-CN" sz="975">
                <a:solidFill>
                  <a:srgbClr val="5F6975"/>
                </a:solidFill>
                <a:latin typeface="Noto Sans SC"/>
                <a:ea typeface="Noto Sans SC"/>
              </a:rPr>
              <a:t>把钱挪过来</a:t>
            </a:r>
            <a:endParaRPr/>
          </a:p>
        </p:txBody>
      </p:sp>
      <p:sp>
        <p:nvSpPr>
          <p:cNvPr id="853" name="" descr="{&quot;isTemplate&quot;:true,&quot;type&quot;:&quot;text&quot;}"/>
          <p:cNvSpPr txBox="1"/>
          <p:nvPr/>
        </p:nvSpPr>
        <p:spPr>
          <a:xfrm rot="0" flipH="0" flipV="0">
            <a:off x="7124700" y="3286125"/>
            <a:ext cx="3924300" cy="609600"/>
          </a:xfrm>
          <a:prstGeom prst="rect"/>
        </p:spPr>
        <p:txBody>
          <a:bodyPr wrap="square" lIns="0" tIns="0" rIns="0" bIns="0">
            <a:normAutofit/>
          </a:bodyPr>
          <a:p>
            <a:pPr>
              <a:lnSpc>
                <a:spcPct val="165000"/>
              </a:lnSpc>
            </a:pPr>
            <a:r>
              <a:rPr lang="en-US" sz="1200">
                <a:solidFill>
                  <a:srgbClr val="15181D"/>
                </a:solidFill>
                <a:latin typeface="Noto Sans SC"/>
                <a:ea typeface="Noto Sans SC"/>
              </a:rPr>
              <a:t xml:space="preserve"> </a:t>
            </a:r>
            <a:r>
              <a:rPr lang="zh-CN" sz="1200">
                <a:solidFill>
                  <a:srgbClr val="15181D"/>
                </a:solidFill>
                <a:latin typeface="Noto Sans SC"/>
                <a:ea typeface="Noto Sans SC"/>
              </a:rPr>
              <a:t>低效组</a:t>
            </a:r>
            <a:r>
              <a:rPr lang="en-US" sz="1200">
                <a:solidFill>
                  <a:srgbClr val="15181D"/>
                </a:solidFill>
                <a:latin typeface="Noto Sans SC"/>
                <a:ea typeface="Noto Sans SC"/>
              </a:rPr>
              <a:t>18</a:t>
            </a:r>
            <a:r>
              <a:rPr lang="en-US" sz="1200">
                <a:solidFill>
                  <a:srgbClr val="15181D"/>
                </a:solidFill>
                <a:latin typeface="Noto Sans SC"/>
                <a:ea typeface="Noto Sans SC"/>
              </a:rPr>
              <a:t xml:space="preserve"> </a:t>
            </a:r>
            <a:r>
              <a:rPr lang="zh-CN" sz="1200">
                <a:solidFill>
                  <a:srgbClr val="15181D"/>
                </a:solidFill>
                <a:latin typeface="Noto Sans SC"/>
                <a:ea typeface="Noto Sans SC"/>
              </a:rPr>
              <a:t>天花了</a:t>
            </a:r>
            <a:r>
              <a:rPr lang="en-US" sz="1200">
                <a:solidFill>
                  <a:srgbClr val="15181D"/>
                </a:solidFill>
                <a:latin typeface="Noto Sans SC"/>
                <a:ea typeface="Noto Sans SC"/>
              </a:rPr>
              <a:t>17,160</a:t>
            </a:r>
            <a:r>
              <a:rPr lang="en-US" sz="1200">
                <a:solidFill>
                  <a:srgbClr val="15181D"/>
                </a:solidFill>
                <a:latin typeface="Noto Sans SC"/>
                <a:ea typeface="Noto Sans SC"/>
              </a:rPr>
              <a:t xml:space="preserve"> </a:t>
            </a:r>
            <a:r>
              <a:rPr lang="zh-CN" sz="1200">
                <a:solidFill>
                  <a:srgbClr val="15181D"/>
                </a:solidFill>
                <a:latin typeface="Noto Sans SC"/>
                <a:ea typeface="Noto Sans SC"/>
              </a:rPr>
              <a:t>元。砍一半（</a:t>
            </a:r>
            <a:r>
              <a:rPr lang="en-US" sz="1200">
                <a:solidFill>
                  <a:srgbClr val="15181D"/>
                </a:solidFill>
                <a:latin typeface="Noto Sans SC"/>
                <a:ea typeface="Noto Sans SC"/>
              </a:rPr>
              <a:t>8,580</a:t>
            </a:r>
            <a:r>
              <a:rPr lang="en-US" sz="1200">
                <a:solidFill>
                  <a:srgbClr val="15181D"/>
                </a:solidFill>
                <a:latin typeface="Noto Sans SC"/>
                <a:ea typeface="Noto Sans SC"/>
              </a:rPr>
              <a:t xml:space="preserve"> </a:t>
            </a:r>
            <a:r>
              <a:rPr lang="zh-CN" sz="1200">
                <a:solidFill>
                  <a:srgbClr val="15181D"/>
                </a:solidFill>
                <a:latin typeface="Noto Sans SC"/>
                <a:ea typeface="Noto Sans SC"/>
              </a:rPr>
              <a:t>元）挪到高效端，</a:t>
            </a:r>
            <a:endParaRPr/>
          </a:p>
        </p:txBody>
      </p:sp>
      <p:sp>
        <p:nvSpPr>
          <p:cNvPr id="854" name="" descr="{&quot;isTemplate&quot;:true,&quot;type&quot;:&quot;text&quot;}"/>
          <p:cNvSpPr txBox="1"/>
          <p:nvPr/>
        </p:nvSpPr>
        <p:spPr>
          <a:xfrm rot="0" flipH="0" flipV="0">
            <a:off x="7124700" y="3990975"/>
            <a:ext cx="3924300" cy="304800"/>
          </a:xfrm>
          <a:prstGeom prst="rect"/>
        </p:spPr>
        <p:txBody>
          <a:bodyPr wrap="none" lIns="0" tIns="0" rIns="0" bIns="0"/>
          <a:p>
            <a:pPr>
              <a:lnSpc>
                <a:spcPct val="100000"/>
              </a:lnSpc>
            </a:pPr>
            <a:r>
              <a:rPr lang="zh-CN" sz="1950" b="1">
                <a:solidFill>
                  <a:srgbClr val="1B3557"/>
                </a:solidFill>
                <a:latin typeface="Noto Sans SC"/>
                <a:ea typeface="Noto Sans SC"/>
              </a:rPr>
              <a:t>静态净增</a:t>
            </a:r>
            <a:r>
              <a:rPr lang="en-US" sz="1950" b="1">
                <a:solidFill>
                  <a:srgbClr val="1B3557"/>
                </a:solidFill>
                <a:latin typeface="Noto Sans SC"/>
                <a:ea typeface="Noto Sans SC"/>
              </a:rPr>
              <a:t>7.74</a:t>
            </a:r>
            <a:r>
              <a:rPr lang="zh-CN" sz="1950" b="1">
                <a:solidFill>
                  <a:srgbClr val="1B3557"/>
                </a:solidFill>
                <a:latin typeface="Noto Sans SC"/>
                <a:ea typeface="Noto Sans SC"/>
              </a:rPr>
              <a:t>万元</a:t>
            </a:r>
            <a:endParaRPr/>
          </a:p>
        </p:txBody>
      </p:sp>
      <p:sp>
        <p:nvSpPr>
          <p:cNvPr id="855" name="" descr="{&quot;isTemplate&quot;:true,&quot;type&quot;:&quot;text&quot;}"/>
          <p:cNvSpPr txBox="1"/>
          <p:nvPr/>
        </p:nvSpPr>
        <p:spPr>
          <a:xfrm rot="0" flipH="0" flipV="0">
            <a:off x="7124700" y="4352925"/>
            <a:ext cx="3924300" cy="142875"/>
          </a:xfrm>
          <a:prstGeom prst="rect"/>
        </p:spPr>
        <p:txBody>
          <a:bodyPr wrap="none" lIns="0" tIns="0" rIns="0" bIns="0"/>
          <a:p>
            <a:pPr>
              <a:lnSpc>
                <a:spcPct val="100000"/>
              </a:lnSpc>
            </a:pPr>
            <a:r>
              <a:rPr lang="zh-CN" sz="938">
                <a:solidFill>
                  <a:srgbClr val="5F6975"/>
                </a:solidFill>
                <a:latin typeface="Noto Sans SC"/>
                <a:ea typeface="Noto Sans SC"/>
              </a:rPr>
              <a:t>占商品层成交</a:t>
            </a:r>
            <a:r>
              <a:rPr lang="en-US" sz="938">
                <a:solidFill>
                  <a:srgbClr val="5F6975"/>
                </a:solidFill>
                <a:latin typeface="Noto Sans SC"/>
                <a:ea typeface="Noto Sans SC"/>
              </a:rPr>
              <a:t>27.6%</a:t>
            </a:r>
            <a:r>
              <a:rPr lang="zh-CN" sz="938">
                <a:solidFill>
                  <a:srgbClr val="5F6975"/>
                </a:solidFill>
                <a:latin typeface="Noto Sans SC"/>
                <a:ea typeface="Noto Sans SC"/>
              </a:rPr>
              <a:t>，不是预测</a:t>
            </a:r>
            <a:endParaRPr/>
          </a:p>
        </p:txBody>
      </p:sp>
      <p:sp>
        <p:nvSpPr>
          <p:cNvPr id="856"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857"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08</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9.xml><?xml version="1.0" encoding="utf-8"?>
<p:sld xmlns:p="http://schemas.openxmlformats.org/presentationml/2006/main" xmlns:a="http://schemas.openxmlformats.org/drawingml/2006/main">
  <p:cSld>
    <p:spTree>
      <p:nvGrpSpPr>
        <p:cNvPr id="858" name="" descr="&lt;Slide style={{ width: '1280px', height: '720px', background: '#FFFFFF', fontFamily: 'Noto Sans SC', padding: '20px 64px', flexDirection: 'column' }}&gt;&lt;Box style={{ height: '96px', flexDirection: 'column', justifyContent: 'center' }}&gt;&lt;Text style={{ fontSize: '31px', fontWeight: 700, color: '#1B3557', lineHeight: 1.25 }}&gt;四个动作：今天能做的、两周要做的、需要你点头的&lt;/Text&gt;&lt;Text style={{ fontSize: '15px', color: '#5F6975', lineHeight: 1.4, marginTop: '6px' }}&gt;按顺序来，不要同时全上。每个动作都写清了对象、负责人、时间和验收数。&lt;/Text&gt;&lt;/Box&gt;&lt;Box style={{ height: '540px', flexDirection: 'column', gap: '12px' }}&gt;&lt;Box style={{ flexDirection: 'row', background: '#F4F6F8', height: '118px', alignItems: 'center', paddingLeft: '20px', paddingRight: '20px', gap: '18px' }}&gt;&lt;Text style={{ fontSize: '34px', fontWeight: 700, color: '#A97B28', width: '40px' }}&gt;{'1'}&lt;/Text&gt;&lt;Box style={{ width: '470px', flexDirection: 'column', gap: '6px' }}&gt;&lt;Text style={{ fontSize: '16px', fontWeight: 700, color: '#1B3557' }}&gt;止血：停投零成交商品&lt;/Text&gt;&lt;Text style={{ fontSize: '12.5px', color: '#5F6975', lineHeight: 1.5 }}&gt;对象：附录 A 的{'72'} 个商品（{'18'} 天零成交）&lt;/Text&gt;&lt;/Box&gt;&lt;Box style={{ width: '150px', flexDirection: 'column', gap: '4px' }}&gt;&lt;Text style={{ fontSize: '11.5px', color: '#5F6975' }}&gt;负责人&lt;/Text&gt;&lt;Text style={{ fontSize: '13px', color: '#15181D', fontWeight: 600 }}&gt;推广运营&lt;/Text&gt;&lt;/Box&gt;&lt;Box style={{ width: '90px', flexDirection: 'column', gap: '4px' }}&gt;&lt;Text style={{ fontSize: '11.5px', color: '#5F6975' }}&gt;时间&lt;/Text&gt;&lt;Text style={{ fontSize: '13px', color: '#15181D', fontWeight: 600 }}&gt;今天&lt;/Text&gt;&lt;/Box&gt;&lt;Box style={{ width: '240px', flexDirection: 'column', gap: '4px' }}&gt;&lt;Text style={{ fontSize: '11.5px', color: '#5F6975' }}&gt;验收数&lt;/Text&gt;&lt;Text style={{ fontSize: '13px', color: '#AE4128', fontWeight: 600 }}&gt;低效花费占比{'62.2%'}{'→'}{'≤'}{'40%'}&lt;/Text&gt;&lt;/Box&gt;&lt;/Box&gt;&lt;Box style={{ flexDirection: 'row', background: '#F4F6F8', height: '118px', alignItems: 'center', paddingLeft: '20px', paddingRight: '20px', gap: '18px' }}&gt;&lt;Text style={{ fontSize: '34px', fontWeight: 700, color: '#A97B28', width: '40px' }}&gt;{'2'}&lt;/Text&gt;&lt;Box style={{ width: '470px', flexDirection: 'column', gap: '6px' }}&gt;&lt;Text style={{ fontSize: '16px', fontWeight: 700, color: '#1B3557' }}&gt;修商品页：流量大、几乎不成交的{'4'} 个洗手盆&lt;/Text&gt;&lt;Text style={{ fontSize: '12.5px', color: '#5F6975', lineHeight: 1.5 }}&gt;对象：盖文立柱盆、科塔挂墙盆、盖文储物立柱盆、科塔超窄边&lt;/Text&gt;&lt;/Box&gt;&lt;Box style={{ width: '150px', flexDirection: 'column', gap: '4px' }}&gt;&lt;Text style={{ fontSize: '11.5px', color: '#5F6975' }}&gt;负责人&lt;/Text&gt;&lt;Text style={{ fontSize: '13px', color: '#15181D', fontWeight: 600 }}&gt;商品运营&lt;/Text&gt;&lt;/Box&gt;&lt;Box style={{ width: '90px', flexDirection: 'column', gap: '4px' }}&gt;&lt;Text style={{ fontSize: '11.5px', color: '#5F6975' }}&gt;时间&lt;/Text&gt;&lt;Text style={{ fontSize: '13px', color: '#15181D', fontWeight: 600 }}&gt;两周内&lt;/Text&gt;&lt;/Box&gt;&lt;Box style={{ width: '240px', flexDirection: 'column', gap: '4px' }}&gt;&lt;Text style={{ fontSize: '11.5px', color: '#5F6975' }}&gt;验收数&lt;/Text&gt;&lt;Text style={{ fontSize: '13px', color: '#AE4128', fontWeight: 600 }}&gt;加购率{'1.30%'}{'→'}{'2.00%'}&lt;/Text&gt;&lt;/Box&gt;&lt;/Box&gt;&lt;Box style={{ flexDirection: 'row', background: '#F4F6F8', height: '118px', alignItems: 'center', paddingLeft: '20px', paddingRight: '20px', gap: '18px' }}&gt;&lt;Text style={{ fontSize: '34px', fontWeight: 700, color: '#A97B28', width: '40px' }}&gt;{'3'}&lt;/Text&gt;&lt;Box style={{ width: '470px', flexDirection: 'column', gap: '6px' }}&gt;&lt;Text style={{ fontSize: '16px', fontWeight: 700, color: '#1B3557' }}&gt;挪流量：从最差{'4'} 家店调出来&lt;/Text&gt;&lt;Text style={{ fontSize: '12.5px', color: '#5F6975', lineHeight: 1.5 }}&gt;对象：盖文全卫定制、Paola Lenti保拉伦蒂、网林全卫定制、科塔全卫定制&lt;/Text&gt;&lt;/Box&gt;&lt;Box style={{ width: '150px', flexDirection: 'column', gap: '4px' }}&gt;&lt;Text style={{ fontSize: '11.5px', color: '#5F6975' }}&gt;负责人&lt;/Text&gt;&lt;Text style={{ fontSize: '13px', color: '#15181D', fontWeight: 600 }}&gt;店铺运营&lt;/Text&gt;&lt;/Box&gt;&lt;Box style={{ width: '90px', flexDirection: 'column', gap: '4px' }}&gt;&lt;Text style={{ fontSize: '11.5px', color: '#5F6975' }}&gt;时间&lt;/Text&gt;&lt;Text style={{ fontSize: '13px', color: '#15181D', fontWeight: 600 }}&gt;两周内&lt;/Text&gt;&lt;/Box&gt;&lt;Box style={{ width: '240px', flexDirection: 'column', gap: '4px' }}&gt;&lt;Text style={{ fontSize: '11.5px', color: '#5F6975' }}&gt;验收数&lt;/Text&gt;&lt;Text style={{ fontSize: '13px', color: '#AE4128', fontWeight: 600 }}&gt;每千次进店成交{'1.6'}{'→'}{'2.0'} 单&lt;/Text&gt;&lt;/Box&gt;&lt;/Box&gt;&lt;Box style={{ flexDirection: 'row', background: '#F4F6F8', height: '118px', alignItems: 'center', paddingLeft: '20px', paddingRight: '20px', gap: '18px' }}&gt;&lt;Text style={{ fontSize: '34px', fontWeight: 700, color: '#A97B28', width: '40px' }}&gt;{'4'}&lt;/Text&gt;&lt;Box style={{ width: '470px', flexDirection: 'column', gap: '6px' }}&gt;&lt;Text style={{ fontSize: '16px', fontWeight: 700, color: '#1B3557' }}&gt;并表：销售{'2'} 部{'5'} 家店接进同一张表&lt;/Text&gt;&lt;Text style={{ fontSize: '12.5px', color: '#5F6975', lineHeight: 1.5 }}&gt;对象：销售{'2'} 部{'5'} 家店（Paola Lenti 保拉伦蒂、保拉伦蒂旗舰店等）&lt;/Text&gt;&lt;/Box&gt;&lt;Box style={{ width: '150px', flexDirection: 'column', gap: '4px' }}&gt;&lt;Text style={{ fontSize: '11.5px', color: '#5F6975' }}&gt;负责人&lt;/Text&gt;&lt;Text style={{ fontSize: '13px', color: '#15181D', fontWeight: 600 }}&gt;数据负责人{'+'} 销售{'2'} 部&lt;/Text&gt;&lt;/Box&gt;&lt;Box style={{ width: '90px', flexDirection: 'column', gap: '4px' }}&gt;&lt;Text style={{ fontSize: '11.5px', color: '#5F6975' }}&gt;时间&lt;/Text&gt;&lt;Text style={{ fontSize: '13px', color: '#15181D', fontWeight: 600 }}&gt;本周内约&lt;/Text&gt;&lt;/Box&gt;&lt;Box style={{ width: '240px', flexDirection: 'column', gap: '4px' }}&gt;&lt;Text style={{ fontSize: '11.5px', color: '#5F6975' }}&gt;验收数&lt;/Text&gt;&lt;Text style={{ fontSize: '13px', color: '#AE4128', fontWeight: 600 }}&gt;{'5'} 家并进同一张表、口径一致&lt;/Text&gt;&lt;/Box&gt;&lt;/Box&gt;&lt;/Box&gt;&lt;Box style={{ height: '40px', flexDirection: 'row', justifyContent: 'space-between', alignItems: 'center' }}&gt;&lt;Text style={{ fontSize: '13px', color: '#5F6975' }}&gt;经营数据诊断{'·'}{'2026-10-20'}&lt;/Text&gt;&lt;Text style={{ fontSize: '13px', color: '#5F6975' }}&gt;{'09'}{'/'}{'13'}&lt;/Text&gt;&lt;/Box&gt;&lt;/Slide&gt;&#10;"/>
        <p:cNvGrpSpPr/>
        <p:nvPr/>
      </p:nvGrpSpPr>
      <p:grpSpPr>
        <a:xfrm>
          <a:off x="0" y="0"/>
          <a:ext cx="0" cy="0"/>
          <a:chOff x="0" y="0"/>
          <a:chExt cx="0" cy="0"/>
        </a:xfrm>
      </p:grpSpPr>
      <p:sp>
        <p:nvSpPr>
          <p:cNvPr id="859" name=""/>
          <p:cNvSpPr/>
          <p:nvPr/>
        </p:nvSpPr>
        <p:spPr>
          <a:xfrm rot="0" flipH="0" flipV="0">
            <a:off x="0" y="0"/>
            <a:ext cx="12192000" cy="6858000"/>
          </a:xfrm>
          <a:prstGeom prst="rect">
            <a:avLst/>
          </a:prstGeom>
          <a:solidFill>
            <a:srgbClr val="FFFFFF"/>
          </a:solidFill>
          <a:ln/>
        </p:spPr>
        <p:txBody>
          <a:bodyPr/>
          <a:p/>
        </p:txBody>
      </p:sp>
      <p:sp>
        <p:nvSpPr>
          <p:cNvPr id="860"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四个动作：今天能做的、两周要做的、需要你点头的</a:t>
            </a:r>
            <a:endParaRPr/>
          </a:p>
        </p:txBody>
      </p:sp>
      <p:sp>
        <p:nvSpPr>
          <p:cNvPr id="861"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按顺序来，不要同时全上。每个动作都写清了对象、负责人、时间和验收数。</a:t>
            </a:r>
            <a:endParaRPr/>
          </a:p>
        </p:txBody>
      </p:sp>
      <p:sp>
        <p:nvSpPr>
          <p:cNvPr id="862" name=""/>
          <p:cNvSpPr/>
          <p:nvPr/>
        </p:nvSpPr>
        <p:spPr>
          <a:xfrm rot="0" flipH="0" flipV="0">
            <a:off x="609600" y="1104900"/>
            <a:ext cx="10972800" cy="1123950"/>
          </a:xfrm>
          <a:prstGeom prst="rect">
            <a:avLst/>
          </a:prstGeom>
          <a:solidFill>
            <a:srgbClr val="F4F6F8"/>
          </a:solidFill>
          <a:ln/>
        </p:spPr>
        <p:txBody>
          <a:bodyPr/>
          <a:p/>
        </p:txBody>
      </p:sp>
      <p:sp>
        <p:nvSpPr>
          <p:cNvPr id="863" name="" descr="{&quot;isTemplate&quot;:true,&quot;type&quot;:&quot;text&quot;}"/>
          <p:cNvSpPr txBox="1"/>
          <p:nvPr/>
        </p:nvSpPr>
        <p:spPr>
          <a:xfrm rot="0" flipH="0" flipV="0">
            <a:off x="800100" y="1476375"/>
            <a:ext cx="381000" cy="390525"/>
          </a:xfrm>
          <a:prstGeom prst="rect"/>
        </p:spPr>
        <p:txBody>
          <a:bodyPr wrap="none" lIns="0" tIns="0" rIns="0" bIns="0"/>
          <a:p>
            <a:pPr>
              <a:lnSpc>
                <a:spcPct val="100000"/>
              </a:lnSpc>
            </a:pPr>
            <a:r>
              <a:rPr lang="en-US" sz="2550" b="1">
                <a:solidFill>
                  <a:srgbClr val="A97B28"/>
                </a:solidFill>
                <a:latin typeface="Noto Sans SC"/>
                <a:ea typeface="Noto Sans SC"/>
              </a:rPr>
              <a:t>1</a:t>
            </a:r>
            <a:endParaRPr/>
          </a:p>
        </p:txBody>
      </p:sp>
      <p:sp>
        <p:nvSpPr>
          <p:cNvPr id="864" name="" descr="{&quot;isTemplate&quot;:true,&quot;type&quot;:&quot;text&quot;}"/>
          <p:cNvSpPr txBox="1"/>
          <p:nvPr/>
        </p:nvSpPr>
        <p:spPr>
          <a:xfrm rot="0" flipH="0" flipV="0">
            <a:off x="1352550" y="1438275"/>
            <a:ext cx="4476750" cy="190500"/>
          </a:xfrm>
          <a:prstGeom prst="rect"/>
        </p:spPr>
        <p:txBody>
          <a:bodyPr wrap="none" lIns="0" tIns="0" rIns="0" bIns="0"/>
          <a:p>
            <a:pPr>
              <a:lnSpc>
                <a:spcPct val="100000"/>
              </a:lnSpc>
            </a:pPr>
            <a:r>
              <a:rPr lang="zh-CN" sz="1200" b="1">
                <a:solidFill>
                  <a:srgbClr val="1B3557"/>
                </a:solidFill>
                <a:latin typeface="Noto Sans SC"/>
                <a:ea typeface="Noto Sans SC"/>
              </a:rPr>
              <a:t>止血：停投零成交商品</a:t>
            </a:r>
            <a:endParaRPr/>
          </a:p>
        </p:txBody>
      </p:sp>
      <p:sp>
        <p:nvSpPr>
          <p:cNvPr id="865" name="" descr="{&quot;isTemplate&quot;:true,&quot;type&quot;:&quot;text&quot;}"/>
          <p:cNvSpPr txBox="1"/>
          <p:nvPr/>
        </p:nvSpPr>
        <p:spPr>
          <a:xfrm rot="0" flipH="0" flipV="0">
            <a:off x="1352550" y="1685925"/>
            <a:ext cx="4476750" cy="219075"/>
          </a:xfrm>
          <a:prstGeom prst="rect"/>
        </p:spPr>
        <p:txBody>
          <a:bodyPr wrap="none" lIns="0" tIns="0" rIns="0" bIns="0"/>
          <a:p>
            <a:pPr>
              <a:lnSpc>
                <a:spcPct val="150000"/>
              </a:lnSpc>
            </a:pPr>
            <a:r>
              <a:rPr lang="zh-CN" sz="938">
                <a:solidFill>
                  <a:srgbClr val="5F6975"/>
                </a:solidFill>
                <a:latin typeface="Noto Sans SC"/>
                <a:ea typeface="Noto Sans SC"/>
              </a:rPr>
              <a:t>对象：附录</a:t>
            </a:r>
            <a:r>
              <a:rPr lang="en-US" sz="938">
                <a:solidFill>
                  <a:srgbClr val="5F6975"/>
                </a:solidFill>
                <a:latin typeface="Noto Sans SC"/>
                <a:ea typeface="Noto Sans SC"/>
              </a:rPr>
              <a:t xml:space="preserve"> A </a:t>
            </a:r>
            <a:r>
              <a:rPr lang="zh-CN" sz="938">
                <a:solidFill>
                  <a:srgbClr val="5F6975"/>
                </a:solidFill>
                <a:latin typeface="Noto Sans SC"/>
                <a:ea typeface="Noto Sans SC"/>
              </a:rPr>
              <a:t>的</a:t>
            </a:r>
            <a:r>
              <a:rPr lang="en-US" sz="938">
                <a:solidFill>
                  <a:srgbClr val="5F6975"/>
                </a:solidFill>
                <a:latin typeface="Noto Sans SC"/>
                <a:ea typeface="Noto Sans SC"/>
              </a:rPr>
              <a:t>72</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个商品（</a:t>
            </a:r>
            <a:r>
              <a:rPr lang="en-US" sz="938">
                <a:solidFill>
                  <a:srgbClr val="5F6975"/>
                </a:solidFill>
                <a:latin typeface="Noto Sans SC"/>
                <a:ea typeface="Noto Sans SC"/>
              </a:rPr>
              <a:t>18</a:t>
            </a:r>
            <a:r>
              <a:rPr lang="en-US" sz="938">
                <a:solidFill>
                  <a:srgbClr val="5F6975"/>
                </a:solidFill>
                <a:latin typeface="Noto Sans SC"/>
                <a:ea typeface="Noto Sans SC"/>
              </a:rPr>
              <a:t xml:space="preserve"> </a:t>
            </a:r>
            <a:r>
              <a:rPr lang="zh-CN" sz="938">
                <a:solidFill>
                  <a:srgbClr val="5F6975"/>
                </a:solidFill>
                <a:latin typeface="Noto Sans SC"/>
                <a:ea typeface="Noto Sans SC"/>
              </a:rPr>
              <a:t>天零成交）</a:t>
            </a:r>
            <a:endParaRPr/>
          </a:p>
        </p:txBody>
      </p:sp>
      <p:sp>
        <p:nvSpPr>
          <p:cNvPr id="866" name="" descr="{&quot;isTemplate&quot;:true,&quot;type&quot;:&quot;text&quot;}"/>
          <p:cNvSpPr txBox="1"/>
          <p:nvPr/>
        </p:nvSpPr>
        <p:spPr>
          <a:xfrm rot="0" flipH="0" flipV="0">
            <a:off x="6000750" y="1504950"/>
            <a:ext cx="1428750" cy="133350"/>
          </a:xfrm>
          <a:prstGeom prst="rect"/>
        </p:spPr>
        <p:txBody>
          <a:bodyPr wrap="none" lIns="0" tIns="0" rIns="0" bIns="0"/>
          <a:p>
            <a:pPr>
              <a:lnSpc>
                <a:spcPct val="100000"/>
              </a:lnSpc>
            </a:pPr>
            <a:r>
              <a:rPr lang="zh-CN" sz="863">
                <a:solidFill>
                  <a:srgbClr val="5F6975"/>
                </a:solidFill>
                <a:latin typeface="Noto Sans SC"/>
                <a:ea typeface="Noto Sans SC"/>
              </a:rPr>
              <a:t>负责人</a:t>
            </a:r>
            <a:endParaRPr/>
          </a:p>
        </p:txBody>
      </p:sp>
      <p:sp>
        <p:nvSpPr>
          <p:cNvPr id="867" name="" descr="{&quot;isTemplate&quot;:true,&quot;type&quot;:&quot;text&quot;}"/>
          <p:cNvSpPr txBox="1"/>
          <p:nvPr/>
        </p:nvSpPr>
        <p:spPr>
          <a:xfrm rot="0" flipH="0" flipV="0">
            <a:off x="6000750" y="1676400"/>
            <a:ext cx="1428750" cy="152400"/>
          </a:xfrm>
          <a:prstGeom prst="rect"/>
        </p:spPr>
        <p:txBody>
          <a:bodyPr wrap="none" lIns="0" tIns="0" rIns="0" bIns="0"/>
          <a:p>
            <a:pPr>
              <a:lnSpc>
                <a:spcPct val="100000"/>
              </a:lnSpc>
            </a:pPr>
            <a:r>
              <a:rPr lang="zh-CN" sz="975" b="1">
                <a:solidFill>
                  <a:srgbClr val="15181D"/>
                </a:solidFill>
                <a:latin typeface="Noto Sans SC"/>
                <a:ea typeface="Noto Sans SC"/>
              </a:rPr>
              <a:t>推广运营</a:t>
            </a:r>
            <a:endParaRPr/>
          </a:p>
        </p:txBody>
      </p:sp>
      <p:sp>
        <p:nvSpPr>
          <p:cNvPr id="868" name="" descr="{&quot;isTemplate&quot;:true,&quot;type&quot;:&quot;text&quot;}"/>
          <p:cNvSpPr txBox="1"/>
          <p:nvPr/>
        </p:nvSpPr>
        <p:spPr>
          <a:xfrm rot="0" flipH="0" flipV="0">
            <a:off x="7600950" y="1504950"/>
            <a:ext cx="857250" cy="133350"/>
          </a:xfrm>
          <a:prstGeom prst="rect"/>
        </p:spPr>
        <p:txBody>
          <a:bodyPr wrap="none" lIns="0" tIns="0" rIns="0" bIns="0"/>
          <a:p>
            <a:pPr>
              <a:lnSpc>
                <a:spcPct val="100000"/>
              </a:lnSpc>
            </a:pPr>
            <a:r>
              <a:rPr lang="zh-CN" sz="863">
                <a:solidFill>
                  <a:srgbClr val="5F6975"/>
                </a:solidFill>
                <a:latin typeface="Noto Sans SC"/>
                <a:ea typeface="Noto Sans SC"/>
              </a:rPr>
              <a:t>时间</a:t>
            </a:r>
            <a:endParaRPr/>
          </a:p>
        </p:txBody>
      </p:sp>
      <p:sp>
        <p:nvSpPr>
          <p:cNvPr id="869" name="" descr="{&quot;isTemplate&quot;:true,&quot;type&quot;:&quot;text&quot;}"/>
          <p:cNvSpPr txBox="1"/>
          <p:nvPr/>
        </p:nvSpPr>
        <p:spPr>
          <a:xfrm rot="0" flipH="0" flipV="0">
            <a:off x="7600950" y="1676400"/>
            <a:ext cx="857250" cy="152400"/>
          </a:xfrm>
          <a:prstGeom prst="rect"/>
        </p:spPr>
        <p:txBody>
          <a:bodyPr wrap="none" lIns="0" tIns="0" rIns="0" bIns="0"/>
          <a:p>
            <a:pPr>
              <a:lnSpc>
                <a:spcPct val="100000"/>
              </a:lnSpc>
            </a:pPr>
            <a:r>
              <a:rPr lang="zh-CN" sz="975" b="1">
                <a:solidFill>
                  <a:srgbClr val="15181D"/>
                </a:solidFill>
                <a:latin typeface="Noto Sans SC"/>
                <a:ea typeface="Noto Sans SC"/>
              </a:rPr>
              <a:t>今天</a:t>
            </a:r>
            <a:endParaRPr/>
          </a:p>
        </p:txBody>
      </p:sp>
      <p:sp>
        <p:nvSpPr>
          <p:cNvPr id="870" name="" descr="{&quot;isTemplate&quot;:true,&quot;type&quot;:&quot;text&quot;}"/>
          <p:cNvSpPr txBox="1"/>
          <p:nvPr/>
        </p:nvSpPr>
        <p:spPr>
          <a:xfrm rot="0" flipH="0" flipV="0">
            <a:off x="8629650" y="1504950"/>
            <a:ext cx="2286000" cy="133350"/>
          </a:xfrm>
          <a:prstGeom prst="rect"/>
        </p:spPr>
        <p:txBody>
          <a:bodyPr wrap="none" lIns="0" tIns="0" rIns="0" bIns="0"/>
          <a:p>
            <a:pPr>
              <a:lnSpc>
                <a:spcPct val="100000"/>
              </a:lnSpc>
            </a:pPr>
            <a:r>
              <a:rPr lang="zh-CN" sz="863">
                <a:solidFill>
                  <a:srgbClr val="5F6975"/>
                </a:solidFill>
                <a:latin typeface="Noto Sans SC"/>
                <a:ea typeface="Noto Sans SC"/>
              </a:rPr>
              <a:t>验收数</a:t>
            </a:r>
            <a:endParaRPr/>
          </a:p>
        </p:txBody>
      </p:sp>
      <p:sp>
        <p:nvSpPr>
          <p:cNvPr id="871" name="" descr="{&quot;isTemplate&quot;:true,&quot;type&quot;:&quot;text&quot;}"/>
          <p:cNvSpPr txBox="1"/>
          <p:nvPr/>
        </p:nvSpPr>
        <p:spPr>
          <a:xfrm rot="0" flipH="0" flipV="0">
            <a:off x="8629650" y="1676400"/>
            <a:ext cx="2286000" cy="152400"/>
          </a:xfrm>
          <a:prstGeom prst="rect"/>
        </p:spPr>
        <p:txBody>
          <a:bodyPr wrap="none" lIns="0" tIns="0" rIns="0" bIns="0"/>
          <a:p>
            <a:pPr>
              <a:lnSpc>
                <a:spcPct val="100000"/>
              </a:lnSpc>
            </a:pPr>
            <a:r>
              <a:rPr lang="zh-CN" sz="975" b="1">
                <a:solidFill>
                  <a:srgbClr val="AE4128"/>
                </a:solidFill>
                <a:latin typeface="Noto Sans SC"/>
                <a:ea typeface="Noto Sans SC"/>
              </a:rPr>
              <a:t>低效花费占比</a:t>
            </a:r>
            <a:r>
              <a:rPr lang="en-US" sz="975" b="1">
                <a:solidFill>
                  <a:srgbClr val="AE4128"/>
                </a:solidFill>
                <a:latin typeface="Noto Sans SC"/>
                <a:ea typeface="Noto Sans SC"/>
              </a:rPr>
              <a:t>62.2%</a:t>
            </a:r>
            <a:r>
              <a:rPr sz="975" b="1">
                <a:solidFill>
                  <a:srgbClr val="AE4128"/>
                </a:solidFill>
                <a:latin typeface="Noto Sans SC"/>
                <a:ea typeface="Noto Sans SC"/>
              </a:rPr>
              <a:t>→</a:t>
            </a:r>
            <a:r>
              <a:rPr sz="975" b="1">
                <a:solidFill>
                  <a:srgbClr val="AE4128"/>
                </a:solidFill>
                <a:latin typeface="Noto Sans SC"/>
                <a:ea typeface="Noto Sans SC"/>
              </a:rPr>
              <a:t>≤</a:t>
            </a:r>
            <a:r>
              <a:rPr lang="en-US" sz="975" b="1">
                <a:solidFill>
                  <a:srgbClr val="AE4128"/>
                </a:solidFill>
                <a:latin typeface="Noto Sans SC"/>
                <a:ea typeface="Noto Sans SC"/>
              </a:rPr>
              <a:t>40%</a:t>
            </a:r>
            <a:endParaRPr/>
          </a:p>
        </p:txBody>
      </p:sp>
      <p:sp>
        <p:nvSpPr>
          <p:cNvPr id="872" name=""/>
          <p:cNvSpPr/>
          <p:nvPr/>
        </p:nvSpPr>
        <p:spPr>
          <a:xfrm rot="0" flipH="0" flipV="0">
            <a:off x="609600" y="2343150"/>
            <a:ext cx="10972800" cy="1123950"/>
          </a:xfrm>
          <a:prstGeom prst="rect">
            <a:avLst/>
          </a:prstGeom>
          <a:solidFill>
            <a:srgbClr val="F4F6F8"/>
          </a:solidFill>
          <a:ln/>
        </p:spPr>
        <p:txBody>
          <a:bodyPr/>
          <a:p/>
        </p:txBody>
      </p:sp>
      <p:sp>
        <p:nvSpPr>
          <p:cNvPr id="873" name="" descr="{&quot;isTemplate&quot;:true,&quot;type&quot;:&quot;text&quot;}"/>
          <p:cNvSpPr txBox="1"/>
          <p:nvPr/>
        </p:nvSpPr>
        <p:spPr>
          <a:xfrm rot="0" flipH="0" flipV="0">
            <a:off x="800100" y="2714625"/>
            <a:ext cx="381000" cy="390525"/>
          </a:xfrm>
          <a:prstGeom prst="rect"/>
        </p:spPr>
        <p:txBody>
          <a:bodyPr wrap="none" lIns="0" tIns="0" rIns="0" bIns="0"/>
          <a:p>
            <a:pPr>
              <a:lnSpc>
                <a:spcPct val="100000"/>
              </a:lnSpc>
            </a:pPr>
            <a:r>
              <a:rPr lang="en-US" sz="2550" b="1">
                <a:solidFill>
                  <a:srgbClr val="A97B28"/>
                </a:solidFill>
                <a:latin typeface="Noto Sans SC"/>
                <a:ea typeface="Noto Sans SC"/>
              </a:rPr>
              <a:t>2</a:t>
            </a:r>
            <a:endParaRPr/>
          </a:p>
        </p:txBody>
      </p:sp>
      <p:sp>
        <p:nvSpPr>
          <p:cNvPr id="874" name="" descr="{&quot;isTemplate&quot;:true,&quot;type&quot;:&quot;text&quot;}"/>
          <p:cNvSpPr txBox="1"/>
          <p:nvPr/>
        </p:nvSpPr>
        <p:spPr>
          <a:xfrm rot="0" flipH="0" flipV="0">
            <a:off x="1352550" y="2676525"/>
            <a:ext cx="4476750" cy="190500"/>
          </a:xfrm>
          <a:prstGeom prst="rect"/>
        </p:spPr>
        <p:txBody>
          <a:bodyPr wrap="none" lIns="0" tIns="0" rIns="0" bIns="0"/>
          <a:p>
            <a:pPr>
              <a:lnSpc>
                <a:spcPct val="100000"/>
              </a:lnSpc>
            </a:pPr>
            <a:r>
              <a:rPr lang="zh-CN" sz="1200" b="1">
                <a:solidFill>
                  <a:srgbClr val="1B3557"/>
                </a:solidFill>
                <a:latin typeface="Noto Sans SC"/>
                <a:ea typeface="Noto Sans SC"/>
              </a:rPr>
              <a:t>修商品页：流量大、几乎不成交的</a:t>
            </a:r>
            <a:r>
              <a:rPr lang="en-US" sz="1200" b="1">
                <a:solidFill>
                  <a:srgbClr val="1B3557"/>
                </a:solidFill>
                <a:latin typeface="Noto Sans SC"/>
                <a:ea typeface="Noto Sans SC"/>
              </a:rPr>
              <a:t>4</a:t>
            </a: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个洗手盆</a:t>
            </a:r>
            <a:endParaRPr/>
          </a:p>
        </p:txBody>
      </p:sp>
      <p:sp>
        <p:nvSpPr>
          <p:cNvPr id="875" name="" descr="{&quot;isTemplate&quot;:true,&quot;type&quot;:&quot;text&quot;}"/>
          <p:cNvSpPr txBox="1"/>
          <p:nvPr/>
        </p:nvSpPr>
        <p:spPr>
          <a:xfrm rot="0" flipH="0" flipV="0">
            <a:off x="1352550" y="2924175"/>
            <a:ext cx="4476750" cy="219075"/>
          </a:xfrm>
          <a:prstGeom prst="rect"/>
        </p:spPr>
        <p:txBody>
          <a:bodyPr wrap="none" lIns="0" tIns="0" rIns="0" bIns="0"/>
          <a:p>
            <a:pPr>
              <a:lnSpc>
                <a:spcPct val="150000"/>
              </a:lnSpc>
            </a:pPr>
            <a:r>
              <a:rPr lang="zh-CN" sz="938">
                <a:solidFill>
                  <a:srgbClr val="5F6975"/>
                </a:solidFill>
                <a:latin typeface="Noto Sans SC"/>
                <a:ea typeface="Noto Sans SC"/>
              </a:rPr>
              <a:t>对象：盖文立柱盆、科塔挂墙盆、盖文储物立柱盆、科塔超窄边</a:t>
            </a:r>
            <a:endParaRPr/>
          </a:p>
        </p:txBody>
      </p:sp>
      <p:sp>
        <p:nvSpPr>
          <p:cNvPr id="876" name="" descr="{&quot;isTemplate&quot;:true,&quot;type&quot;:&quot;text&quot;}"/>
          <p:cNvSpPr txBox="1"/>
          <p:nvPr/>
        </p:nvSpPr>
        <p:spPr>
          <a:xfrm rot="0" flipH="0" flipV="0">
            <a:off x="6000750" y="2743200"/>
            <a:ext cx="1428750" cy="133350"/>
          </a:xfrm>
          <a:prstGeom prst="rect"/>
        </p:spPr>
        <p:txBody>
          <a:bodyPr wrap="none" lIns="0" tIns="0" rIns="0" bIns="0"/>
          <a:p>
            <a:pPr>
              <a:lnSpc>
                <a:spcPct val="100000"/>
              </a:lnSpc>
            </a:pPr>
            <a:r>
              <a:rPr lang="zh-CN" sz="863">
                <a:solidFill>
                  <a:srgbClr val="5F6975"/>
                </a:solidFill>
                <a:latin typeface="Noto Sans SC"/>
                <a:ea typeface="Noto Sans SC"/>
              </a:rPr>
              <a:t>负责人</a:t>
            </a:r>
            <a:endParaRPr/>
          </a:p>
        </p:txBody>
      </p:sp>
      <p:sp>
        <p:nvSpPr>
          <p:cNvPr id="877" name="" descr="{&quot;isTemplate&quot;:true,&quot;type&quot;:&quot;text&quot;}"/>
          <p:cNvSpPr txBox="1"/>
          <p:nvPr/>
        </p:nvSpPr>
        <p:spPr>
          <a:xfrm rot="0" flipH="0" flipV="0">
            <a:off x="6000750" y="2914650"/>
            <a:ext cx="1428750" cy="152400"/>
          </a:xfrm>
          <a:prstGeom prst="rect"/>
        </p:spPr>
        <p:txBody>
          <a:bodyPr wrap="none" lIns="0" tIns="0" rIns="0" bIns="0"/>
          <a:p>
            <a:pPr>
              <a:lnSpc>
                <a:spcPct val="100000"/>
              </a:lnSpc>
            </a:pPr>
            <a:r>
              <a:rPr lang="zh-CN" sz="975" b="1">
                <a:solidFill>
                  <a:srgbClr val="15181D"/>
                </a:solidFill>
                <a:latin typeface="Noto Sans SC"/>
                <a:ea typeface="Noto Sans SC"/>
              </a:rPr>
              <a:t>商品运营</a:t>
            </a:r>
            <a:endParaRPr/>
          </a:p>
        </p:txBody>
      </p:sp>
      <p:sp>
        <p:nvSpPr>
          <p:cNvPr id="878" name="" descr="{&quot;isTemplate&quot;:true,&quot;type&quot;:&quot;text&quot;}"/>
          <p:cNvSpPr txBox="1"/>
          <p:nvPr/>
        </p:nvSpPr>
        <p:spPr>
          <a:xfrm rot="0" flipH="0" flipV="0">
            <a:off x="7600950" y="2743200"/>
            <a:ext cx="857250" cy="133350"/>
          </a:xfrm>
          <a:prstGeom prst="rect"/>
        </p:spPr>
        <p:txBody>
          <a:bodyPr wrap="none" lIns="0" tIns="0" rIns="0" bIns="0"/>
          <a:p>
            <a:pPr>
              <a:lnSpc>
                <a:spcPct val="100000"/>
              </a:lnSpc>
            </a:pPr>
            <a:r>
              <a:rPr lang="zh-CN" sz="863">
                <a:solidFill>
                  <a:srgbClr val="5F6975"/>
                </a:solidFill>
                <a:latin typeface="Noto Sans SC"/>
                <a:ea typeface="Noto Sans SC"/>
              </a:rPr>
              <a:t>时间</a:t>
            </a:r>
            <a:endParaRPr/>
          </a:p>
        </p:txBody>
      </p:sp>
      <p:sp>
        <p:nvSpPr>
          <p:cNvPr id="879" name="" descr="{&quot;isTemplate&quot;:true,&quot;type&quot;:&quot;text&quot;}"/>
          <p:cNvSpPr txBox="1"/>
          <p:nvPr/>
        </p:nvSpPr>
        <p:spPr>
          <a:xfrm rot="0" flipH="0" flipV="0">
            <a:off x="7600950" y="2914650"/>
            <a:ext cx="857250" cy="152400"/>
          </a:xfrm>
          <a:prstGeom prst="rect"/>
        </p:spPr>
        <p:txBody>
          <a:bodyPr wrap="none" lIns="0" tIns="0" rIns="0" bIns="0"/>
          <a:p>
            <a:pPr>
              <a:lnSpc>
                <a:spcPct val="100000"/>
              </a:lnSpc>
            </a:pPr>
            <a:r>
              <a:rPr lang="zh-CN" sz="975" b="1">
                <a:solidFill>
                  <a:srgbClr val="15181D"/>
                </a:solidFill>
                <a:latin typeface="Noto Sans SC"/>
                <a:ea typeface="Noto Sans SC"/>
              </a:rPr>
              <a:t>两周内</a:t>
            </a:r>
            <a:endParaRPr/>
          </a:p>
        </p:txBody>
      </p:sp>
      <p:sp>
        <p:nvSpPr>
          <p:cNvPr id="880" name="" descr="{&quot;isTemplate&quot;:true,&quot;type&quot;:&quot;text&quot;}"/>
          <p:cNvSpPr txBox="1"/>
          <p:nvPr/>
        </p:nvSpPr>
        <p:spPr>
          <a:xfrm rot="0" flipH="0" flipV="0">
            <a:off x="8629650" y="2743200"/>
            <a:ext cx="2286000" cy="133350"/>
          </a:xfrm>
          <a:prstGeom prst="rect"/>
        </p:spPr>
        <p:txBody>
          <a:bodyPr wrap="none" lIns="0" tIns="0" rIns="0" bIns="0"/>
          <a:p>
            <a:pPr>
              <a:lnSpc>
                <a:spcPct val="100000"/>
              </a:lnSpc>
            </a:pPr>
            <a:r>
              <a:rPr lang="zh-CN" sz="863">
                <a:solidFill>
                  <a:srgbClr val="5F6975"/>
                </a:solidFill>
                <a:latin typeface="Noto Sans SC"/>
                <a:ea typeface="Noto Sans SC"/>
              </a:rPr>
              <a:t>验收数</a:t>
            </a:r>
            <a:endParaRPr/>
          </a:p>
        </p:txBody>
      </p:sp>
      <p:sp>
        <p:nvSpPr>
          <p:cNvPr id="881" name="" descr="{&quot;isTemplate&quot;:true,&quot;type&quot;:&quot;text&quot;}"/>
          <p:cNvSpPr txBox="1"/>
          <p:nvPr/>
        </p:nvSpPr>
        <p:spPr>
          <a:xfrm rot="0" flipH="0" flipV="0">
            <a:off x="8629650" y="2914650"/>
            <a:ext cx="2286000" cy="152400"/>
          </a:xfrm>
          <a:prstGeom prst="rect"/>
        </p:spPr>
        <p:txBody>
          <a:bodyPr wrap="none" lIns="0" tIns="0" rIns="0" bIns="0"/>
          <a:p>
            <a:pPr>
              <a:lnSpc>
                <a:spcPct val="100000"/>
              </a:lnSpc>
            </a:pPr>
            <a:r>
              <a:rPr lang="zh-CN" sz="975" b="1">
                <a:solidFill>
                  <a:srgbClr val="AE4128"/>
                </a:solidFill>
                <a:latin typeface="Noto Sans SC"/>
                <a:ea typeface="Noto Sans SC"/>
              </a:rPr>
              <a:t>加购率</a:t>
            </a:r>
            <a:r>
              <a:rPr lang="en-US" sz="975" b="1">
                <a:solidFill>
                  <a:srgbClr val="AE4128"/>
                </a:solidFill>
                <a:latin typeface="Noto Sans SC"/>
                <a:ea typeface="Noto Sans SC"/>
              </a:rPr>
              <a:t>1.30%</a:t>
            </a:r>
            <a:r>
              <a:rPr sz="975" b="1">
                <a:solidFill>
                  <a:srgbClr val="AE4128"/>
                </a:solidFill>
                <a:latin typeface="Noto Sans SC"/>
                <a:ea typeface="Noto Sans SC"/>
              </a:rPr>
              <a:t>→</a:t>
            </a:r>
            <a:r>
              <a:rPr lang="en-US" sz="975" b="1">
                <a:solidFill>
                  <a:srgbClr val="AE4128"/>
                </a:solidFill>
                <a:latin typeface="Noto Sans SC"/>
                <a:ea typeface="Noto Sans SC"/>
              </a:rPr>
              <a:t>2.00%</a:t>
            </a:r>
            <a:endParaRPr/>
          </a:p>
        </p:txBody>
      </p:sp>
      <p:sp>
        <p:nvSpPr>
          <p:cNvPr id="882" name=""/>
          <p:cNvSpPr/>
          <p:nvPr/>
        </p:nvSpPr>
        <p:spPr>
          <a:xfrm rot="0" flipH="0" flipV="0">
            <a:off x="609600" y="3581400"/>
            <a:ext cx="10972800" cy="1123950"/>
          </a:xfrm>
          <a:prstGeom prst="rect">
            <a:avLst/>
          </a:prstGeom>
          <a:solidFill>
            <a:srgbClr val="F4F6F8"/>
          </a:solidFill>
          <a:ln/>
        </p:spPr>
        <p:txBody>
          <a:bodyPr/>
          <a:p/>
        </p:txBody>
      </p:sp>
      <p:sp>
        <p:nvSpPr>
          <p:cNvPr id="883" name="" descr="{&quot;isTemplate&quot;:true,&quot;type&quot;:&quot;text&quot;}"/>
          <p:cNvSpPr txBox="1"/>
          <p:nvPr/>
        </p:nvSpPr>
        <p:spPr>
          <a:xfrm rot="0" flipH="0" flipV="0">
            <a:off x="800100" y="3952875"/>
            <a:ext cx="381000" cy="390525"/>
          </a:xfrm>
          <a:prstGeom prst="rect"/>
        </p:spPr>
        <p:txBody>
          <a:bodyPr wrap="none" lIns="0" tIns="0" rIns="0" bIns="0"/>
          <a:p>
            <a:pPr>
              <a:lnSpc>
                <a:spcPct val="100000"/>
              </a:lnSpc>
            </a:pPr>
            <a:r>
              <a:rPr lang="en-US" sz="2550" b="1">
                <a:solidFill>
                  <a:srgbClr val="A97B28"/>
                </a:solidFill>
                <a:latin typeface="Noto Sans SC"/>
                <a:ea typeface="Noto Sans SC"/>
              </a:rPr>
              <a:t>3</a:t>
            </a:r>
            <a:endParaRPr/>
          </a:p>
        </p:txBody>
      </p:sp>
      <p:sp>
        <p:nvSpPr>
          <p:cNvPr id="884" name="" descr="{&quot;isTemplate&quot;:true,&quot;type&quot;:&quot;text&quot;}"/>
          <p:cNvSpPr txBox="1"/>
          <p:nvPr/>
        </p:nvSpPr>
        <p:spPr>
          <a:xfrm rot="0" flipH="0" flipV="0">
            <a:off x="1352550" y="3914775"/>
            <a:ext cx="4476750" cy="190500"/>
          </a:xfrm>
          <a:prstGeom prst="rect"/>
        </p:spPr>
        <p:txBody>
          <a:bodyPr wrap="none" lIns="0" tIns="0" rIns="0" bIns="0"/>
          <a:p>
            <a:pPr>
              <a:lnSpc>
                <a:spcPct val="100000"/>
              </a:lnSpc>
            </a:pPr>
            <a:r>
              <a:rPr lang="zh-CN" sz="1200" b="1">
                <a:solidFill>
                  <a:srgbClr val="1B3557"/>
                </a:solidFill>
                <a:latin typeface="Noto Sans SC"/>
                <a:ea typeface="Noto Sans SC"/>
              </a:rPr>
              <a:t>挪流量：从最差</a:t>
            </a:r>
            <a:r>
              <a:rPr lang="en-US" sz="1200" b="1">
                <a:solidFill>
                  <a:srgbClr val="1B3557"/>
                </a:solidFill>
                <a:latin typeface="Noto Sans SC"/>
                <a:ea typeface="Noto Sans SC"/>
              </a:rPr>
              <a:t>4</a:t>
            </a: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家店调出来</a:t>
            </a:r>
            <a:endParaRPr/>
          </a:p>
        </p:txBody>
      </p:sp>
      <p:sp>
        <p:nvSpPr>
          <p:cNvPr id="885" name="" descr="{&quot;isTemplate&quot;:true,&quot;type&quot;:&quot;text&quot;}"/>
          <p:cNvSpPr txBox="1"/>
          <p:nvPr/>
        </p:nvSpPr>
        <p:spPr>
          <a:xfrm rot="0" flipH="0" flipV="0">
            <a:off x="1352550" y="4162425"/>
            <a:ext cx="4476750" cy="219075"/>
          </a:xfrm>
          <a:prstGeom prst="rect"/>
        </p:spPr>
        <p:txBody>
          <a:bodyPr wrap="none" lIns="0" tIns="0" rIns="0" bIns="0"/>
          <a:p>
            <a:pPr>
              <a:lnSpc>
                <a:spcPct val="150000"/>
              </a:lnSpc>
            </a:pPr>
            <a:r>
              <a:rPr lang="zh-CN" sz="938">
                <a:solidFill>
                  <a:srgbClr val="5F6975"/>
                </a:solidFill>
                <a:latin typeface="Noto Sans SC"/>
                <a:ea typeface="Noto Sans SC"/>
              </a:rPr>
              <a:t>对象：盖文全卫定制、</a:t>
            </a:r>
            <a:r>
              <a:rPr lang="en-US" sz="938">
                <a:solidFill>
                  <a:srgbClr val="5F6975"/>
                </a:solidFill>
                <a:latin typeface="Noto Sans SC"/>
                <a:ea typeface="Noto Sans SC"/>
              </a:rPr>
              <a:t>Paola Lenti</a:t>
            </a:r>
            <a:r>
              <a:rPr lang="zh-CN" sz="938">
                <a:solidFill>
                  <a:srgbClr val="5F6975"/>
                </a:solidFill>
                <a:latin typeface="Noto Sans SC"/>
                <a:ea typeface="Noto Sans SC"/>
              </a:rPr>
              <a:t>保拉伦蒂、网林全卫定制、科塔全卫定制</a:t>
            </a:r>
            <a:endParaRPr/>
          </a:p>
        </p:txBody>
      </p:sp>
      <p:sp>
        <p:nvSpPr>
          <p:cNvPr id="886" name="" descr="{&quot;isTemplate&quot;:true,&quot;type&quot;:&quot;text&quot;}"/>
          <p:cNvSpPr txBox="1"/>
          <p:nvPr/>
        </p:nvSpPr>
        <p:spPr>
          <a:xfrm rot="0" flipH="0" flipV="0">
            <a:off x="6000750" y="3981450"/>
            <a:ext cx="1428750" cy="133350"/>
          </a:xfrm>
          <a:prstGeom prst="rect"/>
        </p:spPr>
        <p:txBody>
          <a:bodyPr wrap="none" lIns="0" tIns="0" rIns="0" bIns="0"/>
          <a:p>
            <a:pPr>
              <a:lnSpc>
                <a:spcPct val="100000"/>
              </a:lnSpc>
            </a:pPr>
            <a:r>
              <a:rPr lang="zh-CN" sz="863">
                <a:solidFill>
                  <a:srgbClr val="5F6975"/>
                </a:solidFill>
                <a:latin typeface="Noto Sans SC"/>
                <a:ea typeface="Noto Sans SC"/>
              </a:rPr>
              <a:t>负责人</a:t>
            </a:r>
            <a:endParaRPr/>
          </a:p>
        </p:txBody>
      </p:sp>
      <p:sp>
        <p:nvSpPr>
          <p:cNvPr id="887" name="" descr="{&quot;isTemplate&quot;:true,&quot;type&quot;:&quot;text&quot;}"/>
          <p:cNvSpPr txBox="1"/>
          <p:nvPr/>
        </p:nvSpPr>
        <p:spPr>
          <a:xfrm rot="0" flipH="0" flipV="0">
            <a:off x="6000750" y="4152900"/>
            <a:ext cx="1428750" cy="152400"/>
          </a:xfrm>
          <a:prstGeom prst="rect"/>
        </p:spPr>
        <p:txBody>
          <a:bodyPr wrap="none" lIns="0" tIns="0" rIns="0" bIns="0"/>
          <a:p>
            <a:pPr>
              <a:lnSpc>
                <a:spcPct val="100000"/>
              </a:lnSpc>
            </a:pPr>
            <a:r>
              <a:rPr lang="zh-CN" sz="975" b="1">
                <a:solidFill>
                  <a:srgbClr val="15181D"/>
                </a:solidFill>
                <a:latin typeface="Noto Sans SC"/>
                <a:ea typeface="Noto Sans SC"/>
              </a:rPr>
              <a:t>店铺运营</a:t>
            </a:r>
            <a:endParaRPr/>
          </a:p>
        </p:txBody>
      </p:sp>
      <p:sp>
        <p:nvSpPr>
          <p:cNvPr id="888" name="" descr="{&quot;isTemplate&quot;:true,&quot;type&quot;:&quot;text&quot;}"/>
          <p:cNvSpPr txBox="1"/>
          <p:nvPr/>
        </p:nvSpPr>
        <p:spPr>
          <a:xfrm rot="0" flipH="0" flipV="0">
            <a:off x="7600950" y="3981450"/>
            <a:ext cx="857250" cy="133350"/>
          </a:xfrm>
          <a:prstGeom prst="rect"/>
        </p:spPr>
        <p:txBody>
          <a:bodyPr wrap="none" lIns="0" tIns="0" rIns="0" bIns="0"/>
          <a:p>
            <a:pPr>
              <a:lnSpc>
                <a:spcPct val="100000"/>
              </a:lnSpc>
            </a:pPr>
            <a:r>
              <a:rPr lang="zh-CN" sz="863">
                <a:solidFill>
                  <a:srgbClr val="5F6975"/>
                </a:solidFill>
                <a:latin typeface="Noto Sans SC"/>
                <a:ea typeface="Noto Sans SC"/>
              </a:rPr>
              <a:t>时间</a:t>
            </a:r>
            <a:endParaRPr/>
          </a:p>
        </p:txBody>
      </p:sp>
      <p:sp>
        <p:nvSpPr>
          <p:cNvPr id="889" name="" descr="{&quot;isTemplate&quot;:true,&quot;type&quot;:&quot;text&quot;}"/>
          <p:cNvSpPr txBox="1"/>
          <p:nvPr/>
        </p:nvSpPr>
        <p:spPr>
          <a:xfrm rot="0" flipH="0" flipV="0">
            <a:off x="7600950" y="4152900"/>
            <a:ext cx="857250" cy="152400"/>
          </a:xfrm>
          <a:prstGeom prst="rect"/>
        </p:spPr>
        <p:txBody>
          <a:bodyPr wrap="none" lIns="0" tIns="0" rIns="0" bIns="0"/>
          <a:p>
            <a:pPr>
              <a:lnSpc>
                <a:spcPct val="100000"/>
              </a:lnSpc>
            </a:pPr>
            <a:r>
              <a:rPr lang="zh-CN" sz="975" b="1">
                <a:solidFill>
                  <a:srgbClr val="15181D"/>
                </a:solidFill>
                <a:latin typeface="Noto Sans SC"/>
                <a:ea typeface="Noto Sans SC"/>
              </a:rPr>
              <a:t>两周内</a:t>
            </a:r>
            <a:endParaRPr/>
          </a:p>
        </p:txBody>
      </p:sp>
      <p:sp>
        <p:nvSpPr>
          <p:cNvPr id="890" name="" descr="{&quot;isTemplate&quot;:true,&quot;type&quot;:&quot;text&quot;}"/>
          <p:cNvSpPr txBox="1"/>
          <p:nvPr/>
        </p:nvSpPr>
        <p:spPr>
          <a:xfrm rot="0" flipH="0" flipV="0">
            <a:off x="8629650" y="3981450"/>
            <a:ext cx="2286000" cy="133350"/>
          </a:xfrm>
          <a:prstGeom prst="rect"/>
        </p:spPr>
        <p:txBody>
          <a:bodyPr wrap="none" lIns="0" tIns="0" rIns="0" bIns="0"/>
          <a:p>
            <a:pPr>
              <a:lnSpc>
                <a:spcPct val="100000"/>
              </a:lnSpc>
            </a:pPr>
            <a:r>
              <a:rPr lang="zh-CN" sz="863">
                <a:solidFill>
                  <a:srgbClr val="5F6975"/>
                </a:solidFill>
                <a:latin typeface="Noto Sans SC"/>
                <a:ea typeface="Noto Sans SC"/>
              </a:rPr>
              <a:t>验收数</a:t>
            </a:r>
            <a:endParaRPr/>
          </a:p>
        </p:txBody>
      </p:sp>
      <p:sp>
        <p:nvSpPr>
          <p:cNvPr id="891" name="" descr="{&quot;isTemplate&quot;:true,&quot;type&quot;:&quot;text&quot;}"/>
          <p:cNvSpPr txBox="1"/>
          <p:nvPr/>
        </p:nvSpPr>
        <p:spPr>
          <a:xfrm rot="0" flipH="0" flipV="0">
            <a:off x="8629650" y="4152900"/>
            <a:ext cx="2286000" cy="152400"/>
          </a:xfrm>
          <a:prstGeom prst="rect"/>
        </p:spPr>
        <p:txBody>
          <a:bodyPr wrap="none" lIns="0" tIns="0" rIns="0" bIns="0"/>
          <a:p>
            <a:pPr>
              <a:lnSpc>
                <a:spcPct val="100000"/>
              </a:lnSpc>
            </a:pPr>
            <a:r>
              <a:rPr lang="zh-CN" sz="975" b="1">
                <a:solidFill>
                  <a:srgbClr val="AE4128"/>
                </a:solidFill>
                <a:latin typeface="Noto Sans SC"/>
                <a:ea typeface="Noto Sans SC"/>
              </a:rPr>
              <a:t>每千次进店成交</a:t>
            </a:r>
            <a:r>
              <a:rPr lang="en-US" sz="975" b="1">
                <a:solidFill>
                  <a:srgbClr val="AE4128"/>
                </a:solidFill>
                <a:latin typeface="Noto Sans SC"/>
                <a:ea typeface="Noto Sans SC"/>
              </a:rPr>
              <a:t>1.6</a:t>
            </a:r>
            <a:r>
              <a:rPr sz="975" b="1">
                <a:solidFill>
                  <a:srgbClr val="AE4128"/>
                </a:solidFill>
                <a:latin typeface="Noto Sans SC"/>
                <a:ea typeface="Noto Sans SC"/>
              </a:rPr>
              <a:t>→</a:t>
            </a:r>
            <a:r>
              <a:rPr lang="en-US" sz="975" b="1">
                <a:solidFill>
                  <a:srgbClr val="AE4128"/>
                </a:solidFill>
                <a:latin typeface="Noto Sans SC"/>
                <a:ea typeface="Noto Sans SC"/>
              </a:rPr>
              <a:t>2.0</a:t>
            </a:r>
            <a:r>
              <a:rPr lang="en-US" sz="975" b="1">
                <a:solidFill>
                  <a:srgbClr val="AE4128"/>
                </a:solidFill>
                <a:latin typeface="Noto Sans SC"/>
                <a:ea typeface="Noto Sans SC"/>
              </a:rPr>
              <a:t xml:space="preserve"> </a:t>
            </a:r>
            <a:r>
              <a:rPr lang="zh-CN" sz="975" b="1">
                <a:solidFill>
                  <a:srgbClr val="AE4128"/>
                </a:solidFill>
                <a:latin typeface="Noto Sans SC"/>
                <a:ea typeface="Noto Sans SC"/>
              </a:rPr>
              <a:t>单</a:t>
            </a:r>
            <a:endParaRPr/>
          </a:p>
        </p:txBody>
      </p:sp>
      <p:sp>
        <p:nvSpPr>
          <p:cNvPr id="892" name=""/>
          <p:cNvSpPr/>
          <p:nvPr/>
        </p:nvSpPr>
        <p:spPr>
          <a:xfrm rot="0" flipH="0" flipV="0">
            <a:off x="609600" y="4819650"/>
            <a:ext cx="10972800" cy="1123950"/>
          </a:xfrm>
          <a:prstGeom prst="rect">
            <a:avLst/>
          </a:prstGeom>
          <a:solidFill>
            <a:srgbClr val="F4F6F8"/>
          </a:solidFill>
          <a:ln/>
        </p:spPr>
        <p:txBody>
          <a:bodyPr/>
          <a:p/>
        </p:txBody>
      </p:sp>
      <p:sp>
        <p:nvSpPr>
          <p:cNvPr id="893" name="" descr="{&quot;isTemplate&quot;:true,&quot;type&quot;:&quot;text&quot;}"/>
          <p:cNvSpPr txBox="1"/>
          <p:nvPr/>
        </p:nvSpPr>
        <p:spPr>
          <a:xfrm rot="0" flipH="0" flipV="0">
            <a:off x="800100" y="5191125"/>
            <a:ext cx="381000" cy="390525"/>
          </a:xfrm>
          <a:prstGeom prst="rect"/>
        </p:spPr>
        <p:txBody>
          <a:bodyPr wrap="none" lIns="0" tIns="0" rIns="0" bIns="0"/>
          <a:p>
            <a:pPr>
              <a:lnSpc>
                <a:spcPct val="100000"/>
              </a:lnSpc>
            </a:pPr>
            <a:r>
              <a:rPr lang="en-US" sz="2550" b="1">
                <a:solidFill>
                  <a:srgbClr val="A97B28"/>
                </a:solidFill>
                <a:latin typeface="Noto Sans SC"/>
                <a:ea typeface="Noto Sans SC"/>
              </a:rPr>
              <a:t>4</a:t>
            </a:r>
            <a:endParaRPr/>
          </a:p>
        </p:txBody>
      </p:sp>
      <p:sp>
        <p:nvSpPr>
          <p:cNvPr id="894" name="" descr="{&quot;isTemplate&quot;:true,&quot;type&quot;:&quot;text&quot;}"/>
          <p:cNvSpPr txBox="1"/>
          <p:nvPr/>
        </p:nvSpPr>
        <p:spPr>
          <a:xfrm rot="0" flipH="0" flipV="0">
            <a:off x="1352550" y="5153025"/>
            <a:ext cx="4476750" cy="190500"/>
          </a:xfrm>
          <a:prstGeom prst="rect"/>
        </p:spPr>
        <p:txBody>
          <a:bodyPr wrap="none" lIns="0" tIns="0" rIns="0" bIns="0"/>
          <a:p>
            <a:pPr>
              <a:lnSpc>
                <a:spcPct val="100000"/>
              </a:lnSpc>
            </a:pPr>
            <a:r>
              <a:rPr lang="zh-CN" sz="1200" b="1">
                <a:solidFill>
                  <a:srgbClr val="1B3557"/>
                </a:solidFill>
                <a:latin typeface="Noto Sans SC"/>
                <a:ea typeface="Noto Sans SC"/>
              </a:rPr>
              <a:t>并表：销售</a:t>
            </a:r>
            <a:r>
              <a:rPr lang="en-US" sz="1200" b="1">
                <a:solidFill>
                  <a:srgbClr val="1B3557"/>
                </a:solidFill>
                <a:latin typeface="Noto Sans SC"/>
                <a:ea typeface="Noto Sans SC"/>
              </a:rPr>
              <a:t>2</a:t>
            </a: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部</a:t>
            </a:r>
            <a:r>
              <a:rPr lang="en-US" sz="1200" b="1">
                <a:solidFill>
                  <a:srgbClr val="1B3557"/>
                </a:solidFill>
                <a:latin typeface="Noto Sans SC"/>
                <a:ea typeface="Noto Sans SC"/>
              </a:rPr>
              <a:t>5</a:t>
            </a:r>
            <a:r>
              <a:rPr lang="en-US" sz="1200" b="1">
                <a:solidFill>
                  <a:srgbClr val="1B3557"/>
                </a:solidFill>
                <a:latin typeface="Noto Sans SC"/>
                <a:ea typeface="Noto Sans SC"/>
              </a:rPr>
              <a:t xml:space="preserve"> </a:t>
            </a:r>
            <a:r>
              <a:rPr lang="zh-CN" sz="1200" b="1">
                <a:solidFill>
                  <a:srgbClr val="1B3557"/>
                </a:solidFill>
                <a:latin typeface="Noto Sans SC"/>
                <a:ea typeface="Noto Sans SC"/>
              </a:rPr>
              <a:t>家店接进同一张表</a:t>
            </a:r>
            <a:endParaRPr/>
          </a:p>
        </p:txBody>
      </p:sp>
      <p:sp>
        <p:nvSpPr>
          <p:cNvPr id="895" name="" descr="{&quot;isTemplate&quot;:true,&quot;type&quot;:&quot;text&quot;}"/>
          <p:cNvSpPr txBox="1"/>
          <p:nvPr/>
        </p:nvSpPr>
        <p:spPr>
          <a:xfrm rot="0" flipH="0" flipV="0">
            <a:off x="1352550" y="5400675"/>
            <a:ext cx="4476750" cy="219075"/>
          </a:xfrm>
          <a:prstGeom prst="rect"/>
        </p:spPr>
        <p:txBody>
          <a:bodyPr wrap="none" lIns="0" tIns="0" rIns="0" bIns="0"/>
          <a:p>
            <a:pPr>
              <a:lnSpc>
                <a:spcPct val="150000"/>
              </a:lnSpc>
            </a:pPr>
            <a:r>
              <a:rPr lang="zh-CN" sz="938">
                <a:solidFill>
                  <a:srgbClr val="5F6975"/>
                </a:solidFill>
                <a:latin typeface="Noto Sans SC"/>
                <a:ea typeface="Noto Sans SC"/>
              </a:rPr>
              <a:t>对象：销售</a:t>
            </a:r>
            <a:r>
              <a:rPr lang="en-US" sz="938">
                <a:solidFill>
                  <a:srgbClr val="5F6975"/>
                </a:solidFill>
                <a:latin typeface="Noto Sans SC"/>
                <a:ea typeface="Noto Sans SC"/>
              </a:rPr>
              <a:t>2</a:t>
            </a:r>
            <a:r>
              <a:rPr lang="en-US" sz="938">
                <a:solidFill>
                  <a:srgbClr val="5F6975"/>
                </a:solidFill>
                <a:latin typeface="Noto Sans SC"/>
                <a:ea typeface="Noto Sans SC"/>
              </a:rPr>
              <a:t xml:space="preserve"> </a:t>
            </a:r>
            <a:r>
              <a:rPr lang="zh-CN" sz="938">
                <a:solidFill>
                  <a:srgbClr val="5F6975"/>
                </a:solidFill>
                <a:latin typeface="Noto Sans SC"/>
                <a:ea typeface="Noto Sans SC"/>
              </a:rPr>
              <a:t>部</a:t>
            </a:r>
            <a:r>
              <a:rPr lang="en-US" sz="938">
                <a:solidFill>
                  <a:srgbClr val="5F6975"/>
                </a:solidFill>
                <a:latin typeface="Noto Sans SC"/>
                <a:ea typeface="Noto Sans SC"/>
              </a:rPr>
              <a:t>5</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家店（</a:t>
            </a:r>
            <a:r>
              <a:rPr lang="en-US" sz="938">
                <a:solidFill>
                  <a:srgbClr val="5F6975"/>
                </a:solidFill>
                <a:latin typeface="Noto Sans SC"/>
                <a:ea typeface="Noto Sans SC"/>
              </a:rPr>
              <a:t xml:space="preserve">Paola Lenti </a:t>
            </a:r>
            <a:r>
              <a:rPr lang="zh-CN" sz="938">
                <a:solidFill>
                  <a:srgbClr val="5F6975"/>
                </a:solidFill>
                <a:latin typeface="Noto Sans SC"/>
                <a:ea typeface="Noto Sans SC"/>
              </a:rPr>
              <a:t>保拉伦蒂、保拉伦蒂旗舰店等）</a:t>
            </a:r>
            <a:endParaRPr/>
          </a:p>
        </p:txBody>
      </p:sp>
      <p:sp>
        <p:nvSpPr>
          <p:cNvPr id="896" name="" descr="{&quot;isTemplate&quot;:true,&quot;type&quot;:&quot;text&quot;}"/>
          <p:cNvSpPr txBox="1"/>
          <p:nvPr/>
        </p:nvSpPr>
        <p:spPr>
          <a:xfrm rot="0" flipH="0" flipV="0">
            <a:off x="6000750" y="5219700"/>
            <a:ext cx="1428750" cy="133350"/>
          </a:xfrm>
          <a:prstGeom prst="rect"/>
        </p:spPr>
        <p:txBody>
          <a:bodyPr wrap="none" lIns="0" tIns="0" rIns="0" bIns="0"/>
          <a:p>
            <a:pPr>
              <a:lnSpc>
                <a:spcPct val="100000"/>
              </a:lnSpc>
            </a:pPr>
            <a:r>
              <a:rPr lang="zh-CN" sz="863">
                <a:solidFill>
                  <a:srgbClr val="5F6975"/>
                </a:solidFill>
                <a:latin typeface="Noto Sans SC"/>
                <a:ea typeface="Noto Sans SC"/>
              </a:rPr>
              <a:t>负责人</a:t>
            </a:r>
            <a:endParaRPr/>
          </a:p>
        </p:txBody>
      </p:sp>
      <p:sp>
        <p:nvSpPr>
          <p:cNvPr id="897" name="" descr="{&quot;isTemplate&quot;:true,&quot;type&quot;:&quot;text&quot;}"/>
          <p:cNvSpPr txBox="1"/>
          <p:nvPr/>
        </p:nvSpPr>
        <p:spPr>
          <a:xfrm rot="0" flipH="0" flipV="0">
            <a:off x="6000750" y="5391150"/>
            <a:ext cx="1428750" cy="152400"/>
          </a:xfrm>
          <a:prstGeom prst="rect"/>
        </p:spPr>
        <p:txBody>
          <a:bodyPr wrap="none" lIns="0" tIns="0" rIns="0" bIns="0"/>
          <a:p>
            <a:pPr>
              <a:lnSpc>
                <a:spcPct val="100000"/>
              </a:lnSpc>
            </a:pPr>
            <a:r>
              <a:rPr lang="zh-CN" sz="975" b="1">
                <a:solidFill>
                  <a:srgbClr val="15181D"/>
                </a:solidFill>
                <a:latin typeface="Noto Sans SC"/>
                <a:ea typeface="Noto Sans SC"/>
              </a:rPr>
              <a:t>数据负责人</a:t>
            </a:r>
            <a:r>
              <a:rPr lang="en-US" sz="975" b="1">
                <a:solidFill>
                  <a:srgbClr val="15181D"/>
                </a:solidFill>
                <a:latin typeface="Noto Sans SC"/>
                <a:ea typeface="Noto Sans SC"/>
              </a:rPr>
              <a:t>+</a:t>
            </a:r>
            <a:r>
              <a:rPr lang="en-US" sz="975" b="1">
                <a:solidFill>
                  <a:srgbClr val="15181D"/>
                </a:solidFill>
                <a:latin typeface="Noto Sans SC"/>
                <a:ea typeface="Noto Sans SC"/>
              </a:rPr>
              <a:t xml:space="preserve"> </a:t>
            </a:r>
            <a:r>
              <a:rPr lang="zh-CN" sz="975" b="1">
                <a:solidFill>
                  <a:srgbClr val="15181D"/>
                </a:solidFill>
                <a:latin typeface="Noto Sans SC"/>
                <a:ea typeface="Noto Sans SC"/>
              </a:rPr>
              <a:t>销售</a:t>
            </a:r>
            <a:r>
              <a:rPr lang="en-US" sz="975" b="1">
                <a:solidFill>
                  <a:srgbClr val="15181D"/>
                </a:solidFill>
                <a:latin typeface="Noto Sans SC"/>
                <a:ea typeface="Noto Sans SC"/>
              </a:rPr>
              <a:t>2</a:t>
            </a:r>
            <a:r>
              <a:rPr lang="en-US" sz="975" b="1">
                <a:solidFill>
                  <a:srgbClr val="15181D"/>
                </a:solidFill>
                <a:latin typeface="Noto Sans SC"/>
                <a:ea typeface="Noto Sans SC"/>
              </a:rPr>
              <a:t xml:space="preserve"> </a:t>
            </a:r>
            <a:r>
              <a:rPr lang="zh-CN" sz="975" b="1">
                <a:solidFill>
                  <a:srgbClr val="15181D"/>
                </a:solidFill>
                <a:latin typeface="Noto Sans SC"/>
                <a:ea typeface="Noto Sans SC"/>
              </a:rPr>
              <a:t>部</a:t>
            </a:r>
            <a:endParaRPr/>
          </a:p>
        </p:txBody>
      </p:sp>
      <p:sp>
        <p:nvSpPr>
          <p:cNvPr id="898" name="" descr="{&quot;isTemplate&quot;:true,&quot;type&quot;:&quot;text&quot;}"/>
          <p:cNvSpPr txBox="1"/>
          <p:nvPr/>
        </p:nvSpPr>
        <p:spPr>
          <a:xfrm rot="0" flipH="0" flipV="0">
            <a:off x="7600950" y="5219700"/>
            <a:ext cx="857250" cy="133350"/>
          </a:xfrm>
          <a:prstGeom prst="rect"/>
        </p:spPr>
        <p:txBody>
          <a:bodyPr wrap="none" lIns="0" tIns="0" rIns="0" bIns="0"/>
          <a:p>
            <a:pPr>
              <a:lnSpc>
                <a:spcPct val="100000"/>
              </a:lnSpc>
            </a:pPr>
            <a:r>
              <a:rPr lang="zh-CN" sz="863">
                <a:solidFill>
                  <a:srgbClr val="5F6975"/>
                </a:solidFill>
                <a:latin typeface="Noto Sans SC"/>
                <a:ea typeface="Noto Sans SC"/>
              </a:rPr>
              <a:t>时间</a:t>
            </a:r>
            <a:endParaRPr/>
          </a:p>
        </p:txBody>
      </p:sp>
      <p:sp>
        <p:nvSpPr>
          <p:cNvPr id="899" name="" descr="{&quot;isTemplate&quot;:true,&quot;type&quot;:&quot;text&quot;}"/>
          <p:cNvSpPr txBox="1"/>
          <p:nvPr/>
        </p:nvSpPr>
        <p:spPr>
          <a:xfrm rot="0" flipH="0" flipV="0">
            <a:off x="7600950" y="5391150"/>
            <a:ext cx="857250" cy="152400"/>
          </a:xfrm>
          <a:prstGeom prst="rect"/>
        </p:spPr>
        <p:txBody>
          <a:bodyPr wrap="none" lIns="0" tIns="0" rIns="0" bIns="0"/>
          <a:p>
            <a:pPr>
              <a:lnSpc>
                <a:spcPct val="100000"/>
              </a:lnSpc>
            </a:pPr>
            <a:r>
              <a:rPr lang="zh-CN" sz="975" b="1">
                <a:solidFill>
                  <a:srgbClr val="15181D"/>
                </a:solidFill>
                <a:latin typeface="Noto Sans SC"/>
                <a:ea typeface="Noto Sans SC"/>
              </a:rPr>
              <a:t>本周内约</a:t>
            </a:r>
            <a:endParaRPr/>
          </a:p>
        </p:txBody>
      </p:sp>
      <p:sp>
        <p:nvSpPr>
          <p:cNvPr id="900" name="" descr="{&quot;isTemplate&quot;:true,&quot;type&quot;:&quot;text&quot;}"/>
          <p:cNvSpPr txBox="1"/>
          <p:nvPr/>
        </p:nvSpPr>
        <p:spPr>
          <a:xfrm rot="0" flipH="0" flipV="0">
            <a:off x="8629650" y="5219700"/>
            <a:ext cx="2286000" cy="133350"/>
          </a:xfrm>
          <a:prstGeom prst="rect"/>
        </p:spPr>
        <p:txBody>
          <a:bodyPr wrap="none" lIns="0" tIns="0" rIns="0" bIns="0"/>
          <a:p>
            <a:pPr>
              <a:lnSpc>
                <a:spcPct val="100000"/>
              </a:lnSpc>
            </a:pPr>
            <a:r>
              <a:rPr lang="zh-CN" sz="863">
                <a:solidFill>
                  <a:srgbClr val="5F6975"/>
                </a:solidFill>
                <a:latin typeface="Noto Sans SC"/>
                <a:ea typeface="Noto Sans SC"/>
              </a:rPr>
              <a:t>验收数</a:t>
            </a:r>
            <a:endParaRPr/>
          </a:p>
        </p:txBody>
      </p:sp>
      <p:sp>
        <p:nvSpPr>
          <p:cNvPr id="901" name="" descr="{&quot;isTemplate&quot;:true,&quot;type&quot;:&quot;text&quot;}"/>
          <p:cNvSpPr txBox="1"/>
          <p:nvPr/>
        </p:nvSpPr>
        <p:spPr>
          <a:xfrm rot="0" flipH="0" flipV="0">
            <a:off x="8629650" y="5391150"/>
            <a:ext cx="2286000" cy="152400"/>
          </a:xfrm>
          <a:prstGeom prst="rect"/>
        </p:spPr>
        <p:txBody>
          <a:bodyPr wrap="none" lIns="0" tIns="0" rIns="0" bIns="0"/>
          <a:p>
            <a:pPr>
              <a:lnSpc>
                <a:spcPct val="100000"/>
              </a:lnSpc>
            </a:pPr>
            <a:r>
              <a:rPr lang="en-US" sz="975" b="1">
                <a:solidFill>
                  <a:srgbClr val="AE4128"/>
                </a:solidFill>
                <a:latin typeface="Noto Sans SC"/>
                <a:ea typeface="Noto Sans SC"/>
              </a:rPr>
              <a:t>5</a:t>
            </a:r>
            <a:r>
              <a:rPr lang="en-US" sz="975" b="1">
                <a:solidFill>
                  <a:srgbClr val="AE4128"/>
                </a:solidFill>
                <a:latin typeface="Noto Sans SC"/>
                <a:ea typeface="Noto Sans SC"/>
              </a:rPr>
              <a:t xml:space="preserve"> </a:t>
            </a:r>
            <a:r>
              <a:rPr lang="zh-CN" sz="975" b="1">
                <a:solidFill>
                  <a:srgbClr val="AE4128"/>
                </a:solidFill>
                <a:latin typeface="Noto Sans SC"/>
                <a:ea typeface="Noto Sans SC"/>
              </a:rPr>
              <a:t>家并进同一张表、口径一致</a:t>
            </a:r>
            <a:endParaRPr/>
          </a:p>
        </p:txBody>
      </p:sp>
      <p:sp>
        <p:nvSpPr>
          <p:cNvPr id="902"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903"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09</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10.xml><?xml version="1.0" encoding="utf-8"?>
<p:sld xmlns:p="http://schemas.openxmlformats.org/presentationml/2006/main" xmlns:a="http://schemas.openxmlformats.org/drawingml/2006/main">
  <p:cSld>
    <p:spTree>
      <p:nvGrpSpPr>
        <p:cNvPr id="20" name="" descr="&lt;Slide style={{ width: '1280px', height: '720px', background: '#FFFFFF', fontFamily: 'Noto Sans SC', padding: '20px 64px', flexDirection: 'column' }}&gt;&lt;Box style={{ height: '96px', flexDirection: 'column', justifyContent: 'center' }}&gt;&lt;Text style={{ fontSize: '31px', fontWeight: 700, color: '#1B3557', lineHeight: 1.25 }}&gt;两周后，用这五个数验收&lt;/Text&gt;&lt;Text style={{ fontSize: '15px', color: '#5F6975', lineHeight: 1.4, marginTop: '6px' }}&gt;这些是提议值，可以改；但必须可量、有期限、有人看。&lt;/Text&gt;&lt;/Box&gt;&lt;Box style={{ height: '540px', flexDirection: 'column' }}&gt;&lt;Box style={{ flexDirection: 'row', alignItems: 'center', height: '40px', width: '1152px', justifyContent: 'space-between', background: '#1B3557', borderBottom: '1px solid #DDE2E8',  paddingLeft: '8px', paddingRight: '8px' }}&gt;&lt;Box style={{ width: '300px', flexDirection: 'row', justifyContent: 'flex-start', alignItems: 'center' }}&gt;&lt;Text style={{ fontSize: '12px', color: '#FFFFFF', fontWeight: 700 }}&gt;指标&lt;/Text&gt;&lt;/Box&gt;&lt;Box style={{ width: '150px', flexDirection: 'row', justifyContent: 'flex-end', alignItems: 'center' }}&gt;&lt;Text style={{ fontSize: '12px', color: '#FFFFFF', fontWeight: 700 }}&gt;现在&lt;/Text&gt;&lt;/Box&gt;&lt;Box style={{ width: '150px', flexDirection: 'row', justifyContent: 'flex-end', alignItems: 'center' }}&gt;&lt;Text style={{ fontSize: '12px', color: '#FFFFFF', fontWeight: 700 }}&gt;两周后&lt;/Text&gt;&lt;/Box&gt;&lt;Box style={{ width: '480px', flexDirection: 'row', justifyContent: 'flex-end', alignItems: 'center' }}&gt;&lt;Text style={{ fontSize: '12px', color: '#FFFFFF', fontWeight: 700 }}&gt;依据{'/'} 怎么动&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每千次进店成交&lt;/Text&gt;&lt;/Box&gt;&lt;Box style={{ width: '150px', flexDirection: 'row', justifyContent: 'flex-end', alignItems: 'center' }}&gt;&lt;Text style={{ fontSize: '12.5px', color: '#5F6975', fontWeight: 400 }}&gt;{'1.6'} 单&lt;/Text&gt;&lt;/Box&gt;&lt;Box style={{ width: '150px', flexDirection: 'row', justifyContent: 'flex-end', alignItems: 'center' }}&gt;&lt;Text style={{ fontSize: '12.5px', color: '#AE4128', fontWeight: 700 }}&gt;{'2.0'} 单&lt;/Text&gt;&lt;/Box&gt;&lt;Box style={{ width: '480px', flexDirection: 'row', justifyContent: 'flex-end', alignItems: 'center' }}&gt;&lt;Text style={{ fontSize: '12.5px', color: '#5F6975', fontWeight: 400 }}&gt;把流量从最差{'4'} 家店挪出来&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洗手盆加购率&lt;/Text&gt;&lt;/Box&gt;&lt;Box style={{ width: '150px', flexDirection: 'row', justifyContent: 'flex-end', alignItems: 'center' }}&gt;&lt;Text style={{ fontSize: '12.5px', color: '#5F6975', fontWeight: 400 }}&gt;{'1.30%'}&lt;/Text&gt;&lt;/Box&gt;&lt;Box style={{ width: '150px', flexDirection: 'row', justifyContent: 'flex-end', alignItems: 'center' }}&gt;&lt;Text style={{ fontSize: '12.5px', color: '#AE4128', fontWeight: 700 }}&gt;{'2.00%'}&lt;/Text&gt;&lt;/Box&gt;&lt;Box style={{ width: '480px', flexDirection: 'row', justifyContent: 'flex-end', alignItems: 'center' }}&gt;&lt;Text style={{ fontSize: '12.5px', color: '#5F6975', fontWeight: 400 }}&gt;补{'0.7'} 个百分点＝多{'612'} 次加购&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推广每{'1'} 元成交&lt;/Text&gt;&lt;/Box&gt;&lt;Box style={{ width: '150px', flexDirection: 'row', justifyContent: 'flex-end', alignItems: 'center' }}&gt;&lt;Text style={{ fontSize: '12.5px', color: '#5F6975', fontWeight: 400 }}&gt;{'3.22'} 倍&lt;/Text&gt;&lt;/Box&gt;&lt;Box style={{ width: '150px', flexDirection: 'row', justifyContent: 'flex-end', alignItems: 'center' }}&gt;&lt;Text style={{ fontSize: '12.5px', color: '#AE4128', fontWeight: 700 }}&gt;{'4.00'} 倍&lt;/Text&gt;&lt;/Box&gt;&lt;Box style={{ width: '480px', flexDirection: 'row', justifyContent: 'flex-end', alignItems: 'center' }}&gt;&lt;Text style={{ fontSize: '12.5px', color: '#5F6975', fontWeight: 400 }}&gt;停投那{'72'} 个零成交商品&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低效推广花费占比&lt;/Text&gt;&lt;/Box&gt;&lt;Box style={{ width: '150px', flexDirection: 'row', justifyContent: 'flex-end', alignItems: 'center' }}&gt;&lt;Text style={{ fontSize: '12.5px', color: '#5F6975', fontWeight: 400 }}&gt;{'62.2%'}&lt;/Text&gt;&lt;/Box&gt;&lt;Box style={{ width: '150px', flexDirection: 'row', justifyContent: 'flex-end', alignItems: 'center' }}&gt;&lt;Text style={{ fontSize: '12.5px', color: '#AE4128', fontWeight: 700 }}&gt;{'≤'}{'40%'}&lt;/Text&gt;&lt;/Box&gt;&lt;Box style={{ width: '480px', flexDirection: 'row', justifyContent: 'flex-end', alignItems: 'center' }}&gt;&lt;Text style={{ fontSize: '12.5px', color: '#5F6975', fontWeight: 400 }}&gt;低效预算砍一半（{'8,580'} 元）&lt;/Text&gt;&lt;/Box&gt;&lt;/Box&gt;&lt;Box style={{ flexDirection: 'row', alignItems: 'center', height: '72px', width: '1152px', justifyContent: 'space-between', background: 'transparent', borderBottom: '1px solid #DDE2E8',  paddingLeft: '8px', paddingRight: '8px' }}&gt;&lt;Box style={{ width: '300px', flexDirection: 'row', justifyContent: 'flex-start', alignItems: 'center' }}&gt;&lt;Text style={{ fontSize: '12.5px', color: '#15181D', fontWeight: 700 }}&gt;商品层成交（{'18'} 天）&lt;/Text&gt;&lt;/Box&gt;&lt;Box style={{ width: '150px', flexDirection: 'row', justifyContent: 'flex-end', alignItems: 'center' }}&gt;&lt;Text style={{ fontSize: '12.5px', color: '#5F6975', fontWeight: 400 }}&gt;{'28.0'}万元&lt;/Text&gt;&lt;/Box&gt;&lt;Box style={{ width: '150px', flexDirection: 'row', justifyContent: 'flex-end', alignItems: 'center' }}&gt;&lt;Text style={{ fontSize: '12.5px', color: '#AE4128', fontWeight: 700 }}&gt;{'32'} 万元&lt;/Text&gt;&lt;/Box&gt;&lt;Box style={{ width: '480px', flexDirection: 'row', justifyContent: 'flex-end', alignItems: 'center' }}&gt;&lt;Text style={{ fontSize: '12.5px', color: '#5F6975', fontWeight: 400 }}&gt;静态上限{'35.8'}万元，先按{'32'} 万报&lt;/Text&gt;&lt;/Box&gt;&lt;/Box&gt;&lt;Box style={{ background: '#F4F6F8', borderLeft: '4px solid #A97B28', padding: '18px 22px', marginTop: '22px' }}&gt;&lt;Text style={{ fontSize: '15px', color: '#15181D', lineHeight: 1.6 }}&gt; 五个数都在现有报表里能直接读出来，不需要新建口径。两周后拿这五个数对一次，就知道试跑成不成。&lt;/Text&gt;&lt;/Box&gt;&lt;/Box&gt;&lt;Box style={{ height: '40px', flexDirection: 'row', justifyContent: 'space-between', alignItems: 'center' }}&gt;&lt;Text style={{ fontSize: '13px', color: '#5F6975' }}&gt;经营数据诊断{'·'}{'2026-10-20'}&lt;/Text&gt;&lt;Text style={{ fontSize: '13px', color: '#5F6975' }}&gt;{'10'}{'/'}{'13'}&lt;/Text&gt;&lt;/Box&gt;&lt;/Slide&gt;&#10;"/>
        <p:cNvGrpSpPr/>
        <p:nvPr/>
      </p:nvGrpSpPr>
      <p:grpSpPr>
        <a:xfrm>
          <a:off x="0" y="0"/>
          <a:ext cx="0" cy="0"/>
          <a:chOff x="0" y="0"/>
          <a:chExt cx="0" cy="0"/>
        </a:xfrm>
      </p:grpSpPr>
      <p:sp>
        <p:nvSpPr>
          <p:cNvPr id="21" name=""/>
          <p:cNvSpPr/>
          <p:nvPr/>
        </p:nvSpPr>
        <p:spPr>
          <a:xfrm rot="0" flipH="0" flipV="0">
            <a:off x="0" y="0"/>
            <a:ext cx="12192000" cy="6858000"/>
          </a:xfrm>
          <a:prstGeom prst="rect">
            <a:avLst/>
          </a:prstGeom>
          <a:solidFill>
            <a:srgbClr val="FFFFFF"/>
          </a:solidFill>
          <a:ln/>
        </p:spPr>
        <p:txBody>
          <a:bodyPr/>
          <a:p/>
        </p:txBody>
      </p:sp>
      <p:sp>
        <p:nvSpPr>
          <p:cNvPr id="22"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两周后，用这五个数验收</a:t>
            </a:r>
            <a:endParaRPr/>
          </a:p>
        </p:txBody>
      </p:sp>
      <p:sp>
        <p:nvSpPr>
          <p:cNvPr id="23"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这些是提议值，可以改；但必须可量、有期限、有人看。</a:t>
            </a:r>
            <a:endParaRPr/>
          </a:p>
        </p:txBody>
      </p:sp>
      <p:sp>
        <p:nvSpPr>
          <p:cNvPr id="24" name=""/>
          <p:cNvSpPr/>
          <p:nvPr/>
        </p:nvSpPr>
        <p:spPr>
          <a:xfrm rot="0" flipH="0" flipV="0">
            <a:off x="609600" y="1104900"/>
            <a:ext cx="10972800" cy="371475"/>
          </a:xfrm>
          <a:prstGeom prst="rect">
            <a:avLst/>
          </a:prstGeom>
          <a:solidFill>
            <a:srgbClr val="1B3557"/>
          </a:solidFill>
          <a:ln/>
        </p:spPr>
        <p:txBody>
          <a:bodyPr/>
          <a:p/>
        </p:txBody>
      </p:sp>
      <p:sp>
        <p:nvSpPr>
          <p:cNvPr id="25" name=""/>
          <p:cNvSpPr/>
          <p:nvPr/>
        </p:nvSpPr>
        <p:spPr>
          <a:xfrm rot="0" flipH="0" flipV="0">
            <a:off x="609600" y="1104900"/>
            <a:ext cx="10972800" cy="381000"/>
          </a:xfrm>
          <a:custGeom>
            <a:pathLst>
              <a:path w="1152" h="40">
                <a:moveTo>
                  <a:pt x="0" y="39"/>
                </a:moveTo>
                <a:lnTo>
                  <a:pt x="1152" y="39"/>
                </a:lnTo>
                <a:lnTo>
                  <a:pt x="1152" y="40"/>
                </a:lnTo>
                <a:lnTo>
                  <a:pt x="0" y="40"/>
                </a:lnTo>
                <a:close/>
              </a:path>
            </a:pathLst>
          </a:custGeom>
          <a:solidFill>
            <a:srgbClr val="DDE2E8"/>
          </a:solidFill>
          <a:ln/>
        </p:spPr>
        <p:txBody>
          <a:bodyPr/>
          <a:p/>
        </p:txBody>
      </p:sp>
      <p:sp>
        <p:nvSpPr>
          <p:cNvPr id="26" name="" descr="{&quot;isTemplate&quot;:true,&quot;type&quot;:&quot;text&quot;}"/>
          <p:cNvSpPr txBox="1"/>
          <p:nvPr/>
        </p:nvSpPr>
        <p:spPr>
          <a:xfrm rot="0" flipH="0" flipV="0">
            <a:off x="685800" y="1219200"/>
            <a:ext cx="228600" cy="142875"/>
          </a:xfrm>
          <a:prstGeom prst="rect"/>
        </p:spPr>
        <p:txBody>
          <a:bodyPr wrap="none" lIns="0" tIns="0" rIns="0" bIns="0"/>
          <a:p>
            <a:pPr>
              <a:lnSpc>
                <a:spcPct val="100000"/>
              </a:lnSpc>
            </a:pPr>
            <a:r>
              <a:rPr lang="zh-CN" sz="900" b="1">
                <a:solidFill>
                  <a:srgbClr val="FFFFFF"/>
                </a:solidFill>
                <a:latin typeface="Noto Sans SC"/>
                <a:ea typeface="Noto Sans SC"/>
              </a:rPr>
              <a:t>指标</a:t>
            </a:r>
            <a:endParaRPr/>
          </a:p>
        </p:txBody>
      </p:sp>
      <p:sp>
        <p:nvSpPr>
          <p:cNvPr id="27" name="" descr="{&quot;isTemplate&quot;:true,&quot;type&quot;:&quot;text&quot;}"/>
          <p:cNvSpPr txBox="1"/>
          <p:nvPr/>
        </p:nvSpPr>
        <p:spPr>
          <a:xfrm rot="0" flipH="0" flipV="0">
            <a:off x="4924425" y="1219200"/>
            <a:ext cx="228600" cy="142875"/>
          </a:xfrm>
          <a:prstGeom prst="rect"/>
        </p:spPr>
        <p:txBody>
          <a:bodyPr wrap="none" lIns="0" tIns="0" rIns="0" bIns="0"/>
          <a:p>
            <a:pPr>
              <a:lnSpc>
                <a:spcPct val="100000"/>
              </a:lnSpc>
            </a:pPr>
            <a:r>
              <a:rPr lang="zh-CN" sz="900" b="1">
                <a:solidFill>
                  <a:srgbClr val="FFFFFF"/>
                </a:solidFill>
                <a:latin typeface="Noto Sans SC"/>
                <a:ea typeface="Noto Sans SC"/>
              </a:rPr>
              <a:t>现在</a:t>
            </a:r>
            <a:endParaRPr/>
          </a:p>
        </p:txBody>
      </p:sp>
      <p:sp>
        <p:nvSpPr>
          <p:cNvPr id="28" name="" descr="{&quot;isTemplate&quot;:true,&quot;type&quot;:&quot;text&quot;}"/>
          <p:cNvSpPr txBox="1"/>
          <p:nvPr/>
        </p:nvSpPr>
        <p:spPr>
          <a:xfrm rot="0" flipH="0" flipV="0">
            <a:off x="6410325" y="1219200"/>
            <a:ext cx="342900" cy="142875"/>
          </a:xfrm>
          <a:prstGeom prst="rect"/>
        </p:spPr>
        <p:txBody>
          <a:bodyPr wrap="none" lIns="0" tIns="0" rIns="0" bIns="0"/>
          <a:p>
            <a:pPr>
              <a:lnSpc>
                <a:spcPct val="100000"/>
              </a:lnSpc>
            </a:pPr>
            <a:r>
              <a:rPr lang="zh-CN" sz="900" b="1">
                <a:solidFill>
                  <a:srgbClr val="FFFFFF"/>
                </a:solidFill>
                <a:latin typeface="Noto Sans SC"/>
                <a:ea typeface="Noto Sans SC"/>
              </a:rPr>
              <a:t>两周后</a:t>
            </a:r>
            <a:endParaRPr/>
          </a:p>
        </p:txBody>
      </p:sp>
      <p:sp>
        <p:nvSpPr>
          <p:cNvPr id="29" name="" descr="{&quot;isTemplate&quot;:true,&quot;type&quot;:&quot;text&quot;}"/>
          <p:cNvSpPr txBox="1"/>
          <p:nvPr/>
        </p:nvSpPr>
        <p:spPr>
          <a:xfrm rot="0" flipH="0" flipV="0">
            <a:off x="10858500" y="1219200"/>
            <a:ext cx="647700" cy="142875"/>
          </a:xfrm>
          <a:prstGeom prst="rect"/>
        </p:spPr>
        <p:txBody>
          <a:bodyPr wrap="none" lIns="0" tIns="0" rIns="0" bIns="0"/>
          <a:p>
            <a:pPr>
              <a:lnSpc>
                <a:spcPct val="100000"/>
              </a:lnSpc>
            </a:pPr>
            <a:r>
              <a:rPr lang="zh-CN" sz="900" b="1">
                <a:solidFill>
                  <a:srgbClr val="FFFFFF"/>
                </a:solidFill>
                <a:latin typeface="Noto Sans SC"/>
                <a:ea typeface="Noto Sans SC"/>
              </a:rPr>
              <a:t>依据</a:t>
            </a:r>
            <a:r>
              <a:rPr lang="en-US" sz="900" b="1">
                <a:solidFill>
                  <a:srgbClr val="FFFFFF"/>
                </a:solidFill>
                <a:latin typeface="Noto Sans SC"/>
                <a:ea typeface="Noto Sans SC"/>
              </a:rPr>
              <a:t>/</a:t>
            </a:r>
            <a:r>
              <a:rPr lang="en-US" sz="900" b="1">
                <a:solidFill>
                  <a:srgbClr val="FFFFFF"/>
                </a:solidFill>
                <a:latin typeface="Noto Sans SC"/>
                <a:ea typeface="Noto Sans SC"/>
              </a:rPr>
              <a:t xml:space="preserve"> </a:t>
            </a:r>
            <a:r>
              <a:rPr lang="zh-CN" sz="900" b="1">
                <a:solidFill>
                  <a:srgbClr val="FFFFFF"/>
                </a:solidFill>
                <a:latin typeface="Noto Sans SC"/>
                <a:ea typeface="Noto Sans SC"/>
              </a:rPr>
              <a:t>怎么动</a:t>
            </a:r>
            <a:endParaRPr/>
          </a:p>
        </p:txBody>
      </p:sp>
      <p:sp>
        <p:nvSpPr>
          <p:cNvPr id="30" name=""/>
          <p:cNvSpPr/>
          <p:nvPr/>
        </p:nvSpPr>
        <p:spPr>
          <a:xfrm rot="0" flipH="0" flipV="0">
            <a:off x="609600" y="14859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31" name="" descr="{&quot;isTemplate&quot;:true,&quot;type&quot;:&quot;text&quot;}"/>
          <p:cNvSpPr txBox="1"/>
          <p:nvPr/>
        </p:nvSpPr>
        <p:spPr>
          <a:xfrm rot="0" flipH="0" flipV="0">
            <a:off x="685800" y="1752600"/>
            <a:ext cx="838200" cy="142875"/>
          </a:xfrm>
          <a:prstGeom prst="rect"/>
        </p:spPr>
        <p:txBody>
          <a:bodyPr wrap="none" lIns="0" tIns="0" rIns="0" bIns="0"/>
          <a:p>
            <a:pPr>
              <a:lnSpc>
                <a:spcPct val="100000"/>
              </a:lnSpc>
            </a:pPr>
            <a:r>
              <a:rPr lang="zh-CN" sz="938" b="1">
                <a:solidFill>
                  <a:srgbClr val="15181D"/>
                </a:solidFill>
                <a:latin typeface="Noto Sans SC"/>
                <a:ea typeface="Noto Sans SC"/>
              </a:rPr>
              <a:t>每千次进店成交</a:t>
            </a:r>
            <a:endParaRPr/>
          </a:p>
        </p:txBody>
      </p:sp>
      <p:sp>
        <p:nvSpPr>
          <p:cNvPr id="32" name="" descr="{&quot;isTemplate&quot;:true,&quot;type&quot;:&quot;text&quot;}"/>
          <p:cNvSpPr txBox="1"/>
          <p:nvPr/>
        </p:nvSpPr>
        <p:spPr>
          <a:xfrm rot="0" flipH="0" flipV="0">
            <a:off x="4848225" y="1752600"/>
            <a:ext cx="304800" cy="142875"/>
          </a:xfrm>
          <a:prstGeom prst="rect"/>
        </p:spPr>
        <p:txBody>
          <a:bodyPr wrap="none" lIns="0" tIns="0" rIns="0" bIns="0"/>
          <a:p>
            <a:pPr>
              <a:lnSpc>
                <a:spcPct val="100000"/>
              </a:lnSpc>
            </a:pPr>
            <a:r>
              <a:rPr lang="en-US" sz="938">
                <a:solidFill>
                  <a:srgbClr val="5F6975"/>
                </a:solidFill>
                <a:latin typeface="Noto Sans SC"/>
                <a:ea typeface="Noto Sans SC"/>
              </a:rPr>
              <a:t>1.6</a:t>
            </a:r>
            <a:r>
              <a:rPr lang="en-US" sz="938">
                <a:solidFill>
                  <a:srgbClr val="5F6975"/>
                </a:solidFill>
                <a:latin typeface="Noto Sans SC"/>
                <a:ea typeface="Noto Sans SC"/>
              </a:rPr>
              <a:t xml:space="preserve"> </a:t>
            </a:r>
            <a:r>
              <a:rPr lang="zh-CN" sz="938">
                <a:solidFill>
                  <a:srgbClr val="5F6975"/>
                </a:solidFill>
                <a:latin typeface="Noto Sans SC"/>
                <a:ea typeface="Noto Sans SC"/>
              </a:rPr>
              <a:t>单</a:t>
            </a:r>
            <a:endParaRPr/>
          </a:p>
        </p:txBody>
      </p:sp>
      <p:sp>
        <p:nvSpPr>
          <p:cNvPr id="33" name="" descr="{&quot;isTemplate&quot;:true,&quot;type&quot;:&quot;text&quot;}"/>
          <p:cNvSpPr txBox="1"/>
          <p:nvPr/>
        </p:nvSpPr>
        <p:spPr>
          <a:xfrm rot="0" flipH="0" flipV="0">
            <a:off x="6448425" y="1752600"/>
            <a:ext cx="304800" cy="142875"/>
          </a:xfrm>
          <a:prstGeom prst="rect"/>
        </p:spPr>
        <p:txBody>
          <a:bodyPr wrap="none" lIns="0" tIns="0" rIns="0" bIns="0"/>
          <a:p>
            <a:pPr>
              <a:lnSpc>
                <a:spcPct val="100000"/>
              </a:lnSpc>
            </a:pPr>
            <a:r>
              <a:rPr lang="en-US" sz="938" b="1">
                <a:solidFill>
                  <a:srgbClr val="AE4128"/>
                </a:solidFill>
                <a:latin typeface="Noto Sans SC"/>
                <a:ea typeface="Noto Sans SC"/>
              </a:rPr>
              <a:t>2.0</a:t>
            </a:r>
            <a:r>
              <a:rPr lang="en-US" sz="938" b="1">
                <a:solidFill>
                  <a:srgbClr val="AE4128"/>
                </a:solidFill>
                <a:latin typeface="Noto Sans SC"/>
                <a:ea typeface="Noto Sans SC"/>
              </a:rPr>
              <a:t xml:space="preserve"> </a:t>
            </a:r>
            <a:r>
              <a:rPr lang="zh-CN" sz="938" b="1">
                <a:solidFill>
                  <a:srgbClr val="AE4128"/>
                </a:solidFill>
                <a:latin typeface="Noto Sans SC"/>
                <a:ea typeface="Noto Sans SC"/>
              </a:rPr>
              <a:t>单</a:t>
            </a:r>
            <a:endParaRPr/>
          </a:p>
        </p:txBody>
      </p:sp>
      <p:sp>
        <p:nvSpPr>
          <p:cNvPr id="34" name="" descr="{&quot;isTemplate&quot;:true,&quot;type&quot;:&quot;text&quot;}"/>
          <p:cNvSpPr txBox="1"/>
          <p:nvPr/>
        </p:nvSpPr>
        <p:spPr>
          <a:xfrm rot="0" flipH="0" flipV="0">
            <a:off x="10106025" y="1752600"/>
            <a:ext cx="1400175" cy="142875"/>
          </a:xfrm>
          <a:prstGeom prst="rect"/>
        </p:spPr>
        <p:txBody>
          <a:bodyPr wrap="none" lIns="0" tIns="0" rIns="0" bIns="0"/>
          <a:p>
            <a:pPr>
              <a:lnSpc>
                <a:spcPct val="100000"/>
              </a:lnSpc>
            </a:pPr>
            <a:r>
              <a:rPr lang="zh-CN" sz="938">
                <a:solidFill>
                  <a:srgbClr val="5F6975"/>
                </a:solidFill>
                <a:latin typeface="Noto Sans SC"/>
                <a:ea typeface="Noto Sans SC"/>
              </a:rPr>
              <a:t>把流量从最差</a:t>
            </a:r>
            <a:r>
              <a:rPr lang="en-US" sz="938">
                <a:solidFill>
                  <a:srgbClr val="5F6975"/>
                </a:solidFill>
                <a:latin typeface="Noto Sans SC"/>
                <a:ea typeface="Noto Sans SC"/>
              </a:rPr>
              <a:t>4</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家店挪出来</a:t>
            </a:r>
            <a:endParaRPr/>
          </a:p>
        </p:txBody>
      </p:sp>
      <p:sp>
        <p:nvSpPr>
          <p:cNvPr id="35" name=""/>
          <p:cNvSpPr/>
          <p:nvPr/>
        </p:nvSpPr>
        <p:spPr>
          <a:xfrm rot="0" flipH="0" flipV="0">
            <a:off x="609600" y="21717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36" name="" descr="{&quot;isTemplate&quot;:true,&quot;type&quot;:&quot;text&quot;}"/>
          <p:cNvSpPr txBox="1"/>
          <p:nvPr/>
        </p:nvSpPr>
        <p:spPr>
          <a:xfrm rot="0" flipH="0" flipV="0">
            <a:off x="685800" y="2438400"/>
            <a:ext cx="714375" cy="142875"/>
          </a:xfrm>
          <a:prstGeom prst="rect"/>
        </p:spPr>
        <p:txBody>
          <a:bodyPr wrap="none" lIns="0" tIns="0" rIns="0" bIns="0"/>
          <a:p>
            <a:pPr>
              <a:lnSpc>
                <a:spcPct val="100000"/>
              </a:lnSpc>
            </a:pPr>
            <a:r>
              <a:rPr lang="zh-CN" sz="938" b="1">
                <a:solidFill>
                  <a:srgbClr val="15181D"/>
                </a:solidFill>
                <a:latin typeface="Noto Sans SC"/>
                <a:ea typeface="Noto Sans SC"/>
              </a:rPr>
              <a:t>洗手盆加购率</a:t>
            </a:r>
            <a:endParaRPr/>
          </a:p>
        </p:txBody>
      </p:sp>
      <p:sp>
        <p:nvSpPr>
          <p:cNvPr id="37" name="" descr="{&quot;isTemplate&quot;:true,&quot;type&quot;:&quot;text&quot;}"/>
          <p:cNvSpPr txBox="1"/>
          <p:nvPr/>
        </p:nvSpPr>
        <p:spPr>
          <a:xfrm rot="0" flipH="0" flipV="0">
            <a:off x="4829175" y="2438400"/>
            <a:ext cx="323850" cy="142875"/>
          </a:xfrm>
          <a:prstGeom prst="rect"/>
        </p:spPr>
        <p:txBody>
          <a:bodyPr wrap="none" lIns="0" tIns="0" rIns="0" bIns="0"/>
          <a:p>
            <a:pPr>
              <a:lnSpc>
                <a:spcPct val="100000"/>
              </a:lnSpc>
            </a:pPr>
            <a:r>
              <a:rPr lang="en-US" sz="938">
                <a:solidFill>
                  <a:srgbClr val="5F6975"/>
                </a:solidFill>
                <a:latin typeface="Noto Sans SC"/>
                <a:ea typeface="Noto Sans SC"/>
              </a:rPr>
              <a:t>1.30%</a:t>
            </a:r>
            <a:endParaRPr/>
          </a:p>
        </p:txBody>
      </p:sp>
      <p:sp>
        <p:nvSpPr>
          <p:cNvPr id="38" name="" descr="{&quot;isTemplate&quot;:true,&quot;type&quot;:&quot;text&quot;}"/>
          <p:cNvSpPr txBox="1"/>
          <p:nvPr/>
        </p:nvSpPr>
        <p:spPr>
          <a:xfrm rot="0" flipH="0" flipV="0">
            <a:off x="6429375" y="2438400"/>
            <a:ext cx="323850" cy="142875"/>
          </a:xfrm>
          <a:prstGeom prst="rect"/>
        </p:spPr>
        <p:txBody>
          <a:bodyPr wrap="none" lIns="0" tIns="0" rIns="0" bIns="0"/>
          <a:p>
            <a:pPr>
              <a:lnSpc>
                <a:spcPct val="100000"/>
              </a:lnSpc>
            </a:pPr>
            <a:r>
              <a:rPr lang="en-US" sz="938" b="1">
                <a:solidFill>
                  <a:srgbClr val="AE4128"/>
                </a:solidFill>
                <a:latin typeface="Noto Sans SC"/>
                <a:ea typeface="Noto Sans SC"/>
              </a:rPr>
              <a:t>2.00%</a:t>
            </a:r>
            <a:endParaRPr/>
          </a:p>
        </p:txBody>
      </p:sp>
      <p:sp>
        <p:nvSpPr>
          <p:cNvPr id="39" name="" descr="{&quot;isTemplate&quot;:true,&quot;type&quot;:&quot;text&quot;}"/>
          <p:cNvSpPr txBox="1"/>
          <p:nvPr/>
        </p:nvSpPr>
        <p:spPr>
          <a:xfrm rot="0" flipH="0" flipV="0">
            <a:off x="9925050" y="2438400"/>
            <a:ext cx="1581150" cy="142875"/>
          </a:xfrm>
          <a:prstGeom prst="rect"/>
        </p:spPr>
        <p:txBody>
          <a:bodyPr wrap="none" lIns="0" tIns="0" rIns="0" bIns="0"/>
          <a:p>
            <a:pPr>
              <a:lnSpc>
                <a:spcPct val="100000"/>
              </a:lnSpc>
            </a:pPr>
            <a:r>
              <a:rPr lang="zh-CN" sz="938">
                <a:solidFill>
                  <a:srgbClr val="5F6975"/>
                </a:solidFill>
                <a:latin typeface="Noto Sans SC"/>
                <a:ea typeface="Noto Sans SC"/>
              </a:rPr>
              <a:t>补</a:t>
            </a:r>
            <a:r>
              <a:rPr lang="en-US" sz="938">
                <a:solidFill>
                  <a:srgbClr val="5F6975"/>
                </a:solidFill>
                <a:latin typeface="Noto Sans SC"/>
                <a:ea typeface="Noto Sans SC"/>
              </a:rPr>
              <a:t>0.7</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个百分点＝多</a:t>
            </a:r>
            <a:r>
              <a:rPr lang="en-US" sz="938">
                <a:solidFill>
                  <a:srgbClr val="5F6975"/>
                </a:solidFill>
                <a:latin typeface="Noto Sans SC"/>
                <a:ea typeface="Noto Sans SC"/>
              </a:rPr>
              <a:t>612</a:t>
            </a:r>
            <a:r>
              <a:rPr lang="en-US" sz="938">
                <a:solidFill>
                  <a:srgbClr val="5F6975"/>
                </a:solidFill>
                <a:latin typeface="Noto Sans SC"/>
                <a:ea typeface="Noto Sans SC"/>
              </a:rPr>
              <a:t xml:space="preserve"> </a:t>
            </a:r>
            <a:r>
              <a:rPr lang="zh-CN" sz="938">
                <a:solidFill>
                  <a:srgbClr val="5F6975"/>
                </a:solidFill>
                <a:latin typeface="Noto Sans SC"/>
                <a:ea typeface="Noto Sans SC"/>
              </a:rPr>
              <a:t>次加购</a:t>
            </a:r>
            <a:endParaRPr/>
          </a:p>
        </p:txBody>
      </p:sp>
      <p:sp>
        <p:nvSpPr>
          <p:cNvPr id="40" name=""/>
          <p:cNvSpPr/>
          <p:nvPr/>
        </p:nvSpPr>
        <p:spPr>
          <a:xfrm rot="0" flipH="0" flipV="0">
            <a:off x="609600" y="28575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41" name="" descr="{&quot;isTemplate&quot;:true,&quot;type&quot;:&quot;text&quot;}"/>
          <p:cNvSpPr txBox="1"/>
          <p:nvPr/>
        </p:nvSpPr>
        <p:spPr>
          <a:xfrm rot="0" flipH="0" flipV="0">
            <a:off x="685800" y="3124200"/>
            <a:ext cx="809625" cy="142875"/>
          </a:xfrm>
          <a:prstGeom prst="rect"/>
        </p:spPr>
        <p:txBody>
          <a:bodyPr wrap="none" lIns="0" tIns="0" rIns="0" bIns="0"/>
          <a:p>
            <a:pPr>
              <a:lnSpc>
                <a:spcPct val="100000"/>
              </a:lnSpc>
            </a:pPr>
            <a:r>
              <a:rPr lang="zh-CN" sz="938" b="1">
                <a:solidFill>
                  <a:srgbClr val="15181D"/>
                </a:solidFill>
                <a:latin typeface="Noto Sans SC"/>
                <a:ea typeface="Noto Sans SC"/>
              </a:rPr>
              <a:t>推广每</a:t>
            </a:r>
            <a:r>
              <a:rPr lang="en-US" sz="938" b="1">
                <a:solidFill>
                  <a:srgbClr val="15181D"/>
                </a:solidFill>
                <a:latin typeface="Noto Sans SC"/>
                <a:ea typeface="Noto Sans SC"/>
              </a:rPr>
              <a:t>1</a:t>
            </a:r>
            <a:r>
              <a:rPr lang="en-US" sz="938" b="1">
                <a:solidFill>
                  <a:srgbClr val="15181D"/>
                </a:solidFill>
                <a:latin typeface="Noto Sans SC"/>
                <a:ea typeface="Noto Sans SC"/>
              </a:rPr>
              <a:t xml:space="preserve"> </a:t>
            </a:r>
            <a:r>
              <a:rPr lang="zh-CN" sz="938" b="1">
                <a:solidFill>
                  <a:srgbClr val="15181D"/>
                </a:solidFill>
                <a:latin typeface="Noto Sans SC"/>
                <a:ea typeface="Noto Sans SC"/>
              </a:rPr>
              <a:t>元成交</a:t>
            </a:r>
            <a:endParaRPr/>
          </a:p>
        </p:txBody>
      </p:sp>
      <p:sp>
        <p:nvSpPr>
          <p:cNvPr id="42" name="" descr="{&quot;isTemplate&quot;:true,&quot;type&quot;:&quot;text&quot;}"/>
          <p:cNvSpPr txBox="1"/>
          <p:nvPr/>
        </p:nvSpPr>
        <p:spPr>
          <a:xfrm rot="0" flipH="0" flipV="0">
            <a:off x="4791075" y="3124200"/>
            <a:ext cx="361950" cy="142875"/>
          </a:xfrm>
          <a:prstGeom prst="rect"/>
        </p:spPr>
        <p:txBody>
          <a:bodyPr wrap="none" lIns="0" tIns="0" rIns="0" bIns="0"/>
          <a:p>
            <a:pPr>
              <a:lnSpc>
                <a:spcPct val="100000"/>
              </a:lnSpc>
            </a:pPr>
            <a:r>
              <a:rPr lang="en-US" sz="938">
                <a:solidFill>
                  <a:srgbClr val="5F6975"/>
                </a:solidFill>
                <a:latin typeface="Noto Sans SC"/>
                <a:ea typeface="Noto Sans SC"/>
              </a:rPr>
              <a:t>3.22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倍</a:t>
            </a:r>
            <a:endParaRPr/>
          </a:p>
        </p:txBody>
      </p:sp>
      <p:sp>
        <p:nvSpPr>
          <p:cNvPr id="43" name="" descr="{&quot;isTemplate&quot;:true,&quot;type&quot;:&quot;text&quot;}"/>
          <p:cNvSpPr txBox="1"/>
          <p:nvPr/>
        </p:nvSpPr>
        <p:spPr>
          <a:xfrm rot="0" flipH="0" flipV="0">
            <a:off x="6391275" y="3124200"/>
            <a:ext cx="361950" cy="142875"/>
          </a:xfrm>
          <a:prstGeom prst="rect"/>
        </p:spPr>
        <p:txBody>
          <a:bodyPr wrap="none" lIns="0" tIns="0" rIns="0" bIns="0"/>
          <a:p>
            <a:pPr>
              <a:lnSpc>
                <a:spcPct val="100000"/>
              </a:lnSpc>
            </a:pPr>
            <a:r>
              <a:rPr lang="en-US" sz="938" b="1">
                <a:solidFill>
                  <a:srgbClr val="AE4128"/>
                </a:solidFill>
                <a:latin typeface="Noto Sans SC"/>
                <a:ea typeface="Noto Sans SC"/>
              </a:rPr>
              <a:t>4.00</a:t>
            </a:r>
            <a:r>
              <a:rPr lang="en-US" sz="938" b="1">
                <a:solidFill>
                  <a:srgbClr val="AE4128"/>
                </a:solidFill>
                <a:latin typeface="Noto Sans SC"/>
                <a:ea typeface="Noto Sans SC"/>
              </a:rPr>
              <a:t xml:space="preserve"> </a:t>
            </a:r>
            <a:r>
              <a:rPr lang="zh-CN" sz="938" b="1">
                <a:solidFill>
                  <a:srgbClr val="AE4128"/>
                </a:solidFill>
                <a:latin typeface="Noto Sans SC"/>
                <a:ea typeface="Noto Sans SC"/>
              </a:rPr>
              <a:t>倍</a:t>
            </a:r>
            <a:endParaRPr/>
          </a:p>
        </p:txBody>
      </p:sp>
      <p:sp>
        <p:nvSpPr>
          <p:cNvPr id="44" name="" descr="{&quot;isTemplate&quot;:true,&quot;type&quot;:&quot;text&quot;}"/>
          <p:cNvSpPr txBox="1"/>
          <p:nvPr/>
        </p:nvSpPr>
        <p:spPr>
          <a:xfrm rot="0" flipH="0" flipV="0">
            <a:off x="10277475" y="3124200"/>
            <a:ext cx="1228725" cy="142875"/>
          </a:xfrm>
          <a:prstGeom prst="rect"/>
        </p:spPr>
        <p:txBody>
          <a:bodyPr wrap="none" lIns="0" tIns="0" rIns="0" bIns="0"/>
          <a:p>
            <a:pPr>
              <a:lnSpc>
                <a:spcPct val="100000"/>
              </a:lnSpc>
            </a:pPr>
            <a:r>
              <a:rPr lang="zh-CN" sz="938">
                <a:solidFill>
                  <a:srgbClr val="5F6975"/>
                </a:solidFill>
                <a:latin typeface="Noto Sans SC"/>
                <a:ea typeface="Noto Sans SC"/>
              </a:rPr>
              <a:t>停投那</a:t>
            </a:r>
            <a:r>
              <a:rPr lang="en-US" sz="938">
                <a:solidFill>
                  <a:srgbClr val="5F6975"/>
                </a:solidFill>
                <a:latin typeface="Noto Sans SC"/>
                <a:ea typeface="Noto Sans SC"/>
              </a:rPr>
              <a:t>72</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个零成交商品</a:t>
            </a:r>
            <a:endParaRPr/>
          </a:p>
        </p:txBody>
      </p:sp>
      <p:sp>
        <p:nvSpPr>
          <p:cNvPr id="45" name=""/>
          <p:cNvSpPr/>
          <p:nvPr/>
        </p:nvSpPr>
        <p:spPr>
          <a:xfrm rot="0" flipH="0" flipV="0">
            <a:off x="609600" y="35433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46" name="" descr="{&quot;isTemplate&quot;:true,&quot;type&quot;:&quot;text&quot;}"/>
          <p:cNvSpPr txBox="1"/>
          <p:nvPr/>
        </p:nvSpPr>
        <p:spPr>
          <a:xfrm rot="0" flipH="0" flipV="0">
            <a:off x="685800" y="3810000"/>
            <a:ext cx="952500" cy="142875"/>
          </a:xfrm>
          <a:prstGeom prst="rect"/>
        </p:spPr>
        <p:txBody>
          <a:bodyPr wrap="none" lIns="0" tIns="0" rIns="0" bIns="0"/>
          <a:p>
            <a:pPr>
              <a:lnSpc>
                <a:spcPct val="100000"/>
              </a:lnSpc>
            </a:pPr>
            <a:r>
              <a:rPr lang="zh-CN" sz="938" b="1">
                <a:solidFill>
                  <a:srgbClr val="15181D"/>
                </a:solidFill>
                <a:latin typeface="Noto Sans SC"/>
                <a:ea typeface="Noto Sans SC"/>
              </a:rPr>
              <a:t>低效推广花费占比</a:t>
            </a:r>
            <a:endParaRPr/>
          </a:p>
        </p:txBody>
      </p:sp>
      <p:sp>
        <p:nvSpPr>
          <p:cNvPr id="47" name="" descr="{&quot;isTemplate&quot;:true,&quot;type&quot;:&quot;text&quot;}"/>
          <p:cNvSpPr txBox="1"/>
          <p:nvPr/>
        </p:nvSpPr>
        <p:spPr>
          <a:xfrm rot="0" flipH="0" flipV="0">
            <a:off x="4829175" y="3810000"/>
            <a:ext cx="323850" cy="142875"/>
          </a:xfrm>
          <a:prstGeom prst="rect"/>
        </p:spPr>
        <p:txBody>
          <a:bodyPr wrap="none" lIns="0" tIns="0" rIns="0" bIns="0"/>
          <a:p>
            <a:pPr>
              <a:lnSpc>
                <a:spcPct val="100000"/>
              </a:lnSpc>
            </a:pPr>
            <a:r>
              <a:rPr lang="en-US" sz="938">
                <a:solidFill>
                  <a:srgbClr val="5F6975"/>
                </a:solidFill>
                <a:latin typeface="Noto Sans SC"/>
                <a:ea typeface="Noto Sans SC"/>
              </a:rPr>
              <a:t>62.2%</a:t>
            </a:r>
            <a:endParaRPr/>
          </a:p>
        </p:txBody>
      </p:sp>
      <p:sp>
        <p:nvSpPr>
          <p:cNvPr id="48" name="" descr="{&quot;isTemplate&quot;:true,&quot;type&quot;:&quot;text&quot;}"/>
          <p:cNvSpPr txBox="1"/>
          <p:nvPr/>
        </p:nvSpPr>
        <p:spPr>
          <a:xfrm rot="0" flipH="0" flipV="0">
            <a:off x="6400800" y="3810000"/>
            <a:ext cx="352425" cy="142875"/>
          </a:xfrm>
          <a:prstGeom prst="rect"/>
        </p:spPr>
        <p:txBody>
          <a:bodyPr wrap="none" lIns="0" tIns="0" rIns="0" bIns="0"/>
          <a:p>
            <a:pPr>
              <a:lnSpc>
                <a:spcPct val="100000"/>
              </a:lnSpc>
            </a:pPr>
            <a:r>
              <a:rPr sz="938" b="1">
                <a:solidFill>
                  <a:srgbClr val="AE4128"/>
                </a:solidFill>
                <a:latin typeface="Noto Sans SC"/>
                <a:ea typeface="Noto Sans SC"/>
              </a:rPr>
              <a:t>≤</a:t>
            </a:r>
            <a:r>
              <a:rPr lang="en-US" sz="938" b="1">
                <a:solidFill>
                  <a:srgbClr val="AE4128"/>
                </a:solidFill>
                <a:latin typeface="Noto Sans SC"/>
                <a:ea typeface="Noto Sans SC"/>
              </a:rPr>
              <a:t>40%</a:t>
            </a:r>
            <a:endParaRPr/>
          </a:p>
        </p:txBody>
      </p:sp>
      <p:sp>
        <p:nvSpPr>
          <p:cNvPr id="49" name="" descr="{&quot;isTemplate&quot;:true,&quot;type&quot;:&quot;text&quot;}"/>
          <p:cNvSpPr txBox="1"/>
          <p:nvPr/>
        </p:nvSpPr>
        <p:spPr>
          <a:xfrm rot="0" flipH="0" flipV="0">
            <a:off x="10010775" y="3810000"/>
            <a:ext cx="1495425" cy="142875"/>
          </a:xfrm>
          <a:prstGeom prst="rect"/>
        </p:spPr>
        <p:txBody>
          <a:bodyPr wrap="none" lIns="0" tIns="0" rIns="0" bIns="0"/>
          <a:p>
            <a:pPr>
              <a:lnSpc>
                <a:spcPct val="100000"/>
              </a:lnSpc>
            </a:pPr>
            <a:r>
              <a:rPr lang="zh-CN" sz="938">
                <a:solidFill>
                  <a:srgbClr val="5F6975"/>
                </a:solidFill>
                <a:latin typeface="Noto Sans SC"/>
                <a:ea typeface="Noto Sans SC"/>
              </a:rPr>
              <a:t>低效预算砍一半（</a:t>
            </a:r>
            <a:r>
              <a:rPr lang="en-US" sz="938">
                <a:solidFill>
                  <a:srgbClr val="5F6975"/>
                </a:solidFill>
                <a:latin typeface="Noto Sans SC"/>
                <a:ea typeface="Noto Sans SC"/>
              </a:rPr>
              <a:t>8,580</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a:t>
            </a:r>
            <a:endParaRPr/>
          </a:p>
        </p:txBody>
      </p:sp>
      <p:sp>
        <p:nvSpPr>
          <p:cNvPr id="50" name=""/>
          <p:cNvSpPr/>
          <p:nvPr/>
        </p:nvSpPr>
        <p:spPr>
          <a:xfrm rot="0" flipH="0" flipV="0">
            <a:off x="609600" y="4229100"/>
            <a:ext cx="10972800" cy="685800"/>
          </a:xfrm>
          <a:custGeom>
            <a:pathLst>
              <a:path w="1152" h="72">
                <a:moveTo>
                  <a:pt x="0" y="71"/>
                </a:moveTo>
                <a:lnTo>
                  <a:pt x="1152" y="71"/>
                </a:lnTo>
                <a:lnTo>
                  <a:pt x="1152" y="72"/>
                </a:lnTo>
                <a:lnTo>
                  <a:pt x="0" y="72"/>
                </a:lnTo>
                <a:close/>
              </a:path>
            </a:pathLst>
          </a:custGeom>
          <a:solidFill>
            <a:srgbClr val="DDE2E8"/>
          </a:solidFill>
          <a:ln/>
        </p:spPr>
        <p:txBody>
          <a:bodyPr/>
          <a:p/>
        </p:txBody>
      </p:sp>
      <p:sp>
        <p:nvSpPr>
          <p:cNvPr id="51" name="" descr="{&quot;isTemplate&quot;:true,&quot;type&quot;:&quot;text&quot;}"/>
          <p:cNvSpPr txBox="1"/>
          <p:nvPr/>
        </p:nvSpPr>
        <p:spPr>
          <a:xfrm rot="0" flipH="0" flipV="0">
            <a:off x="685800" y="4495800"/>
            <a:ext cx="1104900" cy="142875"/>
          </a:xfrm>
          <a:prstGeom prst="rect"/>
        </p:spPr>
        <p:txBody>
          <a:bodyPr wrap="none" lIns="0" tIns="0" rIns="0" bIns="0"/>
          <a:p>
            <a:pPr>
              <a:lnSpc>
                <a:spcPct val="100000"/>
              </a:lnSpc>
            </a:pPr>
            <a:r>
              <a:rPr lang="zh-CN" sz="938" b="1">
                <a:solidFill>
                  <a:srgbClr val="15181D"/>
                </a:solidFill>
                <a:latin typeface="Noto Sans SC"/>
                <a:ea typeface="Noto Sans SC"/>
              </a:rPr>
              <a:t>商品层成交（</a:t>
            </a:r>
            <a:r>
              <a:rPr lang="en-US" sz="938" b="1">
                <a:solidFill>
                  <a:srgbClr val="15181D"/>
                </a:solidFill>
                <a:latin typeface="Noto Sans SC"/>
                <a:ea typeface="Noto Sans SC"/>
              </a:rPr>
              <a:t>18</a:t>
            </a:r>
            <a:r>
              <a:rPr lang="en-US" sz="938" b="1">
                <a:solidFill>
                  <a:srgbClr val="15181D"/>
                </a:solidFill>
                <a:latin typeface="Noto Sans SC"/>
                <a:ea typeface="Noto Sans SC"/>
              </a:rPr>
              <a:t xml:space="preserve"> </a:t>
            </a:r>
            <a:r>
              <a:rPr lang="zh-CN" sz="938" b="1">
                <a:solidFill>
                  <a:srgbClr val="15181D"/>
                </a:solidFill>
                <a:latin typeface="Noto Sans SC"/>
                <a:ea typeface="Noto Sans SC"/>
              </a:rPr>
              <a:t>天）</a:t>
            </a:r>
            <a:endParaRPr/>
          </a:p>
        </p:txBody>
      </p:sp>
      <p:sp>
        <p:nvSpPr>
          <p:cNvPr id="52" name="" descr="{&quot;isTemplate&quot;:true,&quot;type&quot;:&quot;text&quot;}"/>
          <p:cNvSpPr txBox="1"/>
          <p:nvPr/>
        </p:nvSpPr>
        <p:spPr>
          <a:xfrm rot="0" flipH="0" flipV="0">
            <a:off x="4695825" y="4495800"/>
            <a:ext cx="457200" cy="142875"/>
          </a:xfrm>
          <a:prstGeom prst="rect"/>
        </p:spPr>
        <p:txBody>
          <a:bodyPr wrap="none" lIns="0" tIns="0" rIns="0" bIns="0"/>
          <a:p>
            <a:pPr>
              <a:lnSpc>
                <a:spcPct val="100000"/>
              </a:lnSpc>
            </a:pPr>
            <a:r>
              <a:rPr lang="en-US" sz="938">
                <a:solidFill>
                  <a:srgbClr val="5F6975"/>
                </a:solidFill>
                <a:latin typeface="Noto Sans SC"/>
                <a:ea typeface="Noto Sans SC"/>
              </a:rPr>
              <a:t>28.0</a:t>
            </a:r>
            <a:r>
              <a:rPr lang="zh-CN" sz="938">
                <a:solidFill>
                  <a:srgbClr val="5F6975"/>
                </a:solidFill>
                <a:latin typeface="Noto Sans SC"/>
                <a:ea typeface="Noto Sans SC"/>
              </a:rPr>
              <a:t>万元</a:t>
            </a:r>
            <a:endParaRPr/>
          </a:p>
        </p:txBody>
      </p:sp>
      <p:sp>
        <p:nvSpPr>
          <p:cNvPr id="53" name="" descr="{&quot;isTemplate&quot;:true,&quot;type&quot;:&quot;text&quot;}"/>
          <p:cNvSpPr txBox="1"/>
          <p:nvPr/>
        </p:nvSpPr>
        <p:spPr>
          <a:xfrm rot="0" flipH="0" flipV="0">
            <a:off x="6362700" y="4495800"/>
            <a:ext cx="390525" cy="142875"/>
          </a:xfrm>
          <a:prstGeom prst="rect"/>
        </p:spPr>
        <p:txBody>
          <a:bodyPr wrap="none" lIns="0" tIns="0" rIns="0" bIns="0"/>
          <a:p>
            <a:pPr>
              <a:lnSpc>
                <a:spcPct val="100000"/>
              </a:lnSpc>
            </a:pPr>
            <a:r>
              <a:rPr lang="en-US" sz="938" b="1">
                <a:solidFill>
                  <a:srgbClr val="AE4128"/>
                </a:solidFill>
                <a:latin typeface="Noto Sans SC"/>
                <a:ea typeface="Noto Sans SC"/>
              </a:rPr>
              <a:t>32</a:t>
            </a:r>
            <a:r>
              <a:rPr lang="en-US" sz="938" b="1">
                <a:solidFill>
                  <a:srgbClr val="AE4128"/>
                </a:solidFill>
                <a:latin typeface="Noto Sans SC"/>
                <a:ea typeface="Noto Sans SC"/>
              </a:rPr>
              <a:t xml:space="preserve"> </a:t>
            </a:r>
            <a:r>
              <a:rPr lang="zh-CN" sz="938" b="1">
                <a:solidFill>
                  <a:srgbClr val="AE4128"/>
                </a:solidFill>
                <a:latin typeface="Noto Sans SC"/>
                <a:ea typeface="Noto Sans SC"/>
              </a:rPr>
              <a:t>万元</a:t>
            </a:r>
            <a:endParaRPr/>
          </a:p>
        </p:txBody>
      </p:sp>
      <p:sp>
        <p:nvSpPr>
          <p:cNvPr id="54" name="" descr="{&quot;isTemplate&quot;:true,&quot;type&quot;:&quot;text&quot;}"/>
          <p:cNvSpPr txBox="1"/>
          <p:nvPr/>
        </p:nvSpPr>
        <p:spPr>
          <a:xfrm rot="0" flipH="0" flipV="0">
            <a:off x="9829800" y="4495800"/>
            <a:ext cx="1676400" cy="142875"/>
          </a:xfrm>
          <a:prstGeom prst="rect"/>
        </p:spPr>
        <p:txBody>
          <a:bodyPr wrap="none" lIns="0" tIns="0" rIns="0" bIns="0"/>
          <a:p>
            <a:pPr>
              <a:lnSpc>
                <a:spcPct val="100000"/>
              </a:lnSpc>
            </a:pPr>
            <a:r>
              <a:rPr lang="zh-CN" sz="938">
                <a:solidFill>
                  <a:srgbClr val="5F6975"/>
                </a:solidFill>
                <a:latin typeface="Noto Sans SC"/>
                <a:ea typeface="Noto Sans SC"/>
              </a:rPr>
              <a:t>静态上限</a:t>
            </a:r>
            <a:r>
              <a:rPr lang="en-US" sz="938">
                <a:solidFill>
                  <a:srgbClr val="5F6975"/>
                </a:solidFill>
                <a:latin typeface="Noto Sans SC"/>
                <a:ea typeface="Noto Sans SC"/>
              </a:rPr>
              <a:t>35.8</a:t>
            </a:r>
            <a:r>
              <a:rPr lang="zh-CN" sz="938">
                <a:solidFill>
                  <a:srgbClr val="5F6975"/>
                </a:solidFill>
                <a:latin typeface="Noto Sans SC"/>
                <a:ea typeface="Noto Sans SC"/>
              </a:rPr>
              <a:t>万元，先按</a:t>
            </a:r>
            <a:r>
              <a:rPr lang="en-US" sz="938">
                <a:solidFill>
                  <a:srgbClr val="5F6975"/>
                </a:solidFill>
                <a:latin typeface="Noto Sans SC"/>
                <a:ea typeface="Noto Sans SC"/>
              </a:rPr>
              <a:t>32</a:t>
            </a:r>
            <a:r>
              <a:rPr lang="en-US" sz="938">
                <a:solidFill>
                  <a:srgbClr val="5F6975"/>
                </a:solidFill>
                <a:latin typeface="Noto Sans SC"/>
                <a:ea typeface="Noto Sans SC"/>
              </a:rPr>
              <a:t xml:space="preserve"> </a:t>
            </a:r>
            <a:r>
              <a:rPr lang="zh-CN" sz="938">
                <a:solidFill>
                  <a:srgbClr val="5F6975"/>
                </a:solidFill>
                <a:latin typeface="Noto Sans SC"/>
                <a:ea typeface="Noto Sans SC"/>
              </a:rPr>
              <a:t>万报</a:t>
            </a:r>
            <a:endParaRPr/>
          </a:p>
        </p:txBody>
      </p:sp>
      <p:sp>
        <p:nvSpPr>
          <p:cNvPr id="55" name=""/>
          <p:cNvSpPr/>
          <p:nvPr/>
        </p:nvSpPr>
        <p:spPr>
          <a:xfrm rot="0" flipH="0" flipV="0">
            <a:off x="647700" y="5124450"/>
            <a:ext cx="10972800" cy="619125"/>
          </a:xfrm>
          <a:prstGeom prst="rect">
            <a:avLst/>
          </a:prstGeom>
          <a:solidFill>
            <a:srgbClr val="F4F6F8"/>
          </a:solidFill>
          <a:ln/>
        </p:spPr>
        <p:txBody>
          <a:bodyPr/>
          <a:p/>
        </p:txBody>
      </p:sp>
      <p:sp>
        <p:nvSpPr>
          <p:cNvPr id="56" name=""/>
          <p:cNvSpPr/>
          <p:nvPr/>
        </p:nvSpPr>
        <p:spPr>
          <a:xfrm rot="0" flipH="0" flipV="0">
            <a:off x="609600" y="5124450"/>
            <a:ext cx="11010900" cy="619125"/>
          </a:xfrm>
          <a:custGeom>
            <a:pathLst>
              <a:path w="1156" h="65">
                <a:moveTo>
                  <a:pt x="0" y="0"/>
                </a:moveTo>
                <a:lnTo>
                  <a:pt x="4" y="0"/>
                </a:lnTo>
                <a:lnTo>
                  <a:pt x="4" y="65"/>
                </a:lnTo>
                <a:lnTo>
                  <a:pt x="0" y="65"/>
                </a:lnTo>
                <a:close/>
              </a:path>
            </a:pathLst>
          </a:custGeom>
          <a:solidFill>
            <a:srgbClr val="A97B28"/>
          </a:solidFill>
          <a:ln/>
        </p:spPr>
        <p:txBody>
          <a:bodyPr/>
          <a:p/>
        </p:txBody>
      </p:sp>
      <p:sp>
        <p:nvSpPr>
          <p:cNvPr id="57" name="" descr="{&quot;isTemplate&quot;:true,&quot;type&quot;:&quot;text&quot;}"/>
          <p:cNvSpPr txBox="1"/>
          <p:nvPr/>
        </p:nvSpPr>
        <p:spPr>
          <a:xfrm rot="0" flipH="0" flipV="0">
            <a:off x="857250" y="5295900"/>
            <a:ext cx="10515600" cy="276225"/>
          </a:xfrm>
          <a:prstGeom prst="rect"/>
        </p:spPr>
        <p:txBody>
          <a:bodyPr wrap="none" lIns="0" tIns="0" rIns="0" bIns="0"/>
          <a:p>
            <a:pPr>
              <a:lnSpc>
                <a:spcPct val="160000"/>
              </a:lnSpc>
            </a:pPr>
            <a:r>
              <a:rPr lang="en-US" sz="1125">
                <a:solidFill>
                  <a:srgbClr val="15181D"/>
                </a:solidFill>
                <a:latin typeface="Noto Sans SC"/>
                <a:ea typeface="Noto Sans SC"/>
              </a:rPr>
              <a:t xml:space="preserve"> </a:t>
            </a:r>
            <a:r>
              <a:rPr lang="zh-CN" sz="1125">
                <a:solidFill>
                  <a:srgbClr val="15181D"/>
                </a:solidFill>
                <a:latin typeface="Noto Sans SC"/>
                <a:ea typeface="Noto Sans SC"/>
              </a:rPr>
              <a:t>五个数都在现有报表里能直接读出来，不需要新建口径。两周后拿这五个数对一次，就知道试跑成不成。</a:t>
            </a:r>
            <a:endParaRPr/>
          </a:p>
        </p:txBody>
      </p:sp>
      <p:sp>
        <p:nvSpPr>
          <p:cNvPr id="58"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59"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10</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11.xml><?xml version="1.0" encoding="utf-8"?>
<p:sld xmlns:p="http://schemas.openxmlformats.org/presentationml/2006/main" xmlns:a="http://schemas.openxmlformats.org/drawingml/2006/main">
  <p:cSld>
    <p:spTree>
      <p:nvGrpSpPr>
        <p:cNvPr id="60" name="" descr="&lt;Slide style={{ width: '1280px', height: '720px', background: '#FFFFFF', fontFamily: 'Noto Sans SC', padding: '20px 64px', flexDirection: 'column' }}&gt;&lt;Box style={{ height: '96px', flexDirection: 'column', justifyContent: 'center' }}&gt;&lt;Text style={{ fontSize: '31px', fontWeight: 700, color: '#1B3557', lineHeight: 1.25 }}&gt;需要你定的三件事&lt;/Text&gt;&lt;Text style={{ fontSize: '15px', color: '#5F6975', lineHeight: 1.4, marginTop: '6px' }}&gt;定了今天就能开始，不定就还是现在这样。&lt;/Text&gt;&lt;/Box&gt;&lt;Box style={{ height: '540px', flexDirection: 'column', gap: '18px' }}&gt;&lt;Box style={{ flexDirection: 'row', alignItems: 'center', height: '120px', borderLeft: '5px solid #AE4128', background: '#F4F6F8', paddingLeft: '24px', paddingRight: '24px', gap: '22px' }}&gt;&lt;Text style={{ fontSize: '19px', fontWeight: 700, color: '#AE4128', width: '100px' }}&gt;批名单&lt;/Text&gt;&lt;Box style={{ width: '640px', flexDirection: 'column', gap: '6px' }}&gt;&lt;Text style={{ fontSize: '17px', fontWeight: 600, color: '#1B3557' }}&gt;附录 A 那{'72'} 个零成交商品，今天就停投&lt;/Text&gt;&lt;Text style={{ fontSize: '12.5px', color: '#5F6975' }}&gt;{'18'} 天已经花掉{'13,120'} 元，一次成交都没有&lt;/Text&gt;&lt;/Box&gt;&lt;/Box&gt;&lt;Box style={{ flexDirection: 'row', alignItems: 'center', height: '120px', borderLeft: '5px solid #A97B28', background: '#F4F6F8', paddingLeft: '24px', paddingRight: '24px', gap: '22px' }}&gt;&lt;Text style={{ fontSize: '19px', fontWeight: 700, color: '#A97B28', width: '100px' }}&gt;给许可&lt;/Text&gt;&lt;Box style={{ width: '640px', flexDirection: 'column', gap: '6px' }}&gt;&lt;Text style={{ fontSize: '17px', fontWeight: 600, color: '#1B3557' }}&gt;两周试跑，不新增预算&lt;/Text&gt;&lt;Text style={{ fontSize: '12.5px', color: '#5F6975' }}&gt;只动现有的推广预算和店内流量，不额外申请费用&lt;/Text&gt;&lt;/Box&gt;&lt;/Box&gt;&lt;Box style={{ flexDirection: 'row', alignItems: 'center', height: '120px', borderLeft: '5px solid #A97B28', background: '#F4F6F8', paddingLeft: '24px', paddingRight: '24px', gap: '22px' }}&gt;&lt;Text style={{ fontSize: '19px', fontWeight: 700, color: '#A97B28', width: '100px' }}&gt;给授权&lt;/Text&gt;&lt;Box style={{ width: '640px', flexDirection: 'column', gap: '6px' }}&gt;&lt;Text style={{ fontSize: '17px', fontWeight: 600, color: '#1B3557' }}&gt;约销售{'2'} 部，把{'5'} 家店并进同一张表&lt;/Text&gt;&lt;Text style={{ fontSize: '12.5px', color: '#5F6975' }}&gt;并完这一份数据才覆盖{'12'} 家店，口径才算齐&lt;/Text&gt;&lt;/Box&gt;&lt;/Box&gt;&lt;Box style={{ marginTop: 'auto', flexDirection: 'row', justifyContent: 'space-between', alignItems: 'flex-end' }}&gt;&lt;Text style={{ fontSize: '16px', color: '#5F6975' }}&gt;两周后拿五个数回来对。&lt;/Text&gt;&lt;Text style={{ fontSize: '12.5px', color: '#5F6975' }}&gt;数据区间{'2026-10-01'} 至{'2026-10-18'}　{'·'}　{'12'} 家店铺&lt;/Text&gt;&lt;/Box&gt;&lt;/Box&gt;&lt;Box style={{ height: '40px', flexDirection: 'row', justifyContent: 'space-between', alignItems: 'center' }}&gt;&lt;Text style={{ fontSize: '13px', color: '#5F6975' }}&gt;经营数据诊断{'·'}{'2026-10-20'}&lt;/Text&gt;&lt;Text style={{ fontSize: '13px', color: '#5F6975' }}&gt;{'11'}{'/'}{'13'}&lt;/Text&gt;&lt;/Box&gt;&lt;/Slide&gt;&#10;"/>
        <p:cNvGrpSpPr/>
        <p:nvPr/>
      </p:nvGrpSpPr>
      <p:grpSpPr>
        <a:xfrm>
          <a:off x="0" y="0"/>
          <a:ext cx="0" cy="0"/>
          <a:chOff x="0" y="0"/>
          <a:chExt cx="0" cy="0"/>
        </a:xfrm>
      </p:grpSpPr>
      <p:sp>
        <p:nvSpPr>
          <p:cNvPr id="61" name=""/>
          <p:cNvSpPr/>
          <p:nvPr/>
        </p:nvSpPr>
        <p:spPr>
          <a:xfrm rot="0" flipH="0" flipV="0">
            <a:off x="0" y="0"/>
            <a:ext cx="12192000" cy="6858000"/>
          </a:xfrm>
          <a:prstGeom prst="rect">
            <a:avLst/>
          </a:prstGeom>
          <a:solidFill>
            <a:srgbClr val="FFFFFF"/>
          </a:solidFill>
          <a:ln/>
        </p:spPr>
        <p:txBody>
          <a:bodyPr/>
          <a:p/>
        </p:txBody>
      </p:sp>
      <p:sp>
        <p:nvSpPr>
          <p:cNvPr id="62"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需要你定的三件事</a:t>
            </a:r>
            <a:endParaRPr/>
          </a:p>
        </p:txBody>
      </p:sp>
      <p:sp>
        <p:nvSpPr>
          <p:cNvPr id="63"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定了今天就能开始，不定就还是现在这样。</a:t>
            </a:r>
            <a:endParaRPr/>
          </a:p>
        </p:txBody>
      </p:sp>
      <p:sp>
        <p:nvSpPr>
          <p:cNvPr id="64" name=""/>
          <p:cNvSpPr/>
          <p:nvPr/>
        </p:nvSpPr>
        <p:spPr>
          <a:xfrm rot="0" flipH="0" flipV="0">
            <a:off x="657225" y="1104900"/>
            <a:ext cx="10972800" cy="1143000"/>
          </a:xfrm>
          <a:prstGeom prst="rect">
            <a:avLst/>
          </a:prstGeom>
          <a:solidFill>
            <a:srgbClr val="F4F6F8"/>
          </a:solidFill>
          <a:ln/>
        </p:spPr>
        <p:txBody>
          <a:bodyPr/>
          <a:p/>
        </p:txBody>
      </p:sp>
      <p:sp>
        <p:nvSpPr>
          <p:cNvPr id="65" name=""/>
          <p:cNvSpPr/>
          <p:nvPr/>
        </p:nvSpPr>
        <p:spPr>
          <a:xfrm rot="0" flipH="0" flipV="0">
            <a:off x="609600" y="1104900"/>
            <a:ext cx="11020425" cy="1143000"/>
          </a:xfrm>
          <a:custGeom>
            <a:pathLst>
              <a:path w="1157" h="120">
                <a:moveTo>
                  <a:pt x="0" y="0"/>
                </a:moveTo>
                <a:lnTo>
                  <a:pt x="5" y="0"/>
                </a:lnTo>
                <a:lnTo>
                  <a:pt x="5" y="120"/>
                </a:lnTo>
                <a:lnTo>
                  <a:pt x="0" y="120"/>
                </a:lnTo>
                <a:close/>
              </a:path>
            </a:pathLst>
          </a:custGeom>
          <a:solidFill>
            <a:srgbClr val="AE4128"/>
          </a:solidFill>
          <a:ln/>
        </p:spPr>
        <p:txBody>
          <a:bodyPr/>
          <a:p/>
        </p:txBody>
      </p:sp>
      <p:sp>
        <p:nvSpPr>
          <p:cNvPr id="66" name="" descr="{&quot;isTemplate&quot;:true,&quot;type&quot;:&quot;text&quot;}"/>
          <p:cNvSpPr txBox="1"/>
          <p:nvPr/>
        </p:nvSpPr>
        <p:spPr>
          <a:xfrm rot="0" flipH="0" flipV="0">
            <a:off x="885825" y="1571625"/>
            <a:ext cx="952500" cy="219075"/>
          </a:xfrm>
          <a:prstGeom prst="rect"/>
        </p:spPr>
        <p:txBody>
          <a:bodyPr wrap="none" lIns="0" tIns="0" rIns="0" bIns="0"/>
          <a:p>
            <a:pPr>
              <a:lnSpc>
                <a:spcPct val="100000"/>
              </a:lnSpc>
            </a:pPr>
            <a:r>
              <a:rPr lang="zh-CN" sz="1425" b="1">
                <a:solidFill>
                  <a:srgbClr val="AE4128"/>
                </a:solidFill>
                <a:latin typeface="Noto Sans SC"/>
                <a:ea typeface="Noto Sans SC"/>
              </a:rPr>
              <a:t>批名单</a:t>
            </a:r>
            <a:endParaRPr/>
          </a:p>
        </p:txBody>
      </p:sp>
      <p:sp>
        <p:nvSpPr>
          <p:cNvPr id="67" name="" descr="{&quot;isTemplate&quot;:true,&quot;type&quot;:&quot;text&quot;}"/>
          <p:cNvSpPr txBox="1"/>
          <p:nvPr/>
        </p:nvSpPr>
        <p:spPr>
          <a:xfrm rot="0" flipH="0" flipV="0">
            <a:off x="2047875" y="1476375"/>
            <a:ext cx="6096000" cy="200025"/>
          </a:xfrm>
          <a:prstGeom prst="rect"/>
        </p:spPr>
        <p:txBody>
          <a:bodyPr wrap="none" lIns="0" tIns="0" rIns="0" bIns="0"/>
          <a:p>
            <a:pPr>
              <a:lnSpc>
                <a:spcPct val="100000"/>
              </a:lnSpc>
            </a:pPr>
            <a:r>
              <a:rPr lang="zh-CN" sz="1275" b="1">
                <a:solidFill>
                  <a:srgbClr val="1B3557"/>
                </a:solidFill>
                <a:latin typeface="Noto Sans SC"/>
                <a:ea typeface="Noto Sans SC"/>
              </a:rPr>
              <a:t>附录</a:t>
            </a:r>
            <a:r>
              <a:rPr lang="en-US" sz="1275" b="1">
                <a:solidFill>
                  <a:srgbClr val="1B3557"/>
                </a:solidFill>
                <a:latin typeface="Noto Sans SC"/>
                <a:ea typeface="Noto Sans SC"/>
              </a:rPr>
              <a:t xml:space="preserve"> A </a:t>
            </a:r>
            <a:r>
              <a:rPr lang="zh-CN" sz="1275" b="1">
                <a:solidFill>
                  <a:srgbClr val="1B3557"/>
                </a:solidFill>
                <a:latin typeface="Noto Sans SC"/>
                <a:ea typeface="Noto Sans SC"/>
              </a:rPr>
              <a:t>那</a:t>
            </a:r>
            <a:r>
              <a:rPr lang="en-US" sz="1275" b="1">
                <a:solidFill>
                  <a:srgbClr val="1B3557"/>
                </a:solidFill>
                <a:latin typeface="Noto Sans SC"/>
                <a:ea typeface="Noto Sans SC"/>
              </a:rPr>
              <a:t>72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个零成交商品，今天就停投</a:t>
            </a:r>
            <a:endParaRPr/>
          </a:p>
        </p:txBody>
      </p:sp>
      <p:sp>
        <p:nvSpPr>
          <p:cNvPr id="68" name="" descr="{&quot;isTemplate&quot;:true,&quot;type&quot;:&quot;text&quot;}"/>
          <p:cNvSpPr txBox="1"/>
          <p:nvPr/>
        </p:nvSpPr>
        <p:spPr>
          <a:xfrm rot="0" flipH="0" flipV="0">
            <a:off x="2047875" y="1733550"/>
            <a:ext cx="6096000" cy="142875"/>
          </a:xfrm>
          <a:prstGeom prst="rect"/>
        </p:spPr>
        <p:txBody>
          <a:bodyPr wrap="none" lIns="0" tIns="0" rIns="0" bIns="0"/>
          <a:p>
            <a:pPr>
              <a:lnSpc>
                <a:spcPct val="100000"/>
              </a:lnSpc>
            </a:pPr>
            <a:r>
              <a:rPr lang="en-US" sz="938">
                <a:solidFill>
                  <a:srgbClr val="5F6975"/>
                </a:solidFill>
                <a:latin typeface="Noto Sans SC"/>
                <a:ea typeface="Noto Sans SC"/>
              </a:rPr>
              <a:t>18</a:t>
            </a:r>
            <a:r>
              <a:rPr lang="en-US" sz="938">
                <a:solidFill>
                  <a:srgbClr val="5F6975"/>
                </a:solidFill>
                <a:latin typeface="Noto Sans SC"/>
                <a:ea typeface="Noto Sans SC"/>
              </a:rPr>
              <a:t xml:space="preserve"> </a:t>
            </a:r>
            <a:r>
              <a:rPr lang="zh-CN" sz="938">
                <a:solidFill>
                  <a:srgbClr val="5F6975"/>
                </a:solidFill>
                <a:latin typeface="Noto Sans SC"/>
                <a:ea typeface="Noto Sans SC"/>
              </a:rPr>
              <a:t>天已经花掉</a:t>
            </a:r>
            <a:r>
              <a:rPr lang="en-US" sz="938">
                <a:solidFill>
                  <a:srgbClr val="5F6975"/>
                </a:solidFill>
                <a:latin typeface="Noto Sans SC"/>
                <a:ea typeface="Noto Sans SC"/>
              </a:rPr>
              <a:t>13,120</a:t>
            </a:r>
            <a:r>
              <a:rPr lang="en-US" sz="938">
                <a:solidFill>
                  <a:srgbClr val="5F6975"/>
                </a:solidFill>
                <a:latin typeface="Noto Sans SC"/>
                <a:ea typeface="Noto Sans SC"/>
              </a:rPr>
              <a:t xml:space="preserve"> </a:t>
            </a:r>
            <a:r>
              <a:rPr lang="zh-CN" sz="938">
                <a:solidFill>
                  <a:srgbClr val="5F6975"/>
                </a:solidFill>
                <a:latin typeface="Noto Sans SC"/>
                <a:ea typeface="Noto Sans SC"/>
              </a:rPr>
              <a:t>元，一次成交都没有</a:t>
            </a:r>
            <a:endParaRPr/>
          </a:p>
        </p:txBody>
      </p:sp>
      <p:sp>
        <p:nvSpPr>
          <p:cNvPr id="69" name=""/>
          <p:cNvSpPr/>
          <p:nvPr/>
        </p:nvSpPr>
        <p:spPr>
          <a:xfrm rot="0" flipH="0" flipV="0">
            <a:off x="657225" y="2419350"/>
            <a:ext cx="10972800" cy="1143000"/>
          </a:xfrm>
          <a:prstGeom prst="rect">
            <a:avLst/>
          </a:prstGeom>
          <a:solidFill>
            <a:srgbClr val="F4F6F8"/>
          </a:solidFill>
          <a:ln/>
        </p:spPr>
        <p:txBody>
          <a:bodyPr/>
          <a:p/>
        </p:txBody>
      </p:sp>
      <p:sp>
        <p:nvSpPr>
          <p:cNvPr id="70" name=""/>
          <p:cNvSpPr/>
          <p:nvPr/>
        </p:nvSpPr>
        <p:spPr>
          <a:xfrm rot="0" flipH="0" flipV="0">
            <a:off x="609600" y="2419350"/>
            <a:ext cx="11020425" cy="1143000"/>
          </a:xfrm>
          <a:custGeom>
            <a:pathLst>
              <a:path w="1157" h="120">
                <a:moveTo>
                  <a:pt x="0" y="0"/>
                </a:moveTo>
                <a:lnTo>
                  <a:pt x="5" y="0"/>
                </a:lnTo>
                <a:lnTo>
                  <a:pt x="5" y="120"/>
                </a:lnTo>
                <a:lnTo>
                  <a:pt x="0" y="120"/>
                </a:lnTo>
                <a:close/>
              </a:path>
            </a:pathLst>
          </a:custGeom>
          <a:solidFill>
            <a:srgbClr val="A97B28"/>
          </a:solidFill>
          <a:ln/>
        </p:spPr>
        <p:txBody>
          <a:bodyPr/>
          <a:p/>
        </p:txBody>
      </p:sp>
      <p:sp>
        <p:nvSpPr>
          <p:cNvPr id="71" name="" descr="{&quot;isTemplate&quot;:true,&quot;type&quot;:&quot;text&quot;}"/>
          <p:cNvSpPr txBox="1"/>
          <p:nvPr/>
        </p:nvSpPr>
        <p:spPr>
          <a:xfrm rot="0" flipH="0" flipV="0">
            <a:off x="885825" y="2886075"/>
            <a:ext cx="952500" cy="219075"/>
          </a:xfrm>
          <a:prstGeom prst="rect"/>
        </p:spPr>
        <p:txBody>
          <a:bodyPr wrap="none" lIns="0" tIns="0" rIns="0" bIns="0"/>
          <a:p>
            <a:pPr>
              <a:lnSpc>
                <a:spcPct val="100000"/>
              </a:lnSpc>
            </a:pPr>
            <a:r>
              <a:rPr lang="zh-CN" sz="1425" b="1">
                <a:solidFill>
                  <a:srgbClr val="A97B28"/>
                </a:solidFill>
                <a:latin typeface="Noto Sans SC"/>
                <a:ea typeface="Noto Sans SC"/>
              </a:rPr>
              <a:t>给许可</a:t>
            </a:r>
            <a:endParaRPr/>
          </a:p>
        </p:txBody>
      </p:sp>
      <p:sp>
        <p:nvSpPr>
          <p:cNvPr id="72" name="" descr="{&quot;isTemplate&quot;:true,&quot;type&quot;:&quot;text&quot;}"/>
          <p:cNvSpPr txBox="1"/>
          <p:nvPr/>
        </p:nvSpPr>
        <p:spPr>
          <a:xfrm rot="0" flipH="0" flipV="0">
            <a:off x="2047875" y="2790825"/>
            <a:ext cx="6096000" cy="200025"/>
          </a:xfrm>
          <a:prstGeom prst="rect"/>
        </p:spPr>
        <p:txBody>
          <a:bodyPr wrap="none" lIns="0" tIns="0" rIns="0" bIns="0"/>
          <a:p>
            <a:pPr>
              <a:lnSpc>
                <a:spcPct val="100000"/>
              </a:lnSpc>
            </a:pPr>
            <a:r>
              <a:rPr lang="zh-CN" sz="1275" b="1">
                <a:solidFill>
                  <a:srgbClr val="1B3557"/>
                </a:solidFill>
                <a:latin typeface="Noto Sans SC"/>
                <a:ea typeface="Noto Sans SC"/>
              </a:rPr>
              <a:t>两周试跑，不新增预算</a:t>
            </a:r>
            <a:endParaRPr/>
          </a:p>
        </p:txBody>
      </p:sp>
      <p:sp>
        <p:nvSpPr>
          <p:cNvPr id="73" name="" descr="{&quot;isTemplate&quot;:true,&quot;type&quot;:&quot;text&quot;}"/>
          <p:cNvSpPr txBox="1"/>
          <p:nvPr/>
        </p:nvSpPr>
        <p:spPr>
          <a:xfrm rot="0" flipH="0" flipV="0">
            <a:off x="2047875" y="3048000"/>
            <a:ext cx="6096000" cy="142875"/>
          </a:xfrm>
          <a:prstGeom prst="rect"/>
        </p:spPr>
        <p:txBody>
          <a:bodyPr wrap="none" lIns="0" tIns="0" rIns="0" bIns="0"/>
          <a:p>
            <a:pPr>
              <a:lnSpc>
                <a:spcPct val="100000"/>
              </a:lnSpc>
            </a:pPr>
            <a:r>
              <a:rPr lang="zh-CN" sz="938">
                <a:solidFill>
                  <a:srgbClr val="5F6975"/>
                </a:solidFill>
                <a:latin typeface="Noto Sans SC"/>
                <a:ea typeface="Noto Sans SC"/>
              </a:rPr>
              <a:t>只动现有的推广预算和店内流量，不额外申请费用</a:t>
            </a:r>
            <a:endParaRPr/>
          </a:p>
        </p:txBody>
      </p:sp>
      <p:sp>
        <p:nvSpPr>
          <p:cNvPr id="74" name=""/>
          <p:cNvSpPr/>
          <p:nvPr/>
        </p:nvSpPr>
        <p:spPr>
          <a:xfrm rot="0" flipH="0" flipV="0">
            <a:off x="657225" y="3733800"/>
            <a:ext cx="10972800" cy="1143000"/>
          </a:xfrm>
          <a:prstGeom prst="rect">
            <a:avLst/>
          </a:prstGeom>
          <a:solidFill>
            <a:srgbClr val="F4F6F8"/>
          </a:solidFill>
          <a:ln/>
        </p:spPr>
        <p:txBody>
          <a:bodyPr/>
          <a:p/>
        </p:txBody>
      </p:sp>
      <p:sp>
        <p:nvSpPr>
          <p:cNvPr id="75" name=""/>
          <p:cNvSpPr/>
          <p:nvPr/>
        </p:nvSpPr>
        <p:spPr>
          <a:xfrm rot="0" flipH="0" flipV="0">
            <a:off x="609600" y="3733800"/>
            <a:ext cx="11020425" cy="1143000"/>
          </a:xfrm>
          <a:custGeom>
            <a:pathLst>
              <a:path w="1157" h="120">
                <a:moveTo>
                  <a:pt x="0" y="0"/>
                </a:moveTo>
                <a:lnTo>
                  <a:pt x="5" y="0"/>
                </a:lnTo>
                <a:lnTo>
                  <a:pt x="5" y="120"/>
                </a:lnTo>
                <a:lnTo>
                  <a:pt x="0" y="120"/>
                </a:lnTo>
                <a:close/>
              </a:path>
            </a:pathLst>
          </a:custGeom>
          <a:solidFill>
            <a:srgbClr val="A97B28"/>
          </a:solidFill>
          <a:ln/>
        </p:spPr>
        <p:txBody>
          <a:bodyPr/>
          <a:p/>
        </p:txBody>
      </p:sp>
      <p:sp>
        <p:nvSpPr>
          <p:cNvPr id="76" name="" descr="{&quot;isTemplate&quot;:true,&quot;type&quot;:&quot;text&quot;}"/>
          <p:cNvSpPr txBox="1"/>
          <p:nvPr/>
        </p:nvSpPr>
        <p:spPr>
          <a:xfrm rot="0" flipH="0" flipV="0">
            <a:off x="885825" y="4200525"/>
            <a:ext cx="952500" cy="219075"/>
          </a:xfrm>
          <a:prstGeom prst="rect"/>
        </p:spPr>
        <p:txBody>
          <a:bodyPr wrap="none" lIns="0" tIns="0" rIns="0" bIns="0"/>
          <a:p>
            <a:pPr>
              <a:lnSpc>
                <a:spcPct val="100000"/>
              </a:lnSpc>
            </a:pPr>
            <a:r>
              <a:rPr lang="zh-CN" sz="1425" b="1">
                <a:solidFill>
                  <a:srgbClr val="A97B28"/>
                </a:solidFill>
                <a:latin typeface="Noto Sans SC"/>
                <a:ea typeface="Noto Sans SC"/>
              </a:rPr>
              <a:t>给授权</a:t>
            </a:r>
            <a:endParaRPr/>
          </a:p>
        </p:txBody>
      </p:sp>
      <p:sp>
        <p:nvSpPr>
          <p:cNvPr id="77" name="" descr="{&quot;isTemplate&quot;:true,&quot;type&quot;:&quot;text&quot;}"/>
          <p:cNvSpPr txBox="1"/>
          <p:nvPr/>
        </p:nvSpPr>
        <p:spPr>
          <a:xfrm rot="0" flipH="0" flipV="0">
            <a:off x="2047875" y="4105275"/>
            <a:ext cx="6096000" cy="200025"/>
          </a:xfrm>
          <a:prstGeom prst="rect"/>
        </p:spPr>
        <p:txBody>
          <a:bodyPr wrap="none" lIns="0" tIns="0" rIns="0" bIns="0"/>
          <a:p>
            <a:pPr>
              <a:lnSpc>
                <a:spcPct val="100000"/>
              </a:lnSpc>
            </a:pPr>
            <a:r>
              <a:rPr lang="zh-CN" sz="1275" b="1">
                <a:solidFill>
                  <a:srgbClr val="1B3557"/>
                </a:solidFill>
                <a:latin typeface="Noto Sans SC"/>
                <a:ea typeface="Noto Sans SC"/>
              </a:rPr>
              <a:t>约销售</a:t>
            </a:r>
            <a:r>
              <a:rPr lang="en-US" sz="1275" b="1">
                <a:solidFill>
                  <a:srgbClr val="1B3557"/>
                </a:solidFill>
                <a:latin typeface="Noto Sans SC"/>
                <a:ea typeface="Noto Sans SC"/>
              </a:rPr>
              <a:t>2</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部，把</a:t>
            </a:r>
            <a:r>
              <a:rPr lang="en-US" sz="1275" b="1">
                <a:solidFill>
                  <a:srgbClr val="1B3557"/>
                </a:solidFill>
                <a:latin typeface="Noto Sans SC"/>
                <a:ea typeface="Noto Sans SC"/>
              </a:rPr>
              <a:t>5</a:t>
            </a:r>
            <a:r>
              <a:rPr lang="en-US" sz="1275" b="1">
                <a:solidFill>
                  <a:srgbClr val="1B3557"/>
                </a:solidFill>
                <a:latin typeface="Noto Sans SC"/>
                <a:ea typeface="Noto Sans SC"/>
              </a:rPr>
              <a:t xml:space="preserve"> </a:t>
            </a:r>
            <a:r>
              <a:rPr lang="zh-CN" sz="1275" b="1">
                <a:solidFill>
                  <a:srgbClr val="1B3557"/>
                </a:solidFill>
                <a:latin typeface="Noto Sans SC"/>
                <a:ea typeface="Noto Sans SC"/>
              </a:rPr>
              <a:t>家店并进同一张表</a:t>
            </a:r>
            <a:endParaRPr/>
          </a:p>
        </p:txBody>
      </p:sp>
      <p:sp>
        <p:nvSpPr>
          <p:cNvPr id="78" name="" descr="{&quot;isTemplate&quot;:true,&quot;type&quot;:&quot;text&quot;}"/>
          <p:cNvSpPr txBox="1"/>
          <p:nvPr/>
        </p:nvSpPr>
        <p:spPr>
          <a:xfrm rot="0" flipH="0" flipV="0">
            <a:off x="2047875" y="4362450"/>
            <a:ext cx="6096000" cy="142875"/>
          </a:xfrm>
          <a:prstGeom prst="rect"/>
        </p:spPr>
        <p:txBody>
          <a:bodyPr wrap="none" lIns="0" tIns="0" rIns="0" bIns="0"/>
          <a:p>
            <a:pPr>
              <a:lnSpc>
                <a:spcPct val="100000"/>
              </a:lnSpc>
            </a:pPr>
            <a:r>
              <a:rPr lang="zh-CN" sz="938">
                <a:solidFill>
                  <a:srgbClr val="5F6975"/>
                </a:solidFill>
                <a:latin typeface="Noto Sans SC"/>
                <a:ea typeface="Noto Sans SC"/>
              </a:rPr>
              <a:t>并完这一份数据才覆盖</a:t>
            </a:r>
            <a:r>
              <a:rPr lang="en-US" sz="938">
                <a:solidFill>
                  <a:srgbClr val="5F6975"/>
                </a:solidFill>
                <a:latin typeface="Noto Sans SC"/>
                <a:ea typeface="Noto Sans SC"/>
              </a:rPr>
              <a:t>12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家店，口径才算齐</a:t>
            </a:r>
            <a:endParaRPr/>
          </a:p>
        </p:txBody>
      </p:sp>
      <p:sp>
        <p:nvSpPr>
          <p:cNvPr id="79" name="" descr="{&quot;isTemplate&quot;:true,&quot;type&quot;:&quot;text&quot;}"/>
          <p:cNvSpPr txBox="1"/>
          <p:nvPr/>
        </p:nvSpPr>
        <p:spPr>
          <a:xfrm rot="0" flipH="0" flipV="0">
            <a:off x="609600" y="6057900"/>
            <a:ext cx="1676400" cy="190500"/>
          </a:xfrm>
          <a:prstGeom prst="rect"/>
        </p:spPr>
        <p:txBody>
          <a:bodyPr wrap="none" lIns="0" tIns="0" rIns="0" bIns="0"/>
          <a:p>
            <a:pPr>
              <a:lnSpc>
                <a:spcPct val="100000"/>
              </a:lnSpc>
            </a:pPr>
            <a:r>
              <a:rPr lang="zh-CN" sz="1200">
                <a:solidFill>
                  <a:srgbClr val="5F6975"/>
                </a:solidFill>
                <a:latin typeface="Noto Sans SC"/>
                <a:ea typeface="Noto Sans SC"/>
              </a:rPr>
              <a:t>两周后拿五个数回来对。</a:t>
            </a:r>
            <a:endParaRPr/>
          </a:p>
        </p:txBody>
      </p:sp>
      <p:sp>
        <p:nvSpPr>
          <p:cNvPr id="80" name="" descr="{&quot;isTemplate&quot;:true,&quot;type&quot;:&quot;text&quot;}"/>
          <p:cNvSpPr txBox="1"/>
          <p:nvPr/>
        </p:nvSpPr>
        <p:spPr>
          <a:xfrm rot="0" flipH="0" flipV="0">
            <a:off x="8943975" y="6105525"/>
            <a:ext cx="2638425" cy="142875"/>
          </a:xfrm>
          <a:prstGeom prst="rect"/>
        </p:spPr>
        <p:txBody>
          <a:bodyPr wrap="none" lIns="0" tIns="0" rIns="0" bIns="0"/>
          <a:p>
            <a:pPr>
              <a:lnSpc>
                <a:spcPct val="100000"/>
              </a:lnSpc>
            </a:pPr>
            <a:r>
              <a:rPr lang="zh-CN" sz="938">
                <a:solidFill>
                  <a:srgbClr val="5F6975"/>
                </a:solidFill>
                <a:latin typeface="Noto Sans SC"/>
                <a:ea typeface="Noto Sans SC"/>
              </a:rPr>
              <a:t>数据区间</a:t>
            </a:r>
            <a:r>
              <a:rPr lang="en-US" sz="938">
                <a:solidFill>
                  <a:srgbClr val="5F6975"/>
                </a:solidFill>
                <a:latin typeface="Noto Sans SC"/>
                <a:ea typeface="Noto Sans SC"/>
              </a:rPr>
              <a:t>2026-10-01</a:t>
            </a:r>
            <a:r>
              <a:rPr lang="en-US" sz="938">
                <a:solidFill>
                  <a:srgbClr val="5F6975"/>
                </a:solidFill>
                <a:latin typeface="Noto Sans SC"/>
                <a:ea typeface="Noto Sans SC"/>
              </a:rPr>
              <a:t xml:space="preserve"> </a:t>
            </a:r>
            <a:r>
              <a:rPr lang="zh-CN" sz="938">
                <a:solidFill>
                  <a:srgbClr val="5F6975"/>
                </a:solidFill>
                <a:latin typeface="Noto Sans SC"/>
                <a:ea typeface="Noto Sans SC"/>
              </a:rPr>
              <a:t>至</a:t>
            </a:r>
            <a:r>
              <a:rPr lang="en-US" sz="938">
                <a:solidFill>
                  <a:srgbClr val="5F6975"/>
                </a:solidFill>
                <a:latin typeface="Noto Sans SC"/>
                <a:ea typeface="Noto Sans SC"/>
              </a:rPr>
              <a:t>2026-10-18</a:t>
            </a:r>
            <a:r>
              <a:rPr lang="zh-CN" sz="938">
                <a:solidFill>
                  <a:srgbClr val="5F6975"/>
                </a:solidFill>
                <a:latin typeface="Noto Sans SC"/>
                <a:ea typeface="Noto Sans SC"/>
              </a:rPr>
              <a:t>　</a:t>
            </a:r>
            <a:r>
              <a:rPr sz="938">
                <a:solidFill>
                  <a:srgbClr val="5F6975"/>
                </a:solidFill>
                <a:latin typeface="Noto Sans SC"/>
                <a:ea typeface="Noto Sans SC"/>
              </a:rPr>
              <a:t>·</a:t>
            </a:r>
            <a:r>
              <a:rPr lang="zh-CN" sz="938">
                <a:solidFill>
                  <a:srgbClr val="5F6975"/>
                </a:solidFill>
                <a:latin typeface="Noto Sans SC"/>
                <a:ea typeface="Noto Sans SC"/>
              </a:rPr>
              <a:t>　</a:t>
            </a:r>
            <a:r>
              <a:rPr lang="en-US" sz="938">
                <a:solidFill>
                  <a:srgbClr val="5F6975"/>
                </a:solidFill>
                <a:latin typeface="Noto Sans SC"/>
                <a:ea typeface="Noto Sans SC"/>
              </a:rPr>
              <a:t>12</a:t>
            </a:r>
            <a:r>
              <a:rPr lang="en-US" sz="938">
                <a:solidFill>
                  <a:srgbClr val="5F6975"/>
                </a:solidFill>
                <a:latin typeface="Noto Sans SC"/>
                <a:ea typeface="Noto Sans SC"/>
              </a:rPr>
              <a:t xml:space="preserve"> </a:t>
            </a:r>
            <a:r>
              <a:rPr lang="zh-CN" sz="938">
                <a:solidFill>
                  <a:srgbClr val="5F6975"/>
                </a:solidFill>
                <a:latin typeface="Noto Sans SC"/>
                <a:ea typeface="Noto Sans SC"/>
              </a:rPr>
              <a:t>家店铺</a:t>
            </a:r>
            <a:endParaRPr/>
          </a:p>
        </p:txBody>
      </p:sp>
      <p:sp>
        <p:nvSpPr>
          <p:cNvPr id="81"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82"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11</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12.xml><?xml version="1.0" encoding="utf-8"?>
<p:sld xmlns:p="http://schemas.openxmlformats.org/presentationml/2006/main" xmlns:a="http://schemas.openxmlformats.org/drawingml/2006/main">
  <p:cSld>
    <p:spTree>
      <p:nvGrpSpPr>
        <p:cNvPr id="83" name="" descr="&lt;Slide style={{ width: '1280px', height: '720px', background: '#FFFFFF', fontFamily: 'Noto Sans SC', padding: '20px 64px', flexDirection: 'column' }}&gt;&lt;Box style={{ height: '96px', flexDirection: 'column', justifyContent: 'center' }}&gt;&lt;Text style={{ fontSize: '31px', fontWeight: 700, color: '#1B3557', lineHeight: 1.25 }}&gt;附录 A：{'72'} 个零成交商品（{'18'} 天，按花费降序）&lt;/Text&gt;&lt;Text style={{ fontSize: '15px', color: '#5F6975', lineHeight: 1.4, marginTop: '6px' }}&gt;每行：编号｜完整商品名｜花费｜商品 ID 后{'6'} 位。合计{'13,120'} 元、{'10,910'} 次点击、{'0'} 成交。&lt;/Text&gt;&lt;/Box&gt;&lt;Box style={{ height: '540px', flexDirection: 'row', gap: '16px' }}&gt;&lt;Box style={{ width: '568px', flexDirection: 'column' }}&gt;&lt;Box style={{ flexDirection: 'row', alignItems: 'center', height: '14.5px', gap: '4px' }}&gt;&lt;Text style={{ fontSize: '9px', color: '#5F6975', width: '24px' }}&gt;{'01'}&lt;/Text&gt;&lt;Text style={{ fontSize: '9px', color: '#15181D', width: '448px' }}&gt;Nicoline设计师款式洞石人造石浴缸艺术家用民宿酒店一体独立浴池&lt;/Text&gt;&lt;Text style={{ fontSize: '9px', color: '#AE4128', width: '52px', textAlign: 'right' }}&gt;{'1,179'}&lt;/Text&gt;&lt;Text style={{ fontSize: '8px', color: '#5F6975', width: '44px', textAlign: 'right' }}&gt;{'507830'}&lt;/Text&gt;&lt;/Box&gt;&lt;Box style={{ flexDirection: 'row', alignItems: 'center', height: '14.5px', gap: '4px' }}&gt;&lt;Text style={{ fontSize: '9px', color: '#5F6975', width: '24px' }}&gt;{'02'}&lt;/Text&gt;&lt;Text style={{ fontSize: '9px', color: '#15181D', width: '448px' }}&gt;Nicoline哑光粉色长方形一体绮美石浴池酒店网红双人民宿家用浴缸&lt;/Text&gt;&lt;Text style={{ fontSize: '9px', color: '#AE4128', width: '52px', textAlign: 'right' }}&gt;{'692'}&lt;/Text&gt;&lt;Text style={{ fontSize: '8px', color: '#5F6975', width: '44px', textAlign: 'right' }}&gt;{'446178'}&lt;/Text&gt;&lt;/Box&gt;&lt;Box style={{ flexDirection: 'row', alignItems: 'center', height: '14.5px', gap: '4px' }}&gt;&lt;Text style={{ fontSize: '9px', color: '#5F6975', width: '24px' }}&gt;{'03'}&lt;/Text&gt;&lt;Text style={{ fontSize: '9px', color: '#15181D', width: '448px' }}&gt;盖文侘寂风洞石圆柱立柱盆小户型家用酒店民宿方形一体落地洗手盆&lt;/Text&gt;&lt;Text style={{ fontSize: '9px', color: '#AE4128', width: '52px', textAlign: 'right' }}&gt;{'648'}&lt;/Text&gt;&lt;Text style={{ fontSize: '8px', color: '#5F6975', width: '44px', textAlign: 'right' }}&gt;{'660377'}&lt;/Text&gt;&lt;/Box&gt;&lt;Box style={{ flexDirection: 'row', alignItems: 'center', height: '14.5px', gap: '4px' }}&gt;&lt;Text style={{ fontSize: '9px', color: '#5F6975', width: '24px' }}&gt;{'04'}&lt;/Text&gt;&lt;Text style={{ fontSize: '9px', color: '#15181D', width: '448px' }}&gt;科塔超窄边人造石洗漱盆家用民宿挂墙式一体成型洗手洗脸台盆定制&lt;/Text&gt;&lt;Text style={{ fontSize: '9px', color: '#AE4128', width: '52px', textAlign: 'right' }}&gt;{'629'}&lt;/Text&gt;&lt;Text style={{ fontSize: '8px', color: '#5F6975', width: '44px', textAlign: 'right' }}&gt;{'220039'}&lt;/Text&gt;&lt;/Box&gt;&lt;Box style={{ flexDirection: 'row', alignItems: 'center', height: '14.5px', gap: '4px' }}&gt;&lt;Text style={{ fontSize: '9px', color: '#5F6975', width: '24px' }}&gt;{'05'}&lt;/Text&gt;&lt;Text style={{ fontSize: '9px', color: '#15181D', width: '448px' }}&gt;Gavin盖文家用人造石PMMA浴缸独立一体式双人酒店民宿鹅蛋型浴盆&lt;/Text&gt;&lt;Text style={{ fontSize: '9px', color: '#AE4128', width: '52px', textAlign: 'right' }}&gt;{'557'}&lt;/Text&gt;&lt;Text style={{ fontSize: '8px', color: '#5F6975', width: '44px', textAlign: 'right' }}&gt;{'973384'}&lt;/Text&gt;&lt;/Box&gt;&lt;Box style={{ flexDirection: 'row', alignItems: 'center', height: '14.5px', gap: '4px' }}&gt;&lt;Text style={{ fontSize: '9px', color: '#5F6975', width: '24px' }}&gt;{'06'}&lt;/Text&gt;&lt;Text style={{ fontSize: '9px', color: '#15181D', width: '448px' }}&gt;网林人造石方形浴缸一体式小户型家用深泡浴池坐式可拆卸浴盆&lt;/Text&gt;&lt;Text style={{ fontSize: '9px', color: '#AE4128', width: '52px', textAlign: 'right' }}&gt;{'556'}&lt;/Text&gt;&lt;Text style={{ fontSize: '8px', color: '#5F6975', width: '44px', textAlign: 'right' }}&gt;{'369469'}&lt;/Text&gt;&lt;/Box&gt;&lt;Box style={{ flexDirection: 'row', alignItems: 'center', height: '14.5px', gap: '4px' }}&gt;&lt;Text style={{ fontSize: '9px', color: '#5F6975', width: '24px' }}&gt;{'07'}&lt;/Text&gt;&lt;Text style={{ fontSize: '9px', color: '#15181D', width: '448px' }}&gt;网林日系侘寂风岩石立柱盆设计师款个性创意洞石一体式落地洗手盆&lt;/Text&gt;&lt;Text style={{ fontSize: '9px', color: '#AE4128', width: '52px', textAlign: 'right' }}&gt;{'493'}&lt;/Text&gt;&lt;Text style={{ fontSize: '8px', color: '#5F6975', width: '44px', textAlign: 'right' }}&gt;{'430900'}&lt;/Text&gt;&lt;/Box&gt;&lt;Box style={{ flexDirection: 'row', alignItems: 'center', height: '14.5px', gap: '4px' }}&gt;&lt;Text style={{ fontSize: '9px', color: '#5F6975', width: '24px' }}&gt;{'08'}&lt;/Text&gt;&lt;Text style={{ fontSize: '9px', color: '#15181D', width: '448px' }}&gt;盖文浴缸人造石深泡家用小户型方形洞石浴池一体坐式独立洗浴盆&lt;/Text&gt;&lt;Text style={{ fontSize: '9px', color: '#AE4128', width: '52px', textAlign: 'right' }}&gt;{'458'}&lt;/Text&gt;&lt;Text style={{ fontSize: '8px', color: '#5F6975', width: '44px', textAlign: 'right' }}&gt;{'256128'}&lt;/Text&gt;&lt;/Box&gt;&lt;Box style={{ flexDirection: 'row', alignItems: 'center', height: '14.5px', gap: '4px' }}&gt;&lt;Text style={{ fontSize: '9px', color: '#5F6975', width: '24px' }}&gt;{'09'}&lt;/Text&gt;&lt;Text style={{ fontSize: '9px', color: '#15181D', width: '448px' }}&gt;网林小户型家用坐式浴缸人造石一体式深泡浴盆日式新型泡澡浴池&lt;/Text&gt;&lt;Text style={{ fontSize: '9px', color: '#AE4128', width: '52px', textAlign: 'right' }}&gt;{'450'}&lt;/Text&gt;&lt;Text style={{ fontSize: '8px', color: '#5F6975', width: '44px', textAlign: 'right' }}&gt;{'628377'}&lt;/Text&gt;&lt;/Box&gt;&lt;Box style={{ flexDirection: 'row', alignItems: 'center', height: '14.5px', gap: '4px' }}&gt;&lt;Text style={{ fontSize: '9px', color: '#5F6975', width: '24px' }}&gt;{'10'}&lt;/Text&gt;&lt;Text style={{ fontSize: '9px', color: '#15181D', width: '448px' }}&gt;Nicoline洞石款人造石浴缸家用酒店民宿别墅轻奢简约艺术独立浴池&lt;/Text&gt;&lt;Text style={{ fontSize: '9px', color: '#AE4128', width: '52px', textAlign: 'right' }}&gt;{'435'}&lt;/Text&gt;&lt;Text style={{ fontSize: '8px', color: '#5F6975', width: '44px', textAlign: 'right' }}&gt;{'995766'}&lt;/Text&gt;&lt;/Box&gt;&lt;Box style={{ flexDirection: 'row', alignItems: 'center', height: '14.5px', gap: '4px' }}&gt;&lt;Text style={{ fontSize: '9px', color: '#5F6975', width: '24px' }}&gt;{'11'}&lt;/Text&gt;&lt;Text style={{ fontSize: '9px', color: '#15181D', width: '448px' }}&gt;Nicoline人造石浴缸洞石一体式深泡家用别墅独立浴池方形双人款&lt;/Text&gt;&lt;Text style={{ fontSize: '9px', color: '#AE4128', width: '52px', textAlign: 'right' }}&gt;{'426'}&lt;/Text&gt;&lt;Text style={{ fontSize: '8px', color: '#5F6975', width: '44px', textAlign: 'right' }}&gt;{'532758'}&lt;/Text&gt;&lt;/Box&gt;&lt;Box style={{ flexDirection: 'row', alignItems: 'center', height: '14.5px', gap: '4px' }}&gt;&lt;Text style={{ fontSize: '9px', color: '#5F6975', width: '24px' }}&gt;{'12'}&lt;/Text&gt;&lt;Text style={{ fontSize: '9px', color: '#15181D', width: '448px' }}&gt;网林浴缸人造石一体小户型新型泡澡浴池家用独立式深泡日式浴盆&lt;/Text&gt;&lt;Text style={{ fontSize: '9px', color: '#AE4128', width: '52px', textAlign: 'right' }}&gt;{'421'}&lt;/Text&gt;&lt;Text style={{ fontSize: '8px', color: '#5F6975', width: '44px', textAlign: 'right' }}&gt;{'033110'}&lt;/Text&gt;&lt;/Box&gt;&lt;Box style={{ flexDirection: 'row', alignItems: 'center', height: '14.5px', gap: '4px' }}&gt;&lt;Text style={{ fontSize: '9px', color: '#5F6975', width: '24px' }}&gt;{'13'}&lt;/Text&gt;&lt;Text style={{ fontSize: '9px', color: '#15181D', width: '448px' }}&gt;Nicoline椭圆形洞石款人造石浴池家用民宿酒店艺术一体独立式浴缸&lt;/Text&gt;&lt;Text style={{ fontSize: '9px', color: '#AE4128', width: '52px', textAlign: 'right' }}&gt;{'390'}&lt;/Text&gt;&lt;Text style={{ fontSize: '8px', color: '#5F6975', width: '44px', textAlign: 'right' }}&gt;{'164909'}&lt;/Text&gt;&lt;/Box&gt;&lt;Box style={{ flexDirection: 'row', alignItems: 'center', height: '14.5px', gap: '4px' }}&gt;&lt;Text style={{ fontSize: '9px', color: '#5F6975', width: '24px' }}&gt;{'14'}&lt;/Text&gt;&lt;Text style={{ fontSize: '9px', color: '#15181D', width: '448px' }}&gt;Nicoline人造石深泡坐式一体浴缸日式酒店民宿卫生间工程迷你浴盆&lt;/Text&gt;&lt;Text style={{ fontSize: '9px', color: '#AE4128', width: '52px', textAlign: 'right' }}&gt;{'365'}&lt;/Text&gt;&lt;Text style={{ fontSize: '8px', color: '#5F6975', width: '44px', textAlign: 'right' }}&gt;{'602271'}&lt;/Text&gt;&lt;/Box&gt;&lt;Box style={{ flexDirection: 'row', alignItems: 'center', height: '14.5px', gap: '4px' }}&gt;&lt;Text style={{ fontSize: '9px', color: '#5F6975', width: '24px' }}&gt;{'15'}&lt;/Text&gt;&lt;Text style={{ fontSize: '9px', color: '#15181D', width: '448px' }}&gt;网林人造石独立式方形一体成型落地洗脸盆民宿酒店阳台立柱盆定制&lt;/Text&gt;&lt;Text style={{ fontSize: '9px', color: '#AE4128', width: '52px', textAlign: 'right' }}&gt;{'324'}&lt;/Text&gt;&lt;Text style={{ fontSize: '8px', color: '#5F6975', width: '44px', textAlign: 'right' }}&gt;{'918945'}&lt;/Text&gt;&lt;/Box&gt;&lt;Box style={{ flexDirection: 'row', alignItems: 'center', height: '14.5px', gap: '4px' }}&gt;&lt;Text style={{ fontSize: '9px', color: '#5F6975', width: '24px' }}&gt;{'16'}&lt;/Text&gt;&lt;Text style={{ fontSize: '9px', color: '#15181D', width: '448px' }}&gt;盖文洞石浴缸人造石家用独立小户型日式浴池深泡一体坐式洗浴盆&lt;/Text&gt;&lt;Text style={{ fontSize: '9px', color: '#AE4128', width: '52px', textAlign: 'right' }}&gt;{'322'}&lt;/Text&gt;&lt;Text style={{ fontSize: '8px', color: '#5F6975', width: '44px', textAlign: 'right' }}&gt;{'619950'}&lt;/Text&gt;&lt;/Box&gt;&lt;Box style={{ flexDirection: 'row', alignItems: 'center', height: '14.5px', gap: '4px' }}&gt;&lt;Text style={{ fontSize: '9px', color: '#5F6975', width: '24px' }}&gt;{'17'}&lt;/Text&gt;&lt;Text style={{ fontSize: '9px', color: '#15181D', width: '448px' }}&gt;Nicoline长方形独立式一体式人造绮美石浴缸酒店民宿双人情侣浴盆&lt;/Text&gt;&lt;Text style={{ fontSize: '9px', color: '#AE4128', width: '52px', textAlign: 'right' }}&gt;{'314'}&lt;/Text&gt;&lt;Text style={{ fontSize: '8px', color: '#5F6975', width: '44px', textAlign: 'right' }}&gt;{'731796'}&lt;/Text&gt;&lt;/Box&gt;&lt;Box style={{ flexDirection: 'row', alignItems: 'center', height: '14.5px', gap: '4px' }}&gt;&lt;Text style={{ fontSize: '9px', color: '#5F6975', width: '24px' }}&gt;{'18'}&lt;/Text&gt;&lt;Text style={{ fontSize: '9px', color: '#15181D', width: '448px' }}&gt;Nicoline独立式人造绮美石浴缸小户型家用卫生间精品民宿坐式浴盆&lt;/Text&gt;&lt;Text style={{ fontSize: '9px', color: '#AE4128', width: '52px', textAlign: 'right' }}&gt;{'278'}&lt;/Text&gt;&lt;Text style={{ fontSize: '8px', color: '#5F6975', width: '44px', textAlign: 'right' }}&gt;{'405745'}&lt;/Text&gt;&lt;/Box&gt;&lt;Box style={{ flexDirection: 'row', alignItems: 'center', height: '14.5px', gap: '4px' }}&gt;&lt;Text style={{ fontSize: '9px', color: '#5F6975', width: '24px' }}&gt;{'19'}&lt;/Text&gt;&lt;Text style={{ fontSize: '9px', color: '#15181D', width: '448px' }}&gt;Nicoline大理石纹浴缸人造石独立一体式家用深泡设计浴池双人浴盆&lt;/Text&gt;&lt;Text style={{ fontSize: '9px', color: '#AE4128', width: '52px', textAlign: 'right' }}&gt;{'269'}&lt;/Text&gt;&lt;Text style={{ fontSize: '8px', color: '#5F6975', width: '44px', textAlign: 'right' }}&gt;{'430805'}&lt;/Text&gt;&lt;/Box&gt;&lt;Box style={{ flexDirection: 'row', alignItems: 'center', height: '14.5px', gap: '4px' }}&gt;&lt;Text style={{ fontSize: '9px', color: '#5F6975', width: '24px' }}&gt;{'20'}&lt;/Text&gt;&lt;Text style={{ fontSize: '9px', color: '#15181D', width: '448px' }}&gt;盖文人造石高分子双层置物台面落地洗手盆小户型家用一体台盆定制&lt;/Text&gt;&lt;Text style={{ fontSize: '9px', color: '#AE4128', width: '52px', textAlign: 'right' }}&gt;{'223'}&lt;/Text&gt;&lt;Text style={{ fontSize: '8px', color: '#5F6975', width: '44px', textAlign: 'right' }}&gt;{'768943'}&lt;/Text&gt;&lt;/Box&gt;&lt;Box style={{ flexDirection: 'row', alignItems: 'center', height: '14.5px', gap: '4px' }}&gt;&lt;Text style={{ fontSize: '9px', color: '#5F6975', width: '24px' }}&gt;{'21'}&lt;/Text&gt;&lt;Text style={{ fontSize: '9px', color: '#15181D', width: '448px' }}&gt;网林奶咖色人造石一体洗手盆小户型卫生间挂墙式极窄洗漱台盆定制&lt;/Text&gt;&lt;Text style={{ fontSize: '9px', color: '#AE4128', width: '52px', textAlign: 'right' }}&gt;{'197'}&lt;/Text&gt;&lt;Text style={{ fontSize: '8px', color: '#5F6975', width: '44px', textAlign: 'right' }}&gt;{'457862'}&lt;/Text&gt;&lt;/Box&gt;&lt;Box style={{ flexDirection: 'row', alignItems: 'center', height: '14.5px', gap: '4px' }}&gt;&lt;Text style={{ fontSize: '9px', color: '#5F6975', width: '24px' }}&gt;{'22'}&lt;/Text&gt;&lt;Text style={{ fontSize: '9px', color: '#15181D', width: '448px' }}&gt;网林简约现代人造石立柱盆家用卫生间落地一体式置物台面洗手台盆&lt;/Text&gt;&lt;Text style={{ fontSize: '9px', color: '#AE4128', width: '52px', textAlign: 'right' }}&gt;{'194'}&lt;/Text&gt;&lt;Text style={{ fontSize: '8px', color: '#5F6975', width: '44px', textAlign: 'right' }}&gt;{'282396'}&lt;/Text&gt;&lt;/Box&gt;&lt;Box style={{ flexDirection: 'row', alignItems: 'center', height: '14.5px', gap: '4px' }}&gt;&lt;Text style={{ fontSize: '9px', color: '#5F6975', width: '24px' }}&gt;{'23'}&lt;/Text&gt;&lt;Text style={{ fontSize: '9px', color: '#15181D', width: '448px' }}&gt;盖文现代简约人造石立柱盆家用卫生间落地式洗手盆小户型洗脸盆&lt;/Text&gt;&lt;Text style={{ fontSize: '9px', color: '#AE4128', width: '52px', textAlign: 'right' }}&gt;{'185'}&lt;/Text&gt;&lt;Text style={{ fontSize: '8px', color: '#5F6975', width: '44px', textAlign: 'right' }}&gt;{'737494'}&lt;/Text&gt;&lt;/Box&gt;&lt;Box style={{ flexDirection: 'row', alignItems: 'center', height: '14.5px', gap: '4px' }}&gt;&lt;Text style={{ fontSize: '9px', color: '#5F6975', width: '24px' }}&gt;{'24'}&lt;/Text&gt;&lt;Text style={{ fontSize: '9px', color: '#15181D', width: '448px' }}&gt;盖文Gavin人造石深泡一体浴盆日式酒店民宿独立式小户型浴缸家用&lt;/Text&gt;&lt;Text style={{ fontSize: '9px', color: '#AE4128', width: '52px', textAlign: 'right' }}&gt;{'185'}&lt;/Text&gt;&lt;Text style={{ fontSize: '8px', color: '#5F6975', width: '44px', textAlign: 'right' }}&gt;{'895799'}&lt;/Text&gt;&lt;/Box&gt;&lt;Box style={{ flexDirection: 'row', alignItems: 'center', height: '14.5px', gap: '4px' }}&gt;&lt;Text style={{ fontSize: '9px', color: '#5F6975', width: '24px' }}&gt;{'25'}&lt;/Text&gt;&lt;Text style={{ fontSize: '9px', color: '#15181D', width: '448px' }}&gt;网林长方形人造高分子独立式浴缸酒店民宿家用双人情侣哑光白浴池&lt;/Text&gt;&lt;Text style={{ fontSize: '9px', color: '#AE4128', width: '52px', textAlign: 'right' }}&gt;{'152'}&lt;/Text&gt;&lt;Text style={{ fontSize: '8px', color: '#5F6975', width: '44px', textAlign: 'right' }}&gt;{'705176'}&lt;/Text&gt;&lt;/Box&gt;&lt;Box style={{ flexDirection: 'row', alignItems: 'center', height: '14.5px', gap: '4px' }}&gt;&lt;Text style={{ fontSize: '9px', color: '#5F6975', width: '24px' }}&gt;{'26'}&lt;/Text&gt;&lt;Text style={{ fontSize: '9px', color: '#15181D', width: '448px' }}&gt;Nicoline独立式人造绮美石鹅蛋型家用卫生间浴缸酒店民宿浴室浴池&lt;/Text&gt;&lt;Text style={{ fontSize: '9px', color: '#AE4128', width: '52px', textAlign: 'right' }}&gt;{'142'}&lt;/Text&gt;&lt;Text style={{ fontSize: '8px', color: '#5F6975', width: '44px', textAlign: 'right' }}&gt;{'976754'}&lt;/Text&gt;&lt;/Box&gt;&lt;Box style={{ flexDirection: 'row', alignItems: 'center', height: '14.5px', gap: '4px' }}&gt;&lt;Text style={{ fontSize: '9px', color: '#5F6975', width: '24px' }}&gt;{'27'}&lt;/Text&gt;&lt;Text style={{ fontSize: '9px', color: '#15181D', width: '448px' }}&gt;网林侘寂奶油风立柱盆设计师一体式条纹艺术台盆日式落地式洗手盆&lt;/Text&gt;&lt;Text style={{ fontSize: '9px', color: '#AE4128', width: '52px', textAlign: 'right' }}&gt;{'142'}&lt;/Text&gt;&lt;Text style={{ fontSize: '8px', color: '#5F6975', width: '44px', textAlign: 'right' }}&gt;{'953263'}&lt;/Text&gt;&lt;/Box&gt;&lt;Box style={{ flexDirection: 'row', alignItems: 'center', height: '14.5px', gap: '4px' }}&gt;&lt;Text style={{ fontSize: '9px', color: '#5F6975', width: '24px' }}&gt;{'28'}&lt;/Text&gt;&lt;Text style={{ fontSize: '9px', color: '#15181D', width: '448px' }}&gt;网林哑光白置物台面带储物一体洗手盆小户型家用人造高分子立柱盆&lt;/Text&gt;&lt;Text style={{ fontSize: '9px', color: '#AE4128', width: '52px', textAlign: 'right' }}&gt;{'129'}&lt;/Text&gt;&lt;Text style={{ fontSize: '8px', color: '#5F6975', width: '44px', textAlign: 'right' }}&gt;{'697783'}&lt;/Text&gt;&lt;/Box&gt;&lt;Box style={{ flexDirection: 'row', alignItems: 'center', height: '14.5px', gap: '4px' }}&gt;&lt;Text style={{ fontSize: '9px', color: '#5F6975', width: '24px' }}&gt;{'29'}&lt;/Text&gt;&lt;Text style={{ fontSize: '9px', color: '#15181D', width: '448px' }}&gt;科塔白色哑光挂墙式半嵌入式大肚盆洗手盆洗面池台下盆台上盆定制&lt;/Text&gt;&lt;Text style={{ fontSize: '9px', color: '#AE4128', width: '52px', textAlign: 'right' }}&gt;{'125'}&lt;/Text&gt;&lt;Text style={{ fontSize: '8px', color: '#5F6975', width: '44px', textAlign: 'right' }}&gt;{'559945'}&lt;/Text&gt;&lt;/Box&gt;&lt;Box style={{ flexDirection: 'row', alignItems: 'center', height: '14.5px', gap: '4px' }}&gt;&lt;Text style={{ fontSize: '9px', color: '#5F6975', width: '24px' }}&gt;{'30'}&lt;/Text&gt;&lt;Text style={{ fontSize: '9px', color: '#15181D', width: '448px' }}&gt;盖文一体人造石储物立柱盆酒店家用小户型卫生间落地式洗手池台盆&lt;/Text&gt;&lt;Text style={{ fontSize: '9px', color: '#AE4128', width: '52px', textAlign: 'right' }}&gt;{'120'}&lt;/Text&gt;&lt;Text style={{ fontSize: '8px', color: '#5F6975', width: '44px', textAlign: 'right' }}&gt;{'693668'}&lt;/Text&gt;&lt;/Box&gt;&lt;Box style={{ flexDirection: 'row', alignItems: 'center', height: '14.5px', gap: '4px' }}&gt;&lt;Text style={{ fontSize: '9px', color: '#5F6975', width: '24px' }}&gt;{'31'}&lt;/Text&gt;&lt;Text style={{ fontSize: '9px', color: '#15181D', width: '448px' }}&gt;Nicoline瓷青大理石纹人造石浴缸艺术感独立酒店家用网红独立浴池&lt;/Text&gt;&lt;Text style={{ fontSize: '9px', color: '#AE4128', width: '52px', textAlign: 'right' }}&gt;{'113'}&lt;/Text&gt;&lt;Text style={{ fontSize: '8px', color: '#5F6975', width: '44px', textAlign: 'right' }}&gt;{'935805'}&lt;/Text&gt;&lt;/Box&gt;&lt;Box style={{ flexDirection: 'row', alignItems: 'center', height: '14.5px', gap: '4px' }}&gt;&lt;Text style={{ fontSize: '9px', color: '#5F6975', width: '24px' }}&gt;{'32'}&lt;/Text&gt;&lt;Text style={{ fontSize: '9px', color: '#15181D', width: '448px' }}&gt;盖文小户型独立式浴缸家用酒店民宿卫生间日式人造石深泡日式浴盆&lt;/Text&gt;&lt;Text style={{ fontSize: '9px', color: '#AE4128', width: '52px', textAlign: 'right' }}&gt;{'112'}&lt;/Text&gt;&lt;Text style={{ fontSize: '8px', color: '#5F6975', width: '44px', textAlign: 'right' }}&gt;{'886202'}&lt;/Text&gt;&lt;/Box&gt;&lt;Box style={{ flexDirection: 'row', alignItems: 'center', height: '14.5px', gap: '4px' }}&gt;&lt;Text style={{ fontSize: '9px', color: '#5F6975', width: '24px' }}&gt;{'33'}&lt;/Text&gt;&lt;Text style={{ fontSize: '9px', color: '#15181D', width: '448px' }}&gt;Nicoline大理石纹独立浴缸人造石深泡酒店家用情侣双人鹅蛋形浴盆&lt;/Text&gt;&lt;Text style={{ fontSize: '9px', color: '#AE4128', width: '52px', textAlign: 'right' }}&gt;{'111'}&lt;/Text&gt;&lt;Text style={{ fontSize: '8px', color: '#5F6975', width: '44px', textAlign: 'right' }}&gt;{'357037'}&lt;/Text&gt;&lt;/Box&gt;&lt;Box style={{ flexDirection: 'row', alignItems: 'center', height: '14.5px', gap: '4px' }}&gt;&lt;Text style={{ fontSize: '9px', color: '#5F6975', width: '24px' }}&gt;{'34'}&lt;/Text&gt;&lt;Text style={{ fontSize: '9px', color: '#15181D', width: '448px' }}&gt;科塔家用卫生间洗手盆一体成型窄边人造石小户型迷你洗脸台盆定制&lt;/Text&gt;&lt;Text style={{ fontSize: '9px', color: '#AE4128', width: '52px', textAlign: 'right' }}&gt;{'110'}&lt;/Text&gt;&lt;Text style={{ fontSize: '8px', color: '#5F6975', width: '44px', textAlign: 'right' }}&gt;{'800449'}&lt;/Text&gt;&lt;/Box&gt;&lt;Box style={{ flexDirection: 'row', alignItems: 'center', height: '14.5px', gap: '4px' }}&gt;&lt;Text style={{ fontSize: '9px', color: '#5F6975', width: '24px' }}&gt;{'35'}&lt;/Text&gt;&lt;Text style={{ fontSize: '9px', color: '#15181D', width: '448px' }}&gt;科塔壁挂墙式洗脸盆人造石家用卫生间洗漱盆设计师款洗手台盆定制&lt;/Text&gt;&lt;Text style={{ fontSize: '9px', color: '#AE4128', width: '52px', textAlign: 'right' }}&gt;{'103'}&lt;/Text&gt;&lt;Text style={{ fontSize: '8px', color: '#5F6975', width: '44px', textAlign: 'right' }}&gt;{'201429'}&lt;/Text&gt;&lt;/Box&gt;&lt;Box style={{ flexDirection: 'row', alignItems: 'center', height: '14.5px', gap: '4px' }}&gt;&lt;Text style={{ fontSize: '9px', color: '#5F6975', width: '24px' }}&gt;{'36'}&lt;/Text&gt;&lt;Text style={{ fontSize: '9px', color: '#15181D', width: '448px' }}&gt;Nicoline方形独立式人造石浴缸酒店民宿情侣家用别墅双人一体浴盆&lt;/Text&gt;&lt;Text style={{ fontSize: '9px', color: '#AE4128', width: '52px', textAlign: 'right' }}&gt;{'99'}&lt;/Text&gt;&lt;Text style={{ fontSize: '8px', color: '#5F6975', width: '44px', textAlign: 'right' }}&gt;{'185721'}&lt;/Text&gt;&lt;/Box&gt;&lt;/Box&gt;&lt;Box style={{ width: '568px', flexDirection: 'column' }}&gt;&lt;Box style={{ flexDirection: 'row', alignItems: 'center', height: '14.5px', gap: '4px' }}&gt;&lt;Text style={{ fontSize: '9px', color: '#5F6975', width: '24px' }}&gt;{'37'}&lt;/Text&gt;&lt;Text style={{ fontSize: '9px', color: '#15181D', width: '448px' }}&gt;Nicoline人造绮美石奶咖色浴缸家用网红酒店民宿浴室一体式大浴盆&lt;/Text&gt;&lt;Text style={{ fontSize: '9px', color: '#AE4128', width: '52px', textAlign: 'right' }}&gt;{'97'}&lt;/Text&gt;&lt;Text style={{ fontSize: '8px', color: '#5F6975', width: '44px', textAlign: 'right' }}&gt;{'030923'}&lt;/Text&gt;&lt;/Box&gt;&lt;Box style={{ flexDirection: 'row', alignItems: 'center', height: '14.5px', gap: '4px' }}&gt;&lt;Text style={{ fontSize: '9px', color: '#5F6975', width: '24px' }}&gt;{'38'}&lt;/Text&gt;&lt;Text style={{ fontSize: '9px', color: '#15181D', width: '448px' }}&gt;网林木柱子储物柜体立柱盆人造石台盆家用酒店民宿一体落地洗手盆&lt;/Text&gt;&lt;Text style={{ fontSize: '9px', color: '#AE4128', width: '52px', textAlign: 'right' }}&gt;{'96'}&lt;/Text&gt;&lt;Text style={{ fontSize: '8px', color: '#5F6975', width: '44px', textAlign: 'right' }}&gt;{'554116'}&lt;/Text&gt;&lt;/Box&gt;&lt;Box style={{ flexDirection: 'row', alignItems: 'center', height: '14.5px', gap: '4px' }}&gt;&lt;Text style={{ fontSize: '9px', color: '#5F6975', width: '24px' }}&gt;{'39'}&lt;/Text&gt;&lt;Text style={{ fontSize: '9px', color: '#15181D', width: '448px' }}&gt;科塔简约小户型挂墙前凸半嵌入式人造石纯亚克力洗手盆洗漱台定制&lt;/Text&gt;&lt;Text style={{ fontSize: '9px', color: '#AE4128', width: '52px', textAlign: 'right' }}&gt;{'95'}&lt;/Text&gt;&lt;Text style={{ fontSize: '8px', color: '#5F6975', width: '44px', textAlign: 'right' }}&gt;{'811111'}&lt;/Text&gt;&lt;/Box&gt;&lt;Box style={{ flexDirection: 'row', alignItems: 'center', height: '14.5px', gap: '4px' }}&gt;&lt;Text style={{ fontSize: '9px', color: '#5F6975', width: '24px' }}&gt;{'40'}&lt;/Text&gt;&lt;Text style={{ fontSize: '9px', color: '#15181D', width: '448px' }}&gt;盖文木纹台面人造石一体立柱盆家用酒店民宿卫生间落地式洗手台盆&lt;/Text&gt;&lt;Text style={{ fontSize: '9px', color: '#AE4128', width: '52px', textAlign: 'right' }}&gt;{'89'}&lt;/Text&gt;&lt;Text style={{ fontSize: '8px', color: '#5F6975', width: '44px', textAlign: 'right' }}&gt;{'587967'}&lt;/Text&gt;&lt;/Box&gt;&lt;Box style={{ flexDirection: 'row', alignItems: 'center', height: '14.5px', gap: '4px' }}&gt;&lt;Text style={{ fontSize: '9px', color: '#5F6975', width: '24px' }}&gt;{'41'}&lt;/Text&gt;&lt;Text style={{ fontSize: '9px', color: '#15181D', width: '448px' }}&gt;盖文圆形人造石洗脸洗手台盆酒店工程卫生间落地一体式立柱盆定制&lt;/Text&gt;&lt;Text style={{ fontSize: '9px', color: '#AE4128', width: '52px', textAlign: 'right' }}&gt;{'88'}&lt;/Text&gt;&lt;Text style={{ fontSize: '8px', color: '#5F6975', width: '44px', textAlign: 'right' }}&gt;{'502294'}&lt;/Text&gt;&lt;/Box&gt;&lt;Box style={{ flexDirection: 'row', alignItems: 'center', height: '14.5px', gap: '4px' }}&gt;&lt;Text style={{ fontSize: '9px', color: '#5F6975', width: '24px' }}&gt;{'42'}&lt;/Text&gt;&lt;Text style={{ fontSize: '9px', color: '#15181D', width: '448px' }}&gt;Nicoline大理石纹独立人造石浴缸酒店家用情侣双人鹅蛋置物台浴盆&lt;/Text&gt;&lt;Text style={{ fontSize: '9px', color: '#AE4128', width: '52px', textAlign: 'right' }}&gt;{'87'}&lt;/Text&gt;&lt;Text style={{ fontSize: '8px', color: '#5F6975', width: '44px', textAlign: 'right' }}&gt;{'215522'}&lt;/Text&gt;&lt;/Box&gt;&lt;Box style={{ flexDirection: 'row', alignItems: 'center', height: '14.5px', gap: '4px' }}&gt;&lt;Text style={{ fontSize: '9px', color: '#5F6975', width: '24px' }}&gt;{'43'}&lt;/Text&gt;&lt;Text style={{ fontSize: '9px', color: '#15181D', width: '448px' }}&gt;网林方形亚克力浴缸家用小户型日式深泡新型泡澡独立一体式浴盆&lt;/Text&gt;&lt;Text style={{ fontSize: '9px', color: '#AE4128', width: '52px', textAlign: 'right' }}&gt;{'81'}&lt;/Text&gt;&lt;Text style={{ fontSize: '8px', color: '#5F6975', width: '44px', textAlign: 'right' }}&gt;{'050096'}&lt;/Text&gt;&lt;/Box&gt;&lt;Box style={{ flexDirection: 'row', alignItems: 'center', height: '14.5px', gap: '4px' }}&gt;&lt;Text style={{ fontSize: '9px', color: '#5F6975', width: '24px' }}&gt;{'44'}&lt;/Text&gt;&lt;Text style={{ fontSize: '9px', color: '#15181D', width: '448px' }}&gt;Nicoline里可林奶咖色人造石小浴缸家用小户型迷你款一体成型浴盆&lt;/Text&gt;&lt;Text style={{ fontSize: '9px', color: '#AE4128', width: '52px', textAlign: 'right' }}&gt;{'78'}&lt;/Text&gt;&lt;Text style={{ fontSize: '8px', color: '#5F6975', width: '44px', textAlign: 'right' }}&gt;{'643551'}&lt;/Text&gt;&lt;/Box&gt;&lt;Box style={{ flexDirection: 'row', alignItems: 'center', height: '14.5px', gap: '4px' }}&gt;&lt;Text style={{ fontSize: '9px', color: '#5F6975', width: '24px' }}&gt;{'45'}&lt;/Text&gt;&lt;Text style={{ fontSize: '9px', color: '#15181D', width: '448px' }}&gt;网林半圆弧型人造石洗手盆酒店卫生间民宿挂墙式洗脸盆洗漱盆定制&lt;/Text&gt;&lt;Text style={{ fontSize: '9px', color: '#AE4128', width: '52px', textAlign: 'right' }}&gt;{'73'}&lt;/Text&gt;&lt;Text style={{ fontSize: '8px', color: '#5F6975', width: '44px', textAlign: 'right' }}&gt;{'257947'}&lt;/Text&gt;&lt;/Box&gt;&lt;Box style={{ flexDirection: 'row', alignItems: 'center', height: '14.5px', gap: '4px' }}&gt;&lt;Text style={{ fontSize: '9px', color: '#5F6975', width: '24px' }}&gt;{'46'}&lt;/Text&gt;&lt;Text style={{ fontSize: '9px', color: '#15181D', width: '448px' }}&gt;Gavin盖文绮美石PMMA人造石独立浴缸哑光椭圆形民宿酒店家用浴盆&lt;/Text&gt;&lt;Text style={{ fontSize: '9px', color: '#AE4128', width: '52px', textAlign: 'right' }}&gt;{'69'}&lt;/Text&gt;&lt;Text style={{ fontSize: '8px', color: '#5F6975', width: '44px', textAlign: 'right' }}&gt;{'269914'}&lt;/Text&gt;&lt;/Box&gt;&lt;Box style={{ flexDirection: 'row', alignItems: 'center', height: '14.5px', gap: '4px' }}&gt;&lt;Text style={{ fontSize: '9px', color: '#5F6975', width: '24px' }}&gt;{'47'}&lt;/Text&gt;&lt;Text style={{ fontSize: '9px', color: '#15181D', width: '448px' }}&gt;网林人造高分子台面置物立柱盆家用民宿酒店浴室落地式洗手盆定制&lt;/Text&gt;&lt;Text style={{ fontSize: '9px', color: '#AE4128', width: '52px', textAlign: 'right' }}&gt;{'63'}&lt;/Text&gt;&lt;Text style={{ fontSize: '8px', color: '#5F6975', width: '44px', textAlign: 'right' }}&gt;{'197192'}&lt;/Text&gt;&lt;/Box&gt;&lt;Box style={{ flexDirection: 'row', alignItems: 'center', height: '14.5px', gap: '4px' }}&gt;&lt;Text style={{ fontSize: '9px', color: '#5F6975', width: '24px' }}&gt;{'48'}&lt;/Text&gt;&lt;Text style={{ fontSize: '9px', color: '#15181D', width: '448px' }}&gt;Nicoline大理石纹一体浴缸家用深泡人造石大靠背独立式洗浴盆&lt;/Text&gt;&lt;Text style={{ fontSize: '9px', color: '#AE4128', width: '52px', textAlign: 'right' }}&gt;{'51'}&lt;/Text&gt;&lt;Text style={{ fontSize: '8px', color: '#5F6975', width: '44px', textAlign: 'right' }}&gt;{'281567'}&lt;/Text&gt;&lt;/Box&gt;&lt;Box style={{ flexDirection: 'row', alignItems: 'center', height: '14.5px', gap: '4px' }}&gt;&lt;Text style={{ fontSize: '9px', color: '#5F6975', width: '24px' }}&gt;{'49'}&lt;/Text&gt;&lt;Text style={{ fontSize: '9px', color: '#15181D', width: '448px' }}&gt;粉水晶奢石大理石洗手盆别墅酒店卫生间洗漱台盆轻奢设计师款定制&lt;/Text&gt;&lt;Text style={{ fontSize: '9px', color: '#AE4128', width: '52px', textAlign: 'right' }}&gt;{'43'}&lt;/Text&gt;&lt;Text style={{ fontSize: '8px', color: '#5F6975', width: '44px', textAlign: 'right' }}&gt;{'041893'}&lt;/Text&gt;&lt;/Box&gt;&lt;Box style={{ flexDirection: 'row', alignItems: 'center', height: '14.5px', gap: '4px' }}&gt;&lt;Text style={{ fontSize: '9px', color: '#5F6975', width: '24px' }}&gt;{'50'}&lt;/Text&gt;&lt;Text style={{ fontSize: '9px', color: '#15181D', width: '448px' }}&gt;科塔一体成型人造石洗手盆特色酒店民宿带背板洗脸盆洗漱台盆定制&lt;/Text&gt;&lt;Text style={{ fontSize: '9px', color: '#AE4128', width: '52px', textAlign: 'right' }}&gt;{'42'}&lt;/Text&gt;&lt;Text style={{ fontSize: '8px', color: '#5F6975', width: '44px', textAlign: 'right' }}&gt;{'121460'}&lt;/Text&gt;&lt;/Box&gt;&lt;Box style={{ flexDirection: 'row', alignItems: 'center', height: '14.5px', gap: '4px' }}&gt;&lt;Text style={{ fontSize: '9px', color: '#5F6975', width: '24px' }}&gt;{'51'}&lt;/Text&gt;&lt;Text style={{ fontSize: '9px', color: '#15181D', width: '448px' }}&gt;网林亚克力浴缸小户型家用新型泡澡方形日式深泡独立式一体式浴盆&lt;/Text&gt;&lt;Text style={{ fontSize: '9px', color: '#AE4128', width: '52px', textAlign: 'right' }}&gt;{'39'}&lt;/Text&gt;&lt;Text style={{ fontSize: '8px', color: '#5F6975', width: '44px', textAlign: 'right' }}&gt;{'322925'}&lt;/Text&gt;&lt;/Box&gt;&lt;Box style={{ flexDirection: 'row', alignItems: 'center', height: '14.5px', gap: '4px' }}&gt;&lt;Text style={{ fontSize: '9px', color: '#5F6975', width: '24px' }}&gt;{'52'}&lt;/Text&gt;&lt;Text style={{ fontSize: '9px', color: '#15181D', width: '448px' }}&gt;网林透明树脂圆形台盆木纹柱子储物柜格栅立柱盆家用酒店式洗手盆&lt;/Text&gt;&lt;Text style={{ fontSize: '9px', color: '#AE4128', width: '52px', textAlign: 'right' }}&gt;{'33'}&lt;/Text&gt;&lt;Text style={{ fontSize: '8px', color: '#5F6975', width: '44px', textAlign: 'right' }}&gt;{'039130'}&lt;/Text&gt;&lt;/Box&gt;&lt;Box style={{ flexDirection: 'row', alignItems: 'center', height: '14.5px', gap: '4px' }}&gt;&lt;Text style={{ fontSize: '9px', color: '#5F6975', width: '24px' }}&gt;{'53'}&lt;/Text&gt;&lt;Text style={{ fontSize: '9px', color: '#15181D', width: '448px' }}&gt;蓝水晶奢石大理石洗手盆别墅酒店家用卫生间挂墙式高边款台盆定制&lt;/Text&gt;&lt;Text style={{ fontSize: '9px', color: '#AE4128', width: '52px', textAlign: 'right' }}&gt;{'30'}&lt;/Text&gt;&lt;Text style={{ fontSize: '8px', color: '#5F6975', width: '44px', textAlign: 'right' }}&gt;{'074700'}&lt;/Text&gt;&lt;/Box&gt;&lt;Box style={{ flexDirection: 'row', alignItems: 'center', height: '14.5px', gap: '4px' }}&gt;&lt;Text style={{ fontSize: '9px', color: '#5F6975', width: '24px' }}&gt;{'54'}&lt;/Text&gt;&lt;Text style={{ fontSize: '9px', color: '#15181D', width: '448px' }}&gt;科塔高分子人造石挂墙式洗手盆小户型家用卫生间一体式洗漱洗脸盆&lt;/Text&gt;&lt;Text style={{ fontSize: '9px', color: '#AE4128', width: '52px', textAlign: 'right' }}&gt;{'30'}&lt;/Text&gt;&lt;Text style={{ fontSize: '8px', color: '#5F6975', width: '44px', textAlign: 'right' }}&gt;{'104332'}&lt;/Text&gt;&lt;/Box&gt;&lt;Box style={{ flexDirection: 'row', alignItems: 'center', height: '14.5px', gap: '4px' }}&gt;&lt;Text style={{ fontSize: '9px', color: '#5F6975', width: '24px' }}&gt;{'55'}&lt;/Text&gt;&lt;Text style={{ fontSize: '9px', color: '#15181D', width: '448px' }}&gt;Nicoline独立式家用浴缸民宿酒店卫生间日式绮美石深泡小户型浴盆&lt;/Text&gt;&lt;Text style={{ fontSize: '9px', color: '#AE4128', width: '52px', textAlign: 'right' }}&gt;{'30'}&lt;/Text&gt;&lt;Text style={{ fontSize: '8px', color: '#5F6975', width: '44px', textAlign: 'right' }}&gt;{'747620'}&lt;/Text&gt;&lt;/Box&gt;&lt;Box style={{ flexDirection: 'row', alignItems: 'center', height: '14.5px', gap: '4px' }}&gt;&lt;Text style={{ fontSize: '9px', color: '#5F6975', width: '24px' }}&gt;{'56'}&lt;/Text&gt;&lt;Text style={{ fontSize: '9px', color: '#15181D', width: '448px' }}&gt;网林小户型家用亚克力浴缸新型泡澡方形日式深泡独立式迷你浴池&lt;/Text&gt;&lt;Text style={{ fontSize: '9px', color: '#AE4128', width: '52px', textAlign: 'right' }}&gt;{'29'}&lt;/Text&gt;&lt;Text style={{ fontSize: '8px', color: '#5F6975', width: '44px', textAlign: 'right' }}&gt;{'219000'}&lt;/Text&gt;&lt;/Box&gt;&lt;Box style={{ flexDirection: 'row', alignItems: 'center', height: '14.5px', gap: '4px' }}&gt;&lt;Text style={{ fontSize: '9px', color: '#5F6975', width: '24px' }}&gt;{'57'}&lt;/Text&gt;&lt;Text style={{ fontSize: '9px', color: '#15181D', width: '448px' }}&gt;Nicoline独立浴缸人造石大理石纹深泡浴池家用情侣双人椭圆形浴盆&lt;/Text&gt;&lt;Text style={{ fontSize: '9px', color: '#AE4128', width: '52px', textAlign: 'right' }}&gt;{'25'}&lt;/Text&gt;&lt;Text style={{ fontSize: '8px', color: '#5F6975', width: '44px', textAlign: 'right' }}&gt;{'030470'}&lt;/Text&gt;&lt;/Box&gt;&lt;Box style={{ flexDirection: 'row', alignItems: 'center', height: '14.5px', gap: '4px' }}&gt;&lt;Text style={{ fontSize: '9px', color: '#5F6975', width: '24px' }}&gt;{'58'}&lt;/Text&gt;&lt;Text style={{ fontSize: '9px', color: '#15181D', width: '448px' }}&gt;网林轻奢一体式挂墙盆家用极窄深水槽洗手盆小户型洗脸洗漱盆定制&lt;/Text&gt;&lt;Text style={{ fontSize: '9px', color: '#AE4128', width: '52px', textAlign: 'right' }}&gt;{'24'}&lt;/Text&gt;&lt;Text style={{ fontSize: '8px', color: '#5F6975', width: '44px', textAlign: 'right' }}&gt;{'728696'}&lt;/Text&gt;&lt;/Box&gt;&lt;Box style={{ flexDirection: 'row', alignItems: 'center', height: '14.5px', gap: '4px' }}&gt;&lt;Text style={{ fontSize: '9px', color: '#5F6975', width: '24px' }}&gt;{'59'}&lt;/Text&gt;&lt;Text style={{ fontSize: '9px', color: '#15181D', width: '448px' }}&gt;盖文奶咖色台面立柱盆带储物落地人造石一体成型小户型洗手盆定制&lt;/Text&gt;&lt;Text style={{ fontSize: '9px', color: '#AE4128', width: '52px', textAlign: 'right' }}&gt;{'23'}&lt;/Text&gt;&lt;Text style={{ fontSize: '8px', color: '#5F6975', width: '44px', textAlign: 'right' }}&gt;{'817808'}&lt;/Text&gt;&lt;/Box&gt;&lt;Box style={{ flexDirection: 'row', alignItems: 'center', height: '14.5px', gap: '4px' }}&gt;&lt;Text style={{ fontSize: '9px', color: '#5F6975', width: '24px' }}&gt;{'60'}&lt;/Text&gt;&lt;Text style={{ fontSize: '9px', color: '#15181D', width: '448px' }}&gt;黑色一体盆户外阳台洗脸盆洗手盆酒店工程家用落地式立柱盆定制&lt;/Text&gt;&lt;Text style={{ fontSize: '9px', color: '#AE4128', width: '52px', textAlign: 'right' }}&gt;{'21'}&lt;/Text&gt;&lt;Text style={{ fontSize: '8px', color: '#5F6975', width: '44px', textAlign: 'right' }}&gt;{'791732'}&lt;/Text&gt;&lt;/Box&gt;&lt;Box style={{ flexDirection: 'row', alignItems: 'center', height: '14.5px', gap: '4px' }}&gt;&lt;Text style={{ fontSize: '9px', color: '#5F6975', width: '24px' }}&gt;{'61'}&lt;/Text&gt;&lt;Text style={{ fontSize: '9px', color: '#15181D', width: '448px' }}&gt;网林独立式人造石洗手盆家用小户型卫生间置物台面一体落地洗漱盆&lt;/Text&gt;&lt;Text style={{ fontSize: '9px', color: '#AE4128', width: '52px', textAlign: 'right' }}&gt;{'21'}&lt;/Text&gt;&lt;Text style={{ fontSize: '8px', color: '#5F6975', width: '44px', textAlign: 'right' }}&gt;{'067536'}&lt;/Text&gt;&lt;/Box&gt;&lt;Box style={{ flexDirection: 'row', alignItems: 'center', height: '14.5px', gap: '4px' }}&gt;&lt;Text style={{ fontSize: '9px', color: '#5F6975', width: '24px' }}&gt;{'62'}&lt;/Text&gt;&lt;Text style={{ fontSize: '9px', color: '#15181D', width: '448px' }}&gt;宝格丽紫奢石大理石挂墙式洗手盆家用异形卫生间切角款洗漱盆定制&lt;/Text&gt;&lt;Text style={{ fontSize: '9px', color: '#AE4128', width: '52px', textAlign: 'right' }}&gt;{'19'}&lt;/Text&gt;&lt;Text style={{ fontSize: '8px', color: '#5F6975', width: '44px', textAlign: 'right' }}&gt;{'212901'}&lt;/Text&gt;&lt;/Box&gt;&lt;Box style={{ flexDirection: 'row', alignItems: 'center', height: '14.5px', gap: '4px' }}&gt;&lt;Text style={{ fontSize: '9px', color: '#5F6975', width: '24px' }}&gt;{'63'}&lt;/Text&gt;&lt;Text style={{ fontSize: '9px', color: '#15181D', width: '448px' }}&gt;盖文奶咖色带台面置物立柱盆人造石高分子小户型家用浴室落地台盆&lt;/Text&gt;&lt;Text style={{ fontSize: '9px', color: '#AE4128', width: '52px', textAlign: 'right' }}&gt;{'18'}&lt;/Text&gt;&lt;Text style={{ fontSize: '8px', color: '#5F6975', width: '44px', textAlign: 'right' }}&gt;{'912308'}&lt;/Text&gt;&lt;/Box&gt;&lt;Box style={{ flexDirection: 'row', alignItems: 'center', height: '14.5px', gap: '4px' }}&gt;&lt;Text style={{ fontSize: '9px', color: '#5F6975', width: '24px' }}&gt;{'64'}&lt;/Text&gt;&lt;Text style={{ fontSize: '9px', color: '#15181D', width: '448px' }}&gt;盖文台面立柱盆一体式人造石落地洗面盆民宿家用小户型洗手台定制&lt;/Text&gt;&lt;Text style={{ fontSize: '9px', color: '#AE4128', width: '52px', textAlign: 'right' }}&gt;{'17'}&lt;/Text&gt;&lt;Text style={{ fontSize: '8px', color: '#5F6975', width: '44px', textAlign: 'right' }}&gt;{'255966'}&lt;/Text&gt;&lt;/Box&gt;&lt;Box style={{ flexDirection: 'row', alignItems: 'center', height: '14.5px', gap: '4px' }}&gt;&lt;Text style={{ fontSize: '9px', color: '#5F6975', width: '24px' }}&gt;{'65'}&lt;/Text&gt;&lt;Text style={{ fontSize: '9px', color: '#15181D', width: '448px' }}&gt;盖文人造石木纹立柱盆家用别墅民宿酒店落地一体式储物洗手洗脸盆&lt;/Text&gt;&lt;Text style={{ fontSize: '9px', color: '#AE4128', width: '52px', textAlign: 'right' }}&gt;{'17'}&lt;/Text&gt;&lt;Text style={{ fontSize: '8px', color: '#5F6975', width: '44px', textAlign: 'right' }}&gt;{'727985'}&lt;/Text&gt;&lt;/Box&gt;&lt;Box style={{ flexDirection: 'row', alignItems: 'center', height: '14.5px', gap: '4px' }}&gt;&lt;Text style={{ fontSize: '9px', color: '#5F6975', width: '24px' }}&gt;{'66'}&lt;/Text&gt;&lt;Text style={{ fontSize: '9px', color: '#15181D', width: '448px' }}&gt;盖文奶油风人造石立柱盆小户型卫生间侧面空格置物落地洗手盆定制&lt;/Text&gt;&lt;Text style={{ fontSize: '9px', color: '#AE4128', width: '52px', textAlign: 'right' }}&gt;{'13'}&lt;/Text&gt;&lt;Text style={{ fontSize: '8px', color: '#5F6975', width: '44px', textAlign: 'right' }}&gt;{'716340'}&lt;/Text&gt;&lt;/Box&gt;&lt;Box style={{ flexDirection: 'row', alignItems: 'center', height: '14.5px', gap: '4px' }}&gt;&lt;Text style={{ fontSize: '9px', color: '#5F6975', width: '24px' }}&gt;{'67'}&lt;/Text&gt;&lt;Text style={{ fontSize: '9px', color: '#15181D', width: '448px' }}&gt;盖文浴缸人造石深泡家用艺术酒店民宿新款浴池一体泡澡独立洗浴盆&lt;/Text&gt;&lt;Text style={{ fontSize: '9px', color: '#AE4128', width: '52px', textAlign: 'right' }}&gt;{'12'}&lt;/Text&gt;&lt;Text style={{ fontSize: '8px', color: '#5F6975', width: '44px', textAlign: 'right' }}&gt;{'232653'}&lt;/Text&gt;&lt;/Box&gt;&lt;Box style={{ flexDirection: 'row', alignItems: 'center', height: '14.5px', gap: '4px' }}&gt;&lt;Text style={{ fontSize: '9px', color: '#5F6975', width: '24px' }}&gt;{'68'}&lt;/Text&gt;&lt;Text style={{ fontSize: '9px', color: '#15181D', width: '448px' }}&gt;天然红洞石大理石洗手盆小户型家用卫生间悬浮挂墙式洗脸台盆定制&lt;/Text&gt;&lt;Text style={{ fontSize: '9px', color: '#AE4128', width: '52px', textAlign: 'right' }}&gt;{'10'}&lt;/Text&gt;&lt;Text style={{ fontSize: '8px', color: '#5F6975', width: '44px', textAlign: 'right' }}&gt;{'196622'}&lt;/Text&gt;&lt;/Box&gt;&lt;Box style={{ flexDirection: 'row', alignItems: 'center', height: '14.5px', gap: '4px' }}&gt;&lt;Text style={{ fontSize: '9px', color: '#5F6975', width: '24px' }}&gt;{'69'}&lt;/Text&gt;&lt;Text style={{ fontSize: '9px', color: '#15181D', width: '448px' }}&gt;网林人造石高分子储物立柱盆家用酒店民宿小户型卫生间落地洗手盆&lt;/Text&gt;&lt;Text style={{ fontSize: '9px', color: '#AE4128', width: '52px', textAlign: 'right' }}&gt;{'9'}&lt;/Text&gt;&lt;Text style={{ fontSize: '8px', color: '#5F6975', width: '44px', textAlign: 'right' }}&gt;{'463297'}&lt;/Text&gt;&lt;/Box&gt;&lt;Box style={{ flexDirection: 'row', alignItems: 'center', height: '14.5px', gap: '4px' }}&gt;&lt;Text style={{ fontSize: '9px', color: '#5F6975', width: '24px' }}&gt;{'70'}&lt;/Text&gt;&lt;Text style={{ fontSize: '9px', color: '#15181D', width: '448px' }}&gt;网林小户型家用深泡浴缸新型泡澡方形日式亚克力独立式迷你浴池&lt;/Text&gt;&lt;Text style={{ fontSize: '9px', color: '#AE4128', width: '52px', textAlign: 'right' }}&gt;{'1'}&lt;/Text&gt;&lt;Text style={{ fontSize: '8px', color: '#5F6975', width: '44px', textAlign: 'right' }}&gt;{'851297'}&lt;/Text&gt;&lt;/Box&gt;&lt;Box style={{ flexDirection: 'row', alignItems: 'center', height: '14.5px', gap: '4px' }}&gt;&lt;Text style={{ fontSize: '9px', color: '#5F6975', width: '24px' }}&gt;{'71'}&lt;/Text&gt;&lt;Text style={{ fontSize: '9px', color: '#15181D', width: '448px' }}&gt;盖文轻奢风奶咖人造石立柱盆家用卫生间民宿置物落地式洗手盆定制&lt;/Text&gt;&lt;Text style={{ fontSize: '9px', color: '#AE4128', width: '52px', textAlign: 'right' }}&gt;{'1'}&lt;/Text&gt;&lt;Text style={{ fontSize: '8px', color: '#5F6975', width: '44px', textAlign: 'right' }}&gt;{'557282'}&lt;/Text&gt;&lt;/Box&gt;&lt;Box style={{ flexDirection: 'row', alignItems: 'center', height: '14.5px', gap: '4px' }}&gt;&lt;Text style={{ fontSize: '9px', color: '#5F6975', width: '24px' }}&gt;{'72'}&lt;/Text&gt;&lt;Text style={{ fontSize: '9px', color: '#15181D', width: '448px' }}&gt;网林深泡浴缸小户型家用日式亚克力独立式新型泡澡方形迷你浴池&lt;/Text&gt;&lt;Text style={{ fontSize: '9px', color: '#AE4128', width: '52px', textAlign: 'right' }}&gt;{'1'}&lt;/Text&gt;&lt;Text style={{ fontSize: '8px', color: '#5F6975', width: '44px', textAlign: 'right' }}&gt;{'189099'}&lt;/Text&gt;&lt;/Box&gt;&lt;/Box&gt;&lt;/Box&gt;&lt;Box style={{ height: '40px', flexDirection: 'row', justifyContent: 'space-between', alignItems: 'center' }}&gt;&lt;Text style={{ fontSize: '13px', color: '#5F6975' }}&gt;经营数据诊断{'·'}{'2026-10-20'}&lt;/Text&gt;&lt;Text style={{ fontSize: '13px', color: '#5F6975' }}&gt;{'12'}{'/'}{'13'}&lt;/Text&gt;&lt;/Box&gt;&lt;/Slide&gt;&#10;"/>
        <p:cNvGrpSpPr/>
        <p:nvPr/>
      </p:nvGrpSpPr>
      <p:grpSpPr>
        <a:xfrm>
          <a:off x="0" y="0"/>
          <a:ext cx="0" cy="0"/>
          <a:chOff x="0" y="0"/>
          <a:chExt cx="0" cy="0"/>
        </a:xfrm>
      </p:grpSpPr>
      <p:sp>
        <p:nvSpPr>
          <p:cNvPr id="84" name=""/>
          <p:cNvSpPr/>
          <p:nvPr/>
        </p:nvSpPr>
        <p:spPr>
          <a:xfrm rot="0" flipH="0" flipV="0">
            <a:off x="0" y="0"/>
            <a:ext cx="12192000" cy="6858000"/>
          </a:xfrm>
          <a:prstGeom prst="rect">
            <a:avLst/>
          </a:prstGeom>
          <a:solidFill>
            <a:srgbClr val="FFFFFF"/>
          </a:solidFill>
          <a:ln/>
        </p:spPr>
        <p:txBody>
          <a:bodyPr/>
          <a:p/>
        </p:txBody>
      </p:sp>
      <p:sp>
        <p:nvSpPr>
          <p:cNvPr id="85"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附录</a:t>
            </a:r>
            <a:r>
              <a:rPr lang="en-US" sz="2325" b="1">
                <a:solidFill>
                  <a:srgbClr val="1B3557"/>
                </a:solidFill>
                <a:latin typeface="Noto Sans SC"/>
                <a:ea typeface="Noto Sans SC"/>
              </a:rPr>
              <a:t xml:space="preserve"> A</a:t>
            </a:r>
            <a:r>
              <a:rPr lang="zh-CN" sz="2325" b="1">
                <a:solidFill>
                  <a:srgbClr val="1B3557"/>
                </a:solidFill>
                <a:latin typeface="Noto Sans SC"/>
                <a:ea typeface="Noto Sans SC"/>
              </a:rPr>
              <a:t>：</a:t>
            </a:r>
            <a:r>
              <a:rPr lang="en-US" sz="2325" b="1">
                <a:solidFill>
                  <a:srgbClr val="1B3557"/>
                </a:solidFill>
                <a:latin typeface="Noto Sans SC"/>
                <a:ea typeface="Noto Sans SC"/>
              </a:rPr>
              <a:t>72</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个零成交商品（</a:t>
            </a:r>
            <a:r>
              <a:rPr lang="en-US" sz="2325" b="1">
                <a:solidFill>
                  <a:srgbClr val="1B3557"/>
                </a:solidFill>
                <a:latin typeface="Noto Sans SC"/>
                <a:ea typeface="Noto Sans SC"/>
              </a:rPr>
              <a:t>18</a:t>
            </a:r>
            <a:r>
              <a:rPr lang="en-US" sz="2325" b="1">
                <a:solidFill>
                  <a:srgbClr val="1B3557"/>
                </a:solidFill>
                <a:latin typeface="Noto Sans SC"/>
                <a:ea typeface="Noto Sans SC"/>
              </a:rPr>
              <a:t xml:space="preserve"> </a:t>
            </a:r>
            <a:r>
              <a:rPr lang="zh-CN" sz="2325" b="1">
                <a:solidFill>
                  <a:srgbClr val="1B3557"/>
                </a:solidFill>
                <a:latin typeface="Noto Sans SC"/>
                <a:ea typeface="Noto Sans SC"/>
              </a:rPr>
              <a:t>天，按花费降序）</a:t>
            </a:r>
            <a:endParaRPr/>
          </a:p>
        </p:txBody>
      </p:sp>
      <p:sp>
        <p:nvSpPr>
          <p:cNvPr id="86"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每行：编号｜完整商品名｜花费｜商品</a:t>
            </a:r>
            <a:r>
              <a:rPr lang="en-US" sz="1125">
                <a:solidFill>
                  <a:srgbClr val="5F6975"/>
                </a:solidFill>
                <a:latin typeface="Noto Sans SC"/>
                <a:ea typeface="Noto Sans SC"/>
              </a:rPr>
              <a:t xml:space="preserve"> ID </a:t>
            </a:r>
            <a:r>
              <a:rPr lang="zh-CN" sz="1125">
                <a:solidFill>
                  <a:srgbClr val="5F6975"/>
                </a:solidFill>
                <a:latin typeface="Noto Sans SC"/>
                <a:ea typeface="Noto Sans SC"/>
              </a:rPr>
              <a:t>后</a:t>
            </a:r>
            <a:r>
              <a:rPr lang="en-US" sz="1125">
                <a:solidFill>
                  <a:srgbClr val="5F6975"/>
                </a:solidFill>
                <a:latin typeface="Noto Sans SC"/>
                <a:ea typeface="Noto Sans SC"/>
              </a:rPr>
              <a:t>6</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位。合计</a:t>
            </a:r>
            <a:r>
              <a:rPr lang="en-US" sz="1125">
                <a:solidFill>
                  <a:srgbClr val="5F6975"/>
                </a:solidFill>
                <a:latin typeface="Noto Sans SC"/>
                <a:ea typeface="Noto Sans SC"/>
              </a:rPr>
              <a:t>13,120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元、</a:t>
            </a:r>
            <a:r>
              <a:rPr lang="en-US" sz="1125">
                <a:solidFill>
                  <a:srgbClr val="5F6975"/>
                </a:solidFill>
                <a:latin typeface="Noto Sans SC"/>
                <a:ea typeface="Noto Sans SC"/>
              </a:rPr>
              <a:t>10,910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次点击、</a:t>
            </a:r>
            <a:r>
              <a:rPr lang="en-US" sz="1125">
                <a:solidFill>
                  <a:srgbClr val="5F6975"/>
                </a:solidFill>
                <a:latin typeface="Noto Sans SC"/>
                <a:ea typeface="Noto Sans SC"/>
              </a:rPr>
              <a:t>0</a:t>
            </a:r>
            <a:r>
              <a:rPr lang="en-US" sz="1125">
                <a:solidFill>
                  <a:srgbClr val="5F6975"/>
                </a:solidFill>
                <a:latin typeface="Noto Sans SC"/>
                <a:ea typeface="Noto Sans SC"/>
              </a:rPr>
              <a:t xml:space="preserve"> </a:t>
            </a:r>
            <a:r>
              <a:rPr lang="zh-CN" sz="1125">
                <a:solidFill>
                  <a:srgbClr val="5F6975"/>
                </a:solidFill>
                <a:latin typeface="Noto Sans SC"/>
                <a:ea typeface="Noto Sans SC"/>
              </a:rPr>
              <a:t>成交。</a:t>
            </a:r>
            <a:endParaRPr/>
          </a:p>
        </p:txBody>
      </p:sp>
      <p:sp>
        <p:nvSpPr>
          <p:cNvPr id="87" name="" descr="{&quot;isTemplate&quot;:true,&quot;type&quot;:&quot;text&quot;}"/>
          <p:cNvSpPr txBox="1"/>
          <p:nvPr/>
        </p:nvSpPr>
        <p:spPr>
          <a:xfrm rot="0" flipH="0" flipV="0">
            <a:off x="609600" y="1123950"/>
            <a:ext cx="219075" cy="104775"/>
          </a:xfrm>
          <a:prstGeom prst="rect"/>
        </p:spPr>
        <p:txBody>
          <a:bodyPr wrap="none" lIns="0" tIns="0" rIns="0" bIns="0"/>
          <a:p>
            <a:pPr>
              <a:lnSpc>
                <a:spcPct val="100000"/>
              </a:lnSpc>
            </a:pPr>
            <a:r>
              <a:rPr lang="en-US" sz="675">
                <a:solidFill>
                  <a:srgbClr val="5F6975"/>
                </a:solidFill>
                <a:latin typeface="Noto Sans SC"/>
                <a:ea typeface="Noto Sans SC"/>
              </a:rPr>
              <a:t>01</a:t>
            </a:r>
            <a:endParaRPr/>
          </a:p>
        </p:txBody>
      </p:sp>
      <p:sp>
        <p:nvSpPr>
          <p:cNvPr id="88" name="" descr="{&quot;isTemplate&quot;:true,&quot;type&quot;:&quot;text&quot;}"/>
          <p:cNvSpPr txBox="1"/>
          <p:nvPr/>
        </p:nvSpPr>
        <p:spPr>
          <a:xfrm rot="0" flipH="0" flipV="0">
            <a:off x="866775" y="11239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设计师款式洞石人造石浴缸艺术家用民宿酒店一体独立浴池</a:t>
            </a:r>
            <a:endParaRPr/>
          </a:p>
        </p:txBody>
      </p:sp>
      <p:sp>
        <p:nvSpPr>
          <p:cNvPr id="89" name="" descr="{&quot;isTemplate&quot;:true,&quot;type&quot;:&quot;text&quot;}"/>
          <p:cNvSpPr txBox="1"/>
          <p:nvPr/>
        </p:nvSpPr>
        <p:spPr>
          <a:xfrm rot="0" flipH="0" flipV="0">
            <a:off x="5086350" y="1123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1,179</a:t>
            </a:r>
            <a:endParaRPr/>
          </a:p>
        </p:txBody>
      </p:sp>
      <p:sp>
        <p:nvSpPr>
          <p:cNvPr id="90" name="" descr="{&quot;isTemplate&quot;:true,&quot;type&quot;:&quot;text&quot;}"/>
          <p:cNvSpPr txBox="1"/>
          <p:nvPr/>
        </p:nvSpPr>
        <p:spPr>
          <a:xfrm rot="0" flipH="0" flipV="0">
            <a:off x="5610225" y="1123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507830</a:t>
            </a:r>
            <a:endParaRPr/>
          </a:p>
        </p:txBody>
      </p:sp>
      <p:sp>
        <p:nvSpPr>
          <p:cNvPr id="91" name="" descr="{&quot;isTemplate&quot;:true,&quot;type&quot;:&quot;text&quot;}"/>
          <p:cNvSpPr txBox="1"/>
          <p:nvPr/>
        </p:nvSpPr>
        <p:spPr>
          <a:xfrm rot="0" flipH="0" flipV="0">
            <a:off x="609600" y="1266825"/>
            <a:ext cx="219075" cy="104775"/>
          </a:xfrm>
          <a:prstGeom prst="rect"/>
        </p:spPr>
        <p:txBody>
          <a:bodyPr wrap="none" lIns="0" tIns="0" rIns="0" bIns="0"/>
          <a:p>
            <a:pPr>
              <a:lnSpc>
                <a:spcPct val="100000"/>
              </a:lnSpc>
            </a:pPr>
            <a:r>
              <a:rPr lang="en-US" sz="675">
                <a:solidFill>
                  <a:srgbClr val="5F6975"/>
                </a:solidFill>
                <a:latin typeface="Noto Sans SC"/>
                <a:ea typeface="Noto Sans SC"/>
              </a:rPr>
              <a:t>02</a:t>
            </a:r>
            <a:endParaRPr/>
          </a:p>
        </p:txBody>
      </p:sp>
      <p:sp>
        <p:nvSpPr>
          <p:cNvPr id="92" name="" descr="{&quot;isTemplate&quot;:true,&quot;type&quot;:&quot;text&quot;}"/>
          <p:cNvSpPr txBox="1"/>
          <p:nvPr/>
        </p:nvSpPr>
        <p:spPr>
          <a:xfrm rot="0" flipH="0" flipV="0">
            <a:off x="866775" y="12668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哑光粉色长方形一体绮美石浴池酒店网红双人民宿家用浴缸</a:t>
            </a:r>
            <a:endParaRPr/>
          </a:p>
        </p:txBody>
      </p:sp>
      <p:sp>
        <p:nvSpPr>
          <p:cNvPr id="93" name="" descr="{&quot;isTemplate&quot;:true,&quot;type&quot;:&quot;text&quot;}"/>
          <p:cNvSpPr txBox="1"/>
          <p:nvPr/>
        </p:nvSpPr>
        <p:spPr>
          <a:xfrm rot="0" flipH="0" flipV="0">
            <a:off x="5086350" y="1266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692</a:t>
            </a:r>
            <a:endParaRPr/>
          </a:p>
        </p:txBody>
      </p:sp>
      <p:sp>
        <p:nvSpPr>
          <p:cNvPr id="94" name="" descr="{&quot;isTemplate&quot;:true,&quot;type&quot;:&quot;text&quot;}"/>
          <p:cNvSpPr txBox="1"/>
          <p:nvPr/>
        </p:nvSpPr>
        <p:spPr>
          <a:xfrm rot="0" flipH="0" flipV="0">
            <a:off x="5610225" y="1266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446178</a:t>
            </a:r>
            <a:endParaRPr/>
          </a:p>
        </p:txBody>
      </p:sp>
      <p:sp>
        <p:nvSpPr>
          <p:cNvPr id="95" name="" descr="{&quot;isTemplate&quot;:true,&quot;type&quot;:&quot;text&quot;}"/>
          <p:cNvSpPr txBox="1"/>
          <p:nvPr/>
        </p:nvSpPr>
        <p:spPr>
          <a:xfrm rot="0" flipH="0" flipV="0">
            <a:off x="609600" y="1409700"/>
            <a:ext cx="219075" cy="104775"/>
          </a:xfrm>
          <a:prstGeom prst="rect"/>
        </p:spPr>
        <p:txBody>
          <a:bodyPr wrap="none" lIns="0" tIns="0" rIns="0" bIns="0"/>
          <a:p>
            <a:pPr>
              <a:lnSpc>
                <a:spcPct val="100000"/>
              </a:lnSpc>
            </a:pPr>
            <a:r>
              <a:rPr lang="en-US" sz="675">
                <a:solidFill>
                  <a:srgbClr val="5F6975"/>
                </a:solidFill>
                <a:latin typeface="Noto Sans SC"/>
                <a:ea typeface="Noto Sans SC"/>
              </a:rPr>
              <a:t>03</a:t>
            </a:r>
            <a:endParaRPr/>
          </a:p>
        </p:txBody>
      </p:sp>
      <p:sp>
        <p:nvSpPr>
          <p:cNvPr id="96" name="" descr="{&quot;isTemplate&quot;:true,&quot;type&quot;:&quot;text&quot;}"/>
          <p:cNvSpPr txBox="1"/>
          <p:nvPr/>
        </p:nvSpPr>
        <p:spPr>
          <a:xfrm rot="0" flipH="0" flipV="0">
            <a:off x="866775" y="14097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盖文侘寂风洞石圆柱立柱盆小户型家用酒店民宿方形一体落地洗手盆</a:t>
            </a:r>
            <a:endParaRPr/>
          </a:p>
        </p:txBody>
      </p:sp>
      <p:sp>
        <p:nvSpPr>
          <p:cNvPr id="97" name="" descr="{&quot;isTemplate&quot;:true,&quot;type&quot;:&quot;text&quot;}"/>
          <p:cNvSpPr txBox="1"/>
          <p:nvPr/>
        </p:nvSpPr>
        <p:spPr>
          <a:xfrm rot="0" flipH="0" flipV="0">
            <a:off x="5086350" y="1409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648</a:t>
            </a:r>
            <a:endParaRPr/>
          </a:p>
        </p:txBody>
      </p:sp>
      <p:sp>
        <p:nvSpPr>
          <p:cNvPr id="98" name="" descr="{&quot;isTemplate&quot;:true,&quot;type&quot;:&quot;text&quot;}"/>
          <p:cNvSpPr txBox="1"/>
          <p:nvPr/>
        </p:nvSpPr>
        <p:spPr>
          <a:xfrm rot="0" flipH="0" flipV="0">
            <a:off x="5610225" y="1409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660377</a:t>
            </a:r>
            <a:endParaRPr/>
          </a:p>
        </p:txBody>
      </p:sp>
      <p:sp>
        <p:nvSpPr>
          <p:cNvPr id="99" name="" descr="{&quot;isTemplate&quot;:true,&quot;type&quot;:&quot;text&quot;}"/>
          <p:cNvSpPr txBox="1"/>
          <p:nvPr/>
        </p:nvSpPr>
        <p:spPr>
          <a:xfrm rot="0" flipH="0" flipV="0">
            <a:off x="609600" y="1552575"/>
            <a:ext cx="219075" cy="104775"/>
          </a:xfrm>
          <a:prstGeom prst="rect"/>
        </p:spPr>
        <p:txBody>
          <a:bodyPr wrap="none" lIns="0" tIns="0" rIns="0" bIns="0"/>
          <a:p>
            <a:pPr>
              <a:lnSpc>
                <a:spcPct val="100000"/>
              </a:lnSpc>
            </a:pPr>
            <a:r>
              <a:rPr lang="en-US" sz="675">
                <a:solidFill>
                  <a:srgbClr val="5F6975"/>
                </a:solidFill>
                <a:latin typeface="Noto Sans SC"/>
                <a:ea typeface="Noto Sans SC"/>
              </a:rPr>
              <a:t>04</a:t>
            </a:r>
            <a:endParaRPr/>
          </a:p>
        </p:txBody>
      </p:sp>
      <p:sp>
        <p:nvSpPr>
          <p:cNvPr id="100" name="" descr="{&quot;isTemplate&quot;:true,&quot;type&quot;:&quot;text&quot;}"/>
          <p:cNvSpPr txBox="1"/>
          <p:nvPr/>
        </p:nvSpPr>
        <p:spPr>
          <a:xfrm rot="0" flipH="0" flipV="0">
            <a:off x="866775" y="1552575"/>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科塔超窄边人造石洗漱盆家用民宿挂墙式一体成型洗手洗脸台盆定制</a:t>
            </a:r>
            <a:endParaRPr/>
          </a:p>
        </p:txBody>
      </p:sp>
      <p:sp>
        <p:nvSpPr>
          <p:cNvPr id="101" name="" descr="{&quot;isTemplate&quot;:true,&quot;type&quot;:&quot;text&quot;}"/>
          <p:cNvSpPr txBox="1"/>
          <p:nvPr/>
        </p:nvSpPr>
        <p:spPr>
          <a:xfrm rot="0" flipH="0" flipV="0">
            <a:off x="5086350" y="1552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629</a:t>
            </a:r>
            <a:endParaRPr/>
          </a:p>
        </p:txBody>
      </p:sp>
      <p:sp>
        <p:nvSpPr>
          <p:cNvPr id="102" name="" descr="{&quot;isTemplate&quot;:true,&quot;type&quot;:&quot;text&quot;}"/>
          <p:cNvSpPr txBox="1"/>
          <p:nvPr/>
        </p:nvSpPr>
        <p:spPr>
          <a:xfrm rot="0" flipH="0" flipV="0">
            <a:off x="5610225" y="1552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220039</a:t>
            </a:r>
            <a:endParaRPr/>
          </a:p>
        </p:txBody>
      </p:sp>
      <p:sp>
        <p:nvSpPr>
          <p:cNvPr id="103" name="" descr="{&quot;isTemplate&quot;:true,&quot;type&quot;:&quot;text&quot;}"/>
          <p:cNvSpPr txBox="1"/>
          <p:nvPr/>
        </p:nvSpPr>
        <p:spPr>
          <a:xfrm rot="0" flipH="0" flipV="0">
            <a:off x="609600" y="1695450"/>
            <a:ext cx="219075" cy="104775"/>
          </a:xfrm>
          <a:prstGeom prst="rect"/>
        </p:spPr>
        <p:txBody>
          <a:bodyPr wrap="none" lIns="0" tIns="0" rIns="0" bIns="0"/>
          <a:p>
            <a:pPr>
              <a:lnSpc>
                <a:spcPct val="100000"/>
              </a:lnSpc>
            </a:pPr>
            <a:r>
              <a:rPr lang="en-US" sz="675">
                <a:solidFill>
                  <a:srgbClr val="5F6975"/>
                </a:solidFill>
                <a:latin typeface="Noto Sans SC"/>
                <a:ea typeface="Noto Sans SC"/>
              </a:rPr>
              <a:t>05</a:t>
            </a:r>
            <a:endParaRPr/>
          </a:p>
        </p:txBody>
      </p:sp>
      <p:sp>
        <p:nvSpPr>
          <p:cNvPr id="104" name="" descr="{&quot;isTemplate&quot;:true,&quot;type&quot;:&quot;text&quot;}"/>
          <p:cNvSpPr txBox="1"/>
          <p:nvPr/>
        </p:nvSpPr>
        <p:spPr>
          <a:xfrm rot="0" flipH="0" flipV="0">
            <a:off x="866775" y="1695450"/>
            <a:ext cx="4181475" cy="104775"/>
          </a:xfrm>
          <a:prstGeom prst="rect"/>
        </p:spPr>
        <p:txBody>
          <a:bodyPr wrap="none" lIns="0" tIns="0" rIns="0" bIns="0"/>
          <a:p>
            <a:pPr>
              <a:lnSpc>
                <a:spcPct val="100000"/>
              </a:lnSpc>
            </a:pPr>
            <a:r>
              <a:rPr lang="en-US" sz="675">
                <a:solidFill>
                  <a:srgbClr val="15181D"/>
                </a:solidFill>
                <a:latin typeface="Noto Sans SC"/>
                <a:ea typeface="Noto Sans SC"/>
              </a:rPr>
              <a:t>Gavin</a:t>
            </a:r>
            <a:r>
              <a:rPr lang="zh-CN" sz="675">
                <a:solidFill>
                  <a:srgbClr val="15181D"/>
                </a:solidFill>
                <a:latin typeface="Noto Sans SC"/>
                <a:ea typeface="Noto Sans SC"/>
              </a:rPr>
              <a:t>盖文家用人造石</a:t>
            </a:r>
            <a:r>
              <a:rPr lang="en-US" sz="675">
                <a:solidFill>
                  <a:srgbClr val="15181D"/>
                </a:solidFill>
                <a:latin typeface="Noto Sans SC"/>
                <a:ea typeface="Noto Sans SC"/>
              </a:rPr>
              <a:t>PMMA</a:t>
            </a:r>
            <a:r>
              <a:rPr lang="zh-CN" sz="675">
                <a:solidFill>
                  <a:srgbClr val="15181D"/>
                </a:solidFill>
                <a:latin typeface="Noto Sans SC"/>
                <a:ea typeface="Noto Sans SC"/>
              </a:rPr>
              <a:t>浴缸独立一体式双人酒店民宿鹅蛋型浴盆</a:t>
            </a:r>
            <a:endParaRPr/>
          </a:p>
        </p:txBody>
      </p:sp>
      <p:sp>
        <p:nvSpPr>
          <p:cNvPr id="105" name="" descr="{&quot;isTemplate&quot;:true,&quot;type&quot;:&quot;text&quot;}"/>
          <p:cNvSpPr txBox="1"/>
          <p:nvPr/>
        </p:nvSpPr>
        <p:spPr>
          <a:xfrm rot="0" flipH="0" flipV="0">
            <a:off x="5086350" y="1695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557</a:t>
            </a:r>
            <a:endParaRPr/>
          </a:p>
        </p:txBody>
      </p:sp>
      <p:sp>
        <p:nvSpPr>
          <p:cNvPr id="106" name="" descr="{&quot;isTemplate&quot;:true,&quot;type&quot;:&quot;text&quot;}"/>
          <p:cNvSpPr txBox="1"/>
          <p:nvPr/>
        </p:nvSpPr>
        <p:spPr>
          <a:xfrm rot="0" flipH="0" flipV="0">
            <a:off x="5610225" y="1695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973384</a:t>
            </a:r>
            <a:endParaRPr/>
          </a:p>
        </p:txBody>
      </p:sp>
      <p:sp>
        <p:nvSpPr>
          <p:cNvPr id="107" name="" descr="{&quot;isTemplate&quot;:true,&quot;type&quot;:&quot;text&quot;}"/>
          <p:cNvSpPr txBox="1"/>
          <p:nvPr/>
        </p:nvSpPr>
        <p:spPr>
          <a:xfrm rot="0" flipH="0" flipV="0">
            <a:off x="609600" y="1838325"/>
            <a:ext cx="219075" cy="104775"/>
          </a:xfrm>
          <a:prstGeom prst="rect"/>
        </p:spPr>
        <p:txBody>
          <a:bodyPr wrap="none" lIns="0" tIns="0" rIns="0" bIns="0"/>
          <a:p>
            <a:pPr>
              <a:lnSpc>
                <a:spcPct val="100000"/>
              </a:lnSpc>
            </a:pPr>
            <a:r>
              <a:rPr lang="en-US" sz="675">
                <a:solidFill>
                  <a:srgbClr val="5F6975"/>
                </a:solidFill>
                <a:latin typeface="Noto Sans SC"/>
                <a:ea typeface="Noto Sans SC"/>
              </a:rPr>
              <a:t>06</a:t>
            </a:r>
            <a:endParaRPr/>
          </a:p>
        </p:txBody>
      </p:sp>
      <p:sp>
        <p:nvSpPr>
          <p:cNvPr id="108" name="" descr="{&quot;isTemplate&quot;:true,&quot;type&quot;:&quot;text&quot;}"/>
          <p:cNvSpPr txBox="1"/>
          <p:nvPr/>
        </p:nvSpPr>
        <p:spPr>
          <a:xfrm rot="0" flipH="0" flipV="0">
            <a:off x="866775" y="18383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网林人造石方形浴缸一体式小户型家用深泡浴池坐式可拆卸浴盆</a:t>
            </a:r>
            <a:endParaRPr/>
          </a:p>
        </p:txBody>
      </p:sp>
      <p:sp>
        <p:nvSpPr>
          <p:cNvPr id="109" name="" descr="{&quot;isTemplate&quot;:true,&quot;type&quot;:&quot;text&quot;}"/>
          <p:cNvSpPr txBox="1"/>
          <p:nvPr/>
        </p:nvSpPr>
        <p:spPr>
          <a:xfrm rot="0" flipH="0" flipV="0">
            <a:off x="5086350" y="1838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556</a:t>
            </a:r>
            <a:endParaRPr/>
          </a:p>
        </p:txBody>
      </p:sp>
      <p:sp>
        <p:nvSpPr>
          <p:cNvPr id="110" name="" descr="{&quot;isTemplate&quot;:true,&quot;type&quot;:&quot;text&quot;}"/>
          <p:cNvSpPr txBox="1"/>
          <p:nvPr/>
        </p:nvSpPr>
        <p:spPr>
          <a:xfrm rot="0" flipH="0" flipV="0">
            <a:off x="5610225" y="1838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369469</a:t>
            </a:r>
            <a:endParaRPr/>
          </a:p>
        </p:txBody>
      </p:sp>
      <p:sp>
        <p:nvSpPr>
          <p:cNvPr id="111" name="" descr="{&quot;isTemplate&quot;:true,&quot;type&quot;:&quot;text&quot;}"/>
          <p:cNvSpPr txBox="1"/>
          <p:nvPr/>
        </p:nvSpPr>
        <p:spPr>
          <a:xfrm rot="0" flipH="0" flipV="0">
            <a:off x="609600" y="1981200"/>
            <a:ext cx="219075" cy="104775"/>
          </a:xfrm>
          <a:prstGeom prst="rect"/>
        </p:spPr>
        <p:txBody>
          <a:bodyPr wrap="none" lIns="0" tIns="0" rIns="0" bIns="0"/>
          <a:p>
            <a:pPr>
              <a:lnSpc>
                <a:spcPct val="100000"/>
              </a:lnSpc>
            </a:pPr>
            <a:r>
              <a:rPr lang="en-US" sz="675">
                <a:solidFill>
                  <a:srgbClr val="5F6975"/>
                </a:solidFill>
                <a:latin typeface="Noto Sans SC"/>
                <a:ea typeface="Noto Sans SC"/>
              </a:rPr>
              <a:t>07</a:t>
            </a:r>
            <a:endParaRPr/>
          </a:p>
        </p:txBody>
      </p:sp>
      <p:sp>
        <p:nvSpPr>
          <p:cNvPr id="112" name="" descr="{&quot;isTemplate&quot;:true,&quot;type&quot;:&quot;text&quot;}"/>
          <p:cNvSpPr txBox="1"/>
          <p:nvPr/>
        </p:nvSpPr>
        <p:spPr>
          <a:xfrm rot="0" flipH="0" flipV="0">
            <a:off x="866775" y="19812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网林日系侘寂风岩石立柱盆设计师款个性创意洞石一体式落地洗手盆</a:t>
            </a:r>
            <a:endParaRPr/>
          </a:p>
        </p:txBody>
      </p:sp>
      <p:sp>
        <p:nvSpPr>
          <p:cNvPr id="113" name="" descr="{&quot;isTemplate&quot;:true,&quot;type&quot;:&quot;text&quot;}"/>
          <p:cNvSpPr txBox="1"/>
          <p:nvPr/>
        </p:nvSpPr>
        <p:spPr>
          <a:xfrm rot="0" flipH="0" flipV="0">
            <a:off x="5086350" y="1981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493</a:t>
            </a:r>
            <a:endParaRPr/>
          </a:p>
        </p:txBody>
      </p:sp>
      <p:sp>
        <p:nvSpPr>
          <p:cNvPr id="114" name="" descr="{&quot;isTemplate&quot;:true,&quot;type&quot;:&quot;text&quot;}"/>
          <p:cNvSpPr txBox="1"/>
          <p:nvPr/>
        </p:nvSpPr>
        <p:spPr>
          <a:xfrm rot="0" flipH="0" flipV="0">
            <a:off x="5610225" y="1981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430900</a:t>
            </a:r>
            <a:endParaRPr/>
          </a:p>
        </p:txBody>
      </p:sp>
      <p:sp>
        <p:nvSpPr>
          <p:cNvPr id="115" name="" descr="{&quot;isTemplate&quot;:true,&quot;type&quot;:&quot;text&quot;}"/>
          <p:cNvSpPr txBox="1"/>
          <p:nvPr/>
        </p:nvSpPr>
        <p:spPr>
          <a:xfrm rot="0" flipH="0" flipV="0">
            <a:off x="609600" y="2124075"/>
            <a:ext cx="219075" cy="104775"/>
          </a:xfrm>
          <a:prstGeom prst="rect"/>
        </p:spPr>
        <p:txBody>
          <a:bodyPr wrap="none" lIns="0" tIns="0" rIns="0" bIns="0"/>
          <a:p>
            <a:pPr>
              <a:lnSpc>
                <a:spcPct val="100000"/>
              </a:lnSpc>
            </a:pPr>
            <a:r>
              <a:rPr lang="en-US" sz="675">
                <a:solidFill>
                  <a:srgbClr val="5F6975"/>
                </a:solidFill>
                <a:latin typeface="Noto Sans SC"/>
                <a:ea typeface="Noto Sans SC"/>
              </a:rPr>
              <a:t>08</a:t>
            </a:r>
            <a:endParaRPr/>
          </a:p>
        </p:txBody>
      </p:sp>
      <p:sp>
        <p:nvSpPr>
          <p:cNvPr id="116" name="" descr="{&quot;isTemplate&quot;:true,&quot;type&quot;:&quot;text&quot;}"/>
          <p:cNvSpPr txBox="1"/>
          <p:nvPr/>
        </p:nvSpPr>
        <p:spPr>
          <a:xfrm rot="0" flipH="0" flipV="0">
            <a:off x="866775" y="21240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盖文浴缸人造石深泡家用小户型方形洞石浴池一体坐式独立洗浴盆</a:t>
            </a:r>
            <a:endParaRPr/>
          </a:p>
        </p:txBody>
      </p:sp>
      <p:sp>
        <p:nvSpPr>
          <p:cNvPr id="117" name="" descr="{&quot;isTemplate&quot;:true,&quot;type&quot;:&quot;text&quot;}"/>
          <p:cNvSpPr txBox="1"/>
          <p:nvPr/>
        </p:nvSpPr>
        <p:spPr>
          <a:xfrm rot="0" flipH="0" flipV="0">
            <a:off x="5086350" y="2124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458</a:t>
            </a:r>
            <a:endParaRPr/>
          </a:p>
        </p:txBody>
      </p:sp>
      <p:sp>
        <p:nvSpPr>
          <p:cNvPr id="118" name="" descr="{&quot;isTemplate&quot;:true,&quot;type&quot;:&quot;text&quot;}"/>
          <p:cNvSpPr txBox="1"/>
          <p:nvPr/>
        </p:nvSpPr>
        <p:spPr>
          <a:xfrm rot="0" flipH="0" flipV="0">
            <a:off x="5610225" y="2124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256128</a:t>
            </a:r>
            <a:endParaRPr/>
          </a:p>
        </p:txBody>
      </p:sp>
      <p:sp>
        <p:nvSpPr>
          <p:cNvPr id="119" name="" descr="{&quot;isTemplate&quot;:true,&quot;type&quot;:&quot;text&quot;}"/>
          <p:cNvSpPr txBox="1"/>
          <p:nvPr/>
        </p:nvSpPr>
        <p:spPr>
          <a:xfrm rot="0" flipH="0" flipV="0">
            <a:off x="609600" y="2266950"/>
            <a:ext cx="219075" cy="104775"/>
          </a:xfrm>
          <a:prstGeom prst="rect"/>
        </p:spPr>
        <p:txBody>
          <a:bodyPr wrap="none" lIns="0" tIns="0" rIns="0" bIns="0"/>
          <a:p>
            <a:pPr>
              <a:lnSpc>
                <a:spcPct val="100000"/>
              </a:lnSpc>
            </a:pPr>
            <a:r>
              <a:rPr lang="en-US" sz="675">
                <a:solidFill>
                  <a:srgbClr val="5F6975"/>
                </a:solidFill>
                <a:latin typeface="Noto Sans SC"/>
                <a:ea typeface="Noto Sans SC"/>
              </a:rPr>
              <a:t>09</a:t>
            </a:r>
            <a:endParaRPr/>
          </a:p>
        </p:txBody>
      </p:sp>
      <p:sp>
        <p:nvSpPr>
          <p:cNvPr id="120" name="" descr="{&quot;isTemplate&quot;:true,&quot;type&quot;:&quot;text&quot;}"/>
          <p:cNvSpPr txBox="1"/>
          <p:nvPr/>
        </p:nvSpPr>
        <p:spPr>
          <a:xfrm rot="0" flipH="0" flipV="0">
            <a:off x="866775" y="2266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网林小户型家用坐式浴缸人造石一体式深泡浴盆日式新型泡澡浴池</a:t>
            </a:r>
            <a:endParaRPr/>
          </a:p>
        </p:txBody>
      </p:sp>
      <p:sp>
        <p:nvSpPr>
          <p:cNvPr id="121" name="" descr="{&quot;isTemplate&quot;:true,&quot;type&quot;:&quot;text&quot;}"/>
          <p:cNvSpPr txBox="1"/>
          <p:nvPr/>
        </p:nvSpPr>
        <p:spPr>
          <a:xfrm rot="0" flipH="0" flipV="0">
            <a:off x="5086350" y="2266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450</a:t>
            </a:r>
            <a:endParaRPr/>
          </a:p>
        </p:txBody>
      </p:sp>
      <p:sp>
        <p:nvSpPr>
          <p:cNvPr id="122" name="" descr="{&quot;isTemplate&quot;:true,&quot;type&quot;:&quot;text&quot;}"/>
          <p:cNvSpPr txBox="1"/>
          <p:nvPr/>
        </p:nvSpPr>
        <p:spPr>
          <a:xfrm rot="0" flipH="0" flipV="0">
            <a:off x="5610225" y="2266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628377</a:t>
            </a:r>
            <a:endParaRPr/>
          </a:p>
        </p:txBody>
      </p:sp>
      <p:sp>
        <p:nvSpPr>
          <p:cNvPr id="123" name="" descr="{&quot;isTemplate&quot;:true,&quot;type&quot;:&quot;text&quot;}"/>
          <p:cNvSpPr txBox="1"/>
          <p:nvPr/>
        </p:nvSpPr>
        <p:spPr>
          <a:xfrm rot="0" flipH="0" flipV="0">
            <a:off x="609600" y="2409825"/>
            <a:ext cx="219075" cy="104775"/>
          </a:xfrm>
          <a:prstGeom prst="rect"/>
        </p:spPr>
        <p:txBody>
          <a:bodyPr wrap="none" lIns="0" tIns="0" rIns="0" bIns="0"/>
          <a:p>
            <a:pPr>
              <a:lnSpc>
                <a:spcPct val="100000"/>
              </a:lnSpc>
            </a:pPr>
            <a:r>
              <a:rPr lang="en-US" sz="675">
                <a:solidFill>
                  <a:srgbClr val="5F6975"/>
                </a:solidFill>
                <a:latin typeface="Noto Sans SC"/>
                <a:ea typeface="Noto Sans SC"/>
              </a:rPr>
              <a:t>10</a:t>
            </a:r>
            <a:endParaRPr/>
          </a:p>
        </p:txBody>
      </p:sp>
      <p:sp>
        <p:nvSpPr>
          <p:cNvPr id="124" name="" descr="{&quot;isTemplate&quot;:true,&quot;type&quot;:&quot;text&quot;}"/>
          <p:cNvSpPr txBox="1"/>
          <p:nvPr/>
        </p:nvSpPr>
        <p:spPr>
          <a:xfrm rot="0" flipH="0" flipV="0">
            <a:off x="866775" y="24098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洞石款人造石浴缸家用酒店民宿别墅轻奢简约艺术独立浴池</a:t>
            </a:r>
            <a:endParaRPr/>
          </a:p>
        </p:txBody>
      </p:sp>
      <p:sp>
        <p:nvSpPr>
          <p:cNvPr id="125" name="" descr="{&quot;isTemplate&quot;:true,&quot;type&quot;:&quot;text&quot;}"/>
          <p:cNvSpPr txBox="1"/>
          <p:nvPr/>
        </p:nvSpPr>
        <p:spPr>
          <a:xfrm rot="0" flipH="0" flipV="0">
            <a:off x="5086350" y="2409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435</a:t>
            </a:r>
            <a:endParaRPr/>
          </a:p>
        </p:txBody>
      </p:sp>
      <p:sp>
        <p:nvSpPr>
          <p:cNvPr id="126" name="" descr="{&quot;isTemplate&quot;:true,&quot;type&quot;:&quot;text&quot;}"/>
          <p:cNvSpPr txBox="1"/>
          <p:nvPr/>
        </p:nvSpPr>
        <p:spPr>
          <a:xfrm rot="0" flipH="0" flipV="0">
            <a:off x="5610225" y="2409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995766</a:t>
            </a:r>
            <a:endParaRPr/>
          </a:p>
        </p:txBody>
      </p:sp>
      <p:sp>
        <p:nvSpPr>
          <p:cNvPr id="127" name="" descr="{&quot;isTemplate&quot;:true,&quot;type&quot;:&quot;text&quot;}"/>
          <p:cNvSpPr txBox="1"/>
          <p:nvPr/>
        </p:nvSpPr>
        <p:spPr>
          <a:xfrm rot="0" flipH="0" flipV="0">
            <a:off x="609600" y="2552700"/>
            <a:ext cx="219075" cy="104775"/>
          </a:xfrm>
          <a:prstGeom prst="rect"/>
        </p:spPr>
        <p:txBody>
          <a:bodyPr wrap="none" lIns="0" tIns="0" rIns="0" bIns="0"/>
          <a:p>
            <a:pPr>
              <a:lnSpc>
                <a:spcPct val="100000"/>
              </a:lnSpc>
            </a:pPr>
            <a:r>
              <a:rPr lang="en-US" sz="675">
                <a:solidFill>
                  <a:srgbClr val="5F6975"/>
                </a:solidFill>
                <a:latin typeface="Noto Sans SC"/>
                <a:ea typeface="Noto Sans SC"/>
              </a:rPr>
              <a:t>11</a:t>
            </a:r>
            <a:endParaRPr/>
          </a:p>
        </p:txBody>
      </p:sp>
      <p:sp>
        <p:nvSpPr>
          <p:cNvPr id="128" name="" descr="{&quot;isTemplate&quot;:true,&quot;type&quot;:&quot;text&quot;}"/>
          <p:cNvSpPr txBox="1"/>
          <p:nvPr/>
        </p:nvSpPr>
        <p:spPr>
          <a:xfrm rot="0" flipH="0" flipV="0">
            <a:off x="866775" y="255270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人造石浴缸洞石一体式深泡家用别墅独立浴池方形双人款</a:t>
            </a:r>
            <a:endParaRPr/>
          </a:p>
        </p:txBody>
      </p:sp>
      <p:sp>
        <p:nvSpPr>
          <p:cNvPr id="129" name="" descr="{&quot;isTemplate&quot;:true,&quot;type&quot;:&quot;text&quot;}"/>
          <p:cNvSpPr txBox="1"/>
          <p:nvPr/>
        </p:nvSpPr>
        <p:spPr>
          <a:xfrm rot="0" flipH="0" flipV="0">
            <a:off x="5086350" y="2552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426</a:t>
            </a:r>
            <a:endParaRPr/>
          </a:p>
        </p:txBody>
      </p:sp>
      <p:sp>
        <p:nvSpPr>
          <p:cNvPr id="130" name="" descr="{&quot;isTemplate&quot;:true,&quot;type&quot;:&quot;text&quot;}"/>
          <p:cNvSpPr txBox="1"/>
          <p:nvPr/>
        </p:nvSpPr>
        <p:spPr>
          <a:xfrm rot="0" flipH="0" flipV="0">
            <a:off x="5610225" y="2552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532758</a:t>
            </a:r>
            <a:endParaRPr/>
          </a:p>
        </p:txBody>
      </p:sp>
      <p:sp>
        <p:nvSpPr>
          <p:cNvPr id="131" name="" descr="{&quot;isTemplate&quot;:true,&quot;type&quot;:&quot;text&quot;}"/>
          <p:cNvSpPr txBox="1"/>
          <p:nvPr/>
        </p:nvSpPr>
        <p:spPr>
          <a:xfrm rot="0" flipH="0" flipV="0">
            <a:off x="609600" y="2695575"/>
            <a:ext cx="219075" cy="104775"/>
          </a:xfrm>
          <a:prstGeom prst="rect"/>
        </p:spPr>
        <p:txBody>
          <a:bodyPr wrap="none" lIns="0" tIns="0" rIns="0" bIns="0"/>
          <a:p>
            <a:pPr>
              <a:lnSpc>
                <a:spcPct val="100000"/>
              </a:lnSpc>
            </a:pPr>
            <a:r>
              <a:rPr lang="en-US" sz="675">
                <a:solidFill>
                  <a:srgbClr val="5F6975"/>
                </a:solidFill>
                <a:latin typeface="Noto Sans SC"/>
                <a:ea typeface="Noto Sans SC"/>
              </a:rPr>
              <a:t>12</a:t>
            </a:r>
            <a:endParaRPr/>
          </a:p>
        </p:txBody>
      </p:sp>
      <p:sp>
        <p:nvSpPr>
          <p:cNvPr id="132" name="" descr="{&quot;isTemplate&quot;:true,&quot;type&quot;:&quot;text&quot;}"/>
          <p:cNvSpPr txBox="1"/>
          <p:nvPr/>
        </p:nvSpPr>
        <p:spPr>
          <a:xfrm rot="0" flipH="0" flipV="0">
            <a:off x="866775" y="26955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网林浴缸人造石一体小户型新型泡澡浴池家用独立式深泡日式浴盆</a:t>
            </a:r>
            <a:endParaRPr/>
          </a:p>
        </p:txBody>
      </p:sp>
      <p:sp>
        <p:nvSpPr>
          <p:cNvPr id="133" name="" descr="{&quot;isTemplate&quot;:true,&quot;type&quot;:&quot;text&quot;}"/>
          <p:cNvSpPr txBox="1"/>
          <p:nvPr/>
        </p:nvSpPr>
        <p:spPr>
          <a:xfrm rot="0" flipH="0" flipV="0">
            <a:off x="5086350" y="2695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421</a:t>
            </a:r>
            <a:endParaRPr/>
          </a:p>
        </p:txBody>
      </p:sp>
      <p:sp>
        <p:nvSpPr>
          <p:cNvPr id="134" name="" descr="{&quot;isTemplate&quot;:true,&quot;type&quot;:&quot;text&quot;}"/>
          <p:cNvSpPr txBox="1"/>
          <p:nvPr/>
        </p:nvSpPr>
        <p:spPr>
          <a:xfrm rot="0" flipH="0" flipV="0">
            <a:off x="5610225" y="2695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033110</a:t>
            </a:r>
            <a:endParaRPr/>
          </a:p>
        </p:txBody>
      </p:sp>
      <p:sp>
        <p:nvSpPr>
          <p:cNvPr id="135" name="" descr="{&quot;isTemplate&quot;:true,&quot;type&quot;:&quot;text&quot;}"/>
          <p:cNvSpPr txBox="1"/>
          <p:nvPr/>
        </p:nvSpPr>
        <p:spPr>
          <a:xfrm rot="0" flipH="0" flipV="0">
            <a:off x="609600" y="2838450"/>
            <a:ext cx="219075" cy="104775"/>
          </a:xfrm>
          <a:prstGeom prst="rect"/>
        </p:spPr>
        <p:txBody>
          <a:bodyPr wrap="none" lIns="0" tIns="0" rIns="0" bIns="0"/>
          <a:p>
            <a:pPr>
              <a:lnSpc>
                <a:spcPct val="100000"/>
              </a:lnSpc>
            </a:pPr>
            <a:r>
              <a:rPr lang="en-US" sz="675">
                <a:solidFill>
                  <a:srgbClr val="5F6975"/>
                </a:solidFill>
                <a:latin typeface="Noto Sans SC"/>
                <a:ea typeface="Noto Sans SC"/>
              </a:rPr>
              <a:t>13</a:t>
            </a:r>
            <a:endParaRPr/>
          </a:p>
        </p:txBody>
      </p:sp>
      <p:sp>
        <p:nvSpPr>
          <p:cNvPr id="136" name="" descr="{&quot;isTemplate&quot;:true,&quot;type&quot;:&quot;text&quot;}"/>
          <p:cNvSpPr txBox="1"/>
          <p:nvPr/>
        </p:nvSpPr>
        <p:spPr>
          <a:xfrm rot="0" flipH="0" flipV="0">
            <a:off x="866775" y="28384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椭圆形洞石款人造石浴池家用民宿酒店艺术一体独立式浴缸</a:t>
            </a:r>
            <a:endParaRPr/>
          </a:p>
        </p:txBody>
      </p:sp>
      <p:sp>
        <p:nvSpPr>
          <p:cNvPr id="137" name="" descr="{&quot;isTemplate&quot;:true,&quot;type&quot;:&quot;text&quot;}"/>
          <p:cNvSpPr txBox="1"/>
          <p:nvPr/>
        </p:nvSpPr>
        <p:spPr>
          <a:xfrm rot="0" flipH="0" flipV="0">
            <a:off x="5086350" y="2838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390</a:t>
            </a:r>
            <a:endParaRPr/>
          </a:p>
        </p:txBody>
      </p:sp>
      <p:sp>
        <p:nvSpPr>
          <p:cNvPr id="138" name="" descr="{&quot;isTemplate&quot;:true,&quot;type&quot;:&quot;text&quot;}"/>
          <p:cNvSpPr txBox="1"/>
          <p:nvPr/>
        </p:nvSpPr>
        <p:spPr>
          <a:xfrm rot="0" flipH="0" flipV="0">
            <a:off x="5610225" y="2838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164909</a:t>
            </a:r>
            <a:endParaRPr/>
          </a:p>
        </p:txBody>
      </p:sp>
      <p:sp>
        <p:nvSpPr>
          <p:cNvPr id="139" name="" descr="{&quot;isTemplate&quot;:true,&quot;type&quot;:&quot;text&quot;}"/>
          <p:cNvSpPr txBox="1"/>
          <p:nvPr/>
        </p:nvSpPr>
        <p:spPr>
          <a:xfrm rot="0" flipH="0" flipV="0">
            <a:off x="609600" y="2981325"/>
            <a:ext cx="219075" cy="104775"/>
          </a:xfrm>
          <a:prstGeom prst="rect"/>
        </p:spPr>
        <p:txBody>
          <a:bodyPr wrap="none" lIns="0" tIns="0" rIns="0" bIns="0"/>
          <a:p>
            <a:pPr>
              <a:lnSpc>
                <a:spcPct val="100000"/>
              </a:lnSpc>
            </a:pPr>
            <a:r>
              <a:rPr lang="en-US" sz="675">
                <a:solidFill>
                  <a:srgbClr val="5F6975"/>
                </a:solidFill>
                <a:latin typeface="Noto Sans SC"/>
                <a:ea typeface="Noto Sans SC"/>
              </a:rPr>
              <a:t>14</a:t>
            </a:r>
            <a:endParaRPr/>
          </a:p>
        </p:txBody>
      </p:sp>
      <p:sp>
        <p:nvSpPr>
          <p:cNvPr id="140" name="" descr="{&quot;isTemplate&quot;:true,&quot;type&quot;:&quot;text&quot;}"/>
          <p:cNvSpPr txBox="1"/>
          <p:nvPr/>
        </p:nvSpPr>
        <p:spPr>
          <a:xfrm rot="0" flipH="0" flipV="0">
            <a:off x="866775" y="29813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人造石深泡坐式一体浴缸日式酒店民宿卫生间工程迷你浴盆</a:t>
            </a:r>
            <a:endParaRPr/>
          </a:p>
        </p:txBody>
      </p:sp>
      <p:sp>
        <p:nvSpPr>
          <p:cNvPr id="141" name="" descr="{&quot;isTemplate&quot;:true,&quot;type&quot;:&quot;text&quot;}"/>
          <p:cNvSpPr txBox="1"/>
          <p:nvPr/>
        </p:nvSpPr>
        <p:spPr>
          <a:xfrm rot="0" flipH="0" flipV="0">
            <a:off x="5086350" y="2981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365</a:t>
            </a:r>
            <a:endParaRPr/>
          </a:p>
        </p:txBody>
      </p:sp>
      <p:sp>
        <p:nvSpPr>
          <p:cNvPr id="142" name="" descr="{&quot;isTemplate&quot;:true,&quot;type&quot;:&quot;text&quot;}"/>
          <p:cNvSpPr txBox="1"/>
          <p:nvPr/>
        </p:nvSpPr>
        <p:spPr>
          <a:xfrm rot="0" flipH="0" flipV="0">
            <a:off x="5610225" y="2981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602271</a:t>
            </a:r>
            <a:endParaRPr/>
          </a:p>
        </p:txBody>
      </p:sp>
      <p:sp>
        <p:nvSpPr>
          <p:cNvPr id="143" name="" descr="{&quot;isTemplate&quot;:true,&quot;type&quot;:&quot;text&quot;}"/>
          <p:cNvSpPr txBox="1"/>
          <p:nvPr/>
        </p:nvSpPr>
        <p:spPr>
          <a:xfrm rot="0" flipH="0" flipV="0">
            <a:off x="609600" y="3124200"/>
            <a:ext cx="219075" cy="104775"/>
          </a:xfrm>
          <a:prstGeom prst="rect"/>
        </p:spPr>
        <p:txBody>
          <a:bodyPr wrap="none" lIns="0" tIns="0" rIns="0" bIns="0"/>
          <a:p>
            <a:pPr>
              <a:lnSpc>
                <a:spcPct val="100000"/>
              </a:lnSpc>
            </a:pPr>
            <a:r>
              <a:rPr lang="en-US" sz="675">
                <a:solidFill>
                  <a:srgbClr val="5F6975"/>
                </a:solidFill>
                <a:latin typeface="Noto Sans SC"/>
                <a:ea typeface="Noto Sans SC"/>
              </a:rPr>
              <a:t>15</a:t>
            </a:r>
            <a:endParaRPr/>
          </a:p>
        </p:txBody>
      </p:sp>
      <p:sp>
        <p:nvSpPr>
          <p:cNvPr id="144" name="" descr="{&quot;isTemplate&quot;:true,&quot;type&quot;:&quot;text&quot;}"/>
          <p:cNvSpPr txBox="1"/>
          <p:nvPr/>
        </p:nvSpPr>
        <p:spPr>
          <a:xfrm rot="0" flipH="0" flipV="0">
            <a:off x="866775" y="31242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网林人造石独立式方形一体成型落地洗脸盆民宿酒店阳台立柱盆定制</a:t>
            </a:r>
            <a:endParaRPr/>
          </a:p>
        </p:txBody>
      </p:sp>
      <p:sp>
        <p:nvSpPr>
          <p:cNvPr id="145" name="" descr="{&quot;isTemplate&quot;:true,&quot;type&quot;:&quot;text&quot;}"/>
          <p:cNvSpPr txBox="1"/>
          <p:nvPr/>
        </p:nvSpPr>
        <p:spPr>
          <a:xfrm rot="0" flipH="0" flipV="0">
            <a:off x="5086350" y="3124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324</a:t>
            </a:r>
            <a:endParaRPr/>
          </a:p>
        </p:txBody>
      </p:sp>
      <p:sp>
        <p:nvSpPr>
          <p:cNvPr id="146" name="" descr="{&quot;isTemplate&quot;:true,&quot;type&quot;:&quot;text&quot;}"/>
          <p:cNvSpPr txBox="1"/>
          <p:nvPr/>
        </p:nvSpPr>
        <p:spPr>
          <a:xfrm rot="0" flipH="0" flipV="0">
            <a:off x="5610225" y="3124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918945</a:t>
            </a:r>
            <a:endParaRPr/>
          </a:p>
        </p:txBody>
      </p:sp>
      <p:sp>
        <p:nvSpPr>
          <p:cNvPr id="147" name="" descr="{&quot;isTemplate&quot;:true,&quot;type&quot;:&quot;text&quot;}"/>
          <p:cNvSpPr txBox="1"/>
          <p:nvPr/>
        </p:nvSpPr>
        <p:spPr>
          <a:xfrm rot="0" flipH="0" flipV="0">
            <a:off x="609600" y="3267075"/>
            <a:ext cx="219075" cy="104775"/>
          </a:xfrm>
          <a:prstGeom prst="rect"/>
        </p:spPr>
        <p:txBody>
          <a:bodyPr wrap="none" lIns="0" tIns="0" rIns="0" bIns="0"/>
          <a:p>
            <a:pPr>
              <a:lnSpc>
                <a:spcPct val="100000"/>
              </a:lnSpc>
            </a:pPr>
            <a:r>
              <a:rPr lang="en-US" sz="675">
                <a:solidFill>
                  <a:srgbClr val="5F6975"/>
                </a:solidFill>
                <a:latin typeface="Noto Sans SC"/>
                <a:ea typeface="Noto Sans SC"/>
              </a:rPr>
              <a:t>16</a:t>
            </a:r>
            <a:endParaRPr/>
          </a:p>
        </p:txBody>
      </p:sp>
      <p:sp>
        <p:nvSpPr>
          <p:cNvPr id="148" name="" descr="{&quot;isTemplate&quot;:true,&quot;type&quot;:&quot;text&quot;}"/>
          <p:cNvSpPr txBox="1"/>
          <p:nvPr/>
        </p:nvSpPr>
        <p:spPr>
          <a:xfrm rot="0" flipH="0" flipV="0">
            <a:off x="866775" y="32670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盖文洞石浴缸人造石家用独立小户型日式浴池深泡一体坐式洗浴盆</a:t>
            </a:r>
            <a:endParaRPr/>
          </a:p>
        </p:txBody>
      </p:sp>
      <p:sp>
        <p:nvSpPr>
          <p:cNvPr id="149" name="" descr="{&quot;isTemplate&quot;:true,&quot;type&quot;:&quot;text&quot;}"/>
          <p:cNvSpPr txBox="1"/>
          <p:nvPr/>
        </p:nvSpPr>
        <p:spPr>
          <a:xfrm rot="0" flipH="0" flipV="0">
            <a:off x="5086350" y="3267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322</a:t>
            </a:r>
            <a:endParaRPr/>
          </a:p>
        </p:txBody>
      </p:sp>
      <p:sp>
        <p:nvSpPr>
          <p:cNvPr id="150" name="" descr="{&quot;isTemplate&quot;:true,&quot;type&quot;:&quot;text&quot;}"/>
          <p:cNvSpPr txBox="1"/>
          <p:nvPr/>
        </p:nvSpPr>
        <p:spPr>
          <a:xfrm rot="0" flipH="0" flipV="0">
            <a:off x="5610225" y="3267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619950</a:t>
            </a:r>
            <a:endParaRPr/>
          </a:p>
        </p:txBody>
      </p:sp>
      <p:sp>
        <p:nvSpPr>
          <p:cNvPr id="151" name="" descr="{&quot;isTemplate&quot;:true,&quot;type&quot;:&quot;text&quot;}"/>
          <p:cNvSpPr txBox="1"/>
          <p:nvPr/>
        </p:nvSpPr>
        <p:spPr>
          <a:xfrm rot="0" flipH="0" flipV="0">
            <a:off x="609600" y="3409950"/>
            <a:ext cx="219075" cy="104775"/>
          </a:xfrm>
          <a:prstGeom prst="rect"/>
        </p:spPr>
        <p:txBody>
          <a:bodyPr wrap="none" lIns="0" tIns="0" rIns="0" bIns="0"/>
          <a:p>
            <a:pPr>
              <a:lnSpc>
                <a:spcPct val="100000"/>
              </a:lnSpc>
            </a:pPr>
            <a:r>
              <a:rPr lang="en-US" sz="675">
                <a:solidFill>
                  <a:srgbClr val="5F6975"/>
                </a:solidFill>
                <a:latin typeface="Noto Sans SC"/>
                <a:ea typeface="Noto Sans SC"/>
              </a:rPr>
              <a:t>17</a:t>
            </a:r>
            <a:endParaRPr/>
          </a:p>
        </p:txBody>
      </p:sp>
      <p:sp>
        <p:nvSpPr>
          <p:cNvPr id="152" name="" descr="{&quot;isTemplate&quot;:true,&quot;type&quot;:&quot;text&quot;}"/>
          <p:cNvSpPr txBox="1"/>
          <p:nvPr/>
        </p:nvSpPr>
        <p:spPr>
          <a:xfrm rot="0" flipH="0" flipV="0">
            <a:off x="866775" y="34099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长方形独立式一体式人造绮美石浴缸酒店民宿双人情侣浴盆</a:t>
            </a:r>
            <a:endParaRPr/>
          </a:p>
        </p:txBody>
      </p:sp>
      <p:sp>
        <p:nvSpPr>
          <p:cNvPr id="153" name="" descr="{&quot;isTemplate&quot;:true,&quot;type&quot;:&quot;text&quot;}"/>
          <p:cNvSpPr txBox="1"/>
          <p:nvPr/>
        </p:nvSpPr>
        <p:spPr>
          <a:xfrm rot="0" flipH="0" flipV="0">
            <a:off x="5086350" y="3409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314</a:t>
            </a:r>
            <a:endParaRPr/>
          </a:p>
        </p:txBody>
      </p:sp>
      <p:sp>
        <p:nvSpPr>
          <p:cNvPr id="154" name="" descr="{&quot;isTemplate&quot;:true,&quot;type&quot;:&quot;text&quot;}"/>
          <p:cNvSpPr txBox="1"/>
          <p:nvPr/>
        </p:nvSpPr>
        <p:spPr>
          <a:xfrm rot="0" flipH="0" flipV="0">
            <a:off x="5610225" y="3409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731796</a:t>
            </a:r>
            <a:endParaRPr/>
          </a:p>
        </p:txBody>
      </p:sp>
      <p:sp>
        <p:nvSpPr>
          <p:cNvPr id="155" name="" descr="{&quot;isTemplate&quot;:true,&quot;type&quot;:&quot;text&quot;}"/>
          <p:cNvSpPr txBox="1"/>
          <p:nvPr/>
        </p:nvSpPr>
        <p:spPr>
          <a:xfrm rot="0" flipH="0" flipV="0">
            <a:off x="609600" y="3552825"/>
            <a:ext cx="219075" cy="104775"/>
          </a:xfrm>
          <a:prstGeom prst="rect"/>
        </p:spPr>
        <p:txBody>
          <a:bodyPr wrap="none" lIns="0" tIns="0" rIns="0" bIns="0"/>
          <a:p>
            <a:pPr>
              <a:lnSpc>
                <a:spcPct val="100000"/>
              </a:lnSpc>
            </a:pPr>
            <a:r>
              <a:rPr lang="en-US" sz="675">
                <a:solidFill>
                  <a:srgbClr val="5F6975"/>
                </a:solidFill>
                <a:latin typeface="Noto Sans SC"/>
                <a:ea typeface="Noto Sans SC"/>
              </a:rPr>
              <a:t>18</a:t>
            </a:r>
            <a:endParaRPr/>
          </a:p>
        </p:txBody>
      </p:sp>
      <p:sp>
        <p:nvSpPr>
          <p:cNvPr id="156" name="" descr="{&quot;isTemplate&quot;:true,&quot;type&quot;:&quot;text&quot;}"/>
          <p:cNvSpPr txBox="1"/>
          <p:nvPr/>
        </p:nvSpPr>
        <p:spPr>
          <a:xfrm rot="0" flipH="0" flipV="0">
            <a:off x="866775" y="35528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独立式人造绮美石浴缸小户型家用卫生间精品民宿坐式浴盆</a:t>
            </a:r>
            <a:endParaRPr/>
          </a:p>
        </p:txBody>
      </p:sp>
      <p:sp>
        <p:nvSpPr>
          <p:cNvPr id="157" name="" descr="{&quot;isTemplate&quot;:true,&quot;type&quot;:&quot;text&quot;}"/>
          <p:cNvSpPr txBox="1"/>
          <p:nvPr/>
        </p:nvSpPr>
        <p:spPr>
          <a:xfrm rot="0" flipH="0" flipV="0">
            <a:off x="5086350" y="3552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278</a:t>
            </a:r>
            <a:endParaRPr/>
          </a:p>
        </p:txBody>
      </p:sp>
      <p:sp>
        <p:nvSpPr>
          <p:cNvPr id="158" name="" descr="{&quot;isTemplate&quot;:true,&quot;type&quot;:&quot;text&quot;}"/>
          <p:cNvSpPr txBox="1"/>
          <p:nvPr/>
        </p:nvSpPr>
        <p:spPr>
          <a:xfrm rot="0" flipH="0" flipV="0">
            <a:off x="5610225" y="3552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405745</a:t>
            </a:r>
            <a:endParaRPr/>
          </a:p>
        </p:txBody>
      </p:sp>
      <p:sp>
        <p:nvSpPr>
          <p:cNvPr id="159" name="" descr="{&quot;isTemplate&quot;:true,&quot;type&quot;:&quot;text&quot;}"/>
          <p:cNvSpPr txBox="1"/>
          <p:nvPr/>
        </p:nvSpPr>
        <p:spPr>
          <a:xfrm rot="0" flipH="0" flipV="0">
            <a:off x="609600" y="3695700"/>
            <a:ext cx="219075" cy="104775"/>
          </a:xfrm>
          <a:prstGeom prst="rect"/>
        </p:spPr>
        <p:txBody>
          <a:bodyPr wrap="none" lIns="0" tIns="0" rIns="0" bIns="0"/>
          <a:p>
            <a:pPr>
              <a:lnSpc>
                <a:spcPct val="100000"/>
              </a:lnSpc>
            </a:pPr>
            <a:r>
              <a:rPr lang="en-US" sz="675">
                <a:solidFill>
                  <a:srgbClr val="5F6975"/>
                </a:solidFill>
                <a:latin typeface="Noto Sans SC"/>
                <a:ea typeface="Noto Sans SC"/>
              </a:rPr>
              <a:t>19</a:t>
            </a:r>
            <a:endParaRPr/>
          </a:p>
        </p:txBody>
      </p:sp>
      <p:sp>
        <p:nvSpPr>
          <p:cNvPr id="160" name="" descr="{&quot;isTemplate&quot;:true,&quot;type&quot;:&quot;text&quot;}"/>
          <p:cNvSpPr txBox="1"/>
          <p:nvPr/>
        </p:nvSpPr>
        <p:spPr>
          <a:xfrm rot="0" flipH="0" flipV="0">
            <a:off x="866775" y="369570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大理石纹浴缸人造石独立一体式家用深泡设计浴池双人浴盆</a:t>
            </a:r>
            <a:endParaRPr/>
          </a:p>
        </p:txBody>
      </p:sp>
      <p:sp>
        <p:nvSpPr>
          <p:cNvPr id="161" name="" descr="{&quot;isTemplate&quot;:true,&quot;type&quot;:&quot;text&quot;}"/>
          <p:cNvSpPr txBox="1"/>
          <p:nvPr/>
        </p:nvSpPr>
        <p:spPr>
          <a:xfrm rot="0" flipH="0" flipV="0">
            <a:off x="5086350" y="3695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269</a:t>
            </a:r>
            <a:endParaRPr/>
          </a:p>
        </p:txBody>
      </p:sp>
      <p:sp>
        <p:nvSpPr>
          <p:cNvPr id="162" name="" descr="{&quot;isTemplate&quot;:true,&quot;type&quot;:&quot;text&quot;}"/>
          <p:cNvSpPr txBox="1"/>
          <p:nvPr/>
        </p:nvSpPr>
        <p:spPr>
          <a:xfrm rot="0" flipH="0" flipV="0">
            <a:off x="5610225" y="3695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430805</a:t>
            </a:r>
            <a:endParaRPr/>
          </a:p>
        </p:txBody>
      </p:sp>
      <p:sp>
        <p:nvSpPr>
          <p:cNvPr id="163" name="" descr="{&quot;isTemplate&quot;:true,&quot;type&quot;:&quot;text&quot;}"/>
          <p:cNvSpPr txBox="1"/>
          <p:nvPr/>
        </p:nvSpPr>
        <p:spPr>
          <a:xfrm rot="0" flipH="0" flipV="0">
            <a:off x="609600" y="3838575"/>
            <a:ext cx="219075" cy="104775"/>
          </a:xfrm>
          <a:prstGeom prst="rect"/>
        </p:spPr>
        <p:txBody>
          <a:bodyPr wrap="none" lIns="0" tIns="0" rIns="0" bIns="0"/>
          <a:p>
            <a:pPr>
              <a:lnSpc>
                <a:spcPct val="100000"/>
              </a:lnSpc>
            </a:pPr>
            <a:r>
              <a:rPr lang="en-US" sz="675">
                <a:solidFill>
                  <a:srgbClr val="5F6975"/>
                </a:solidFill>
                <a:latin typeface="Noto Sans SC"/>
                <a:ea typeface="Noto Sans SC"/>
              </a:rPr>
              <a:t>20</a:t>
            </a:r>
            <a:endParaRPr/>
          </a:p>
        </p:txBody>
      </p:sp>
      <p:sp>
        <p:nvSpPr>
          <p:cNvPr id="164" name="" descr="{&quot;isTemplate&quot;:true,&quot;type&quot;:&quot;text&quot;}"/>
          <p:cNvSpPr txBox="1"/>
          <p:nvPr/>
        </p:nvSpPr>
        <p:spPr>
          <a:xfrm rot="0" flipH="0" flipV="0">
            <a:off x="866775" y="38385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盖文人造石高分子双层置物台面落地洗手盆小户型家用一体台盆定制</a:t>
            </a:r>
            <a:endParaRPr/>
          </a:p>
        </p:txBody>
      </p:sp>
      <p:sp>
        <p:nvSpPr>
          <p:cNvPr id="165" name="" descr="{&quot;isTemplate&quot;:true,&quot;type&quot;:&quot;text&quot;}"/>
          <p:cNvSpPr txBox="1"/>
          <p:nvPr/>
        </p:nvSpPr>
        <p:spPr>
          <a:xfrm rot="0" flipH="0" flipV="0">
            <a:off x="5086350" y="3838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223</a:t>
            </a:r>
            <a:endParaRPr/>
          </a:p>
        </p:txBody>
      </p:sp>
      <p:sp>
        <p:nvSpPr>
          <p:cNvPr id="166" name="" descr="{&quot;isTemplate&quot;:true,&quot;type&quot;:&quot;text&quot;}"/>
          <p:cNvSpPr txBox="1"/>
          <p:nvPr/>
        </p:nvSpPr>
        <p:spPr>
          <a:xfrm rot="0" flipH="0" flipV="0">
            <a:off x="5610225" y="3838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768943</a:t>
            </a:r>
            <a:endParaRPr/>
          </a:p>
        </p:txBody>
      </p:sp>
      <p:sp>
        <p:nvSpPr>
          <p:cNvPr id="167" name="" descr="{&quot;isTemplate&quot;:true,&quot;type&quot;:&quot;text&quot;}"/>
          <p:cNvSpPr txBox="1"/>
          <p:nvPr/>
        </p:nvSpPr>
        <p:spPr>
          <a:xfrm rot="0" flipH="0" flipV="0">
            <a:off x="609600" y="3981450"/>
            <a:ext cx="219075" cy="104775"/>
          </a:xfrm>
          <a:prstGeom prst="rect"/>
        </p:spPr>
        <p:txBody>
          <a:bodyPr wrap="none" lIns="0" tIns="0" rIns="0" bIns="0"/>
          <a:p>
            <a:pPr>
              <a:lnSpc>
                <a:spcPct val="100000"/>
              </a:lnSpc>
            </a:pPr>
            <a:r>
              <a:rPr lang="en-US" sz="675">
                <a:solidFill>
                  <a:srgbClr val="5F6975"/>
                </a:solidFill>
                <a:latin typeface="Noto Sans SC"/>
                <a:ea typeface="Noto Sans SC"/>
              </a:rPr>
              <a:t>21</a:t>
            </a:r>
            <a:endParaRPr/>
          </a:p>
        </p:txBody>
      </p:sp>
      <p:sp>
        <p:nvSpPr>
          <p:cNvPr id="168" name="" descr="{&quot;isTemplate&quot;:true,&quot;type&quot;:&quot;text&quot;}"/>
          <p:cNvSpPr txBox="1"/>
          <p:nvPr/>
        </p:nvSpPr>
        <p:spPr>
          <a:xfrm rot="0" flipH="0" flipV="0">
            <a:off x="866775" y="39814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网林奶咖色人造石一体洗手盆小户型卫生间挂墙式极窄洗漱台盆定制</a:t>
            </a:r>
            <a:endParaRPr/>
          </a:p>
        </p:txBody>
      </p:sp>
      <p:sp>
        <p:nvSpPr>
          <p:cNvPr id="169" name="" descr="{&quot;isTemplate&quot;:true,&quot;type&quot;:&quot;text&quot;}"/>
          <p:cNvSpPr txBox="1"/>
          <p:nvPr/>
        </p:nvSpPr>
        <p:spPr>
          <a:xfrm rot="0" flipH="0" flipV="0">
            <a:off x="5086350" y="3981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197</a:t>
            </a:r>
            <a:endParaRPr/>
          </a:p>
        </p:txBody>
      </p:sp>
      <p:sp>
        <p:nvSpPr>
          <p:cNvPr id="170" name="" descr="{&quot;isTemplate&quot;:true,&quot;type&quot;:&quot;text&quot;}"/>
          <p:cNvSpPr txBox="1"/>
          <p:nvPr/>
        </p:nvSpPr>
        <p:spPr>
          <a:xfrm rot="0" flipH="0" flipV="0">
            <a:off x="5610225" y="3981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457862</a:t>
            </a:r>
            <a:endParaRPr/>
          </a:p>
        </p:txBody>
      </p:sp>
      <p:sp>
        <p:nvSpPr>
          <p:cNvPr id="171" name="" descr="{&quot;isTemplate&quot;:true,&quot;type&quot;:&quot;text&quot;}"/>
          <p:cNvSpPr txBox="1"/>
          <p:nvPr/>
        </p:nvSpPr>
        <p:spPr>
          <a:xfrm rot="0" flipH="0" flipV="0">
            <a:off x="609600" y="4124325"/>
            <a:ext cx="219075" cy="104775"/>
          </a:xfrm>
          <a:prstGeom prst="rect"/>
        </p:spPr>
        <p:txBody>
          <a:bodyPr wrap="none" lIns="0" tIns="0" rIns="0" bIns="0"/>
          <a:p>
            <a:pPr>
              <a:lnSpc>
                <a:spcPct val="100000"/>
              </a:lnSpc>
            </a:pPr>
            <a:r>
              <a:rPr lang="en-US" sz="675">
                <a:solidFill>
                  <a:srgbClr val="5F6975"/>
                </a:solidFill>
                <a:latin typeface="Noto Sans SC"/>
                <a:ea typeface="Noto Sans SC"/>
              </a:rPr>
              <a:t>22</a:t>
            </a:r>
            <a:endParaRPr/>
          </a:p>
        </p:txBody>
      </p:sp>
      <p:sp>
        <p:nvSpPr>
          <p:cNvPr id="172" name="" descr="{&quot;isTemplate&quot;:true,&quot;type&quot;:&quot;text&quot;}"/>
          <p:cNvSpPr txBox="1"/>
          <p:nvPr/>
        </p:nvSpPr>
        <p:spPr>
          <a:xfrm rot="0" flipH="0" flipV="0">
            <a:off x="866775" y="41243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网林简约现代人造石立柱盆家用卫生间落地一体式置物台面洗手台盆</a:t>
            </a:r>
            <a:endParaRPr/>
          </a:p>
        </p:txBody>
      </p:sp>
      <p:sp>
        <p:nvSpPr>
          <p:cNvPr id="173" name="" descr="{&quot;isTemplate&quot;:true,&quot;type&quot;:&quot;text&quot;}"/>
          <p:cNvSpPr txBox="1"/>
          <p:nvPr/>
        </p:nvSpPr>
        <p:spPr>
          <a:xfrm rot="0" flipH="0" flipV="0">
            <a:off x="5086350" y="4124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194</a:t>
            </a:r>
            <a:endParaRPr/>
          </a:p>
        </p:txBody>
      </p:sp>
      <p:sp>
        <p:nvSpPr>
          <p:cNvPr id="174" name="" descr="{&quot;isTemplate&quot;:true,&quot;type&quot;:&quot;text&quot;}"/>
          <p:cNvSpPr txBox="1"/>
          <p:nvPr/>
        </p:nvSpPr>
        <p:spPr>
          <a:xfrm rot="0" flipH="0" flipV="0">
            <a:off x="5610225" y="4124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282396</a:t>
            </a:r>
            <a:endParaRPr/>
          </a:p>
        </p:txBody>
      </p:sp>
      <p:sp>
        <p:nvSpPr>
          <p:cNvPr id="175" name="" descr="{&quot;isTemplate&quot;:true,&quot;type&quot;:&quot;text&quot;}"/>
          <p:cNvSpPr txBox="1"/>
          <p:nvPr/>
        </p:nvSpPr>
        <p:spPr>
          <a:xfrm rot="0" flipH="0" flipV="0">
            <a:off x="609600" y="4267200"/>
            <a:ext cx="219075" cy="104775"/>
          </a:xfrm>
          <a:prstGeom prst="rect"/>
        </p:spPr>
        <p:txBody>
          <a:bodyPr wrap="none" lIns="0" tIns="0" rIns="0" bIns="0"/>
          <a:p>
            <a:pPr>
              <a:lnSpc>
                <a:spcPct val="100000"/>
              </a:lnSpc>
            </a:pPr>
            <a:r>
              <a:rPr lang="en-US" sz="675">
                <a:solidFill>
                  <a:srgbClr val="5F6975"/>
                </a:solidFill>
                <a:latin typeface="Noto Sans SC"/>
                <a:ea typeface="Noto Sans SC"/>
              </a:rPr>
              <a:t>23</a:t>
            </a:r>
            <a:endParaRPr/>
          </a:p>
        </p:txBody>
      </p:sp>
      <p:sp>
        <p:nvSpPr>
          <p:cNvPr id="176" name="" descr="{&quot;isTemplate&quot;:true,&quot;type&quot;:&quot;text&quot;}"/>
          <p:cNvSpPr txBox="1"/>
          <p:nvPr/>
        </p:nvSpPr>
        <p:spPr>
          <a:xfrm rot="0" flipH="0" flipV="0">
            <a:off x="866775" y="42672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盖文现代简约人造石立柱盆家用卫生间落地式洗手盆小户型洗脸盆</a:t>
            </a:r>
            <a:endParaRPr/>
          </a:p>
        </p:txBody>
      </p:sp>
      <p:sp>
        <p:nvSpPr>
          <p:cNvPr id="177" name="" descr="{&quot;isTemplate&quot;:true,&quot;type&quot;:&quot;text&quot;}"/>
          <p:cNvSpPr txBox="1"/>
          <p:nvPr/>
        </p:nvSpPr>
        <p:spPr>
          <a:xfrm rot="0" flipH="0" flipV="0">
            <a:off x="5086350" y="4267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185</a:t>
            </a:r>
            <a:endParaRPr/>
          </a:p>
        </p:txBody>
      </p:sp>
      <p:sp>
        <p:nvSpPr>
          <p:cNvPr id="178" name="" descr="{&quot;isTemplate&quot;:true,&quot;type&quot;:&quot;text&quot;}"/>
          <p:cNvSpPr txBox="1"/>
          <p:nvPr/>
        </p:nvSpPr>
        <p:spPr>
          <a:xfrm rot="0" flipH="0" flipV="0">
            <a:off x="5610225" y="4267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737494</a:t>
            </a:r>
            <a:endParaRPr/>
          </a:p>
        </p:txBody>
      </p:sp>
      <p:sp>
        <p:nvSpPr>
          <p:cNvPr id="179" name="" descr="{&quot;isTemplate&quot;:true,&quot;type&quot;:&quot;text&quot;}"/>
          <p:cNvSpPr txBox="1"/>
          <p:nvPr/>
        </p:nvSpPr>
        <p:spPr>
          <a:xfrm rot="0" flipH="0" flipV="0">
            <a:off x="609600" y="4410075"/>
            <a:ext cx="219075" cy="104775"/>
          </a:xfrm>
          <a:prstGeom prst="rect"/>
        </p:spPr>
        <p:txBody>
          <a:bodyPr wrap="none" lIns="0" tIns="0" rIns="0" bIns="0"/>
          <a:p>
            <a:pPr>
              <a:lnSpc>
                <a:spcPct val="100000"/>
              </a:lnSpc>
            </a:pPr>
            <a:r>
              <a:rPr lang="en-US" sz="675">
                <a:solidFill>
                  <a:srgbClr val="5F6975"/>
                </a:solidFill>
                <a:latin typeface="Noto Sans SC"/>
                <a:ea typeface="Noto Sans SC"/>
              </a:rPr>
              <a:t>24</a:t>
            </a:r>
            <a:endParaRPr/>
          </a:p>
        </p:txBody>
      </p:sp>
      <p:sp>
        <p:nvSpPr>
          <p:cNvPr id="180" name="" descr="{&quot;isTemplate&quot;:true,&quot;type&quot;:&quot;text&quot;}"/>
          <p:cNvSpPr txBox="1"/>
          <p:nvPr/>
        </p:nvSpPr>
        <p:spPr>
          <a:xfrm rot="0" flipH="0" flipV="0">
            <a:off x="866775" y="44100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a:t>
            </a:r>
            <a:r>
              <a:rPr lang="en-US" sz="675">
                <a:solidFill>
                  <a:srgbClr val="15181D"/>
                </a:solidFill>
                <a:latin typeface="Noto Sans SC"/>
                <a:ea typeface="Noto Sans SC"/>
              </a:rPr>
              <a:t>Gavin</a:t>
            </a:r>
            <a:r>
              <a:rPr lang="zh-CN" sz="675">
                <a:solidFill>
                  <a:srgbClr val="15181D"/>
                </a:solidFill>
                <a:latin typeface="Noto Sans SC"/>
                <a:ea typeface="Noto Sans SC"/>
              </a:rPr>
              <a:t>人造石深泡一体浴盆日式酒店民宿独立式小户型浴缸家用</a:t>
            </a:r>
            <a:endParaRPr/>
          </a:p>
        </p:txBody>
      </p:sp>
      <p:sp>
        <p:nvSpPr>
          <p:cNvPr id="181" name="" descr="{&quot;isTemplate&quot;:true,&quot;type&quot;:&quot;text&quot;}"/>
          <p:cNvSpPr txBox="1"/>
          <p:nvPr/>
        </p:nvSpPr>
        <p:spPr>
          <a:xfrm rot="0" flipH="0" flipV="0">
            <a:off x="5086350" y="4410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185</a:t>
            </a:r>
            <a:endParaRPr/>
          </a:p>
        </p:txBody>
      </p:sp>
      <p:sp>
        <p:nvSpPr>
          <p:cNvPr id="182" name="" descr="{&quot;isTemplate&quot;:true,&quot;type&quot;:&quot;text&quot;}"/>
          <p:cNvSpPr txBox="1"/>
          <p:nvPr/>
        </p:nvSpPr>
        <p:spPr>
          <a:xfrm rot="0" flipH="0" flipV="0">
            <a:off x="5610225" y="4410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895799</a:t>
            </a:r>
            <a:endParaRPr/>
          </a:p>
        </p:txBody>
      </p:sp>
      <p:sp>
        <p:nvSpPr>
          <p:cNvPr id="183" name="" descr="{&quot;isTemplate&quot;:true,&quot;type&quot;:&quot;text&quot;}"/>
          <p:cNvSpPr txBox="1"/>
          <p:nvPr/>
        </p:nvSpPr>
        <p:spPr>
          <a:xfrm rot="0" flipH="0" flipV="0">
            <a:off x="609600" y="4552950"/>
            <a:ext cx="219075" cy="104775"/>
          </a:xfrm>
          <a:prstGeom prst="rect"/>
        </p:spPr>
        <p:txBody>
          <a:bodyPr wrap="none" lIns="0" tIns="0" rIns="0" bIns="0"/>
          <a:p>
            <a:pPr>
              <a:lnSpc>
                <a:spcPct val="100000"/>
              </a:lnSpc>
            </a:pPr>
            <a:r>
              <a:rPr lang="en-US" sz="675">
                <a:solidFill>
                  <a:srgbClr val="5F6975"/>
                </a:solidFill>
                <a:latin typeface="Noto Sans SC"/>
                <a:ea typeface="Noto Sans SC"/>
              </a:rPr>
              <a:t>25</a:t>
            </a:r>
            <a:endParaRPr/>
          </a:p>
        </p:txBody>
      </p:sp>
      <p:sp>
        <p:nvSpPr>
          <p:cNvPr id="184" name="" descr="{&quot;isTemplate&quot;:true,&quot;type&quot;:&quot;text&quot;}"/>
          <p:cNvSpPr txBox="1"/>
          <p:nvPr/>
        </p:nvSpPr>
        <p:spPr>
          <a:xfrm rot="0" flipH="0" flipV="0">
            <a:off x="866775" y="4552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网林长方形人造高分子独立式浴缸酒店民宿家用双人情侣哑光白浴池</a:t>
            </a:r>
            <a:endParaRPr/>
          </a:p>
        </p:txBody>
      </p:sp>
      <p:sp>
        <p:nvSpPr>
          <p:cNvPr id="185" name="" descr="{&quot;isTemplate&quot;:true,&quot;type&quot;:&quot;text&quot;}"/>
          <p:cNvSpPr txBox="1"/>
          <p:nvPr/>
        </p:nvSpPr>
        <p:spPr>
          <a:xfrm rot="0" flipH="0" flipV="0">
            <a:off x="5086350" y="4552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152</a:t>
            </a:r>
            <a:endParaRPr/>
          </a:p>
        </p:txBody>
      </p:sp>
      <p:sp>
        <p:nvSpPr>
          <p:cNvPr id="186" name="" descr="{&quot;isTemplate&quot;:true,&quot;type&quot;:&quot;text&quot;}"/>
          <p:cNvSpPr txBox="1"/>
          <p:nvPr/>
        </p:nvSpPr>
        <p:spPr>
          <a:xfrm rot="0" flipH="0" flipV="0">
            <a:off x="5610225" y="4552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705176</a:t>
            </a:r>
            <a:endParaRPr/>
          </a:p>
        </p:txBody>
      </p:sp>
      <p:sp>
        <p:nvSpPr>
          <p:cNvPr id="187" name="" descr="{&quot;isTemplate&quot;:true,&quot;type&quot;:&quot;text&quot;}"/>
          <p:cNvSpPr txBox="1"/>
          <p:nvPr/>
        </p:nvSpPr>
        <p:spPr>
          <a:xfrm rot="0" flipH="0" flipV="0">
            <a:off x="609600" y="4695825"/>
            <a:ext cx="219075" cy="104775"/>
          </a:xfrm>
          <a:prstGeom prst="rect"/>
        </p:spPr>
        <p:txBody>
          <a:bodyPr wrap="none" lIns="0" tIns="0" rIns="0" bIns="0"/>
          <a:p>
            <a:pPr>
              <a:lnSpc>
                <a:spcPct val="100000"/>
              </a:lnSpc>
            </a:pPr>
            <a:r>
              <a:rPr lang="en-US" sz="675">
                <a:solidFill>
                  <a:srgbClr val="5F6975"/>
                </a:solidFill>
                <a:latin typeface="Noto Sans SC"/>
                <a:ea typeface="Noto Sans SC"/>
              </a:rPr>
              <a:t>26</a:t>
            </a:r>
            <a:endParaRPr/>
          </a:p>
        </p:txBody>
      </p:sp>
      <p:sp>
        <p:nvSpPr>
          <p:cNvPr id="188" name="" descr="{&quot;isTemplate&quot;:true,&quot;type&quot;:&quot;text&quot;}"/>
          <p:cNvSpPr txBox="1"/>
          <p:nvPr/>
        </p:nvSpPr>
        <p:spPr>
          <a:xfrm rot="0" flipH="0" flipV="0">
            <a:off x="866775" y="46958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独立式人造绮美石鹅蛋型家用卫生间浴缸酒店民宿浴室浴池</a:t>
            </a:r>
            <a:endParaRPr/>
          </a:p>
        </p:txBody>
      </p:sp>
      <p:sp>
        <p:nvSpPr>
          <p:cNvPr id="189" name="" descr="{&quot;isTemplate&quot;:true,&quot;type&quot;:&quot;text&quot;}"/>
          <p:cNvSpPr txBox="1"/>
          <p:nvPr/>
        </p:nvSpPr>
        <p:spPr>
          <a:xfrm rot="0" flipH="0" flipV="0">
            <a:off x="5086350" y="4695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142</a:t>
            </a:r>
            <a:endParaRPr/>
          </a:p>
        </p:txBody>
      </p:sp>
      <p:sp>
        <p:nvSpPr>
          <p:cNvPr id="190" name="" descr="{&quot;isTemplate&quot;:true,&quot;type&quot;:&quot;text&quot;}"/>
          <p:cNvSpPr txBox="1"/>
          <p:nvPr/>
        </p:nvSpPr>
        <p:spPr>
          <a:xfrm rot="0" flipH="0" flipV="0">
            <a:off x="5610225" y="4695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976754</a:t>
            </a:r>
            <a:endParaRPr/>
          </a:p>
        </p:txBody>
      </p:sp>
      <p:sp>
        <p:nvSpPr>
          <p:cNvPr id="191" name="" descr="{&quot;isTemplate&quot;:true,&quot;type&quot;:&quot;text&quot;}"/>
          <p:cNvSpPr txBox="1"/>
          <p:nvPr/>
        </p:nvSpPr>
        <p:spPr>
          <a:xfrm rot="0" flipH="0" flipV="0">
            <a:off x="609600" y="4838700"/>
            <a:ext cx="219075" cy="104775"/>
          </a:xfrm>
          <a:prstGeom prst="rect"/>
        </p:spPr>
        <p:txBody>
          <a:bodyPr wrap="none" lIns="0" tIns="0" rIns="0" bIns="0"/>
          <a:p>
            <a:pPr>
              <a:lnSpc>
                <a:spcPct val="100000"/>
              </a:lnSpc>
            </a:pPr>
            <a:r>
              <a:rPr lang="en-US" sz="675">
                <a:solidFill>
                  <a:srgbClr val="5F6975"/>
                </a:solidFill>
                <a:latin typeface="Noto Sans SC"/>
                <a:ea typeface="Noto Sans SC"/>
              </a:rPr>
              <a:t>27</a:t>
            </a:r>
            <a:endParaRPr/>
          </a:p>
        </p:txBody>
      </p:sp>
      <p:sp>
        <p:nvSpPr>
          <p:cNvPr id="192" name="" descr="{&quot;isTemplate&quot;:true,&quot;type&quot;:&quot;text&quot;}"/>
          <p:cNvSpPr txBox="1"/>
          <p:nvPr/>
        </p:nvSpPr>
        <p:spPr>
          <a:xfrm rot="0" flipH="0" flipV="0">
            <a:off x="866775" y="48387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网林侘寂奶油风立柱盆设计师一体式条纹艺术台盆日式落地式洗手盆</a:t>
            </a:r>
            <a:endParaRPr/>
          </a:p>
        </p:txBody>
      </p:sp>
      <p:sp>
        <p:nvSpPr>
          <p:cNvPr id="193" name="" descr="{&quot;isTemplate&quot;:true,&quot;type&quot;:&quot;text&quot;}"/>
          <p:cNvSpPr txBox="1"/>
          <p:nvPr/>
        </p:nvSpPr>
        <p:spPr>
          <a:xfrm rot="0" flipH="0" flipV="0">
            <a:off x="5086350" y="4838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142</a:t>
            </a:r>
            <a:endParaRPr/>
          </a:p>
        </p:txBody>
      </p:sp>
      <p:sp>
        <p:nvSpPr>
          <p:cNvPr id="194" name="" descr="{&quot;isTemplate&quot;:true,&quot;type&quot;:&quot;text&quot;}"/>
          <p:cNvSpPr txBox="1"/>
          <p:nvPr/>
        </p:nvSpPr>
        <p:spPr>
          <a:xfrm rot="0" flipH="0" flipV="0">
            <a:off x="5610225" y="4838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953263</a:t>
            </a:r>
            <a:endParaRPr/>
          </a:p>
        </p:txBody>
      </p:sp>
      <p:sp>
        <p:nvSpPr>
          <p:cNvPr id="195" name="" descr="{&quot;isTemplate&quot;:true,&quot;type&quot;:&quot;text&quot;}"/>
          <p:cNvSpPr txBox="1"/>
          <p:nvPr/>
        </p:nvSpPr>
        <p:spPr>
          <a:xfrm rot="0" flipH="0" flipV="0">
            <a:off x="609600" y="4981575"/>
            <a:ext cx="219075" cy="104775"/>
          </a:xfrm>
          <a:prstGeom prst="rect"/>
        </p:spPr>
        <p:txBody>
          <a:bodyPr wrap="none" lIns="0" tIns="0" rIns="0" bIns="0"/>
          <a:p>
            <a:pPr>
              <a:lnSpc>
                <a:spcPct val="100000"/>
              </a:lnSpc>
            </a:pPr>
            <a:r>
              <a:rPr lang="en-US" sz="675">
                <a:solidFill>
                  <a:srgbClr val="5F6975"/>
                </a:solidFill>
                <a:latin typeface="Noto Sans SC"/>
                <a:ea typeface="Noto Sans SC"/>
              </a:rPr>
              <a:t>28</a:t>
            </a:r>
            <a:endParaRPr/>
          </a:p>
        </p:txBody>
      </p:sp>
      <p:sp>
        <p:nvSpPr>
          <p:cNvPr id="196" name="" descr="{&quot;isTemplate&quot;:true,&quot;type&quot;:&quot;text&quot;}"/>
          <p:cNvSpPr txBox="1"/>
          <p:nvPr/>
        </p:nvSpPr>
        <p:spPr>
          <a:xfrm rot="0" flipH="0" flipV="0">
            <a:off x="866775" y="49815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网林哑光白置物台面带储物一体洗手盆小户型家用人造高分子立柱盆</a:t>
            </a:r>
            <a:endParaRPr/>
          </a:p>
        </p:txBody>
      </p:sp>
      <p:sp>
        <p:nvSpPr>
          <p:cNvPr id="197" name="" descr="{&quot;isTemplate&quot;:true,&quot;type&quot;:&quot;text&quot;}"/>
          <p:cNvSpPr txBox="1"/>
          <p:nvPr/>
        </p:nvSpPr>
        <p:spPr>
          <a:xfrm rot="0" flipH="0" flipV="0">
            <a:off x="5086350" y="4981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129</a:t>
            </a:r>
            <a:endParaRPr/>
          </a:p>
        </p:txBody>
      </p:sp>
      <p:sp>
        <p:nvSpPr>
          <p:cNvPr id="198" name="" descr="{&quot;isTemplate&quot;:true,&quot;type&quot;:&quot;text&quot;}"/>
          <p:cNvSpPr txBox="1"/>
          <p:nvPr/>
        </p:nvSpPr>
        <p:spPr>
          <a:xfrm rot="0" flipH="0" flipV="0">
            <a:off x="5610225" y="4981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697783</a:t>
            </a:r>
            <a:endParaRPr/>
          </a:p>
        </p:txBody>
      </p:sp>
      <p:sp>
        <p:nvSpPr>
          <p:cNvPr id="199" name="" descr="{&quot;isTemplate&quot;:true,&quot;type&quot;:&quot;text&quot;}"/>
          <p:cNvSpPr txBox="1"/>
          <p:nvPr/>
        </p:nvSpPr>
        <p:spPr>
          <a:xfrm rot="0" flipH="0" flipV="0">
            <a:off x="609600" y="5124450"/>
            <a:ext cx="219075" cy="104775"/>
          </a:xfrm>
          <a:prstGeom prst="rect"/>
        </p:spPr>
        <p:txBody>
          <a:bodyPr wrap="none" lIns="0" tIns="0" rIns="0" bIns="0"/>
          <a:p>
            <a:pPr>
              <a:lnSpc>
                <a:spcPct val="100000"/>
              </a:lnSpc>
            </a:pPr>
            <a:r>
              <a:rPr lang="en-US" sz="675">
                <a:solidFill>
                  <a:srgbClr val="5F6975"/>
                </a:solidFill>
                <a:latin typeface="Noto Sans SC"/>
                <a:ea typeface="Noto Sans SC"/>
              </a:rPr>
              <a:t>29</a:t>
            </a:r>
            <a:endParaRPr/>
          </a:p>
        </p:txBody>
      </p:sp>
      <p:sp>
        <p:nvSpPr>
          <p:cNvPr id="200" name="" descr="{&quot;isTemplate&quot;:true,&quot;type&quot;:&quot;text&quot;}"/>
          <p:cNvSpPr txBox="1"/>
          <p:nvPr/>
        </p:nvSpPr>
        <p:spPr>
          <a:xfrm rot="0" flipH="0" flipV="0">
            <a:off x="866775" y="5124450"/>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科塔白色哑光挂墙式半嵌入式大肚盆洗手盆洗面池台下盆台上盆定制</a:t>
            </a:r>
            <a:endParaRPr/>
          </a:p>
        </p:txBody>
      </p:sp>
      <p:sp>
        <p:nvSpPr>
          <p:cNvPr id="201" name="" descr="{&quot;isTemplate&quot;:true,&quot;type&quot;:&quot;text&quot;}"/>
          <p:cNvSpPr txBox="1"/>
          <p:nvPr/>
        </p:nvSpPr>
        <p:spPr>
          <a:xfrm rot="0" flipH="0" flipV="0">
            <a:off x="5086350" y="5124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125</a:t>
            </a:r>
            <a:endParaRPr/>
          </a:p>
        </p:txBody>
      </p:sp>
      <p:sp>
        <p:nvSpPr>
          <p:cNvPr id="202" name="" descr="{&quot;isTemplate&quot;:true,&quot;type&quot;:&quot;text&quot;}"/>
          <p:cNvSpPr txBox="1"/>
          <p:nvPr/>
        </p:nvSpPr>
        <p:spPr>
          <a:xfrm rot="0" flipH="0" flipV="0">
            <a:off x="5610225" y="5124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559945</a:t>
            </a:r>
            <a:endParaRPr/>
          </a:p>
        </p:txBody>
      </p:sp>
      <p:sp>
        <p:nvSpPr>
          <p:cNvPr id="203" name="" descr="{&quot;isTemplate&quot;:true,&quot;type&quot;:&quot;text&quot;}"/>
          <p:cNvSpPr txBox="1"/>
          <p:nvPr/>
        </p:nvSpPr>
        <p:spPr>
          <a:xfrm rot="0" flipH="0" flipV="0">
            <a:off x="609600" y="5267325"/>
            <a:ext cx="219075" cy="104775"/>
          </a:xfrm>
          <a:prstGeom prst="rect"/>
        </p:spPr>
        <p:txBody>
          <a:bodyPr wrap="none" lIns="0" tIns="0" rIns="0" bIns="0"/>
          <a:p>
            <a:pPr>
              <a:lnSpc>
                <a:spcPct val="100000"/>
              </a:lnSpc>
            </a:pPr>
            <a:r>
              <a:rPr lang="en-US" sz="675">
                <a:solidFill>
                  <a:srgbClr val="5F6975"/>
                </a:solidFill>
                <a:latin typeface="Noto Sans SC"/>
                <a:ea typeface="Noto Sans SC"/>
              </a:rPr>
              <a:t>30</a:t>
            </a:r>
            <a:endParaRPr/>
          </a:p>
        </p:txBody>
      </p:sp>
      <p:sp>
        <p:nvSpPr>
          <p:cNvPr id="204" name="" descr="{&quot;isTemplate&quot;:true,&quot;type&quot;:&quot;text&quot;}"/>
          <p:cNvSpPr txBox="1"/>
          <p:nvPr/>
        </p:nvSpPr>
        <p:spPr>
          <a:xfrm rot="0" flipH="0" flipV="0">
            <a:off x="866775" y="526732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盖文一体人造石储物立柱盆酒店家用小户型卫生间落地式洗手池台盆</a:t>
            </a:r>
            <a:endParaRPr/>
          </a:p>
        </p:txBody>
      </p:sp>
      <p:sp>
        <p:nvSpPr>
          <p:cNvPr id="205" name="" descr="{&quot;isTemplate&quot;:true,&quot;type&quot;:&quot;text&quot;}"/>
          <p:cNvSpPr txBox="1"/>
          <p:nvPr/>
        </p:nvSpPr>
        <p:spPr>
          <a:xfrm rot="0" flipH="0" flipV="0">
            <a:off x="5086350" y="5267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120</a:t>
            </a:r>
            <a:endParaRPr/>
          </a:p>
        </p:txBody>
      </p:sp>
      <p:sp>
        <p:nvSpPr>
          <p:cNvPr id="206" name="" descr="{&quot;isTemplate&quot;:true,&quot;type&quot;:&quot;text&quot;}"/>
          <p:cNvSpPr txBox="1"/>
          <p:nvPr/>
        </p:nvSpPr>
        <p:spPr>
          <a:xfrm rot="0" flipH="0" flipV="0">
            <a:off x="5610225" y="5267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693668</a:t>
            </a:r>
            <a:endParaRPr/>
          </a:p>
        </p:txBody>
      </p:sp>
      <p:sp>
        <p:nvSpPr>
          <p:cNvPr id="207" name="" descr="{&quot;isTemplate&quot;:true,&quot;type&quot;:&quot;text&quot;}"/>
          <p:cNvSpPr txBox="1"/>
          <p:nvPr/>
        </p:nvSpPr>
        <p:spPr>
          <a:xfrm rot="0" flipH="0" flipV="0">
            <a:off x="609600" y="5410200"/>
            <a:ext cx="219075" cy="104775"/>
          </a:xfrm>
          <a:prstGeom prst="rect"/>
        </p:spPr>
        <p:txBody>
          <a:bodyPr wrap="none" lIns="0" tIns="0" rIns="0" bIns="0"/>
          <a:p>
            <a:pPr>
              <a:lnSpc>
                <a:spcPct val="100000"/>
              </a:lnSpc>
            </a:pPr>
            <a:r>
              <a:rPr lang="en-US" sz="675">
                <a:solidFill>
                  <a:srgbClr val="5F6975"/>
                </a:solidFill>
                <a:latin typeface="Noto Sans SC"/>
                <a:ea typeface="Noto Sans SC"/>
              </a:rPr>
              <a:t>31</a:t>
            </a:r>
            <a:endParaRPr/>
          </a:p>
        </p:txBody>
      </p:sp>
      <p:sp>
        <p:nvSpPr>
          <p:cNvPr id="208" name="" descr="{&quot;isTemplate&quot;:true,&quot;type&quot;:&quot;text&quot;}"/>
          <p:cNvSpPr txBox="1"/>
          <p:nvPr/>
        </p:nvSpPr>
        <p:spPr>
          <a:xfrm rot="0" flipH="0" flipV="0">
            <a:off x="866775" y="541020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瓷青大理石纹人造石浴缸艺术感独立酒店家用网红独立浴池</a:t>
            </a:r>
            <a:endParaRPr/>
          </a:p>
        </p:txBody>
      </p:sp>
      <p:sp>
        <p:nvSpPr>
          <p:cNvPr id="209" name="" descr="{&quot;isTemplate&quot;:true,&quot;type&quot;:&quot;text&quot;}"/>
          <p:cNvSpPr txBox="1"/>
          <p:nvPr/>
        </p:nvSpPr>
        <p:spPr>
          <a:xfrm rot="0" flipH="0" flipV="0">
            <a:off x="5086350" y="5410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113</a:t>
            </a:r>
            <a:endParaRPr/>
          </a:p>
        </p:txBody>
      </p:sp>
      <p:sp>
        <p:nvSpPr>
          <p:cNvPr id="210" name="" descr="{&quot;isTemplate&quot;:true,&quot;type&quot;:&quot;text&quot;}"/>
          <p:cNvSpPr txBox="1"/>
          <p:nvPr/>
        </p:nvSpPr>
        <p:spPr>
          <a:xfrm rot="0" flipH="0" flipV="0">
            <a:off x="5610225" y="5410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935805</a:t>
            </a:r>
            <a:endParaRPr/>
          </a:p>
        </p:txBody>
      </p:sp>
      <p:sp>
        <p:nvSpPr>
          <p:cNvPr id="211" name="" descr="{&quot;isTemplate&quot;:true,&quot;type&quot;:&quot;text&quot;}"/>
          <p:cNvSpPr txBox="1"/>
          <p:nvPr/>
        </p:nvSpPr>
        <p:spPr>
          <a:xfrm rot="0" flipH="0" flipV="0">
            <a:off x="609600" y="5553075"/>
            <a:ext cx="219075" cy="104775"/>
          </a:xfrm>
          <a:prstGeom prst="rect"/>
        </p:spPr>
        <p:txBody>
          <a:bodyPr wrap="none" lIns="0" tIns="0" rIns="0" bIns="0"/>
          <a:p>
            <a:pPr>
              <a:lnSpc>
                <a:spcPct val="100000"/>
              </a:lnSpc>
            </a:pPr>
            <a:r>
              <a:rPr lang="en-US" sz="675">
                <a:solidFill>
                  <a:srgbClr val="5F6975"/>
                </a:solidFill>
                <a:latin typeface="Noto Sans SC"/>
                <a:ea typeface="Noto Sans SC"/>
              </a:rPr>
              <a:t>32</a:t>
            </a:r>
            <a:endParaRPr/>
          </a:p>
        </p:txBody>
      </p:sp>
      <p:sp>
        <p:nvSpPr>
          <p:cNvPr id="212" name="" descr="{&quot;isTemplate&quot;:true,&quot;type&quot;:&quot;text&quot;}"/>
          <p:cNvSpPr txBox="1"/>
          <p:nvPr/>
        </p:nvSpPr>
        <p:spPr>
          <a:xfrm rot="0" flipH="0" flipV="0">
            <a:off x="866775" y="55530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盖文小户型独立式浴缸家用酒店民宿卫生间日式人造石深泡日式浴盆</a:t>
            </a:r>
            <a:endParaRPr/>
          </a:p>
        </p:txBody>
      </p:sp>
      <p:sp>
        <p:nvSpPr>
          <p:cNvPr id="213" name="" descr="{&quot;isTemplate&quot;:true,&quot;type&quot;:&quot;text&quot;}"/>
          <p:cNvSpPr txBox="1"/>
          <p:nvPr/>
        </p:nvSpPr>
        <p:spPr>
          <a:xfrm rot="0" flipH="0" flipV="0">
            <a:off x="5086350" y="5553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112</a:t>
            </a:r>
            <a:endParaRPr/>
          </a:p>
        </p:txBody>
      </p:sp>
      <p:sp>
        <p:nvSpPr>
          <p:cNvPr id="214" name="" descr="{&quot;isTemplate&quot;:true,&quot;type&quot;:&quot;text&quot;}"/>
          <p:cNvSpPr txBox="1"/>
          <p:nvPr/>
        </p:nvSpPr>
        <p:spPr>
          <a:xfrm rot="0" flipH="0" flipV="0">
            <a:off x="5610225" y="5553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886202</a:t>
            </a:r>
            <a:endParaRPr/>
          </a:p>
        </p:txBody>
      </p:sp>
      <p:sp>
        <p:nvSpPr>
          <p:cNvPr id="215" name="" descr="{&quot;isTemplate&quot;:true,&quot;type&quot;:&quot;text&quot;}"/>
          <p:cNvSpPr txBox="1"/>
          <p:nvPr/>
        </p:nvSpPr>
        <p:spPr>
          <a:xfrm rot="0" flipH="0" flipV="0">
            <a:off x="609600" y="5695950"/>
            <a:ext cx="219075" cy="104775"/>
          </a:xfrm>
          <a:prstGeom prst="rect"/>
        </p:spPr>
        <p:txBody>
          <a:bodyPr wrap="none" lIns="0" tIns="0" rIns="0" bIns="0"/>
          <a:p>
            <a:pPr>
              <a:lnSpc>
                <a:spcPct val="100000"/>
              </a:lnSpc>
            </a:pPr>
            <a:r>
              <a:rPr lang="en-US" sz="675">
                <a:solidFill>
                  <a:srgbClr val="5F6975"/>
                </a:solidFill>
                <a:latin typeface="Noto Sans SC"/>
                <a:ea typeface="Noto Sans SC"/>
              </a:rPr>
              <a:t>33</a:t>
            </a:r>
            <a:endParaRPr/>
          </a:p>
        </p:txBody>
      </p:sp>
      <p:sp>
        <p:nvSpPr>
          <p:cNvPr id="216" name="" descr="{&quot;isTemplate&quot;:true,&quot;type&quot;:&quot;text&quot;}"/>
          <p:cNvSpPr txBox="1"/>
          <p:nvPr/>
        </p:nvSpPr>
        <p:spPr>
          <a:xfrm rot="0" flipH="0" flipV="0">
            <a:off x="866775" y="56959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大理石纹独立浴缸人造石深泡酒店家用情侣双人鹅蛋形浴盆</a:t>
            </a:r>
            <a:endParaRPr/>
          </a:p>
        </p:txBody>
      </p:sp>
      <p:sp>
        <p:nvSpPr>
          <p:cNvPr id="217" name="" descr="{&quot;isTemplate&quot;:true,&quot;type&quot;:&quot;text&quot;}"/>
          <p:cNvSpPr txBox="1"/>
          <p:nvPr/>
        </p:nvSpPr>
        <p:spPr>
          <a:xfrm rot="0" flipH="0" flipV="0">
            <a:off x="5086350" y="5695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111</a:t>
            </a:r>
            <a:endParaRPr/>
          </a:p>
        </p:txBody>
      </p:sp>
      <p:sp>
        <p:nvSpPr>
          <p:cNvPr id="218" name="" descr="{&quot;isTemplate&quot;:true,&quot;type&quot;:&quot;text&quot;}"/>
          <p:cNvSpPr txBox="1"/>
          <p:nvPr/>
        </p:nvSpPr>
        <p:spPr>
          <a:xfrm rot="0" flipH="0" flipV="0">
            <a:off x="5610225" y="5695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357037</a:t>
            </a:r>
            <a:endParaRPr/>
          </a:p>
        </p:txBody>
      </p:sp>
      <p:sp>
        <p:nvSpPr>
          <p:cNvPr id="219" name="" descr="{&quot;isTemplate&quot;:true,&quot;type&quot;:&quot;text&quot;}"/>
          <p:cNvSpPr txBox="1"/>
          <p:nvPr/>
        </p:nvSpPr>
        <p:spPr>
          <a:xfrm rot="0" flipH="0" flipV="0">
            <a:off x="609600" y="5838825"/>
            <a:ext cx="219075" cy="104775"/>
          </a:xfrm>
          <a:prstGeom prst="rect"/>
        </p:spPr>
        <p:txBody>
          <a:bodyPr wrap="none" lIns="0" tIns="0" rIns="0" bIns="0"/>
          <a:p>
            <a:pPr>
              <a:lnSpc>
                <a:spcPct val="100000"/>
              </a:lnSpc>
            </a:pPr>
            <a:r>
              <a:rPr lang="en-US" sz="675">
                <a:solidFill>
                  <a:srgbClr val="5F6975"/>
                </a:solidFill>
                <a:latin typeface="Noto Sans SC"/>
                <a:ea typeface="Noto Sans SC"/>
              </a:rPr>
              <a:t>34</a:t>
            </a:r>
            <a:endParaRPr/>
          </a:p>
        </p:txBody>
      </p:sp>
      <p:sp>
        <p:nvSpPr>
          <p:cNvPr id="220" name="" descr="{&quot;isTemplate&quot;:true,&quot;type&quot;:&quot;text&quot;}"/>
          <p:cNvSpPr txBox="1"/>
          <p:nvPr/>
        </p:nvSpPr>
        <p:spPr>
          <a:xfrm rot="0" flipH="0" flipV="0">
            <a:off x="866775" y="5838825"/>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科塔家用卫生间洗手盆一体成型窄边人造石小户型迷你洗脸台盆定制</a:t>
            </a:r>
            <a:endParaRPr/>
          </a:p>
        </p:txBody>
      </p:sp>
      <p:sp>
        <p:nvSpPr>
          <p:cNvPr id="221" name="" descr="{&quot;isTemplate&quot;:true,&quot;type&quot;:&quot;text&quot;}"/>
          <p:cNvSpPr txBox="1"/>
          <p:nvPr/>
        </p:nvSpPr>
        <p:spPr>
          <a:xfrm rot="0" flipH="0" flipV="0">
            <a:off x="5086350" y="5838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110</a:t>
            </a:r>
            <a:endParaRPr/>
          </a:p>
        </p:txBody>
      </p:sp>
      <p:sp>
        <p:nvSpPr>
          <p:cNvPr id="222" name="" descr="{&quot;isTemplate&quot;:true,&quot;type&quot;:&quot;text&quot;}"/>
          <p:cNvSpPr txBox="1"/>
          <p:nvPr/>
        </p:nvSpPr>
        <p:spPr>
          <a:xfrm rot="0" flipH="0" flipV="0">
            <a:off x="5610225" y="5838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800449</a:t>
            </a:r>
            <a:endParaRPr/>
          </a:p>
        </p:txBody>
      </p:sp>
      <p:sp>
        <p:nvSpPr>
          <p:cNvPr id="223" name="" descr="{&quot;isTemplate&quot;:true,&quot;type&quot;:&quot;text&quot;}"/>
          <p:cNvSpPr txBox="1"/>
          <p:nvPr/>
        </p:nvSpPr>
        <p:spPr>
          <a:xfrm rot="0" flipH="0" flipV="0">
            <a:off x="609600" y="5981700"/>
            <a:ext cx="219075" cy="104775"/>
          </a:xfrm>
          <a:prstGeom prst="rect"/>
        </p:spPr>
        <p:txBody>
          <a:bodyPr wrap="none" lIns="0" tIns="0" rIns="0" bIns="0"/>
          <a:p>
            <a:pPr>
              <a:lnSpc>
                <a:spcPct val="100000"/>
              </a:lnSpc>
            </a:pPr>
            <a:r>
              <a:rPr lang="en-US" sz="675">
                <a:solidFill>
                  <a:srgbClr val="5F6975"/>
                </a:solidFill>
                <a:latin typeface="Noto Sans SC"/>
                <a:ea typeface="Noto Sans SC"/>
              </a:rPr>
              <a:t>35</a:t>
            </a:r>
            <a:endParaRPr/>
          </a:p>
        </p:txBody>
      </p:sp>
      <p:sp>
        <p:nvSpPr>
          <p:cNvPr id="224" name="" descr="{&quot;isTemplate&quot;:true,&quot;type&quot;:&quot;text&quot;}"/>
          <p:cNvSpPr txBox="1"/>
          <p:nvPr/>
        </p:nvSpPr>
        <p:spPr>
          <a:xfrm rot="0" flipH="0" flipV="0">
            <a:off x="866775" y="5981700"/>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科塔壁挂墙式洗脸盆人造石家用卫生间洗漱盆设计师款洗手台盆定制</a:t>
            </a:r>
            <a:endParaRPr/>
          </a:p>
        </p:txBody>
      </p:sp>
      <p:sp>
        <p:nvSpPr>
          <p:cNvPr id="225" name="" descr="{&quot;isTemplate&quot;:true,&quot;type&quot;:&quot;text&quot;}"/>
          <p:cNvSpPr txBox="1"/>
          <p:nvPr/>
        </p:nvSpPr>
        <p:spPr>
          <a:xfrm rot="0" flipH="0" flipV="0">
            <a:off x="5086350" y="5981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103</a:t>
            </a:r>
            <a:endParaRPr/>
          </a:p>
        </p:txBody>
      </p:sp>
      <p:sp>
        <p:nvSpPr>
          <p:cNvPr id="226" name="" descr="{&quot;isTemplate&quot;:true,&quot;type&quot;:&quot;text&quot;}"/>
          <p:cNvSpPr txBox="1"/>
          <p:nvPr/>
        </p:nvSpPr>
        <p:spPr>
          <a:xfrm rot="0" flipH="0" flipV="0">
            <a:off x="5610225" y="5981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201429</a:t>
            </a:r>
            <a:endParaRPr/>
          </a:p>
        </p:txBody>
      </p:sp>
      <p:sp>
        <p:nvSpPr>
          <p:cNvPr id="227" name="" descr="{&quot;isTemplate&quot;:true,&quot;type&quot;:&quot;text&quot;}"/>
          <p:cNvSpPr txBox="1"/>
          <p:nvPr/>
        </p:nvSpPr>
        <p:spPr>
          <a:xfrm rot="0" flipH="0" flipV="0">
            <a:off x="609600" y="6124575"/>
            <a:ext cx="219075" cy="104775"/>
          </a:xfrm>
          <a:prstGeom prst="rect"/>
        </p:spPr>
        <p:txBody>
          <a:bodyPr wrap="none" lIns="0" tIns="0" rIns="0" bIns="0"/>
          <a:p>
            <a:pPr>
              <a:lnSpc>
                <a:spcPct val="100000"/>
              </a:lnSpc>
            </a:pPr>
            <a:r>
              <a:rPr lang="en-US" sz="675">
                <a:solidFill>
                  <a:srgbClr val="5F6975"/>
                </a:solidFill>
                <a:latin typeface="Noto Sans SC"/>
                <a:ea typeface="Noto Sans SC"/>
              </a:rPr>
              <a:t>36</a:t>
            </a:r>
            <a:endParaRPr/>
          </a:p>
        </p:txBody>
      </p:sp>
      <p:sp>
        <p:nvSpPr>
          <p:cNvPr id="228" name="" descr="{&quot;isTemplate&quot;:true,&quot;type&quot;:&quot;text&quot;}"/>
          <p:cNvSpPr txBox="1"/>
          <p:nvPr/>
        </p:nvSpPr>
        <p:spPr>
          <a:xfrm rot="0" flipH="0" flipV="0">
            <a:off x="866775" y="612457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方形独立式人造石浴缸酒店民宿情侣家用别墅双人一体浴盆</a:t>
            </a:r>
            <a:endParaRPr/>
          </a:p>
        </p:txBody>
      </p:sp>
      <p:sp>
        <p:nvSpPr>
          <p:cNvPr id="229" name="" descr="{&quot;isTemplate&quot;:true,&quot;type&quot;:&quot;text&quot;}"/>
          <p:cNvSpPr txBox="1"/>
          <p:nvPr/>
        </p:nvSpPr>
        <p:spPr>
          <a:xfrm rot="0" flipH="0" flipV="0">
            <a:off x="5086350" y="6124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99</a:t>
            </a:r>
            <a:endParaRPr/>
          </a:p>
        </p:txBody>
      </p:sp>
      <p:sp>
        <p:nvSpPr>
          <p:cNvPr id="230" name="" descr="{&quot;isTemplate&quot;:true,&quot;type&quot;:&quot;text&quot;}"/>
          <p:cNvSpPr txBox="1"/>
          <p:nvPr/>
        </p:nvSpPr>
        <p:spPr>
          <a:xfrm rot="0" flipH="0" flipV="0">
            <a:off x="5610225" y="6124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185721</a:t>
            </a:r>
            <a:endParaRPr/>
          </a:p>
        </p:txBody>
      </p:sp>
      <p:sp>
        <p:nvSpPr>
          <p:cNvPr id="231" name="" descr="{&quot;isTemplate&quot;:true,&quot;type&quot;:&quot;text&quot;}"/>
          <p:cNvSpPr txBox="1"/>
          <p:nvPr/>
        </p:nvSpPr>
        <p:spPr>
          <a:xfrm rot="0" flipH="0" flipV="0">
            <a:off x="6172200" y="1123950"/>
            <a:ext cx="219075" cy="104775"/>
          </a:xfrm>
          <a:prstGeom prst="rect"/>
        </p:spPr>
        <p:txBody>
          <a:bodyPr wrap="none" lIns="0" tIns="0" rIns="0" bIns="0"/>
          <a:p>
            <a:pPr>
              <a:lnSpc>
                <a:spcPct val="100000"/>
              </a:lnSpc>
            </a:pPr>
            <a:r>
              <a:rPr lang="en-US" sz="675">
                <a:solidFill>
                  <a:srgbClr val="5F6975"/>
                </a:solidFill>
                <a:latin typeface="Noto Sans SC"/>
                <a:ea typeface="Noto Sans SC"/>
              </a:rPr>
              <a:t>37</a:t>
            </a:r>
            <a:endParaRPr/>
          </a:p>
        </p:txBody>
      </p:sp>
      <p:sp>
        <p:nvSpPr>
          <p:cNvPr id="232" name="" descr="{&quot;isTemplate&quot;:true,&quot;type&quot;:&quot;text&quot;}"/>
          <p:cNvSpPr txBox="1"/>
          <p:nvPr/>
        </p:nvSpPr>
        <p:spPr>
          <a:xfrm rot="0" flipH="0" flipV="0">
            <a:off x="6429375" y="11239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人造绮美石奶咖色浴缸家用网红酒店民宿浴室一体式大浴盆</a:t>
            </a:r>
            <a:endParaRPr/>
          </a:p>
        </p:txBody>
      </p:sp>
      <p:sp>
        <p:nvSpPr>
          <p:cNvPr id="233" name="" descr="{&quot;isTemplate&quot;:true,&quot;type&quot;:&quot;text&quot;}"/>
          <p:cNvSpPr txBox="1"/>
          <p:nvPr/>
        </p:nvSpPr>
        <p:spPr>
          <a:xfrm rot="0" flipH="0" flipV="0">
            <a:off x="10648950" y="1123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97</a:t>
            </a:r>
            <a:endParaRPr/>
          </a:p>
        </p:txBody>
      </p:sp>
      <p:sp>
        <p:nvSpPr>
          <p:cNvPr id="234" name="" descr="{&quot;isTemplate&quot;:true,&quot;type&quot;:&quot;text&quot;}"/>
          <p:cNvSpPr txBox="1"/>
          <p:nvPr/>
        </p:nvSpPr>
        <p:spPr>
          <a:xfrm rot="0" flipH="0" flipV="0">
            <a:off x="11172825" y="1123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030923</a:t>
            </a:r>
            <a:endParaRPr/>
          </a:p>
        </p:txBody>
      </p:sp>
      <p:sp>
        <p:nvSpPr>
          <p:cNvPr id="235" name="" descr="{&quot;isTemplate&quot;:true,&quot;type&quot;:&quot;text&quot;}"/>
          <p:cNvSpPr txBox="1"/>
          <p:nvPr/>
        </p:nvSpPr>
        <p:spPr>
          <a:xfrm rot="0" flipH="0" flipV="0">
            <a:off x="6172200" y="1266825"/>
            <a:ext cx="219075" cy="104775"/>
          </a:xfrm>
          <a:prstGeom prst="rect"/>
        </p:spPr>
        <p:txBody>
          <a:bodyPr wrap="none" lIns="0" tIns="0" rIns="0" bIns="0"/>
          <a:p>
            <a:pPr>
              <a:lnSpc>
                <a:spcPct val="100000"/>
              </a:lnSpc>
            </a:pPr>
            <a:r>
              <a:rPr lang="en-US" sz="675">
                <a:solidFill>
                  <a:srgbClr val="5F6975"/>
                </a:solidFill>
                <a:latin typeface="Noto Sans SC"/>
                <a:ea typeface="Noto Sans SC"/>
              </a:rPr>
              <a:t>38</a:t>
            </a:r>
            <a:endParaRPr/>
          </a:p>
        </p:txBody>
      </p:sp>
      <p:sp>
        <p:nvSpPr>
          <p:cNvPr id="236" name="" descr="{&quot;isTemplate&quot;:true,&quot;type&quot;:&quot;text&quot;}"/>
          <p:cNvSpPr txBox="1"/>
          <p:nvPr/>
        </p:nvSpPr>
        <p:spPr>
          <a:xfrm rot="0" flipH="0" flipV="0">
            <a:off x="6429375" y="12668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网林木柱子储物柜体立柱盆人造石台盆家用酒店民宿一体落地洗手盆</a:t>
            </a:r>
            <a:endParaRPr/>
          </a:p>
        </p:txBody>
      </p:sp>
      <p:sp>
        <p:nvSpPr>
          <p:cNvPr id="237" name="" descr="{&quot;isTemplate&quot;:true,&quot;type&quot;:&quot;text&quot;}"/>
          <p:cNvSpPr txBox="1"/>
          <p:nvPr/>
        </p:nvSpPr>
        <p:spPr>
          <a:xfrm rot="0" flipH="0" flipV="0">
            <a:off x="10648950" y="1266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96</a:t>
            </a:r>
            <a:endParaRPr/>
          </a:p>
        </p:txBody>
      </p:sp>
      <p:sp>
        <p:nvSpPr>
          <p:cNvPr id="238" name="" descr="{&quot;isTemplate&quot;:true,&quot;type&quot;:&quot;text&quot;}"/>
          <p:cNvSpPr txBox="1"/>
          <p:nvPr/>
        </p:nvSpPr>
        <p:spPr>
          <a:xfrm rot="0" flipH="0" flipV="0">
            <a:off x="11172825" y="1266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554116</a:t>
            </a:r>
            <a:endParaRPr/>
          </a:p>
        </p:txBody>
      </p:sp>
      <p:sp>
        <p:nvSpPr>
          <p:cNvPr id="239" name="" descr="{&quot;isTemplate&quot;:true,&quot;type&quot;:&quot;text&quot;}"/>
          <p:cNvSpPr txBox="1"/>
          <p:nvPr/>
        </p:nvSpPr>
        <p:spPr>
          <a:xfrm rot="0" flipH="0" flipV="0">
            <a:off x="6172200" y="1409700"/>
            <a:ext cx="219075" cy="104775"/>
          </a:xfrm>
          <a:prstGeom prst="rect"/>
        </p:spPr>
        <p:txBody>
          <a:bodyPr wrap="none" lIns="0" tIns="0" rIns="0" bIns="0"/>
          <a:p>
            <a:pPr>
              <a:lnSpc>
                <a:spcPct val="100000"/>
              </a:lnSpc>
            </a:pPr>
            <a:r>
              <a:rPr lang="en-US" sz="675">
                <a:solidFill>
                  <a:srgbClr val="5F6975"/>
                </a:solidFill>
                <a:latin typeface="Noto Sans SC"/>
                <a:ea typeface="Noto Sans SC"/>
              </a:rPr>
              <a:t>39</a:t>
            </a:r>
            <a:endParaRPr/>
          </a:p>
        </p:txBody>
      </p:sp>
      <p:sp>
        <p:nvSpPr>
          <p:cNvPr id="240" name="" descr="{&quot;isTemplate&quot;:true,&quot;type&quot;:&quot;text&quot;}"/>
          <p:cNvSpPr txBox="1"/>
          <p:nvPr/>
        </p:nvSpPr>
        <p:spPr>
          <a:xfrm rot="0" flipH="0" flipV="0">
            <a:off x="6429375" y="1409700"/>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科塔简约小户型挂墙前凸半嵌入式人造石纯亚克力洗手盆洗漱台定制</a:t>
            </a:r>
            <a:endParaRPr/>
          </a:p>
        </p:txBody>
      </p:sp>
      <p:sp>
        <p:nvSpPr>
          <p:cNvPr id="241" name="" descr="{&quot;isTemplate&quot;:true,&quot;type&quot;:&quot;text&quot;}"/>
          <p:cNvSpPr txBox="1"/>
          <p:nvPr/>
        </p:nvSpPr>
        <p:spPr>
          <a:xfrm rot="0" flipH="0" flipV="0">
            <a:off x="10648950" y="1409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95</a:t>
            </a:r>
            <a:endParaRPr/>
          </a:p>
        </p:txBody>
      </p:sp>
      <p:sp>
        <p:nvSpPr>
          <p:cNvPr id="242" name="" descr="{&quot;isTemplate&quot;:true,&quot;type&quot;:&quot;text&quot;}"/>
          <p:cNvSpPr txBox="1"/>
          <p:nvPr/>
        </p:nvSpPr>
        <p:spPr>
          <a:xfrm rot="0" flipH="0" flipV="0">
            <a:off x="11172825" y="1409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811111</a:t>
            </a:r>
            <a:endParaRPr/>
          </a:p>
        </p:txBody>
      </p:sp>
      <p:sp>
        <p:nvSpPr>
          <p:cNvPr id="243" name="" descr="{&quot;isTemplate&quot;:true,&quot;type&quot;:&quot;text&quot;}"/>
          <p:cNvSpPr txBox="1"/>
          <p:nvPr/>
        </p:nvSpPr>
        <p:spPr>
          <a:xfrm rot="0" flipH="0" flipV="0">
            <a:off x="6172200" y="1552575"/>
            <a:ext cx="219075" cy="104775"/>
          </a:xfrm>
          <a:prstGeom prst="rect"/>
        </p:spPr>
        <p:txBody>
          <a:bodyPr wrap="none" lIns="0" tIns="0" rIns="0" bIns="0"/>
          <a:p>
            <a:pPr>
              <a:lnSpc>
                <a:spcPct val="100000"/>
              </a:lnSpc>
            </a:pPr>
            <a:r>
              <a:rPr lang="en-US" sz="675">
                <a:solidFill>
                  <a:srgbClr val="5F6975"/>
                </a:solidFill>
                <a:latin typeface="Noto Sans SC"/>
                <a:ea typeface="Noto Sans SC"/>
              </a:rPr>
              <a:t>40</a:t>
            </a:r>
            <a:endParaRPr/>
          </a:p>
        </p:txBody>
      </p:sp>
      <p:sp>
        <p:nvSpPr>
          <p:cNvPr id="244" name="" descr="{&quot;isTemplate&quot;:true,&quot;type&quot;:&quot;text&quot;}"/>
          <p:cNvSpPr txBox="1"/>
          <p:nvPr/>
        </p:nvSpPr>
        <p:spPr>
          <a:xfrm rot="0" flipH="0" flipV="0">
            <a:off x="6429375" y="15525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盖文木纹台面人造石一体立柱盆家用酒店民宿卫生间落地式洗手台盆</a:t>
            </a:r>
            <a:endParaRPr/>
          </a:p>
        </p:txBody>
      </p:sp>
      <p:sp>
        <p:nvSpPr>
          <p:cNvPr id="245" name="" descr="{&quot;isTemplate&quot;:true,&quot;type&quot;:&quot;text&quot;}"/>
          <p:cNvSpPr txBox="1"/>
          <p:nvPr/>
        </p:nvSpPr>
        <p:spPr>
          <a:xfrm rot="0" flipH="0" flipV="0">
            <a:off x="10648950" y="1552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89</a:t>
            </a:r>
            <a:endParaRPr/>
          </a:p>
        </p:txBody>
      </p:sp>
      <p:sp>
        <p:nvSpPr>
          <p:cNvPr id="246" name="" descr="{&quot;isTemplate&quot;:true,&quot;type&quot;:&quot;text&quot;}"/>
          <p:cNvSpPr txBox="1"/>
          <p:nvPr/>
        </p:nvSpPr>
        <p:spPr>
          <a:xfrm rot="0" flipH="0" flipV="0">
            <a:off x="11172825" y="1552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587967</a:t>
            </a:r>
            <a:endParaRPr/>
          </a:p>
        </p:txBody>
      </p:sp>
      <p:sp>
        <p:nvSpPr>
          <p:cNvPr id="247" name="" descr="{&quot;isTemplate&quot;:true,&quot;type&quot;:&quot;text&quot;}"/>
          <p:cNvSpPr txBox="1"/>
          <p:nvPr/>
        </p:nvSpPr>
        <p:spPr>
          <a:xfrm rot="0" flipH="0" flipV="0">
            <a:off x="6172200" y="1695450"/>
            <a:ext cx="219075" cy="104775"/>
          </a:xfrm>
          <a:prstGeom prst="rect"/>
        </p:spPr>
        <p:txBody>
          <a:bodyPr wrap="none" lIns="0" tIns="0" rIns="0" bIns="0"/>
          <a:p>
            <a:pPr>
              <a:lnSpc>
                <a:spcPct val="100000"/>
              </a:lnSpc>
            </a:pPr>
            <a:r>
              <a:rPr lang="en-US" sz="675">
                <a:solidFill>
                  <a:srgbClr val="5F6975"/>
                </a:solidFill>
                <a:latin typeface="Noto Sans SC"/>
                <a:ea typeface="Noto Sans SC"/>
              </a:rPr>
              <a:t>41</a:t>
            </a:r>
            <a:endParaRPr/>
          </a:p>
        </p:txBody>
      </p:sp>
      <p:sp>
        <p:nvSpPr>
          <p:cNvPr id="248" name="" descr="{&quot;isTemplate&quot;:true,&quot;type&quot;:&quot;text&quot;}"/>
          <p:cNvSpPr txBox="1"/>
          <p:nvPr/>
        </p:nvSpPr>
        <p:spPr>
          <a:xfrm rot="0" flipH="0" flipV="0">
            <a:off x="6429375" y="169545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盖文圆形人造石洗脸洗手台盆酒店工程卫生间落地一体式立柱盆定制</a:t>
            </a:r>
            <a:endParaRPr/>
          </a:p>
        </p:txBody>
      </p:sp>
      <p:sp>
        <p:nvSpPr>
          <p:cNvPr id="249" name="" descr="{&quot;isTemplate&quot;:true,&quot;type&quot;:&quot;text&quot;}"/>
          <p:cNvSpPr txBox="1"/>
          <p:nvPr/>
        </p:nvSpPr>
        <p:spPr>
          <a:xfrm rot="0" flipH="0" flipV="0">
            <a:off x="10648950" y="1695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88</a:t>
            </a:r>
            <a:endParaRPr/>
          </a:p>
        </p:txBody>
      </p:sp>
      <p:sp>
        <p:nvSpPr>
          <p:cNvPr id="250" name="" descr="{&quot;isTemplate&quot;:true,&quot;type&quot;:&quot;text&quot;}"/>
          <p:cNvSpPr txBox="1"/>
          <p:nvPr/>
        </p:nvSpPr>
        <p:spPr>
          <a:xfrm rot="0" flipH="0" flipV="0">
            <a:off x="11172825" y="1695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502294</a:t>
            </a:r>
            <a:endParaRPr/>
          </a:p>
        </p:txBody>
      </p:sp>
      <p:sp>
        <p:nvSpPr>
          <p:cNvPr id="251" name="" descr="{&quot;isTemplate&quot;:true,&quot;type&quot;:&quot;text&quot;}"/>
          <p:cNvSpPr txBox="1"/>
          <p:nvPr/>
        </p:nvSpPr>
        <p:spPr>
          <a:xfrm rot="0" flipH="0" flipV="0">
            <a:off x="6172200" y="1838325"/>
            <a:ext cx="219075" cy="104775"/>
          </a:xfrm>
          <a:prstGeom prst="rect"/>
        </p:spPr>
        <p:txBody>
          <a:bodyPr wrap="none" lIns="0" tIns="0" rIns="0" bIns="0"/>
          <a:p>
            <a:pPr>
              <a:lnSpc>
                <a:spcPct val="100000"/>
              </a:lnSpc>
            </a:pPr>
            <a:r>
              <a:rPr lang="en-US" sz="675">
                <a:solidFill>
                  <a:srgbClr val="5F6975"/>
                </a:solidFill>
                <a:latin typeface="Noto Sans SC"/>
                <a:ea typeface="Noto Sans SC"/>
              </a:rPr>
              <a:t>42</a:t>
            </a:r>
            <a:endParaRPr/>
          </a:p>
        </p:txBody>
      </p:sp>
      <p:sp>
        <p:nvSpPr>
          <p:cNvPr id="252" name="" descr="{&quot;isTemplate&quot;:true,&quot;type&quot;:&quot;text&quot;}"/>
          <p:cNvSpPr txBox="1"/>
          <p:nvPr/>
        </p:nvSpPr>
        <p:spPr>
          <a:xfrm rot="0" flipH="0" flipV="0">
            <a:off x="6429375" y="183832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大理石纹独立人造石浴缸酒店家用情侣双人鹅蛋置物台浴盆</a:t>
            </a:r>
            <a:endParaRPr/>
          </a:p>
        </p:txBody>
      </p:sp>
      <p:sp>
        <p:nvSpPr>
          <p:cNvPr id="253" name="" descr="{&quot;isTemplate&quot;:true,&quot;type&quot;:&quot;text&quot;}"/>
          <p:cNvSpPr txBox="1"/>
          <p:nvPr/>
        </p:nvSpPr>
        <p:spPr>
          <a:xfrm rot="0" flipH="0" flipV="0">
            <a:off x="10648950" y="1838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87</a:t>
            </a:r>
            <a:endParaRPr/>
          </a:p>
        </p:txBody>
      </p:sp>
      <p:sp>
        <p:nvSpPr>
          <p:cNvPr id="254" name="" descr="{&quot;isTemplate&quot;:true,&quot;type&quot;:&quot;text&quot;}"/>
          <p:cNvSpPr txBox="1"/>
          <p:nvPr/>
        </p:nvSpPr>
        <p:spPr>
          <a:xfrm rot="0" flipH="0" flipV="0">
            <a:off x="11172825" y="1838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215522</a:t>
            </a:r>
            <a:endParaRPr/>
          </a:p>
        </p:txBody>
      </p:sp>
      <p:sp>
        <p:nvSpPr>
          <p:cNvPr id="255" name="" descr="{&quot;isTemplate&quot;:true,&quot;type&quot;:&quot;text&quot;}"/>
          <p:cNvSpPr txBox="1"/>
          <p:nvPr/>
        </p:nvSpPr>
        <p:spPr>
          <a:xfrm rot="0" flipH="0" flipV="0">
            <a:off x="6172200" y="1981200"/>
            <a:ext cx="219075" cy="104775"/>
          </a:xfrm>
          <a:prstGeom prst="rect"/>
        </p:spPr>
        <p:txBody>
          <a:bodyPr wrap="none" lIns="0" tIns="0" rIns="0" bIns="0"/>
          <a:p>
            <a:pPr>
              <a:lnSpc>
                <a:spcPct val="100000"/>
              </a:lnSpc>
            </a:pPr>
            <a:r>
              <a:rPr lang="en-US" sz="675">
                <a:solidFill>
                  <a:srgbClr val="5F6975"/>
                </a:solidFill>
                <a:latin typeface="Noto Sans SC"/>
                <a:ea typeface="Noto Sans SC"/>
              </a:rPr>
              <a:t>43</a:t>
            </a:r>
            <a:endParaRPr/>
          </a:p>
        </p:txBody>
      </p:sp>
      <p:sp>
        <p:nvSpPr>
          <p:cNvPr id="256" name="" descr="{&quot;isTemplate&quot;:true,&quot;type&quot;:&quot;text&quot;}"/>
          <p:cNvSpPr txBox="1"/>
          <p:nvPr/>
        </p:nvSpPr>
        <p:spPr>
          <a:xfrm rot="0" flipH="0" flipV="0">
            <a:off x="6429375" y="19812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网林方形亚克力浴缸家用小户型日式深泡新型泡澡独立一体式浴盆</a:t>
            </a:r>
            <a:endParaRPr/>
          </a:p>
        </p:txBody>
      </p:sp>
      <p:sp>
        <p:nvSpPr>
          <p:cNvPr id="257" name="" descr="{&quot;isTemplate&quot;:true,&quot;type&quot;:&quot;text&quot;}"/>
          <p:cNvSpPr txBox="1"/>
          <p:nvPr/>
        </p:nvSpPr>
        <p:spPr>
          <a:xfrm rot="0" flipH="0" flipV="0">
            <a:off x="10648950" y="1981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81</a:t>
            </a:r>
            <a:endParaRPr/>
          </a:p>
        </p:txBody>
      </p:sp>
      <p:sp>
        <p:nvSpPr>
          <p:cNvPr id="258" name="" descr="{&quot;isTemplate&quot;:true,&quot;type&quot;:&quot;text&quot;}"/>
          <p:cNvSpPr txBox="1"/>
          <p:nvPr/>
        </p:nvSpPr>
        <p:spPr>
          <a:xfrm rot="0" flipH="0" flipV="0">
            <a:off x="11172825" y="1981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050096</a:t>
            </a:r>
            <a:endParaRPr/>
          </a:p>
        </p:txBody>
      </p:sp>
      <p:sp>
        <p:nvSpPr>
          <p:cNvPr id="259" name="" descr="{&quot;isTemplate&quot;:true,&quot;type&quot;:&quot;text&quot;}"/>
          <p:cNvSpPr txBox="1"/>
          <p:nvPr/>
        </p:nvSpPr>
        <p:spPr>
          <a:xfrm rot="0" flipH="0" flipV="0">
            <a:off x="6172200" y="2124075"/>
            <a:ext cx="219075" cy="104775"/>
          </a:xfrm>
          <a:prstGeom prst="rect"/>
        </p:spPr>
        <p:txBody>
          <a:bodyPr wrap="none" lIns="0" tIns="0" rIns="0" bIns="0"/>
          <a:p>
            <a:pPr>
              <a:lnSpc>
                <a:spcPct val="100000"/>
              </a:lnSpc>
            </a:pPr>
            <a:r>
              <a:rPr lang="en-US" sz="675">
                <a:solidFill>
                  <a:srgbClr val="5F6975"/>
                </a:solidFill>
                <a:latin typeface="Noto Sans SC"/>
                <a:ea typeface="Noto Sans SC"/>
              </a:rPr>
              <a:t>44</a:t>
            </a:r>
            <a:endParaRPr/>
          </a:p>
        </p:txBody>
      </p:sp>
      <p:sp>
        <p:nvSpPr>
          <p:cNvPr id="260" name="" descr="{&quot;isTemplate&quot;:true,&quot;type&quot;:&quot;text&quot;}"/>
          <p:cNvSpPr txBox="1"/>
          <p:nvPr/>
        </p:nvSpPr>
        <p:spPr>
          <a:xfrm rot="0" flipH="0" flipV="0">
            <a:off x="6429375" y="212407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里可林奶咖色人造石小浴缸家用小户型迷你款一体成型浴盆</a:t>
            </a:r>
            <a:endParaRPr/>
          </a:p>
        </p:txBody>
      </p:sp>
      <p:sp>
        <p:nvSpPr>
          <p:cNvPr id="261" name="" descr="{&quot;isTemplate&quot;:true,&quot;type&quot;:&quot;text&quot;}"/>
          <p:cNvSpPr txBox="1"/>
          <p:nvPr/>
        </p:nvSpPr>
        <p:spPr>
          <a:xfrm rot="0" flipH="0" flipV="0">
            <a:off x="10648950" y="2124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78</a:t>
            </a:r>
            <a:endParaRPr/>
          </a:p>
        </p:txBody>
      </p:sp>
      <p:sp>
        <p:nvSpPr>
          <p:cNvPr id="262" name="" descr="{&quot;isTemplate&quot;:true,&quot;type&quot;:&quot;text&quot;}"/>
          <p:cNvSpPr txBox="1"/>
          <p:nvPr/>
        </p:nvSpPr>
        <p:spPr>
          <a:xfrm rot="0" flipH="0" flipV="0">
            <a:off x="11172825" y="2124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643551</a:t>
            </a:r>
            <a:endParaRPr/>
          </a:p>
        </p:txBody>
      </p:sp>
      <p:sp>
        <p:nvSpPr>
          <p:cNvPr id="263" name="" descr="{&quot;isTemplate&quot;:true,&quot;type&quot;:&quot;text&quot;}"/>
          <p:cNvSpPr txBox="1"/>
          <p:nvPr/>
        </p:nvSpPr>
        <p:spPr>
          <a:xfrm rot="0" flipH="0" flipV="0">
            <a:off x="6172200" y="2266950"/>
            <a:ext cx="219075" cy="104775"/>
          </a:xfrm>
          <a:prstGeom prst="rect"/>
        </p:spPr>
        <p:txBody>
          <a:bodyPr wrap="none" lIns="0" tIns="0" rIns="0" bIns="0"/>
          <a:p>
            <a:pPr>
              <a:lnSpc>
                <a:spcPct val="100000"/>
              </a:lnSpc>
            </a:pPr>
            <a:r>
              <a:rPr lang="en-US" sz="675">
                <a:solidFill>
                  <a:srgbClr val="5F6975"/>
                </a:solidFill>
                <a:latin typeface="Noto Sans SC"/>
                <a:ea typeface="Noto Sans SC"/>
              </a:rPr>
              <a:t>45</a:t>
            </a:r>
            <a:endParaRPr/>
          </a:p>
        </p:txBody>
      </p:sp>
      <p:sp>
        <p:nvSpPr>
          <p:cNvPr id="264" name="" descr="{&quot;isTemplate&quot;:true,&quot;type&quot;:&quot;text&quot;}"/>
          <p:cNvSpPr txBox="1"/>
          <p:nvPr/>
        </p:nvSpPr>
        <p:spPr>
          <a:xfrm rot="0" flipH="0" flipV="0">
            <a:off x="6429375" y="2266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网林半圆弧型人造石洗手盆酒店卫生间民宿挂墙式洗脸盆洗漱盆定制</a:t>
            </a:r>
            <a:endParaRPr/>
          </a:p>
        </p:txBody>
      </p:sp>
      <p:sp>
        <p:nvSpPr>
          <p:cNvPr id="265" name="" descr="{&quot;isTemplate&quot;:true,&quot;type&quot;:&quot;text&quot;}"/>
          <p:cNvSpPr txBox="1"/>
          <p:nvPr/>
        </p:nvSpPr>
        <p:spPr>
          <a:xfrm rot="0" flipH="0" flipV="0">
            <a:off x="10648950" y="2266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73</a:t>
            </a:r>
            <a:endParaRPr/>
          </a:p>
        </p:txBody>
      </p:sp>
      <p:sp>
        <p:nvSpPr>
          <p:cNvPr id="266" name="" descr="{&quot;isTemplate&quot;:true,&quot;type&quot;:&quot;text&quot;}"/>
          <p:cNvSpPr txBox="1"/>
          <p:nvPr/>
        </p:nvSpPr>
        <p:spPr>
          <a:xfrm rot="0" flipH="0" flipV="0">
            <a:off x="11172825" y="2266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257947</a:t>
            </a:r>
            <a:endParaRPr/>
          </a:p>
        </p:txBody>
      </p:sp>
      <p:sp>
        <p:nvSpPr>
          <p:cNvPr id="267" name="" descr="{&quot;isTemplate&quot;:true,&quot;type&quot;:&quot;text&quot;}"/>
          <p:cNvSpPr txBox="1"/>
          <p:nvPr/>
        </p:nvSpPr>
        <p:spPr>
          <a:xfrm rot="0" flipH="0" flipV="0">
            <a:off x="6172200" y="2409825"/>
            <a:ext cx="219075" cy="104775"/>
          </a:xfrm>
          <a:prstGeom prst="rect"/>
        </p:spPr>
        <p:txBody>
          <a:bodyPr wrap="none" lIns="0" tIns="0" rIns="0" bIns="0"/>
          <a:p>
            <a:pPr>
              <a:lnSpc>
                <a:spcPct val="100000"/>
              </a:lnSpc>
            </a:pPr>
            <a:r>
              <a:rPr lang="en-US" sz="675">
                <a:solidFill>
                  <a:srgbClr val="5F6975"/>
                </a:solidFill>
                <a:latin typeface="Noto Sans SC"/>
                <a:ea typeface="Noto Sans SC"/>
              </a:rPr>
              <a:t>46</a:t>
            </a:r>
            <a:endParaRPr/>
          </a:p>
        </p:txBody>
      </p:sp>
      <p:sp>
        <p:nvSpPr>
          <p:cNvPr id="268" name="" descr="{&quot;isTemplate&quot;:true,&quot;type&quot;:&quot;text&quot;}"/>
          <p:cNvSpPr txBox="1"/>
          <p:nvPr/>
        </p:nvSpPr>
        <p:spPr>
          <a:xfrm rot="0" flipH="0" flipV="0">
            <a:off x="6429375" y="2409825"/>
            <a:ext cx="4181475" cy="104775"/>
          </a:xfrm>
          <a:prstGeom prst="rect"/>
        </p:spPr>
        <p:txBody>
          <a:bodyPr wrap="none" lIns="0" tIns="0" rIns="0" bIns="0"/>
          <a:p>
            <a:pPr>
              <a:lnSpc>
                <a:spcPct val="100000"/>
              </a:lnSpc>
            </a:pPr>
            <a:r>
              <a:rPr lang="en-US" sz="675">
                <a:solidFill>
                  <a:srgbClr val="15181D"/>
                </a:solidFill>
                <a:latin typeface="Noto Sans SC"/>
                <a:ea typeface="Noto Sans SC"/>
              </a:rPr>
              <a:t>Gavin</a:t>
            </a:r>
            <a:r>
              <a:rPr lang="zh-CN" sz="675">
                <a:solidFill>
                  <a:srgbClr val="15181D"/>
                </a:solidFill>
                <a:latin typeface="Noto Sans SC"/>
                <a:ea typeface="Noto Sans SC"/>
              </a:rPr>
              <a:t>盖文绮美石</a:t>
            </a:r>
            <a:r>
              <a:rPr lang="en-US" sz="675">
                <a:solidFill>
                  <a:srgbClr val="15181D"/>
                </a:solidFill>
                <a:latin typeface="Noto Sans SC"/>
                <a:ea typeface="Noto Sans SC"/>
              </a:rPr>
              <a:t>PMMA</a:t>
            </a:r>
            <a:r>
              <a:rPr lang="zh-CN" sz="675">
                <a:solidFill>
                  <a:srgbClr val="15181D"/>
                </a:solidFill>
                <a:latin typeface="Noto Sans SC"/>
                <a:ea typeface="Noto Sans SC"/>
              </a:rPr>
              <a:t>人造石独立浴缸哑光椭圆形民宿酒店家用浴盆</a:t>
            </a:r>
            <a:endParaRPr/>
          </a:p>
        </p:txBody>
      </p:sp>
      <p:sp>
        <p:nvSpPr>
          <p:cNvPr id="269" name="" descr="{&quot;isTemplate&quot;:true,&quot;type&quot;:&quot;text&quot;}"/>
          <p:cNvSpPr txBox="1"/>
          <p:nvPr/>
        </p:nvSpPr>
        <p:spPr>
          <a:xfrm rot="0" flipH="0" flipV="0">
            <a:off x="10648950" y="2409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69</a:t>
            </a:r>
            <a:endParaRPr/>
          </a:p>
        </p:txBody>
      </p:sp>
      <p:sp>
        <p:nvSpPr>
          <p:cNvPr id="270" name="" descr="{&quot;isTemplate&quot;:true,&quot;type&quot;:&quot;text&quot;}"/>
          <p:cNvSpPr txBox="1"/>
          <p:nvPr/>
        </p:nvSpPr>
        <p:spPr>
          <a:xfrm rot="0" flipH="0" flipV="0">
            <a:off x="11172825" y="2409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269914</a:t>
            </a:r>
            <a:endParaRPr/>
          </a:p>
        </p:txBody>
      </p:sp>
      <p:sp>
        <p:nvSpPr>
          <p:cNvPr id="271" name="" descr="{&quot;isTemplate&quot;:true,&quot;type&quot;:&quot;text&quot;}"/>
          <p:cNvSpPr txBox="1"/>
          <p:nvPr/>
        </p:nvSpPr>
        <p:spPr>
          <a:xfrm rot="0" flipH="0" flipV="0">
            <a:off x="6172200" y="2552700"/>
            <a:ext cx="219075" cy="104775"/>
          </a:xfrm>
          <a:prstGeom prst="rect"/>
        </p:spPr>
        <p:txBody>
          <a:bodyPr wrap="none" lIns="0" tIns="0" rIns="0" bIns="0"/>
          <a:p>
            <a:pPr>
              <a:lnSpc>
                <a:spcPct val="100000"/>
              </a:lnSpc>
            </a:pPr>
            <a:r>
              <a:rPr lang="en-US" sz="675">
                <a:solidFill>
                  <a:srgbClr val="5F6975"/>
                </a:solidFill>
                <a:latin typeface="Noto Sans SC"/>
                <a:ea typeface="Noto Sans SC"/>
              </a:rPr>
              <a:t>47</a:t>
            </a:r>
            <a:endParaRPr/>
          </a:p>
        </p:txBody>
      </p:sp>
      <p:sp>
        <p:nvSpPr>
          <p:cNvPr id="272" name="" descr="{&quot;isTemplate&quot;:true,&quot;type&quot;:&quot;text&quot;}"/>
          <p:cNvSpPr txBox="1"/>
          <p:nvPr/>
        </p:nvSpPr>
        <p:spPr>
          <a:xfrm rot="0" flipH="0" flipV="0">
            <a:off x="6429375" y="25527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网林人造高分子台面置物立柱盆家用民宿酒店浴室落地式洗手盆定制</a:t>
            </a:r>
            <a:endParaRPr/>
          </a:p>
        </p:txBody>
      </p:sp>
      <p:sp>
        <p:nvSpPr>
          <p:cNvPr id="273" name="" descr="{&quot;isTemplate&quot;:true,&quot;type&quot;:&quot;text&quot;}"/>
          <p:cNvSpPr txBox="1"/>
          <p:nvPr/>
        </p:nvSpPr>
        <p:spPr>
          <a:xfrm rot="0" flipH="0" flipV="0">
            <a:off x="10648950" y="2552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63</a:t>
            </a:r>
            <a:endParaRPr/>
          </a:p>
        </p:txBody>
      </p:sp>
      <p:sp>
        <p:nvSpPr>
          <p:cNvPr id="274" name="" descr="{&quot;isTemplate&quot;:true,&quot;type&quot;:&quot;text&quot;}"/>
          <p:cNvSpPr txBox="1"/>
          <p:nvPr/>
        </p:nvSpPr>
        <p:spPr>
          <a:xfrm rot="0" flipH="0" flipV="0">
            <a:off x="11172825" y="2552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197192</a:t>
            </a:r>
            <a:endParaRPr/>
          </a:p>
        </p:txBody>
      </p:sp>
      <p:sp>
        <p:nvSpPr>
          <p:cNvPr id="275" name="" descr="{&quot;isTemplate&quot;:true,&quot;type&quot;:&quot;text&quot;}"/>
          <p:cNvSpPr txBox="1"/>
          <p:nvPr/>
        </p:nvSpPr>
        <p:spPr>
          <a:xfrm rot="0" flipH="0" flipV="0">
            <a:off x="6172200" y="2695575"/>
            <a:ext cx="219075" cy="104775"/>
          </a:xfrm>
          <a:prstGeom prst="rect"/>
        </p:spPr>
        <p:txBody>
          <a:bodyPr wrap="none" lIns="0" tIns="0" rIns="0" bIns="0"/>
          <a:p>
            <a:pPr>
              <a:lnSpc>
                <a:spcPct val="100000"/>
              </a:lnSpc>
            </a:pPr>
            <a:r>
              <a:rPr lang="en-US" sz="675">
                <a:solidFill>
                  <a:srgbClr val="5F6975"/>
                </a:solidFill>
                <a:latin typeface="Noto Sans SC"/>
                <a:ea typeface="Noto Sans SC"/>
              </a:rPr>
              <a:t>48</a:t>
            </a:r>
            <a:endParaRPr/>
          </a:p>
        </p:txBody>
      </p:sp>
      <p:sp>
        <p:nvSpPr>
          <p:cNvPr id="276" name="" descr="{&quot;isTemplate&quot;:true,&quot;type&quot;:&quot;text&quot;}"/>
          <p:cNvSpPr txBox="1"/>
          <p:nvPr/>
        </p:nvSpPr>
        <p:spPr>
          <a:xfrm rot="0" flipH="0" flipV="0">
            <a:off x="6429375" y="2695575"/>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大理石纹一体浴缸家用深泡人造石大靠背独立式洗浴盆</a:t>
            </a:r>
            <a:endParaRPr/>
          </a:p>
        </p:txBody>
      </p:sp>
      <p:sp>
        <p:nvSpPr>
          <p:cNvPr id="277" name="" descr="{&quot;isTemplate&quot;:true,&quot;type&quot;:&quot;text&quot;}"/>
          <p:cNvSpPr txBox="1"/>
          <p:nvPr/>
        </p:nvSpPr>
        <p:spPr>
          <a:xfrm rot="0" flipH="0" flipV="0">
            <a:off x="10648950" y="2695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51</a:t>
            </a:r>
            <a:endParaRPr/>
          </a:p>
        </p:txBody>
      </p:sp>
      <p:sp>
        <p:nvSpPr>
          <p:cNvPr id="278" name="" descr="{&quot;isTemplate&quot;:true,&quot;type&quot;:&quot;text&quot;}"/>
          <p:cNvSpPr txBox="1"/>
          <p:nvPr/>
        </p:nvSpPr>
        <p:spPr>
          <a:xfrm rot="0" flipH="0" flipV="0">
            <a:off x="11172825" y="2695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281567</a:t>
            </a:r>
            <a:endParaRPr/>
          </a:p>
        </p:txBody>
      </p:sp>
      <p:sp>
        <p:nvSpPr>
          <p:cNvPr id="279" name="" descr="{&quot;isTemplate&quot;:true,&quot;type&quot;:&quot;text&quot;}"/>
          <p:cNvSpPr txBox="1"/>
          <p:nvPr/>
        </p:nvSpPr>
        <p:spPr>
          <a:xfrm rot="0" flipH="0" flipV="0">
            <a:off x="6172200" y="2838450"/>
            <a:ext cx="219075" cy="104775"/>
          </a:xfrm>
          <a:prstGeom prst="rect"/>
        </p:spPr>
        <p:txBody>
          <a:bodyPr wrap="none" lIns="0" tIns="0" rIns="0" bIns="0"/>
          <a:p>
            <a:pPr>
              <a:lnSpc>
                <a:spcPct val="100000"/>
              </a:lnSpc>
            </a:pPr>
            <a:r>
              <a:rPr lang="en-US" sz="675">
                <a:solidFill>
                  <a:srgbClr val="5F6975"/>
                </a:solidFill>
                <a:latin typeface="Noto Sans SC"/>
                <a:ea typeface="Noto Sans SC"/>
              </a:rPr>
              <a:t>49</a:t>
            </a:r>
            <a:endParaRPr/>
          </a:p>
        </p:txBody>
      </p:sp>
      <p:sp>
        <p:nvSpPr>
          <p:cNvPr id="280" name="" descr="{&quot;isTemplate&quot;:true,&quot;type&quot;:&quot;text&quot;}"/>
          <p:cNvSpPr txBox="1"/>
          <p:nvPr/>
        </p:nvSpPr>
        <p:spPr>
          <a:xfrm rot="0" flipH="0" flipV="0">
            <a:off x="6429375" y="2838450"/>
            <a:ext cx="4181475" cy="104775"/>
          </a:xfrm>
          <a:prstGeom prst="rect"/>
        </p:spPr>
        <p:txBody>
          <a:bodyPr wrap="none" lIns="0" tIns="0" rIns="0" bIns="0"/>
          <a:p>
            <a:pPr>
              <a:lnSpc>
                <a:spcPct val="100000"/>
              </a:lnSpc>
            </a:pPr>
            <a:r>
              <a:rPr lang="zh-CN" sz="675">
                <a:solidFill>
                  <a:srgbClr val="15181D"/>
                </a:solidFill>
                <a:latin typeface="Noto Sans SC"/>
                <a:ea typeface="Noto Sans SC"/>
              </a:rPr>
              <a:t>粉水晶奢石大理石洗手盆别墅酒店卫生间洗漱台盆轻奢设计师款定制</a:t>
            </a:r>
            <a:endParaRPr/>
          </a:p>
        </p:txBody>
      </p:sp>
      <p:sp>
        <p:nvSpPr>
          <p:cNvPr id="281" name="" descr="{&quot;isTemplate&quot;:true,&quot;type&quot;:&quot;text&quot;}"/>
          <p:cNvSpPr txBox="1"/>
          <p:nvPr/>
        </p:nvSpPr>
        <p:spPr>
          <a:xfrm rot="0" flipH="0" flipV="0">
            <a:off x="10648950" y="2838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43</a:t>
            </a:r>
            <a:endParaRPr/>
          </a:p>
        </p:txBody>
      </p:sp>
      <p:sp>
        <p:nvSpPr>
          <p:cNvPr id="282" name="" descr="{&quot;isTemplate&quot;:true,&quot;type&quot;:&quot;text&quot;}"/>
          <p:cNvSpPr txBox="1"/>
          <p:nvPr/>
        </p:nvSpPr>
        <p:spPr>
          <a:xfrm rot="0" flipH="0" flipV="0">
            <a:off x="11172825" y="2838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041893</a:t>
            </a:r>
            <a:endParaRPr/>
          </a:p>
        </p:txBody>
      </p:sp>
      <p:sp>
        <p:nvSpPr>
          <p:cNvPr id="283" name="" descr="{&quot;isTemplate&quot;:true,&quot;type&quot;:&quot;text&quot;}"/>
          <p:cNvSpPr txBox="1"/>
          <p:nvPr/>
        </p:nvSpPr>
        <p:spPr>
          <a:xfrm rot="0" flipH="0" flipV="0">
            <a:off x="6172200" y="2981325"/>
            <a:ext cx="219075" cy="104775"/>
          </a:xfrm>
          <a:prstGeom prst="rect"/>
        </p:spPr>
        <p:txBody>
          <a:bodyPr wrap="none" lIns="0" tIns="0" rIns="0" bIns="0"/>
          <a:p>
            <a:pPr>
              <a:lnSpc>
                <a:spcPct val="100000"/>
              </a:lnSpc>
            </a:pPr>
            <a:r>
              <a:rPr lang="en-US" sz="675">
                <a:solidFill>
                  <a:srgbClr val="5F6975"/>
                </a:solidFill>
                <a:latin typeface="Noto Sans SC"/>
                <a:ea typeface="Noto Sans SC"/>
              </a:rPr>
              <a:t>50</a:t>
            </a:r>
            <a:endParaRPr/>
          </a:p>
        </p:txBody>
      </p:sp>
      <p:sp>
        <p:nvSpPr>
          <p:cNvPr id="284" name="" descr="{&quot;isTemplate&quot;:true,&quot;type&quot;:&quot;text&quot;}"/>
          <p:cNvSpPr txBox="1"/>
          <p:nvPr/>
        </p:nvSpPr>
        <p:spPr>
          <a:xfrm rot="0" flipH="0" flipV="0">
            <a:off x="6429375" y="2981325"/>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科塔一体成型人造石洗手盆特色酒店民宿带背板洗脸盆洗漱台盆定制</a:t>
            </a:r>
            <a:endParaRPr/>
          </a:p>
        </p:txBody>
      </p:sp>
      <p:sp>
        <p:nvSpPr>
          <p:cNvPr id="285" name="" descr="{&quot;isTemplate&quot;:true,&quot;type&quot;:&quot;text&quot;}"/>
          <p:cNvSpPr txBox="1"/>
          <p:nvPr/>
        </p:nvSpPr>
        <p:spPr>
          <a:xfrm rot="0" flipH="0" flipV="0">
            <a:off x="10648950" y="2981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42</a:t>
            </a:r>
            <a:endParaRPr/>
          </a:p>
        </p:txBody>
      </p:sp>
      <p:sp>
        <p:nvSpPr>
          <p:cNvPr id="286" name="" descr="{&quot;isTemplate&quot;:true,&quot;type&quot;:&quot;text&quot;}"/>
          <p:cNvSpPr txBox="1"/>
          <p:nvPr/>
        </p:nvSpPr>
        <p:spPr>
          <a:xfrm rot="0" flipH="0" flipV="0">
            <a:off x="11172825" y="2981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121460</a:t>
            </a:r>
            <a:endParaRPr/>
          </a:p>
        </p:txBody>
      </p:sp>
      <p:sp>
        <p:nvSpPr>
          <p:cNvPr id="287" name="" descr="{&quot;isTemplate&quot;:true,&quot;type&quot;:&quot;text&quot;}"/>
          <p:cNvSpPr txBox="1"/>
          <p:nvPr/>
        </p:nvSpPr>
        <p:spPr>
          <a:xfrm rot="0" flipH="0" flipV="0">
            <a:off x="6172200" y="3124200"/>
            <a:ext cx="219075" cy="104775"/>
          </a:xfrm>
          <a:prstGeom prst="rect"/>
        </p:spPr>
        <p:txBody>
          <a:bodyPr wrap="none" lIns="0" tIns="0" rIns="0" bIns="0"/>
          <a:p>
            <a:pPr>
              <a:lnSpc>
                <a:spcPct val="100000"/>
              </a:lnSpc>
            </a:pPr>
            <a:r>
              <a:rPr lang="en-US" sz="675">
                <a:solidFill>
                  <a:srgbClr val="5F6975"/>
                </a:solidFill>
                <a:latin typeface="Noto Sans SC"/>
                <a:ea typeface="Noto Sans SC"/>
              </a:rPr>
              <a:t>51</a:t>
            </a:r>
            <a:endParaRPr/>
          </a:p>
        </p:txBody>
      </p:sp>
      <p:sp>
        <p:nvSpPr>
          <p:cNvPr id="288" name="" descr="{&quot;isTemplate&quot;:true,&quot;type&quot;:&quot;text&quot;}"/>
          <p:cNvSpPr txBox="1"/>
          <p:nvPr/>
        </p:nvSpPr>
        <p:spPr>
          <a:xfrm rot="0" flipH="0" flipV="0">
            <a:off x="6429375" y="312420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网林亚克力浴缸小户型家用新型泡澡方形日式深泡独立式一体式浴盆</a:t>
            </a:r>
            <a:endParaRPr/>
          </a:p>
        </p:txBody>
      </p:sp>
      <p:sp>
        <p:nvSpPr>
          <p:cNvPr id="289" name="" descr="{&quot;isTemplate&quot;:true,&quot;type&quot;:&quot;text&quot;}"/>
          <p:cNvSpPr txBox="1"/>
          <p:nvPr/>
        </p:nvSpPr>
        <p:spPr>
          <a:xfrm rot="0" flipH="0" flipV="0">
            <a:off x="10648950" y="3124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39</a:t>
            </a:r>
            <a:endParaRPr/>
          </a:p>
        </p:txBody>
      </p:sp>
      <p:sp>
        <p:nvSpPr>
          <p:cNvPr id="290" name="" descr="{&quot;isTemplate&quot;:true,&quot;type&quot;:&quot;text&quot;}"/>
          <p:cNvSpPr txBox="1"/>
          <p:nvPr/>
        </p:nvSpPr>
        <p:spPr>
          <a:xfrm rot="0" flipH="0" flipV="0">
            <a:off x="11172825" y="3124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322925</a:t>
            </a:r>
            <a:endParaRPr/>
          </a:p>
        </p:txBody>
      </p:sp>
      <p:sp>
        <p:nvSpPr>
          <p:cNvPr id="291" name="" descr="{&quot;isTemplate&quot;:true,&quot;type&quot;:&quot;text&quot;}"/>
          <p:cNvSpPr txBox="1"/>
          <p:nvPr/>
        </p:nvSpPr>
        <p:spPr>
          <a:xfrm rot="0" flipH="0" flipV="0">
            <a:off x="6172200" y="3267075"/>
            <a:ext cx="219075" cy="104775"/>
          </a:xfrm>
          <a:prstGeom prst="rect"/>
        </p:spPr>
        <p:txBody>
          <a:bodyPr wrap="none" lIns="0" tIns="0" rIns="0" bIns="0"/>
          <a:p>
            <a:pPr>
              <a:lnSpc>
                <a:spcPct val="100000"/>
              </a:lnSpc>
            </a:pPr>
            <a:r>
              <a:rPr lang="en-US" sz="675">
                <a:solidFill>
                  <a:srgbClr val="5F6975"/>
                </a:solidFill>
                <a:latin typeface="Noto Sans SC"/>
                <a:ea typeface="Noto Sans SC"/>
              </a:rPr>
              <a:t>52</a:t>
            </a:r>
            <a:endParaRPr/>
          </a:p>
        </p:txBody>
      </p:sp>
      <p:sp>
        <p:nvSpPr>
          <p:cNvPr id="292" name="" descr="{&quot;isTemplate&quot;:true,&quot;type&quot;:&quot;text&quot;}"/>
          <p:cNvSpPr txBox="1"/>
          <p:nvPr/>
        </p:nvSpPr>
        <p:spPr>
          <a:xfrm rot="0" flipH="0" flipV="0">
            <a:off x="6429375" y="32670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网林透明树脂圆形台盆木纹柱子储物柜格栅立柱盆家用酒店式洗手盆</a:t>
            </a:r>
            <a:endParaRPr/>
          </a:p>
        </p:txBody>
      </p:sp>
      <p:sp>
        <p:nvSpPr>
          <p:cNvPr id="293" name="" descr="{&quot;isTemplate&quot;:true,&quot;type&quot;:&quot;text&quot;}"/>
          <p:cNvSpPr txBox="1"/>
          <p:nvPr/>
        </p:nvSpPr>
        <p:spPr>
          <a:xfrm rot="0" flipH="0" flipV="0">
            <a:off x="10648950" y="3267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33</a:t>
            </a:r>
            <a:endParaRPr/>
          </a:p>
        </p:txBody>
      </p:sp>
      <p:sp>
        <p:nvSpPr>
          <p:cNvPr id="294" name="" descr="{&quot;isTemplate&quot;:true,&quot;type&quot;:&quot;text&quot;}"/>
          <p:cNvSpPr txBox="1"/>
          <p:nvPr/>
        </p:nvSpPr>
        <p:spPr>
          <a:xfrm rot="0" flipH="0" flipV="0">
            <a:off x="11172825" y="3267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039130</a:t>
            </a:r>
            <a:endParaRPr/>
          </a:p>
        </p:txBody>
      </p:sp>
      <p:sp>
        <p:nvSpPr>
          <p:cNvPr id="295" name="" descr="{&quot;isTemplate&quot;:true,&quot;type&quot;:&quot;text&quot;}"/>
          <p:cNvSpPr txBox="1"/>
          <p:nvPr/>
        </p:nvSpPr>
        <p:spPr>
          <a:xfrm rot="0" flipH="0" flipV="0">
            <a:off x="6172200" y="3409950"/>
            <a:ext cx="219075" cy="104775"/>
          </a:xfrm>
          <a:prstGeom prst="rect"/>
        </p:spPr>
        <p:txBody>
          <a:bodyPr wrap="none" lIns="0" tIns="0" rIns="0" bIns="0"/>
          <a:p>
            <a:pPr>
              <a:lnSpc>
                <a:spcPct val="100000"/>
              </a:lnSpc>
            </a:pPr>
            <a:r>
              <a:rPr lang="en-US" sz="675">
                <a:solidFill>
                  <a:srgbClr val="5F6975"/>
                </a:solidFill>
                <a:latin typeface="Noto Sans SC"/>
                <a:ea typeface="Noto Sans SC"/>
              </a:rPr>
              <a:t>53</a:t>
            </a:r>
            <a:endParaRPr/>
          </a:p>
        </p:txBody>
      </p:sp>
      <p:sp>
        <p:nvSpPr>
          <p:cNvPr id="296" name="" descr="{&quot;isTemplate&quot;:true,&quot;type&quot;:&quot;text&quot;}"/>
          <p:cNvSpPr txBox="1"/>
          <p:nvPr/>
        </p:nvSpPr>
        <p:spPr>
          <a:xfrm rot="0" flipH="0" flipV="0">
            <a:off x="6429375" y="3409950"/>
            <a:ext cx="4181475" cy="104775"/>
          </a:xfrm>
          <a:prstGeom prst="rect"/>
        </p:spPr>
        <p:txBody>
          <a:bodyPr wrap="none" lIns="0" tIns="0" rIns="0" bIns="0"/>
          <a:p>
            <a:pPr>
              <a:lnSpc>
                <a:spcPct val="100000"/>
              </a:lnSpc>
            </a:pPr>
            <a:r>
              <a:rPr lang="zh-CN" sz="675">
                <a:solidFill>
                  <a:srgbClr val="15181D"/>
                </a:solidFill>
                <a:latin typeface="Noto Sans SC"/>
                <a:ea typeface="Noto Sans SC"/>
              </a:rPr>
              <a:t>蓝水晶奢石大理石洗手盆别墅酒店家用卫生间挂墙式高边款台盆定制</a:t>
            </a:r>
            <a:endParaRPr/>
          </a:p>
        </p:txBody>
      </p:sp>
      <p:sp>
        <p:nvSpPr>
          <p:cNvPr id="297" name="" descr="{&quot;isTemplate&quot;:true,&quot;type&quot;:&quot;text&quot;}"/>
          <p:cNvSpPr txBox="1"/>
          <p:nvPr/>
        </p:nvSpPr>
        <p:spPr>
          <a:xfrm rot="0" flipH="0" flipV="0">
            <a:off x="10648950" y="3409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30</a:t>
            </a:r>
            <a:endParaRPr/>
          </a:p>
        </p:txBody>
      </p:sp>
      <p:sp>
        <p:nvSpPr>
          <p:cNvPr id="298" name="" descr="{&quot;isTemplate&quot;:true,&quot;type&quot;:&quot;text&quot;}"/>
          <p:cNvSpPr txBox="1"/>
          <p:nvPr/>
        </p:nvSpPr>
        <p:spPr>
          <a:xfrm rot="0" flipH="0" flipV="0">
            <a:off x="11172825" y="3409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074700</a:t>
            </a:r>
            <a:endParaRPr/>
          </a:p>
        </p:txBody>
      </p:sp>
      <p:sp>
        <p:nvSpPr>
          <p:cNvPr id="299" name="" descr="{&quot;isTemplate&quot;:true,&quot;type&quot;:&quot;text&quot;}"/>
          <p:cNvSpPr txBox="1"/>
          <p:nvPr/>
        </p:nvSpPr>
        <p:spPr>
          <a:xfrm rot="0" flipH="0" flipV="0">
            <a:off x="6172200" y="3552825"/>
            <a:ext cx="219075" cy="104775"/>
          </a:xfrm>
          <a:prstGeom prst="rect"/>
        </p:spPr>
        <p:txBody>
          <a:bodyPr wrap="none" lIns="0" tIns="0" rIns="0" bIns="0"/>
          <a:p>
            <a:pPr>
              <a:lnSpc>
                <a:spcPct val="100000"/>
              </a:lnSpc>
            </a:pPr>
            <a:r>
              <a:rPr lang="en-US" sz="675">
                <a:solidFill>
                  <a:srgbClr val="5F6975"/>
                </a:solidFill>
                <a:latin typeface="Noto Sans SC"/>
                <a:ea typeface="Noto Sans SC"/>
              </a:rPr>
              <a:t>54</a:t>
            </a:r>
            <a:endParaRPr/>
          </a:p>
        </p:txBody>
      </p:sp>
      <p:sp>
        <p:nvSpPr>
          <p:cNvPr id="300" name="" descr="{&quot;isTemplate&quot;:true,&quot;type&quot;:&quot;text&quot;}"/>
          <p:cNvSpPr txBox="1"/>
          <p:nvPr/>
        </p:nvSpPr>
        <p:spPr>
          <a:xfrm rot="0" flipH="0" flipV="0">
            <a:off x="6429375" y="3552825"/>
            <a:ext cx="4181475" cy="104775"/>
          </a:xfrm>
          <a:prstGeom prst="rect"/>
        </p:spPr>
        <p:txBody>
          <a:bodyPr wrap="none" lIns="0" tIns="0" rIns="0" bIns="0"/>
          <a:p>
            <a:pPr>
              <a:lnSpc>
                <a:spcPct val="100000"/>
              </a:lnSpc>
            </a:pPr>
            <a:r>
              <a:rPr lang="zh-CN" sz="675">
                <a:solidFill>
                  <a:srgbClr val="15181D"/>
                </a:solidFill>
                <a:latin typeface="Noto Sans SC"/>
                <a:ea typeface="Noto Sans SC"/>
              </a:rPr>
              <a:t>科塔高分子人造石挂墙式洗手盆小户型家用卫生间一体式洗漱洗脸盆</a:t>
            </a:r>
            <a:endParaRPr/>
          </a:p>
        </p:txBody>
      </p:sp>
      <p:sp>
        <p:nvSpPr>
          <p:cNvPr id="301" name="" descr="{&quot;isTemplate&quot;:true,&quot;type&quot;:&quot;text&quot;}"/>
          <p:cNvSpPr txBox="1"/>
          <p:nvPr/>
        </p:nvSpPr>
        <p:spPr>
          <a:xfrm rot="0" flipH="0" flipV="0">
            <a:off x="10648950" y="3552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30</a:t>
            </a:r>
            <a:endParaRPr/>
          </a:p>
        </p:txBody>
      </p:sp>
      <p:sp>
        <p:nvSpPr>
          <p:cNvPr id="302" name="" descr="{&quot;isTemplate&quot;:true,&quot;type&quot;:&quot;text&quot;}"/>
          <p:cNvSpPr txBox="1"/>
          <p:nvPr/>
        </p:nvSpPr>
        <p:spPr>
          <a:xfrm rot="0" flipH="0" flipV="0">
            <a:off x="11172825" y="3552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104332</a:t>
            </a:r>
            <a:endParaRPr/>
          </a:p>
        </p:txBody>
      </p:sp>
      <p:sp>
        <p:nvSpPr>
          <p:cNvPr id="303" name="" descr="{&quot;isTemplate&quot;:true,&quot;type&quot;:&quot;text&quot;}"/>
          <p:cNvSpPr txBox="1"/>
          <p:nvPr/>
        </p:nvSpPr>
        <p:spPr>
          <a:xfrm rot="0" flipH="0" flipV="0">
            <a:off x="6172200" y="3695700"/>
            <a:ext cx="219075" cy="104775"/>
          </a:xfrm>
          <a:prstGeom prst="rect"/>
        </p:spPr>
        <p:txBody>
          <a:bodyPr wrap="none" lIns="0" tIns="0" rIns="0" bIns="0"/>
          <a:p>
            <a:pPr>
              <a:lnSpc>
                <a:spcPct val="100000"/>
              </a:lnSpc>
            </a:pPr>
            <a:r>
              <a:rPr lang="en-US" sz="675">
                <a:solidFill>
                  <a:srgbClr val="5F6975"/>
                </a:solidFill>
                <a:latin typeface="Noto Sans SC"/>
                <a:ea typeface="Noto Sans SC"/>
              </a:rPr>
              <a:t>55</a:t>
            </a:r>
            <a:endParaRPr/>
          </a:p>
        </p:txBody>
      </p:sp>
      <p:sp>
        <p:nvSpPr>
          <p:cNvPr id="304" name="" descr="{&quot;isTemplate&quot;:true,&quot;type&quot;:&quot;text&quot;}"/>
          <p:cNvSpPr txBox="1"/>
          <p:nvPr/>
        </p:nvSpPr>
        <p:spPr>
          <a:xfrm rot="0" flipH="0" flipV="0">
            <a:off x="6429375" y="369570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独立式家用浴缸民宿酒店卫生间日式绮美石深泡小户型浴盆</a:t>
            </a:r>
            <a:endParaRPr/>
          </a:p>
        </p:txBody>
      </p:sp>
      <p:sp>
        <p:nvSpPr>
          <p:cNvPr id="305" name="" descr="{&quot;isTemplate&quot;:true,&quot;type&quot;:&quot;text&quot;}"/>
          <p:cNvSpPr txBox="1"/>
          <p:nvPr/>
        </p:nvSpPr>
        <p:spPr>
          <a:xfrm rot="0" flipH="0" flipV="0">
            <a:off x="10648950" y="3695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30</a:t>
            </a:r>
            <a:endParaRPr/>
          </a:p>
        </p:txBody>
      </p:sp>
      <p:sp>
        <p:nvSpPr>
          <p:cNvPr id="306" name="" descr="{&quot;isTemplate&quot;:true,&quot;type&quot;:&quot;text&quot;}"/>
          <p:cNvSpPr txBox="1"/>
          <p:nvPr/>
        </p:nvSpPr>
        <p:spPr>
          <a:xfrm rot="0" flipH="0" flipV="0">
            <a:off x="11172825" y="3695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747620</a:t>
            </a:r>
            <a:endParaRPr/>
          </a:p>
        </p:txBody>
      </p:sp>
      <p:sp>
        <p:nvSpPr>
          <p:cNvPr id="307" name="" descr="{&quot;isTemplate&quot;:true,&quot;type&quot;:&quot;text&quot;}"/>
          <p:cNvSpPr txBox="1"/>
          <p:nvPr/>
        </p:nvSpPr>
        <p:spPr>
          <a:xfrm rot="0" flipH="0" flipV="0">
            <a:off x="6172200" y="3838575"/>
            <a:ext cx="219075" cy="104775"/>
          </a:xfrm>
          <a:prstGeom prst="rect"/>
        </p:spPr>
        <p:txBody>
          <a:bodyPr wrap="none" lIns="0" tIns="0" rIns="0" bIns="0"/>
          <a:p>
            <a:pPr>
              <a:lnSpc>
                <a:spcPct val="100000"/>
              </a:lnSpc>
            </a:pPr>
            <a:r>
              <a:rPr lang="en-US" sz="675">
                <a:solidFill>
                  <a:srgbClr val="5F6975"/>
                </a:solidFill>
                <a:latin typeface="Noto Sans SC"/>
                <a:ea typeface="Noto Sans SC"/>
              </a:rPr>
              <a:t>56</a:t>
            </a:r>
            <a:endParaRPr/>
          </a:p>
        </p:txBody>
      </p:sp>
      <p:sp>
        <p:nvSpPr>
          <p:cNvPr id="308" name="" descr="{&quot;isTemplate&quot;:true,&quot;type&quot;:&quot;text&quot;}"/>
          <p:cNvSpPr txBox="1"/>
          <p:nvPr/>
        </p:nvSpPr>
        <p:spPr>
          <a:xfrm rot="0" flipH="0" flipV="0">
            <a:off x="6429375" y="38385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网林小户型家用亚克力浴缸新型泡澡方形日式深泡独立式迷你浴池</a:t>
            </a:r>
            <a:endParaRPr/>
          </a:p>
        </p:txBody>
      </p:sp>
      <p:sp>
        <p:nvSpPr>
          <p:cNvPr id="309" name="" descr="{&quot;isTemplate&quot;:true,&quot;type&quot;:&quot;text&quot;}"/>
          <p:cNvSpPr txBox="1"/>
          <p:nvPr/>
        </p:nvSpPr>
        <p:spPr>
          <a:xfrm rot="0" flipH="0" flipV="0">
            <a:off x="10648950" y="3838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29</a:t>
            </a:r>
            <a:endParaRPr/>
          </a:p>
        </p:txBody>
      </p:sp>
      <p:sp>
        <p:nvSpPr>
          <p:cNvPr id="310" name="" descr="{&quot;isTemplate&quot;:true,&quot;type&quot;:&quot;text&quot;}"/>
          <p:cNvSpPr txBox="1"/>
          <p:nvPr/>
        </p:nvSpPr>
        <p:spPr>
          <a:xfrm rot="0" flipH="0" flipV="0">
            <a:off x="11172825" y="3838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219000</a:t>
            </a:r>
            <a:endParaRPr/>
          </a:p>
        </p:txBody>
      </p:sp>
      <p:sp>
        <p:nvSpPr>
          <p:cNvPr id="311" name="" descr="{&quot;isTemplate&quot;:true,&quot;type&quot;:&quot;text&quot;}"/>
          <p:cNvSpPr txBox="1"/>
          <p:nvPr/>
        </p:nvSpPr>
        <p:spPr>
          <a:xfrm rot="0" flipH="0" flipV="0">
            <a:off x="6172200" y="3981450"/>
            <a:ext cx="219075" cy="104775"/>
          </a:xfrm>
          <a:prstGeom prst="rect"/>
        </p:spPr>
        <p:txBody>
          <a:bodyPr wrap="none" lIns="0" tIns="0" rIns="0" bIns="0"/>
          <a:p>
            <a:pPr>
              <a:lnSpc>
                <a:spcPct val="100000"/>
              </a:lnSpc>
            </a:pPr>
            <a:r>
              <a:rPr lang="en-US" sz="675">
                <a:solidFill>
                  <a:srgbClr val="5F6975"/>
                </a:solidFill>
                <a:latin typeface="Noto Sans SC"/>
                <a:ea typeface="Noto Sans SC"/>
              </a:rPr>
              <a:t>57</a:t>
            </a:r>
            <a:endParaRPr/>
          </a:p>
        </p:txBody>
      </p:sp>
      <p:sp>
        <p:nvSpPr>
          <p:cNvPr id="312" name="" descr="{&quot;isTemplate&quot;:true,&quot;type&quot;:&quot;text&quot;}"/>
          <p:cNvSpPr txBox="1"/>
          <p:nvPr/>
        </p:nvSpPr>
        <p:spPr>
          <a:xfrm rot="0" flipH="0" flipV="0">
            <a:off x="6429375" y="3981450"/>
            <a:ext cx="4181475" cy="104775"/>
          </a:xfrm>
          <a:prstGeom prst="rect"/>
        </p:spPr>
        <p:txBody>
          <a:bodyPr wrap="none" lIns="0" tIns="0" rIns="0" bIns="0"/>
          <a:p>
            <a:pPr>
              <a:lnSpc>
                <a:spcPct val="100000"/>
              </a:lnSpc>
            </a:pPr>
            <a:r>
              <a:rPr lang="en-US" sz="675">
                <a:solidFill>
                  <a:srgbClr val="15181D"/>
                </a:solidFill>
                <a:latin typeface="Noto Sans SC"/>
                <a:ea typeface="Noto Sans SC"/>
              </a:rPr>
              <a:t>Nicoline</a:t>
            </a:r>
            <a:r>
              <a:rPr lang="zh-CN" sz="675">
                <a:solidFill>
                  <a:srgbClr val="15181D"/>
                </a:solidFill>
                <a:latin typeface="Noto Sans SC"/>
                <a:ea typeface="Noto Sans SC"/>
              </a:rPr>
              <a:t>独立浴缸人造石大理石纹深泡浴池家用情侣双人椭圆形浴盆</a:t>
            </a:r>
            <a:endParaRPr/>
          </a:p>
        </p:txBody>
      </p:sp>
      <p:sp>
        <p:nvSpPr>
          <p:cNvPr id="313" name="" descr="{&quot;isTemplate&quot;:true,&quot;type&quot;:&quot;text&quot;}"/>
          <p:cNvSpPr txBox="1"/>
          <p:nvPr/>
        </p:nvSpPr>
        <p:spPr>
          <a:xfrm rot="0" flipH="0" flipV="0">
            <a:off x="10648950" y="3981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25</a:t>
            </a:r>
            <a:endParaRPr/>
          </a:p>
        </p:txBody>
      </p:sp>
      <p:sp>
        <p:nvSpPr>
          <p:cNvPr id="314" name="" descr="{&quot;isTemplate&quot;:true,&quot;type&quot;:&quot;text&quot;}"/>
          <p:cNvSpPr txBox="1"/>
          <p:nvPr/>
        </p:nvSpPr>
        <p:spPr>
          <a:xfrm rot="0" flipH="0" flipV="0">
            <a:off x="11172825" y="3981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030470</a:t>
            </a:r>
            <a:endParaRPr/>
          </a:p>
        </p:txBody>
      </p:sp>
      <p:sp>
        <p:nvSpPr>
          <p:cNvPr id="315" name="" descr="{&quot;isTemplate&quot;:true,&quot;type&quot;:&quot;text&quot;}"/>
          <p:cNvSpPr txBox="1"/>
          <p:nvPr/>
        </p:nvSpPr>
        <p:spPr>
          <a:xfrm rot="0" flipH="0" flipV="0">
            <a:off x="6172200" y="4124325"/>
            <a:ext cx="219075" cy="104775"/>
          </a:xfrm>
          <a:prstGeom prst="rect"/>
        </p:spPr>
        <p:txBody>
          <a:bodyPr wrap="none" lIns="0" tIns="0" rIns="0" bIns="0"/>
          <a:p>
            <a:pPr>
              <a:lnSpc>
                <a:spcPct val="100000"/>
              </a:lnSpc>
            </a:pPr>
            <a:r>
              <a:rPr lang="en-US" sz="675">
                <a:solidFill>
                  <a:srgbClr val="5F6975"/>
                </a:solidFill>
                <a:latin typeface="Noto Sans SC"/>
                <a:ea typeface="Noto Sans SC"/>
              </a:rPr>
              <a:t>58</a:t>
            </a:r>
            <a:endParaRPr/>
          </a:p>
        </p:txBody>
      </p:sp>
      <p:sp>
        <p:nvSpPr>
          <p:cNvPr id="316" name="" descr="{&quot;isTemplate&quot;:true,&quot;type&quot;:&quot;text&quot;}"/>
          <p:cNvSpPr txBox="1"/>
          <p:nvPr/>
        </p:nvSpPr>
        <p:spPr>
          <a:xfrm rot="0" flipH="0" flipV="0">
            <a:off x="6429375" y="41243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网林轻奢一体式挂墙盆家用极窄深水槽洗手盆小户型洗脸洗漱盆定制</a:t>
            </a:r>
            <a:endParaRPr/>
          </a:p>
        </p:txBody>
      </p:sp>
      <p:sp>
        <p:nvSpPr>
          <p:cNvPr id="317" name="" descr="{&quot;isTemplate&quot;:true,&quot;type&quot;:&quot;text&quot;}"/>
          <p:cNvSpPr txBox="1"/>
          <p:nvPr/>
        </p:nvSpPr>
        <p:spPr>
          <a:xfrm rot="0" flipH="0" flipV="0">
            <a:off x="10648950" y="4124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24</a:t>
            </a:r>
            <a:endParaRPr/>
          </a:p>
        </p:txBody>
      </p:sp>
      <p:sp>
        <p:nvSpPr>
          <p:cNvPr id="318" name="" descr="{&quot;isTemplate&quot;:true,&quot;type&quot;:&quot;text&quot;}"/>
          <p:cNvSpPr txBox="1"/>
          <p:nvPr/>
        </p:nvSpPr>
        <p:spPr>
          <a:xfrm rot="0" flipH="0" flipV="0">
            <a:off x="11172825" y="4124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728696</a:t>
            </a:r>
            <a:endParaRPr/>
          </a:p>
        </p:txBody>
      </p:sp>
      <p:sp>
        <p:nvSpPr>
          <p:cNvPr id="319" name="" descr="{&quot;isTemplate&quot;:true,&quot;type&quot;:&quot;text&quot;}"/>
          <p:cNvSpPr txBox="1"/>
          <p:nvPr/>
        </p:nvSpPr>
        <p:spPr>
          <a:xfrm rot="0" flipH="0" flipV="0">
            <a:off x="6172200" y="4267200"/>
            <a:ext cx="219075" cy="104775"/>
          </a:xfrm>
          <a:prstGeom prst="rect"/>
        </p:spPr>
        <p:txBody>
          <a:bodyPr wrap="none" lIns="0" tIns="0" rIns="0" bIns="0"/>
          <a:p>
            <a:pPr>
              <a:lnSpc>
                <a:spcPct val="100000"/>
              </a:lnSpc>
            </a:pPr>
            <a:r>
              <a:rPr lang="en-US" sz="675">
                <a:solidFill>
                  <a:srgbClr val="5F6975"/>
                </a:solidFill>
                <a:latin typeface="Noto Sans SC"/>
                <a:ea typeface="Noto Sans SC"/>
              </a:rPr>
              <a:t>59</a:t>
            </a:r>
            <a:endParaRPr/>
          </a:p>
        </p:txBody>
      </p:sp>
      <p:sp>
        <p:nvSpPr>
          <p:cNvPr id="320" name="" descr="{&quot;isTemplate&quot;:true,&quot;type&quot;:&quot;text&quot;}"/>
          <p:cNvSpPr txBox="1"/>
          <p:nvPr/>
        </p:nvSpPr>
        <p:spPr>
          <a:xfrm rot="0" flipH="0" flipV="0">
            <a:off x="6429375" y="42672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盖文奶咖色台面立柱盆带储物落地人造石一体成型小户型洗手盆定制</a:t>
            </a:r>
            <a:endParaRPr/>
          </a:p>
        </p:txBody>
      </p:sp>
      <p:sp>
        <p:nvSpPr>
          <p:cNvPr id="321" name="" descr="{&quot;isTemplate&quot;:true,&quot;type&quot;:&quot;text&quot;}"/>
          <p:cNvSpPr txBox="1"/>
          <p:nvPr/>
        </p:nvSpPr>
        <p:spPr>
          <a:xfrm rot="0" flipH="0" flipV="0">
            <a:off x="10648950" y="4267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23</a:t>
            </a:r>
            <a:endParaRPr/>
          </a:p>
        </p:txBody>
      </p:sp>
      <p:sp>
        <p:nvSpPr>
          <p:cNvPr id="322" name="" descr="{&quot;isTemplate&quot;:true,&quot;type&quot;:&quot;text&quot;}"/>
          <p:cNvSpPr txBox="1"/>
          <p:nvPr/>
        </p:nvSpPr>
        <p:spPr>
          <a:xfrm rot="0" flipH="0" flipV="0">
            <a:off x="11172825" y="4267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817808</a:t>
            </a:r>
            <a:endParaRPr/>
          </a:p>
        </p:txBody>
      </p:sp>
      <p:sp>
        <p:nvSpPr>
          <p:cNvPr id="323" name="" descr="{&quot;isTemplate&quot;:true,&quot;type&quot;:&quot;text&quot;}"/>
          <p:cNvSpPr txBox="1"/>
          <p:nvPr/>
        </p:nvSpPr>
        <p:spPr>
          <a:xfrm rot="0" flipH="0" flipV="0">
            <a:off x="6172200" y="4410075"/>
            <a:ext cx="219075" cy="104775"/>
          </a:xfrm>
          <a:prstGeom prst="rect"/>
        </p:spPr>
        <p:txBody>
          <a:bodyPr wrap="none" lIns="0" tIns="0" rIns="0" bIns="0"/>
          <a:p>
            <a:pPr>
              <a:lnSpc>
                <a:spcPct val="100000"/>
              </a:lnSpc>
            </a:pPr>
            <a:r>
              <a:rPr lang="en-US" sz="675">
                <a:solidFill>
                  <a:srgbClr val="5F6975"/>
                </a:solidFill>
                <a:latin typeface="Noto Sans SC"/>
                <a:ea typeface="Noto Sans SC"/>
              </a:rPr>
              <a:t>60</a:t>
            </a:r>
            <a:endParaRPr/>
          </a:p>
        </p:txBody>
      </p:sp>
      <p:sp>
        <p:nvSpPr>
          <p:cNvPr id="324" name="" descr="{&quot;isTemplate&quot;:true,&quot;type&quot;:&quot;text&quot;}"/>
          <p:cNvSpPr txBox="1"/>
          <p:nvPr/>
        </p:nvSpPr>
        <p:spPr>
          <a:xfrm rot="0" flipH="0" flipV="0">
            <a:off x="6429375" y="4410075"/>
            <a:ext cx="4181475" cy="104775"/>
          </a:xfrm>
          <a:prstGeom prst="rect"/>
        </p:spPr>
        <p:txBody>
          <a:bodyPr wrap="none" lIns="0" tIns="0" rIns="0" bIns="0"/>
          <a:p>
            <a:pPr>
              <a:lnSpc>
                <a:spcPct val="100000"/>
              </a:lnSpc>
            </a:pPr>
            <a:r>
              <a:rPr lang="zh-CN" sz="675">
                <a:solidFill>
                  <a:srgbClr val="15181D"/>
                </a:solidFill>
                <a:latin typeface="Noto Sans SC"/>
                <a:ea typeface="Noto Sans SC"/>
              </a:rPr>
              <a:t>黑色一体盆户外阳台洗脸盆洗手盆酒店工程家用落地式立柱盆定制</a:t>
            </a:r>
            <a:endParaRPr/>
          </a:p>
        </p:txBody>
      </p:sp>
      <p:sp>
        <p:nvSpPr>
          <p:cNvPr id="325" name="" descr="{&quot;isTemplate&quot;:true,&quot;type&quot;:&quot;text&quot;}"/>
          <p:cNvSpPr txBox="1"/>
          <p:nvPr/>
        </p:nvSpPr>
        <p:spPr>
          <a:xfrm rot="0" flipH="0" flipV="0">
            <a:off x="10648950" y="4410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21</a:t>
            </a:r>
            <a:endParaRPr/>
          </a:p>
        </p:txBody>
      </p:sp>
      <p:sp>
        <p:nvSpPr>
          <p:cNvPr id="326" name="" descr="{&quot;isTemplate&quot;:true,&quot;type&quot;:&quot;text&quot;}"/>
          <p:cNvSpPr txBox="1"/>
          <p:nvPr/>
        </p:nvSpPr>
        <p:spPr>
          <a:xfrm rot="0" flipH="0" flipV="0">
            <a:off x="11172825" y="4410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791732</a:t>
            </a:r>
            <a:endParaRPr/>
          </a:p>
        </p:txBody>
      </p:sp>
      <p:sp>
        <p:nvSpPr>
          <p:cNvPr id="327" name="" descr="{&quot;isTemplate&quot;:true,&quot;type&quot;:&quot;text&quot;}"/>
          <p:cNvSpPr txBox="1"/>
          <p:nvPr/>
        </p:nvSpPr>
        <p:spPr>
          <a:xfrm rot="0" flipH="0" flipV="0">
            <a:off x="6172200" y="4552950"/>
            <a:ext cx="219075" cy="104775"/>
          </a:xfrm>
          <a:prstGeom prst="rect"/>
        </p:spPr>
        <p:txBody>
          <a:bodyPr wrap="none" lIns="0" tIns="0" rIns="0" bIns="0"/>
          <a:p>
            <a:pPr>
              <a:lnSpc>
                <a:spcPct val="100000"/>
              </a:lnSpc>
            </a:pPr>
            <a:r>
              <a:rPr lang="en-US" sz="675">
                <a:solidFill>
                  <a:srgbClr val="5F6975"/>
                </a:solidFill>
                <a:latin typeface="Noto Sans SC"/>
                <a:ea typeface="Noto Sans SC"/>
              </a:rPr>
              <a:t>61</a:t>
            </a:r>
            <a:endParaRPr/>
          </a:p>
        </p:txBody>
      </p:sp>
      <p:sp>
        <p:nvSpPr>
          <p:cNvPr id="328" name="" descr="{&quot;isTemplate&quot;:true,&quot;type&quot;:&quot;text&quot;}"/>
          <p:cNvSpPr txBox="1"/>
          <p:nvPr/>
        </p:nvSpPr>
        <p:spPr>
          <a:xfrm rot="0" flipH="0" flipV="0">
            <a:off x="6429375" y="4552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网林独立式人造石洗手盆家用小户型卫生间置物台面一体落地洗漱盆</a:t>
            </a:r>
            <a:endParaRPr/>
          </a:p>
        </p:txBody>
      </p:sp>
      <p:sp>
        <p:nvSpPr>
          <p:cNvPr id="329" name="" descr="{&quot;isTemplate&quot;:true,&quot;type&quot;:&quot;text&quot;}"/>
          <p:cNvSpPr txBox="1"/>
          <p:nvPr/>
        </p:nvSpPr>
        <p:spPr>
          <a:xfrm rot="0" flipH="0" flipV="0">
            <a:off x="10648950" y="4552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21</a:t>
            </a:r>
            <a:endParaRPr/>
          </a:p>
        </p:txBody>
      </p:sp>
      <p:sp>
        <p:nvSpPr>
          <p:cNvPr id="330" name="" descr="{&quot;isTemplate&quot;:true,&quot;type&quot;:&quot;text&quot;}"/>
          <p:cNvSpPr txBox="1"/>
          <p:nvPr/>
        </p:nvSpPr>
        <p:spPr>
          <a:xfrm rot="0" flipH="0" flipV="0">
            <a:off x="11172825" y="4552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067536</a:t>
            </a:r>
            <a:endParaRPr/>
          </a:p>
        </p:txBody>
      </p:sp>
      <p:sp>
        <p:nvSpPr>
          <p:cNvPr id="331" name="" descr="{&quot;isTemplate&quot;:true,&quot;type&quot;:&quot;text&quot;}"/>
          <p:cNvSpPr txBox="1"/>
          <p:nvPr/>
        </p:nvSpPr>
        <p:spPr>
          <a:xfrm rot="0" flipH="0" flipV="0">
            <a:off x="6172200" y="4695825"/>
            <a:ext cx="219075" cy="104775"/>
          </a:xfrm>
          <a:prstGeom prst="rect"/>
        </p:spPr>
        <p:txBody>
          <a:bodyPr wrap="none" lIns="0" tIns="0" rIns="0" bIns="0"/>
          <a:p>
            <a:pPr>
              <a:lnSpc>
                <a:spcPct val="100000"/>
              </a:lnSpc>
            </a:pPr>
            <a:r>
              <a:rPr lang="en-US" sz="675">
                <a:solidFill>
                  <a:srgbClr val="5F6975"/>
                </a:solidFill>
                <a:latin typeface="Noto Sans SC"/>
                <a:ea typeface="Noto Sans SC"/>
              </a:rPr>
              <a:t>62</a:t>
            </a:r>
            <a:endParaRPr/>
          </a:p>
        </p:txBody>
      </p:sp>
      <p:sp>
        <p:nvSpPr>
          <p:cNvPr id="332" name="" descr="{&quot;isTemplate&quot;:true,&quot;type&quot;:&quot;text&quot;}"/>
          <p:cNvSpPr txBox="1"/>
          <p:nvPr/>
        </p:nvSpPr>
        <p:spPr>
          <a:xfrm rot="0" flipH="0" flipV="0">
            <a:off x="6429375" y="4695825"/>
            <a:ext cx="4181475" cy="104775"/>
          </a:xfrm>
          <a:prstGeom prst="rect"/>
        </p:spPr>
        <p:txBody>
          <a:bodyPr wrap="none" lIns="0" tIns="0" rIns="0" bIns="0"/>
          <a:p>
            <a:pPr>
              <a:lnSpc>
                <a:spcPct val="100000"/>
              </a:lnSpc>
            </a:pPr>
            <a:r>
              <a:rPr lang="zh-CN" sz="675">
                <a:solidFill>
                  <a:srgbClr val="15181D"/>
                </a:solidFill>
                <a:latin typeface="Noto Sans SC"/>
                <a:ea typeface="Noto Sans SC"/>
              </a:rPr>
              <a:t>宝格丽紫奢石大理石挂墙式洗手盆家用异形卫生间切角款洗漱盆定制</a:t>
            </a:r>
            <a:endParaRPr/>
          </a:p>
        </p:txBody>
      </p:sp>
      <p:sp>
        <p:nvSpPr>
          <p:cNvPr id="333" name="" descr="{&quot;isTemplate&quot;:true,&quot;type&quot;:&quot;text&quot;}"/>
          <p:cNvSpPr txBox="1"/>
          <p:nvPr/>
        </p:nvSpPr>
        <p:spPr>
          <a:xfrm rot="0" flipH="0" flipV="0">
            <a:off x="10648950" y="4695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19</a:t>
            </a:r>
            <a:endParaRPr/>
          </a:p>
        </p:txBody>
      </p:sp>
      <p:sp>
        <p:nvSpPr>
          <p:cNvPr id="334" name="" descr="{&quot;isTemplate&quot;:true,&quot;type&quot;:&quot;text&quot;}"/>
          <p:cNvSpPr txBox="1"/>
          <p:nvPr/>
        </p:nvSpPr>
        <p:spPr>
          <a:xfrm rot="0" flipH="0" flipV="0">
            <a:off x="11172825" y="4695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212901</a:t>
            </a:r>
            <a:endParaRPr/>
          </a:p>
        </p:txBody>
      </p:sp>
      <p:sp>
        <p:nvSpPr>
          <p:cNvPr id="335" name="" descr="{&quot;isTemplate&quot;:true,&quot;type&quot;:&quot;text&quot;}"/>
          <p:cNvSpPr txBox="1"/>
          <p:nvPr/>
        </p:nvSpPr>
        <p:spPr>
          <a:xfrm rot="0" flipH="0" flipV="0">
            <a:off x="6172200" y="4838700"/>
            <a:ext cx="219075" cy="104775"/>
          </a:xfrm>
          <a:prstGeom prst="rect"/>
        </p:spPr>
        <p:txBody>
          <a:bodyPr wrap="none" lIns="0" tIns="0" rIns="0" bIns="0"/>
          <a:p>
            <a:pPr>
              <a:lnSpc>
                <a:spcPct val="100000"/>
              </a:lnSpc>
            </a:pPr>
            <a:r>
              <a:rPr lang="en-US" sz="675">
                <a:solidFill>
                  <a:srgbClr val="5F6975"/>
                </a:solidFill>
                <a:latin typeface="Noto Sans SC"/>
                <a:ea typeface="Noto Sans SC"/>
              </a:rPr>
              <a:t>63</a:t>
            </a:r>
            <a:endParaRPr/>
          </a:p>
        </p:txBody>
      </p:sp>
      <p:sp>
        <p:nvSpPr>
          <p:cNvPr id="336" name="" descr="{&quot;isTemplate&quot;:true,&quot;type&quot;:&quot;text&quot;}"/>
          <p:cNvSpPr txBox="1"/>
          <p:nvPr/>
        </p:nvSpPr>
        <p:spPr>
          <a:xfrm rot="0" flipH="0" flipV="0">
            <a:off x="6429375" y="48387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盖文奶咖色带台面置物立柱盆人造石高分子小户型家用浴室落地台盆</a:t>
            </a:r>
            <a:endParaRPr/>
          </a:p>
        </p:txBody>
      </p:sp>
      <p:sp>
        <p:nvSpPr>
          <p:cNvPr id="337" name="" descr="{&quot;isTemplate&quot;:true,&quot;type&quot;:&quot;text&quot;}"/>
          <p:cNvSpPr txBox="1"/>
          <p:nvPr/>
        </p:nvSpPr>
        <p:spPr>
          <a:xfrm rot="0" flipH="0" flipV="0">
            <a:off x="10648950" y="4838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18</a:t>
            </a:r>
            <a:endParaRPr/>
          </a:p>
        </p:txBody>
      </p:sp>
      <p:sp>
        <p:nvSpPr>
          <p:cNvPr id="338" name="" descr="{&quot;isTemplate&quot;:true,&quot;type&quot;:&quot;text&quot;}"/>
          <p:cNvSpPr txBox="1"/>
          <p:nvPr/>
        </p:nvSpPr>
        <p:spPr>
          <a:xfrm rot="0" flipH="0" flipV="0">
            <a:off x="11172825" y="4838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912308</a:t>
            </a:r>
            <a:endParaRPr/>
          </a:p>
        </p:txBody>
      </p:sp>
      <p:sp>
        <p:nvSpPr>
          <p:cNvPr id="339" name="" descr="{&quot;isTemplate&quot;:true,&quot;type&quot;:&quot;text&quot;}"/>
          <p:cNvSpPr txBox="1"/>
          <p:nvPr/>
        </p:nvSpPr>
        <p:spPr>
          <a:xfrm rot="0" flipH="0" flipV="0">
            <a:off x="6172200" y="4981575"/>
            <a:ext cx="219075" cy="104775"/>
          </a:xfrm>
          <a:prstGeom prst="rect"/>
        </p:spPr>
        <p:txBody>
          <a:bodyPr wrap="none" lIns="0" tIns="0" rIns="0" bIns="0"/>
          <a:p>
            <a:pPr>
              <a:lnSpc>
                <a:spcPct val="100000"/>
              </a:lnSpc>
            </a:pPr>
            <a:r>
              <a:rPr lang="en-US" sz="675">
                <a:solidFill>
                  <a:srgbClr val="5F6975"/>
                </a:solidFill>
                <a:latin typeface="Noto Sans SC"/>
                <a:ea typeface="Noto Sans SC"/>
              </a:rPr>
              <a:t>64</a:t>
            </a:r>
            <a:endParaRPr/>
          </a:p>
        </p:txBody>
      </p:sp>
      <p:sp>
        <p:nvSpPr>
          <p:cNvPr id="340" name="" descr="{&quot;isTemplate&quot;:true,&quot;type&quot;:&quot;text&quot;}"/>
          <p:cNvSpPr txBox="1"/>
          <p:nvPr/>
        </p:nvSpPr>
        <p:spPr>
          <a:xfrm rot="0" flipH="0" flipV="0">
            <a:off x="6429375" y="498157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盖文台面立柱盆一体式人造石落地洗面盆民宿家用小户型洗手台定制</a:t>
            </a:r>
            <a:endParaRPr/>
          </a:p>
        </p:txBody>
      </p:sp>
      <p:sp>
        <p:nvSpPr>
          <p:cNvPr id="341" name="" descr="{&quot;isTemplate&quot;:true,&quot;type&quot;:&quot;text&quot;}"/>
          <p:cNvSpPr txBox="1"/>
          <p:nvPr/>
        </p:nvSpPr>
        <p:spPr>
          <a:xfrm rot="0" flipH="0" flipV="0">
            <a:off x="10648950" y="4981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17</a:t>
            </a:r>
            <a:endParaRPr/>
          </a:p>
        </p:txBody>
      </p:sp>
      <p:sp>
        <p:nvSpPr>
          <p:cNvPr id="342" name="" descr="{&quot;isTemplate&quot;:true,&quot;type&quot;:&quot;text&quot;}"/>
          <p:cNvSpPr txBox="1"/>
          <p:nvPr/>
        </p:nvSpPr>
        <p:spPr>
          <a:xfrm rot="0" flipH="0" flipV="0">
            <a:off x="11172825" y="4981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255966</a:t>
            </a:r>
            <a:endParaRPr/>
          </a:p>
        </p:txBody>
      </p:sp>
      <p:sp>
        <p:nvSpPr>
          <p:cNvPr id="343" name="" descr="{&quot;isTemplate&quot;:true,&quot;type&quot;:&quot;text&quot;}"/>
          <p:cNvSpPr txBox="1"/>
          <p:nvPr/>
        </p:nvSpPr>
        <p:spPr>
          <a:xfrm rot="0" flipH="0" flipV="0">
            <a:off x="6172200" y="5124450"/>
            <a:ext cx="219075" cy="104775"/>
          </a:xfrm>
          <a:prstGeom prst="rect"/>
        </p:spPr>
        <p:txBody>
          <a:bodyPr wrap="none" lIns="0" tIns="0" rIns="0" bIns="0"/>
          <a:p>
            <a:pPr>
              <a:lnSpc>
                <a:spcPct val="100000"/>
              </a:lnSpc>
            </a:pPr>
            <a:r>
              <a:rPr lang="en-US" sz="675">
                <a:solidFill>
                  <a:srgbClr val="5F6975"/>
                </a:solidFill>
                <a:latin typeface="Noto Sans SC"/>
                <a:ea typeface="Noto Sans SC"/>
              </a:rPr>
              <a:t>65</a:t>
            </a:r>
            <a:endParaRPr/>
          </a:p>
        </p:txBody>
      </p:sp>
      <p:sp>
        <p:nvSpPr>
          <p:cNvPr id="344" name="" descr="{&quot;isTemplate&quot;:true,&quot;type&quot;:&quot;text&quot;}"/>
          <p:cNvSpPr txBox="1"/>
          <p:nvPr/>
        </p:nvSpPr>
        <p:spPr>
          <a:xfrm rot="0" flipH="0" flipV="0">
            <a:off x="6429375" y="512445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盖文人造石木纹立柱盆家用别墅民宿酒店落地一体式储物洗手洗脸盆</a:t>
            </a:r>
            <a:endParaRPr/>
          </a:p>
        </p:txBody>
      </p:sp>
      <p:sp>
        <p:nvSpPr>
          <p:cNvPr id="345" name="" descr="{&quot;isTemplate&quot;:true,&quot;type&quot;:&quot;text&quot;}"/>
          <p:cNvSpPr txBox="1"/>
          <p:nvPr/>
        </p:nvSpPr>
        <p:spPr>
          <a:xfrm rot="0" flipH="0" flipV="0">
            <a:off x="10648950" y="51244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17</a:t>
            </a:r>
            <a:endParaRPr/>
          </a:p>
        </p:txBody>
      </p:sp>
      <p:sp>
        <p:nvSpPr>
          <p:cNvPr id="346" name="" descr="{&quot;isTemplate&quot;:true,&quot;type&quot;:&quot;text&quot;}"/>
          <p:cNvSpPr txBox="1"/>
          <p:nvPr/>
        </p:nvSpPr>
        <p:spPr>
          <a:xfrm rot="0" flipH="0" flipV="0">
            <a:off x="11172825" y="51244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727985</a:t>
            </a:r>
            <a:endParaRPr/>
          </a:p>
        </p:txBody>
      </p:sp>
      <p:sp>
        <p:nvSpPr>
          <p:cNvPr id="347" name="" descr="{&quot;isTemplate&quot;:true,&quot;type&quot;:&quot;text&quot;}"/>
          <p:cNvSpPr txBox="1"/>
          <p:nvPr/>
        </p:nvSpPr>
        <p:spPr>
          <a:xfrm rot="0" flipH="0" flipV="0">
            <a:off x="6172200" y="5267325"/>
            <a:ext cx="219075" cy="104775"/>
          </a:xfrm>
          <a:prstGeom prst="rect"/>
        </p:spPr>
        <p:txBody>
          <a:bodyPr wrap="none" lIns="0" tIns="0" rIns="0" bIns="0"/>
          <a:p>
            <a:pPr>
              <a:lnSpc>
                <a:spcPct val="100000"/>
              </a:lnSpc>
            </a:pPr>
            <a:r>
              <a:rPr lang="en-US" sz="675">
                <a:solidFill>
                  <a:srgbClr val="5F6975"/>
                </a:solidFill>
                <a:latin typeface="Noto Sans SC"/>
                <a:ea typeface="Noto Sans SC"/>
              </a:rPr>
              <a:t>66</a:t>
            </a:r>
            <a:endParaRPr/>
          </a:p>
        </p:txBody>
      </p:sp>
      <p:sp>
        <p:nvSpPr>
          <p:cNvPr id="348" name="" descr="{&quot;isTemplate&quot;:true,&quot;type&quot;:&quot;text&quot;}"/>
          <p:cNvSpPr txBox="1"/>
          <p:nvPr/>
        </p:nvSpPr>
        <p:spPr>
          <a:xfrm rot="0" flipH="0" flipV="0">
            <a:off x="6429375" y="5267325"/>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盖文奶油风人造石立柱盆小户型卫生间侧面空格置物落地洗手盆定制</a:t>
            </a:r>
            <a:endParaRPr/>
          </a:p>
        </p:txBody>
      </p:sp>
      <p:sp>
        <p:nvSpPr>
          <p:cNvPr id="349" name="" descr="{&quot;isTemplate&quot;:true,&quot;type&quot;:&quot;text&quot;}"/>
          <p:cNvSpPr txBox="1"/>
          <p:nvPr/>
        </p:nvSpPr>
        <p:spPr>
          <a:xfrm rot="0" flipH="0" flipV="0">
            <a:off x="10648950" y="52673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13</a:t>
            </a:r>
            <a:endParaRPr/>
          </a:p>
        </p:txBody>
      </p:sp>
      <p:sp>
        <p:nvSpPr>
          <p:cNvPr id="350" name="" descr="{&quot;isTemplate&quot;:true,&quot;type&quot;:&quot;text&quot;}"/>
          <p:cNvSpPr txBox="1"/>
          <p:nvPr/>
        </p:nvSpPr>
        <p:spPr>
          <a:xfrm rot="0" flipH="0" flipV="0">
            <a:off x="11172825" y="52673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716340</a:t>
            </a:r>
            <a:endParaRPr/>
          </a:p>
        </p:txBody>
      </p:sp>
      <p:sp>
        <p:nvSpPr>
          <p:cNvPr id="351" name="" descr="{&quot;isTemplate&quot;:true,&quot;type&quot;:&quot;text&quot;}"/>
          <p:cNvSpPr txBox="1"/>
          <p:nvPr/>
        </p:nvSpPr>
        <p:spPr>
          <a:xfrm rot="0" flipH="0" flipV="0">
            <a:off x="6172200" y="5410200"/>
            <a:ext cx="219075" cy="104775"/>
          </a:xfrm>
          <a:prstGeom prst="rect"/>
        </p:spPr>
        <p:txBody>
          <a:bodyPr wrap="none" lIns="0" tIns="0" rIns="0" bIns="0"/>
          <a:p>
            <a:pPr>
              <a:lnSpc>
                <a:spcPct val="100000"/>
              </a:lnSpc>
            </a:pPr>
            <a:r>
              <a:rPr lang="en-US" sz="675">
                <a:solidFill>
                  <a:srgbClr val="5F6975"/>
                </a:solidFill>
                <a:latin typeface="Noto Sans SC"/>
                <a:ea typeface="Noto Sans SC"/>
              </a:rPr>
              <a:t>67</a:t>
            </a:r>
            <a:endParaRPr/>
          </a:p>
        </p:txBody>
      </p:sp>
      <p:sp>
        <p:nvSpPr>
          <p:cNvPr id="352" name="" descr="{&quot;isTemplate&quot;:true,&quot;type&quot;:&quot;text&quot;}"/>
          <p:cNvSpPr txBox="1"/>
          <p:nvPr/>
        </p:nvSpPr>
        <p:spPr>
          <a:xfrm rot="0" flipH="0" flipV="0">
            <a:off x="6429375" y="54102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盖文浴缸人造石深泡家用艺术酒店民宿新款浴池一体泡澡独立洗浴盆</a:t>
            </a:r>
            <a:endParaRPr/>
          </a:p>
        </p:txBody>
      </p:sp>
      <p:sp>
        <p:nvSpPr>
          <p:cNvPr id="353" name="" descr="{&quot;isTemplate&quot;:true,&quot;type&quot;:&quot;text&quot;}"/>
          <p:cNvSpPr txBox="1"/>
          <p:nvPr/>
        </p:nvSpPr>
        <p:spPr>
          <a:xfrm rot="0" flipH="0" flipV="0">
            <a:off x="10648950" y="54102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12</a:t>
            </a:r>
            <a:endParaRPr/>
          </a:p>
        </p:txBody>
      </p:sp>
      <p:sp>
        <p:nvSpPr>
          <p:cNvPr id="354" name="" descr="{&quot;isTemplate&quot;:true,&quot;type&quot;:&quot;text&quot;}"/>
          <p:cNvSpPr txBox="1"/>
          <p:nvPr/>
        </p:nvSpPr>
        <p:spPr>
          <a:xfrm rot="0" flipH="0" flipV="0">
            <a:off x="11172825" y="54102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232653</a:t>
            </a:r>
            <a:endParaRPr/>
          </a:p>
        </p:txBody>
      </p:sp>
      <p:sp>
        <p:nvSpPr>
          <p:cNvPr id="355" name="" descr="{&quot;isTemplate&quot;:true,&quot;type&quot;:&quot;text&quot;}"/>
          <p:cNvSpPr txBox="1"/>
          <p:nvPr/>
        </p:nvSpPr>
        <p:spPr>
          <a:xfrm rot="0" flipH="0" flipV="0">
            <a:off x="6172200" y="5553075"/>
            <a:ext cx="219075" cy="104775"/>
          </a:xfrm>
          <a:prstGeom prst="rect"/>
        </p:spPr>
        <p:txBody>
          <a:bodyPr wrap="none" lIns="0" tIns="0" rIns="0" bIns="0"/>
          <a:p>
            <a:pPr>
              <a:lnSpc>
                <a:spcPct val="100000"/>
              </a:lnSpc>
            </a:pPr>
            <a:r>
              <a:rPr lang="en-US" sz="675">
                <a:solidFill>
                  <a:srgbClr val="5F6975"/>
                </a:solidFill>
                <a:latin typeface="Noto Sans SC"/>
                <a:ea typeface="Noto Sans SC"/>
              </a:rPr>
              <a:t>68</a:t>
            </a:r>
            <a:endParaRPr/>
          </a:p>
        </p:txBody>
      </p:sp>
      <p:sp>
        <p:nvSpPr>
          <p:cNvPr id="356" name="" descr="{&quot;isTemplate&quot;:true,&quot;type&quot;:&quot;text&quot;}"/>
          <p:cNvSpPr txBox="1"/>
          <p:nvPr/>
        </p:nvSpPr>
        <p:spPr>
          <a:xfrm rot="0" flipH="0" flipV="0">
            <a:off x="6429375" y="5553075"/>
            <a:ext cx="4181475" cy="104775"/>
          </a:xfrm>
          <a:prstGeom prst="rect"/>
        </p:spPr>
        <p:txBody>
          <a:bodyPr wrap="none" lIns="0" tIns="0" rIns="0" bIns="0"/>
          <a:p>
            <a:pPr>
              <a:lnSpc>
                <a:spcPct val="100000"/>
              </a:lnSpc>
            </a:pPr>
            <a:r>
              <a:rPr lang="zh-CN" sz="675">
                <a:solidFill>
                  <a:srgbClr val="15181D"/>
                </a:solidFill>
                <a:latin typeface="Noto Sans SC"/>
                <a:ea typeface="Noto Sans SC"/>
              </a:rPr>
              <a:t>天然红洞石大理石洗手盆小户型家用卫生间悬浮挂墙式洗脸台盆定制</a:t>
            </a:r>
            <a:endParaRPr/>
          </a:p>
        </p:txBody>
      </p:sp>
      <p:sp>
        <p:nvSpPr>
          <p:cNvPr id="357" name="" descr="{&quot;isTemplate&quot;:true,&quot;type&quot;:&quot;text&quot;}"/>
          <p:cNvSpPr txBox="1"/>
          <p:nvPr/>
        </p:nvSpPr>
        <p:spPr>
          <a:xfrm rot="0" flipH="0" flipV="0">
            <a:off x="10648950" y="55530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10</a:t>
            </a:r>
            <a:endParaRPr/>
          </a:p>
        </p:txBody>
      </p:sp>
      <p:sp>
        <p:nvSpPr>
          <p:cNvPr id="358" name="" descr="{&quot;isTemplate&quot;:true,&quot;type&quot;:&quot;text&quot;}"/>
          <p:cNvSpPr txBox="1"/>
          <p:nvPr/>
        </p:nvSpPr>
        <p:spPr>
          <a:xfrm rot="0" flipH="0" flipV="0">
            <a:off x="11172825" y="55530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196622</a:t>
            </a:r>
            <a:endParaRPr/>
          </a:p>
        </p:txBody>
      </p:sp>
      <p:sp>
        <p:nvSpPr>
          <p:cNvPr id="359" name="" descr="{&quot;isTemplate&quot;:true,&quot;type&quot;:&quot;text&quot;}"/>
          <p:cNvSpPr txBox="1"/>
          <p:nvPr/>
        </p:nvSpPr>
        <p:spPr>
          <a:xfrm rot="0" flipH="0" flipV="0">
            <a:off x="6172200" y="5695950"/>
            <a:ext cx="219075" cy="104775"/>
          </a:xfrm>
          <a:prstGeom prst="rect"/>
        </p:spPr>
        <p:txBody>
          <a:bodyPr wrap="none" lIns="0" tIns="0" rIns="0" bIns="0"/>
          <a:p>
            <a:pPr>
              <a:lnSpc>
                <a:spcPct val="100000"/>
              </a:lnSpc>
            </a:pPr>
            <a:r>
              <a:rPr lang="en-US" sz="675">
                <a:solidFill>
                  <a:srgbClr val="5F6975"/>
                </a:solidFill>
                <a:latin typeface="Noto Sans SC"/>
                <a:ea typeface="Noto Sans SC"/>
              </a:rPr>
              <a:t>69</a:t>
            </a:r>
            <a:endParaRPr/>
          </a:p>
        </p:txBody>
      </p:sp>
      <p:sp>
        <p:nvSpPr>
          <p:cNvPr id="360" name="" descr="{&quot;isTemplate&quot;:true,&quot;type&quot;:&quot;text&quot;}"/>
          <p:cNvSpPr txBox="1"/>
          <p:nvPr/>
        </p:nvSpPr>
        <p:spPr>
          <a:xfrm rot="0" flipH="0" flipV="0">
            <a:off x="6429375" y="5695950"/>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网林人造石高分子储物立柱盆家用酒店民宿小户型卫生间落地洗手盆</a:t>
            </a:r>
            <a:endParaRPr/>
          </a:p>
        </p:txBody>
      </p:sp>
      <p:sp>
        <p:nvSpPr>
          <p:cNvPr id="361" name="" descr="{&quot;isTemplate&quot;:true,&quot;type&quot;:&quot;text&quot;}"/>
          <p:cNvSpPr txBox="1"/>
          <p:nvPr/>
        </p:nvSpPr>
        <p:spPr>
          <a:xfrm rot="0" flipH="0" flipV="0">
            <a:off x="10648950" y="569595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9</a:t>
            </a:r>
            <a:endParaRPr/>
          </a:p>
        </p:txBody>
      </p:sp>
      <p:sp>
        <p:nvSpPr>
          <p:cNvPr id="362" name="" descr="{&quot;isTemplate&quot;:true,&quot;type&quot;:&quot;text&quot;}"/>
          <p:cNvSpPr txBox="1"/>
          <p:nvPr/>
        </p:nvSpPr>
        <p:spPr>
          <a:xfrm rot="0" flipH="0" flipV="0">
            <a:off x="11172825" y="5695950"/>
            <a:ext cx="409575" cy="95250"/>
          </a:xfrm>
          <a:prstGeom prst="rect"/>
        </p:spPr>
        <p:txBody>
          <a:bodyPr wrap="none" lIns="0" tIns="0" rIns="0" bIns="0"/>
          <a:p>
            <a:pPr algn="r">
              <a:lnSpc>
                <a:spcPct val="100000"/>
              </a:lnSpc>
            </a:pPr>
            <a:r>
              <a:rPr lang="en-US" sz="600">
                <a:solidFill>
                  <a:srgbClr val="5F6975"/>
                </a:solidFill>
                <a:latin typeface="Noto Sans SC"/>
                <a:ea typeface="Noto Sans SC"/>
              </a:rPr>
              <a:t>463297</a:t>
            </a:r>
            <a:endParaRPr/>
          </a:p>
        </p:txBody>
      </p:sp>
      <p:sp>
        <p:nvSpPr>
          <p:cNvPr id="363" name="" descr="{&quot;isTemplate&quot;:true,&quot;type&quot;:&quot;text&quot;}"/>
          <p:cNvSpPr txBox="1"/>
          <p:nvPr/>
        </p:nvSpPr>
        <p:spPr>
          <a:xfrm rot="0" flipH="0" flipV="0">
            <a:off x="6172200" y="5838825"/>
            <a:ext cx="219075" cy="104775"/>
          </a:xfrm>
          <a:prstGeom prst="rect"/>
        </p:spPr>
        <p:txBody>
          <a:bodyPr wrap="none" lIns="0" tIns="0" rIns="0" bIns="0"/>
          <a:p>
            <a:pPr>
              <a:lnSpc>
                <a:spcPct val="100000"/>
              </a:lnSpc>
            </a:pPr>
            <a:r>
              <a:rPr lang="en-US" sz="675">
                <a:solidFill>
                  <a:srgbClr val="5F6975"/>
                </a:solidFill>
                <a:latin typeface="Noto Sans SC"/>
                <a:ea typeface="Noto Sans SC"/>
              </a:rPr>
              <a:t>70</a:t>
            </a:r>
            <a:endParaRPr/>
          </a:p>
        </p:txBody>
      </p:sp>
      <p:sp>
        <p:nvSpPr>
          <p:cNvPr id="364" name="" descr="{&quot;isTemplate&quot;:true,&quot;type&quot;:&quot;text&quot;}"/>
          <p:cNvSpPr txBox="1"/>
          <p:nvPr/>
        </p:nvSpPr>
        <p:spPr>
          <a:xfrm rot="0" flipH="0" flipV="0">
            <a:off x="6429375" y="583882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网林小户型家用深泡浴缸新型泡澡方形日式亚克力独立式迷你浴池</a:t>
            </a:r>
            <a:endParaRPr/>
          </a:p>
        </p:txBody>
      </p:sp>
      <p:sp>
        <p:nvSpPr>
          <p:cNvPr id="365" name="" descr="{&quot;isTemplate&quot;:true,&quot;type&quot;:&quot;text&quot;}"/>
          <p:cNvSpPr txBox="1"/>
          <p:nvPr/>
        </p:nvSpPr>
        <p:spPr>
          <a:xfrm rot="0" flipH="0" flipV="0">
            <a:off x="10648950" y="583882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a:t>
            </a:r>
            <a:endParaRPr/>
          </a:p>
        </p:txBody>
      </p:sp>
      <p:sp>
        <p:nvSpPr>
          <p:cNvPr id="366" name="" descr="{&quot;isTemplate&quot;:true,&quot;type&quot;:&quot;text&quot;}"/>
          <p:cNvSpPr txBox="1"/>
          <p:nvPr/>
        </p:nvSpPr>
        <p:spPr>
          <a:xfrm rot="0" flipH="0" flipV="0">
            <a:off x="11172825" y="5838825"/>
            <a:ext cx="409575" cy="95250"/>
          </a:xfrm>
          <a:prstGeom prst="rect"/>
        </p:spPr>
        <p:txBody>
          <a:bodyPr wrap="none" lIns="0" tIns="0" rIns="0" bIns="0"/>
          <a:p>
            <a:pPr algn="r">
              <a:lnSpc>
                <a:spcPct val="100000"/>
              </a:lnSpc>
            </a:pPr>
            <a:r>
              <a:rPr lang="en-US" sz="600">
                <a:solidFill>
                  <a:srgbClr val="5F6975"/>
                </a:solidFill>
                <a:latin typeface="Noto Sans SC"/>
                <a:ea typeface="Noto Sans SC"/>
              </a:rPr>
              <a:t>851297</a:t>
            </a:r>
            <a:endParaRPr/>
          </a:p>
        </p:txBody>
      </p:sp>
      <p:sp>
        <p:nvSpPr>
          <p:cNvPr id="367" name="" descr="{&quot;isTemplate&quot;:true,&quot;type&quot;:&quot;text&quot;}"/>
          <p:cNvSpPr txBox="1"/>
          <p:nvPr/>
        </p:nvSpPr>
        <p:spPr>
          <a:xfrm rot="0" flipH="0" flipV="0">
            <a:off x="6172200" y="5981700"/>
            <a:ext cx="219075" cy="104775"/>
          </a:xfrm>
          <a:prstGeom prst="rect"/>
        </p:spPr>
        <p:txBody>
          <a:bodyPr wrap="none" lIns="0" tIns="0" rIns="0" bIns="0"/>
          <a:p>
            <a:pPr>
              <a:lnSpc>
                <a:spcPct val="100000"/>
              </a:lnSpc>
            </a:pPr>
            <a:r>
              <a:rPr lang="en-US" sz="675">
                <a:solidFill>
                  <a:srgbClr val="5F6975"/>
                </a:solidFill>
                <a:latin typeface="Noto Sans SC"/>
                <a:ea typeface="Noto Sans SC"/>
              </a:rPr>
              <a:t>71</a:t>
            </a:r>
            <a:endParaRPr/>
          </a:p>
        </p:txBody>
      </p:sp>
      <p:sp>
        <p:nvSpPr>
          <p:cNvPr id="368" name="" descr="{&quot;isTemplate&quot;:true,&quot;type&quot;:&quot;text&quot;}"/>
          <p:cNvSpPr txBox="1"/>
          <p:nvPr/>
        </p:nvSpPr>
        <p:spPr>
          <a:xfrm rot="0" flipH="0" flipV="0">
            <a:off x="6429375" y="5981700"/>
            <a:ext cx="4181475" cy="104775"/>
          </a:xfrm>
          <a:prstGeom prst="rect"/>
        </p:spPr>
        <p:txBody>
          <a:bodyPr wrap="none" lIns="0" tIns="0" rIns="0" bIns="0"/>
          <a:p>
            <a:pPr>
              <a:lnSpc>
                <a:spcPct val="100000"/>
              </a:lnSpc>
            </a:pPr>
            <a:r>
              <a:rPr lang="zh-CN" sz="675">
                <a:solidFill>
                  <a:srgbClr val="15181D"/>
                </a:solidFill>
                <a:latin typeface="Noto Sans SC"/>
                <a:ea typeface="Noto Sans SC"/>
              </a:rPr>
              <a:t>盖文轻奢风奶咖人造石立柱盆家用卫生间民宿置物落地式洗手盆定制</a:t>
            </a:r>
            <a:endParaRPr/>
          </a:p>
        </p:txBody>
      </p:sp>
      <p:sp>
        <p:nvSpPr>
          <p:cNvPr id="369" name="" descr="{&quot;isTemplate&quot;:true,&quot;type&quot;:&quot;text&quot;}"/>
          <p:cNvSpPr txBox="1"/>
          <p:nvPr/>
        </p:nvSpPr>
        <p:spPr>
          <a:xfrm rot="0" flipH="0" flipV="0">
            <a:off x="10648950" y="5981700"/>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a:t>
            </a:r>
            <a:endParaRPr/>
          </a:p>
        </p:txBody>
      </p:sp>
      <p:sp>
        <p:nvSpPr>
          <p:cNvPr id="370" name="" descr="{&quot;isTemplate&quot;:true,&quot;type&quot;:&quot;text&quot;}"/>
          <p:cNvSpPr txBox="1"/>
          <p:nvPr/>
        </p:nvSpPr>
        <p:spPr>
          <a:xfrm rot="0" flipH="0" flipV="0">
            <a:off x="11172825" y="5981700"/>
            <a:ext cx="409575" cy="95250"/>
          </a:xfrm>
          <a:prstGeom prst="rect"/>
        </p:spPr>
        <p:txBody>
          <a:bodyPr wrap="none" lIns="0" tIns="0" rIns="0" bIns="0"/>
          <a:p>
            <a:pPr algn="r">
              <a:lnSpc>
                <a:spcPct val="100000"/>
              </a:lnSpc>
            </a:pPr>
            <a:r>
              <a:rPr lang="en-US" sz="600">
                <a:solidFill>
                  <a:srgbClr val="5F6975"/>
                </a:solidFill>
                <a:latin typeface="Noto Sans SC"/>
                <a:ea typeface="Noto Sans SC"/>
              </a:rPr>
              <a:t>557282</a:t>
            </a:r>
            <a:endParaRPr/>
          </a:p>
        </p:txBody>
      </p:sp>
      <p:sp>
        <p:nvSpPr>
          <p:cNvPr id="371" name="" descr="{&quot;isTemplate&quot;:true,&quot;type&quot;:&quot;text&quot;}"/>
          <p:cNvSpPr txBox="1"/>
          <p:nvPr/>
        </p:nvSpPr>
        <p:spPr>
          <a:xfrm rot="0" flipH="0" flipV="0">
            <a:off x="6172200" y="6124575"/>
            <a:ext cx="219075" cy="104775"/>
          </a:xfrm>
          <a:prstGeom prst="rect"/>
        </p:spPr>
        <p:txBody>
          <a:bodyPr wrap="none" lIns="0" tIns="0" rIns="0" bIns="0"/>
          <a:p>
            <a:pPr>
              <a:lnSpc>
                <a:spcPct val="100000"/>
              </a:lnSpc>
            </a:pPr>
            <a:r>
              <a:rPr lang="en-US" sz="675">
                <a:solidFill>
                  <a:srgbClr val="5F6975"/>
                </a:solidFill>
                <a:latin typeface="Noto Sans SC"/>
                <a:ea typeface="Noto Sans SC"/>
              </a:rPr>
              <a:t>72</a:t>
            </a:r>
            <a:endParaRPr/>
          </a:p>
        </p:txBody>
      </p:sp>
      <p:sp>
        <p:nvSpPr>
          <p:cNvPr id="372" name="" descr="{&quot;isTemplate&quot;:true,&quot;type&quot;:&quot;text&quot;}"/>
          <p:cNvSpPr txBox="1"/>
          <p:nvPr/>
        </p:nvSpPr>
        <p:spPr>
          <a:xfrm rot="0" flipH="0" flipV="0">
            <a:off x="6429375" y="6124575"/>
            <a:ext cx="4181475" cy="104775"/>
          </a:xfrm>
          <a:prstGeom prst="rect"/>
        </p:spPr>
        <p:txBody>
          <a:bodyPr wrap="none" lIns="0" tIns="0" rIns="0" bIns="0"/>
          <a:p>
            <a:pPr>
              <a:lnSpc>
                <a:spcPct val="100000"/>
              </a:lnSpc>
            </a:pPr>
            <a:r>
              <a:rPr lang="zh-CN" sz="675">
                <a:solidFill>
                  <a:srgbClr val="15181D"/>
                </a:solidFill>
                <a:latin typeface="Noto Sans SC"/>
                <a:ea typeface="Noto Sans SC"/>
              </a:rPr>
              <a:t>网林深泡浴缸小户型家用日式亚克力独立式新型泡澡方形迷你浴池</a:t>
            </a:r>
            <a:endParaRPr/>
          </a:p>
        </p:txBody>
      </p:sp>
      <p:sp>
        <p:nvSpPr>
          <p:cNvPr id="373" name="" descr="{&quot;isTemplate&quot;:true,&quot;type&quot;:&quot;text&quot;}"/>
          <p:cNvSpPr txBox="1"/>
          <p:nvPr/>
        </p:nvSpPr>
        <p:spPr>
          <a:xfrm rot="0" flipH="0" flipV="0">
            <a:off x="10648950" y="6124575"/>
            <a:ext cx="485775" cy="104775"/>
          </a:xfrm>
          <a:prstGeom prst="rect"/>
        </p:spPr>
        <p:txBody>
          <a:bodyPr wrap="none" lIns="0" tIns="0" rIns="0" bIns="0"/>
          <a:p>
            <a:pPr algn="r">
              <a:lnSpc>
                <a:spcPct val="100000"/>
              </a:lnSpc>
            </a:pPr>
            <a:r>
              <a:rPr lang="en-US" sz="675">
                <a:solidFill>
                  <a:srgbClr val="AE4128"/>
                </a:solidFill>
                <a:latin typeface="Noto Sans SC"/>
                <a:ea typeface="Noto Sans SC"/>
              </a:rPr>
              <a:t>1</a:t>
            </a:r>
            <a:endParaRPr/>
          </a:p>
        </p:txBody>
      </p:sp>
      <p:sp>
        <p:nvSpPr>
          <p:cNvPr id="374" name="" descr="{&quot;isTemplate&quot;:true,&quot;type&quot;:&quot;text&quot;}"/>
          <p:cNvSpPr txBox="1"/>
          <p:nvPr/>
        </p:nvSpPr>
        <p:spPr>
          <a:xfrm rot="0" flipH="0" flipV="0">
            <a:off x="11172825" y="6124575"/>
            <a:ext cx="409575" cy="95250"/>
          </a:xfrm>
          <a:prstGeom prst="rect"/>
        </p:spPr>
        <p:txBody>
          <a:bodyPr wrap="none" lIns="0" tIns="0" rIns="0" bIns="0"/>
          <a:p>
            <a:pPr algn="r">
              <a:lnSpc>
                <a:spcPct val="100000"/>
              </a:lnSpc>
            </a:pPr>
            <a:r>
              <a:rPr lang="en-US" sz="600">
                <a:solidFill>
                  <a:srgbClr val="5F6975"/>
                </a:solidFill>
                <a:latin typeface="Noto Sans SC"/>
                <a:ea typeface="Noto Sans SC"/>
              </a:rPr>
              <a:t>189099</a:t>
            </a:r>
            <a:endParaRPr/>
          </a:p>
        </p:txBody>
      </p:sp>
      <p:sp>
        <p:nvSpPr>
          <p:cNvPr id="375"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376"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12</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slides/slide13.xml><?xml version="1.0" encoding="utf-8"?>
<p:sld xmlns:p="http://schemas.openxmlformats.org/presentationml/2006/main" xmlns:a="http://schemas.openxmlformats.org/drawingml/2006/main">
  <p:cSld>
    <p:spTree>
      <p:nvGrpSpPr>
        <p:cNvPr id="377" name="" descr="&lt;Slide style={{ width: '1280px', height: '720px', background: '#FFFFFF', fontFamily: 'Noto Sans SC', padding: '20px 64px', flexDirection: 'column' }}&gt;&lt;Box style={{ height: '96px', flexDirection: 'column', justifyContent: 'center' }}&gt;&lt;Text style={{ fontSize: '31px', fontWeight: 700, color: '#1B3557', lineHeight: 1.25 }}&gt;附录 B：数据从哪来、怎么算的&lt;/Text&gt;&lt;Text style={{ fontSize: '15px', color: '#5F6975', lineHeight: 1.4, marginTop: '6px' }}&gt;这一页只给要复核的人看，汇报时可以不讲。&lt;/Text&gt;&lt;/Box&gt;&lt;Box style={{ height: '540px', flexDirection: 'row', gap: '44px' }}&gt;&lt;Box style={{ width: '520px', flexDirection: 'column' }}&gt;&lt;Text style={{ fontSize: '15px', fontWeight: 700, color: '#1B3557', marginBottom: '12px' }}&gt;数据来源（飞书四张表，只读接口）&lt;/Text&gt;&lt;Box style={{ flexDirection: 'row', height: '54px', alignItems: 'center', borderBottom: '1px solid #DDE2E8' }}&gt;&lt;Text style={{ fontSize: '13px', color: '#15181D', width: '120px', fontWeight: 600 }}&gt;店铺日报&lt;/Text&gt;&lt;Text style={{ fontSize: '13px', color: '#15181D', width: '120px' }}&gt;{'2,433'} 行&lt;/Text&gt;&lt;Text style={{ fontSize: '12px', color: '#5F6975', width: '260px' }}&gt;本篇只取{'10-01'} 至{'10-18'}&lt;/Text&gt;&lt;/Box&gt;&lt;Box style={{ flexDirection: 'row', height: '54px', alignItems: 'center', borderBottom: '1px solid #DDE2E8' }}&gt;&lt;Text style={{ fontSize: '13px', color: '#15181D', width: '120px', fontWeight: 600 }}&gt;商品日报&lt;/Text&gt;&lt;Text style={{ fontSize: '13px', color: '#15181D', width: '120px' }}&gt;{'4,221'} 行&lt;/Text&gt;&lt;Text style={{ fontSize: '12px', color: '#5F6975', width: '260px' }}&gt;{'10-01'}至{'10-18'} 无缺日；覆盖{'8'} 家店（成交占{'59.5%'}）&lt;/Text&gt;&lt;/Box&gt;&lt;Box style={{ flexDirection: 'row', height: '54px', alignItems: 'center', borderBottom: '1px solid #DDE2E8' }}&gt;&lt;Text style={{ fontSize: '13px', color: '#15181D', width: '120px', fontWeight: 600 }}&gt;推广日报&lt;/Text&gt;&lt;Text style={{ fontSize: '13px', color: '#15181D', width: '120px' }}&gt;{'2,327'} 行&lt;/Text&gt;&lt;Text style={{ fontSize: '12px', color: '#5F6975', width: '260px' }}&gt;{'10-01'}至{'10-18'} 无缺日；覆盖{'8'} 家店（广告占{'98.9%'}）&lt;/Text&gt;&lt;/Box&gt;&lt;Box style={{ flexDirection: 'row', height: '54px', alignItems: 'center', borderBottom: '1px solid #DDE2E8' }}&gt;&lt;Text style={{ fontSize: '13px', color: '#15181D', width: '120px', fontWeight: 600 }}&gt;询单&lt;/Text&gt;&lt;Text style={{ fontSize: '13px', color: '#15181D', width: '120px' }}&gt;{'891'} 行&lt;/Text&gt;&lt;Text style={{ fontSize: '12px', color: '#5F6975', width: '260px' }}&gt;无日期字段，本篇未使用&lt;/Text&gt;&lt;/Box&gt;&lt;Text style={{ fontSize: '12px', color: '#5F6975', marginTop: '14px', lineHeight: 1.6 }}&gt;四张表共{'9,872'} 行。快照日{'2026-10-20'}，之后补采的数据不进入本篇。&lt;/Text&gt;&lt;/Box&gt;&lt;Box style={{ width: '520px', flexDirection: 'column', gap: '14px' }}&gt;&lt;Text style={{ fontSize: '15px', fontWeight: 700, color: '#1B3557' }}&gt;三条口径，先说清楚&lt;/Text&gt;&lt;Box style={{ background: '#F4F6F8', padding: '13px 15px' }}&gt;&lt;Text style={{ fontSize: '13px', fontWeight: 700, color: '#1B3557', marginBottom: '4px' }}&gt;全部指标同一个窗口：{'18'} 天&lt;/Text&gt;&lt;Text style={{ fontSize: '11.5px', color: '#15181D', lineHeight: 1.55 }}&gt;所有数字都是{'2026-10-01'} 至{'2026-10-18'}。不用更长的窗口，是因为推广明细表只有这{'18'} 天；拿{'18'} 天的推广费去比更长时间的成交额，会人为把推广占比压低一半以上。&lt;/Text&gt;&lt;/Box&gt;&lt;Box style={{ background: '#F4F6F8', padding: '13px 15px' }}&gt;&lt;Text style={{ fontSize: '13px', fontWeight: 700, color: '#1B3557', marginBottom: '4px' }}&gt;广告花费有两个来源，都是{'18'} 天&lt;/Text&gt;&lt;Text style={{ fontSize: '11.5px', color: '#15181D', lineHeight: 1.55 }}&gt;日报表的广告花费{'4.0'}万元（关键词{'2.2'}万元＋人群{'1.8'}万元）；推广明细表{'2.8'}万元，等于日报口径的{'68.4%'}。本篇说{'&quot;'}推广费{'&quot;'}一律指后者。&lt;/Text&gt;&lt;/Box&gt;&lt;Box style={{ background: '#F4F6F8', padding: '13px 15px' }}&gt;&lt;Text style={{ fontSize: '13px', fontWeight: 700, color: '#1B3557', marginBottom: '4px' }}&gt;一个商品一个链接&lt;/Text&gt;&lt;Text style={{ fontSize: '11.5px', color: '#15181D', lineHeight: 1.55 }}&gt;所有商品数字按商品 ID 汇总，不按名称（同名商品会被错并）；推广按主体 ID 汇总。&lt;/Text&gt;&lt;/Box&gt;&lt;/Box&gt;&lt;/Box&gt;&lt;Box style={{ height: '40px', flexDirection: 'row', justifyContent: 'space-between', alignItems: 'center' }}&gt;&lt;Text style={{ fontSize: '13px', color: '#5F6975' }}&gt;经营数据诊断{'·'}{'2026-10-20'}&lt;/Text&gt;&lt;Text style={{ fontSize: '13px', color: '#5F6975' }}&gt;{'13'}{'/'}{'13'}&lt;/Text&gt;&lt;/Box&gt;&lt;/Slide&gt;&#10;"/>
        <p:cNvGrpSpPr/>
        <p:nvPr/>
      </p:nvGrpSpPr>
      <p:grpSpPr>
        <a:xfrm>
          <a:off x="0" y="0"/>
          <a:ext cx="0" cy="0"/>
          <a:chOff x="0" y="0"/>
          <a:chExt cx="0" cy="0"/>
        </a:xfrm>
      </p:grpSpPr>
      <p:sp>
        <p:nvSpPr>
          <p:cNvPr id="378" name=""/>
          <p:cNvSpPr/>
          <p:nvPr/>
        </p:nvSpPr>
        <p:spPr>
          <a:xfrm rot="0" flipH="0" flipV="0">
            <a:off x="0" y="0"/>
            <a:ext cx="12192000" cy="6858000"/>
          </a:xfrm>
          <a:prstGeom prst="rect">
            <a:avLst/>
          </a:prstGeom>
          <a:solidFill>
            <a:srgbClr val="FFFFFF"/>
          </a:solidFill>
          <a:ln/>
        </p:spPr>
        <p:txBody>
          <a:bodyPr/>
          <a:p/>
        </p:txBody>
      </p:sp>
      <p:sp>
        <p:nvSpPr>
          <p:cNvPr id="379" name="" descr="{&quot;isTemplate&quot;:true,&quot;type&quot;:&quot;text&quot;}"/>
          <p:cNvSpPr txBox="1"/>
          <p:nvPr/>
        </p:nvSpPr>
        <p:spPr>
          <a:xfrm rot="0" flipH="0" flipV="0">
            <a:off x="609600" y="276225"/>
            <a:ext cx="10972800" cy="447675"/>
          </a:xfrm>
          <a:prstGeom prst="rect"/>
        </p:spPr>
        <p:txBody>
          <a:bodyPr wrap="none" lIns="0" tIns="0" rIns="0" bIns="0"/>
          <a:p>
            <a:pPr>
              <a:lnSpc>
                <a:spcPct val="125000"/>
              </a:lnSpc>
            </a:pPr>
            <a:r>
              <a:rPr lang="zh-CN" sz="2325" b="1">
                <a:solidFill>
                  <a:srgbClr val="1B3557"/>
                </a:solidFill>
                <a:latin typeface="Noto Sans SC"/>
                <a:ea typeface="Noto Sans SC"/>
              </a:rPr>
              <a:t>附录</a:t>
            </a:r>
            <a:r>
              <a:rPr lang="en-US" sz="2325" b="1">
                <a:solidFill>
                  <a:srgbClr val="1B3557"/>
                </a:solidFill>
                <a:latin typeface="Noto Sans SC"/>
                <a:ea typeface="Noto Sans SC"/>
              </a:rPr>
              <a:t xml:space="preserve"> B</a:t>
            </a:r>
            <a:r>
              <a:rPr lang="zh-CN" sz="2325" b="1">
                <a:solidFill>
                  <a:srgbClr val="1B3557"/>
                </a:solidFill>
                <a:latin typeface="Noto Sans SC"/>
                <a:ea typeface="Noto Sans SC"/>
              </a:rPr>
              <a:t>：数据从哪来、怎么算的</a:t>
            </a:r>
            <a:endParaRPr/>
          </a:p>
        </p:txBody>
      </p:sp>
      <p:sp>
        <p:nvSpPr>
          <p:cNvPr id="380" name="" descr="{&quot;isTemplate&quot;:true,&quot;type&quot;:&quot;text&quot;}"/>
          <p:cNvSpPr txBox="1"/>
          <p:nvPr/>
        </p:nvSpPr>
        <p:spPr>
          <a:xfrm rot="0" flipH="0" flipV="0">
            <a:off x="609600" y="781050"/>
            <a:ext cx="10972800" cy="247650"/>
          </a:xfrm>
          <a:prstGeom prst="rect"/>
        </p:spPr>
        <p:txBody>
          <a:bodyPr wrap="none" lIns="0" tIns="0" rIns="0" bIns="0"/>
          <a:p>
            <a:pPr>
              <a:lnSpc>
                <a:spcPct val="140000"/>
              </a:lnSpc>
            </a:pPr>
            <a:r>
              <a:rPr lang="zh-CN" sz="1125">
                <a:solidFill>
                  <a:srgbClr val="5F6975"/>
                </a:solidFill>
                <a:latin typeface="Noto Sans SC"/>
                <a:ea typeface="Noto Sans SC"/>
              </a:rPr>
              <a:t>这一页只给要复核的人看，汇报时可以不讲。</a:t>
            </a:r>
            <a:endParaRPr/>
          </a:p>
        </p:txBody>
      </p:sp>
      <p:sp>
        <p:nvSpPr>
          <p:cNvPr id="381" name="" descr="{&quot;isTemplate&quot;:true,&quot;type&quot;:&quot;text&quot;}"/>
          <p:cNvSpPr txBox="1"/>
          <p:nvPr/>
        </p:nvSpPr>
        <p:spPr>
          <a:xfrm rot="0" flipH="0" flipV="0">
            <a:off x="609600" y="1104900"/>
            <a:ext cx="4953000" cy="171450"/>
          </a:xfrm>
          <a:prstGeom prst="rect"/>
        </p:spPr>
        <p:txBody>
          <a:bodyPr wrap="none" lIns="0" tIns="0" rIns="0" bIns="0"/>
          <a:p>
            <a:pPr>
              <a:lnSpc>
                <a:spcPct val="100000"/>
              </a:lnSpc>
            </a:pPr>
            <a:r>
              <a:rPr lang="zh-CN" sz="1125" b="1">
                <a:solidFill>
                  <a:srgbClr val="1B3557"/>
                </a:solidFill>
                <a:latin typeface="Noto Sans SC"/>
                <a:ea typeface="Noto Sans SC"/>
              </a:rPr>
              <a:t>数据来源（飞书四张表，只读接口）</a:t>
            </a:r>
            <a:endParaRPr/>
          </a:p>
        </p:txBody>
      </p:sp>
      <p:sp>
        <p:nvSpPr>
          <p:cNvPr id="382" name=""/>
          <p:cNvSpPr/>
          <p:nvPr/>
        </p:nvSpPr>
        <p:spPr>
          <a:xfrm rot="0" flipH="0" flipV="0">
            <a:off x="609600" y="1390650"/>
            <a:ext cx="4953000" cy="514350"/>
          </a:xfrm>
          <a:custGeom>
            <a:pathLst>
              <a:path w="520" h="54">
                <a:moveTo>
                  <a:pt x="0" y="53"/>
                </a:moveTo>
                <a:lnTo>
                  <a:pt x="520" y="53"/>
                </a:lnTo>
                <a:lnTo>
                  <a:pt x="520" y="54"/>
                </a:lnTo>
                <a:lnTo>
                  <a:pt x="0" y="54"/>
                </a:lnTo>
                <a:close/>
              </a:path>
            </a:pathLst>
          </a:custGeom>
          <a:solidFill>
            <a:srgbClr val="DDE2E8"/>
          </a:solidFill>
          <a:ln/>
        </p:spPr>
        <p:txBody>
          <a:bodyPr/>
          <a:p/>
        </p:txBody>
      </p:sp>
      <p:sp>
        <p:nvSpPr>
          <p:cNvPr id="383" name="" descr="{&quot;isTemplate&quot;:true,&quot;type&quot;:&quot;text&quot;}"/>
          <p:cNvSpPr txBox="1"/>
          <p:nvPr/>
        </p:nvSpPr>
        <p:spPr>
          <a:xfrm rot="0" flipH="0" flipV="0">
            <a:off x="609600" y="1571625"/>
            <a:ext cx="1143000" cy="152400"/>
          </a:xfrm>
          <a:prstGeom prst="rect"/>
        </p:spPr>
        <p:txBody>
          <a:bodyPr wrap="none" lIns="0" tIns="0" rIns="0" bIns="0"/>
          <a:p>
            <a:pPr>
              <a:lnSpc>
                <a:spcPct val="100000"/>
              </a:lnSpc>
            </a:pPr>
            <a:r>
              <a:rPr lang="zh-CN" sz="975" b="1">
                <a:solidFill>
                  <a:srgbClr val="15181D"/>
                </a:solidFill>
                <a:latin typeface="Noto Sans SC"/>
                <a:ea typeface="Noto Sans SC"/>
              </a:rPr>
              <a:t>店铺日报</a:t>
            </a:r>
            <a:endParaRPr/>
          </a:p>
        </p:txBody>
      </p:sp>
      <p:sp>
        <p:nvSpPr>
          <p:cNvPr id="384" name="" descr="{&quot;isTemplate&quot;:true,&quot;type&quot;:&quot;text&quot;}"/>
          <p:cNvSpPr txBox="1"/>
          <p:nvPr/>
        </p:nvSpPr>
        <p:spPr>
          <a:xfrm rot="0" flipH="0" flipV="0">
            <a:off x="1752600" y="1571625"/>
            <a:ext cx="1143000" cy="152400"/>
          </a:xfrm>
          <a:prstGeom prst="rect"/>
        </p:spPr>
        <p:txBody>
          <a:bodyPr wrap="none" lIns="0" tIns="0" rIns="0" bIns="0"/>
          <a:p>
            <a:pPr>
              <a:lnSpc>
                <a:spcPct val="100000"/>
              </a:lnSpc>
            </a:pPr>
            <a:r>
              <a:rPr lang="en-US" sz="975">
                <a:solidFill>
                  <a:srgbClr val="15181D"/>
                </a:solidFill>
                <a:latin typeface="Noto Sans SC"/>
                <a:ea typeface="Noto Sans SC"/>
              </a:rPr>
              <a:t>2,433</a:t>
            </a:r>
            <a:r>
              <a:rPr lang="en-US" sz="975">
                <a:solidFill>
                  <a:srgbClr val="15181D"/>
                </a:solidFill>
                <a:latin typeface="Noto Sans SC"/>
                <a:ea typeface="Noto Sans SC"/>
              </a:rPr>
              <a:t xml:space="preserve"> </a:t>
            </a:r>
            <a:r>
              <a:rPr lang="zh-CN" sz="975">
                <a:solidFill>
                  <a:srgbClr val="15181D"/>
                </a:solidFill>
                <a:latin typeface="Noto Sans SC"/>
                <a:ea typeface="Noto Sans SC"/>
              </a:rPr>
              <a:t>行</a:t>
            </a:r>
            <a:endParaRPr/>
          </a:p>
        </p:txBody>
      </p:sp>
      <p:sp>
        <p:nvSpPr>
          <p:cNvPr id="385" name="" descr="{&quot;isTemplate&quot;:true,&quot;type&quot;:&quot;text&quot;}"/>
          <p:cNvSpPr txBox="1"/>
          <p:nvPr/>
        </p:nvSpPr>
        <p:spPr>
          <a:xfrm rot="0" flipH="0" flipV="0">
            <a:off x="2895600" y="1571625"/>
            <a:ext cx="2476500" cy="142875"/>
          </a:xfrm>
          <a:prstGeom prst="rect"/>
        </p:spPr>
        <p:txBody>
          <a:bodyPr wrap="none" lIns="0" tIns="0" rIns="0" bIns="0"/>
          <a:p>
            <a:pPr>
              <a:lnSpc>
                <a:spcPct val="100000"/>
              </a:lnSpc>
            </a:pPr>
            <a:r>
              <a:rPr lang="zh-CN" sz="900">
                <a:solidFill>
                  <a:srgbClr val="5F6975"/>
                </a:solidFill>
                <a:latin typeface="Noto Sans SC"/>
                <a:ea typeface="Noto Sans SC"/>
              </a:rPr>
              <a:t>本篇只取</a:t>
            </a:r>
            <a:r>
              <a:rPr lang="en-US" sz="900">
                <a:solidFill>
                  <a:srgbClr val="5F6975"/>
                </a:solidFill>
                <a:latin typeface="Noto Sans SC"/>
                <a:ea typeface="Noto Sans SC"/>
              </a:rPr>
              <a:t>10-01</a:t>
            </a:r>
            <a:r>
              <a:rPr lang="en-US" sz="900">
                <a:solidFill>
                  <a:srgbClr val="5F6975"/>
                </a:solidFill>
                <a:latin typeface="Noto Sans SC"/>
                <a:ea typeface="Noto Sans SC"/>
              </a:rPr>
              <a:t xml:space="preserve"> </a:t>
            </a:r>
            <a:r>
              <a:rPr lang="zh-CN" sz="900">
                <a:solidFill>
                  <a:srgbClr val="5F6975"/>
                </a:solidFill>
                <a:latin typeface="Noto Sans SC"/>
                <a:ea typeface="Noto Sans SC"/>
              </a:rPr>
              <a:t>至</a:t>
            </a:r>
            <a:r>
              <a:rPr lang="en-US" sz="900">
                <a:solidFill>
                  <a:srgbClr val="5F6975"/>
                </a:solidFill>
                <a:latin typeface="Noto Sans SC"/>
                <a:ea typeface="Noto Sans SC"/>
              </a:rPr>
              <a:t>10-18</a:t>
            </a:r>
            <a:endParaRPr/>
          </a:p>
        </p:txBody>
      </p:sp>
      <p:sp>
        <p:nvSpPr>
          <p:cNvPr id="386" name=""/>
          <p:cNvSpPr/>
          <p:nvPr/>
        </p:nvSpPr>
        <p:spPr>
          <a:xfrm rot="0" flipH="0" flipV="0">
            <a:off x="609600" y="1905000"/>
            <a:ext cx="4953000" cy="514350"/>
          </a:xfrm>
          <a:custGeom>
            <a:pathLst>
              <a:path w="520" h="54">
                <a:moveTo>
                  <a:pt x="0" y="53"/>
                </a:moveTo>
                <a:lnTo>
                  <a:pt x="520" y="53"/>
                </a:lnTo>
                <a:lnTo>
                  <a:pt x="520" y="54"/>
                </a:lnTo>
                <a:lnTo>
                  <a:pt x="0" y="54"/>
                </a:lnTo>
                <a:close/>
              </a:path>
            </a:pathLst>
          </a:custGeom>
          <a:solidFill>
            <a:srgbClr val="DDE2E8"/>
          </a:solidFill>
          <a:ln/>
        </p:spPr>
        <p:txBody>
          <a:bodyPr/>
          <a:p/>
        </p:txBody>
      </p:sp>
      <p:sp>
        <p:nvSpPr>
          <p:cNvPr id="387" name="" descr="{&quot;isTemplate&quot;:true,&quot;type&quot;:&quot;text&quot;}"/>
          <p:cNvSpPr txBox="1"/>
          <p:nvPr/>
        </p:nvSpPr>
        <p:spPr>
          <a:xfrm rot="0" flipH="0" flipV="0">
            <a:off x="609600" y="2085975"/>
            <a:ext cx="1143000" cy="152400"/>
          </a:xfrm>
          <a:prstGeom prst="rect"/>
        </p:spPr>
        <p:txBody>
          <a:bodyPr wrap="none" lIns="0" tIns="0" rIns="0" bIns="0"/>
          <a:p>
            <a:pPr>
              <a:lnSpc>
                <a:spcPct val="100000"/>
              </a:lnSpc>
            </a:pPr>
            <a:r>
              <a:rPr lang="zh-CN" sz="975" b="1">
                <a:solidFill>
                  <a:srgbClr val="15181D"/>
                </a:solidFill>
                <a:latin typeface="Noto Sans SC"/>
                <a:ea typeface="Noto Sans SC"/>
              </a:rPr>
              <a:t>商品日报</a:t>
            </a:r>
            <a:endParaRPr/>
          </a:p>
        </p:txBody>
      </p:sp>
      <p:sp>
        <p:nvSpPr>
          <p:cNvPr id="388" name="" descr="{&quot;isTemplate&quot;:true,&quot;type&quot;:&quot;text&quot;}"/>
          <p:cNvSpPr txBox="1"/>
          <p:nvPr/>
        </p:nvSpPr>
        <p:spPr>
          <a:xfrm rot="0" flipH="0" flipV="0">
            <a:off x="1752600" y="2085975"/>
            <a:ext cx="1143000" cy="152400"/>
          </a:xfrm>
          <a:prstGeom prst="rect"/>
        </p:spPr>
        <p:txBody>
          <a:bodyPr wrap="none" lIns="0" tIns="0" rIns="0" bIns="0"/>
          <a:p>
            <a:pPr>
              <a:lnSpc>
                <a:spcPct val="100000"/>
              </a:lnSpc>
            </a:pPr>
            <a:r>
              <a:rPr lang="en-US" sz="975">
                <a:solidFill>
                  <a:srgbClr val="15181D"/>
                </a:solidFill>
                <a:latin typeface="Noto Sans SC"/>
                <a:ea typeface="Noto Sans SC"/>
              </a:rPr>
              <a:t>4,221</a:t>
            </a:r>
            <a:r>
              <a:rPr lang="en-US" sz="975">
                <a:solidFill>
                  <a:srgbClr val="15181D"/>
                </a:solidFill>
                <a:latin typeface="Noto Sans SC"/>
                <a:ea typeface="Noto Sans SC"/>
              </a:rPr>
              <a:t xml:space="preserve"> </a:t>
            </a:r>
            <a:r>
              <a:rPr lang="zh-CN" sz="975">
                <a:solidFill>
                  <a:srgbClr val="15181D"/>
                </a:solidFill>
                <a:latin typeface="Noto Sans SC"/>
                <a:ea typeface="Noto Sans SC"/>
              </a:rPr>
              <a:t>行</a:t>
            </a:r>
            <a:endParaRPr/>
          </a:p>
        </p:txBody>
      </p:sp>
      <p:sp>
        <p:nvSpPr>
          <p:cNvPr id="389" name="" descr="{&quot;isTemplate&quot;:true,&quot;type&quot;:&quot;text&quot;}"/>
          <p:cNvSpPr txBox="1"/>
          <p:nvPr/>
        </p:nvSpPr>
        <p:spPr>
          <a:xfrm rot="0" flipH="0" flipV="0">
            <a:off x="2895600" y="2019300"/>
            <a:ext cx="2476500" cy="276225"/>
          </a:xfrm>
          <a:prstGeom prst="rect"/>
        </p:spPr>
        <p:txBody>
          <a:bodyPr wrap="square" lIns="0" tIns="0" rIns="0" bIns="0">
            <a:normAutofit/>
          </a:bodyPr>
          <a:p>
            <a:pPr>
              <a:lnSpc>
                <a:spcPct val="100000"/>
              </a:lnSpc>
            </a:pPr>
            <a:r>
              <a:rPr lang="en-US" sz="900">
                <a:solidFill>
                  <a:srgbClr val="5F6975"/>
                </a:solidFill>
                <a:latin typeface="Noto Sans SC"/>
                <a:ea typeface="Noto Sans SC"/>
              </a:rPr>
              <a:t>10-01</a:t>
            </a:r>
            <a:r>
              <a:rPr lang="zh-CN" sz="900">
                <a:solidFill>
                  <a:srgbClr val="5F6975"/>
                </a:solidFill>
                <a:latin typeface="Noto Sans SC"/>
                <a:ea typeface="Noto Sans SC"/>
              </a:rPr>
              <a:t>至</a:t>
            </a:r>
            <a:r>
              <a:rPr lang="en-US" sz="900">
                <a:solidFill>
                  <a:srgbClr val="5F6975"/>
                </a:solidFill>
                <a:latin typeface="Noto Sans SC"/>
                <a:ea typeface="Noto Sans SC"/>
              </a:rPr>
              <a:t>10-18</a:t>
            </a:r>
            <a:r>
              <a:rPr lang="en-US" sz="900">
                <a:solidFill>
                  <a:srgbClr val="5F6975"/>
                </a:solidFill>
                <a:latin typeface="Noto Sans SC"/>
                <a:ea typeface="Noto Sans SC"/>
              </a:rPr>
              <a:t xml:space="preserve"> </a:t>
            </a:r>
            <a:r>
              <a:rPr lang="zh-CN" sz="900">
                <a:solidFill>
                  <a:srgbClr val="5F6975"/>
                </a:solidFill>
                <a:latin typeface="Noto Sans SC"/>
                <a:ea typeface="Noto Sans SC"/>
              </a:rPr>
              <a:t>无缺日；覆盖</a:t>
            </a:r>
            <a:r>
              <a:rPr lang="en-US" sz="900">
                <a:solidFill>
                  <a:srgbClr val="5F6975"/>
                </a:solidFill>
                <a:latin typeface="Noto Sans SC"/>
                <a:ea typeface="Noto Sans SC"/>
              </a:rPr>
              <a:t>8</a:t>
            </a:r>
            <a:r>
              <a:rPr lang="en-US" sz="900">
                <a:solidFill>
                  <a:srgbClr val="5F6975"/>
                </a:solidFill>
                <a:latin typeface="Noto Sans SC"/>
                <a:ea typeface="Noto Sans SC"/>
              </a:rPr>
              <a:t xml:space="preserve"> </a:t>
            </a:r>
            <a:r>
              <a:rPr lang="zh-CN" sz="900">
                <a:solidFill>
                  <a:srgbClr val="5F6975"/>
                </a:solidFill>
                <a:latin typeface="Noto Sans SC"/>
                <a:ea typeface="Noto Sans SC"/>
              </a:rPr>
              <a:t>家店（成交占</a:t>
            </a:r>
            <a:r>
              <a:rPr lang="en-US" sz="900">
                <a:solidFill>
                  <a:srgbClr val="5F6975"/>
                </a:solidFill>
                <a:latin typeface="Noto Sans SC"/>
                <a:ea typeface="Noto Sans SC"/>
              </a:rPr>
              <a:t>59.5%</a:t>
            </a:r>
            <a:r>
              <a:rPr lang="zh-CN" sz="900">
                <a:solidFill>
                  <a:srgbClr val="5F6975"/>
                </a:solidFill>
                <a:latin typeface="Noto Sans SC"/>
                <a:ea typeface="Noto Sans SC"/>
              </a:rPr>
              <a:t>）</a:t>
            </a:r>
            <a:endParaRPr/>
          </a:p>
        </p:txBody>
      </p:sp>
      <p:sp>
        <p:nvSpPr>
          <p:cNvPr id="390" name=""/>
          <p:cNvSpPr/>
          <p:nvPr/>
        </p:nvSpPr>
        <p:spPr>
          <a:xfrm rot="0" flipH="0" flipV="0">
            <a:off x="609600" y="2419350"/>
            <a:ext cx="4953000" cy="514350"/>
          </a:xfrm>
          <a:custGeom>
            <a:pathLst>
              <a:path w="520" h="54">
                <a:moveTo>
                  <a:pt x="0" y="53"/>
                </a:moveTo>
                <a:lnTo>
                  <a:pt x="520" y="53"/>
                </a:lnTo>
                <a:lnTo>
                  <a:pt x="520" y="54"/>
                </a:lnTo>
                <a:lnTo>
                  <a:pt x="0" y="54"/>
                </a:lnTo>
                <a:close/>
              </a:path>
            </a:pathLst>
          </a:custGeom>
          <a:solidFill>
            <a:srgbClr val="DDE2E8"/>
          </a:solidFill>
          <a:ln/>
        </p:spPr>
        <p:txBody>
          <a:bodyPr/>
          <a:p/>
        </p:txBody>
      </p:sp>
      <p:sp>
        <p:nvSpPr>
          <p:cNvPr id="391" name="" descr="{&quot;isTemplate&quot;:true,&quot;type&quot;:&quot;text&quot;}"/>
          <p:cNvSpPr txBox="1"/>
          <p:nvPr/>
        </p:nvSpPr>
        <p:spPr>
          <a:xfrm rot="0" flipH="0" flipV="0">
            <a:off x="609600" y="2600325"/>
            <a:ext cx="1143000" cy="152400"/>
          </a:xfrm>
          <a:prstGeom prst="rect"/>
        </p:spPr>
        <p:txBody>
          <a:bodyPr wrap="none" lIns="0" tIns="0" rIns="0" bIns="0"/>
          <a:p>
            <a:pPr>
              <a:lnSpc>
                <a:spcPct val="100000"/>
              </a:lnSpc>
            </a:pPr>
            <a:r>
              <a:rPr lang="zh-CN" sz="975" b="1">
                <a:solidFill>
                  <a:srgbClr val="15181D"/>
                </a:solidFill>
                <a:latin typeface="Noto Sans SC"/>
                <a:ea typeface="Noto Sans SC"/>
              </a:rPr>
              <a:t>推广日报</a:t>
            </a:r>
            <a:endParaRPr/>
          </a:p>
        </p:txBody>
      </p:sp>
      <p:sp>
        <p:nvSpPr>
          <p:cNvPr id="392" name="" descr="{&quot;isTemplate&quot;:true,&quot;type&quot;:&quot;text&quot;}"/>
          <p:cNvSpPr txBox="1"/>
          <p:nvPr/>
        </p:nvSpPr>
        <p:spPr>
          <a:xfrm rot="0" flipH="0" flipV="0">
            <a:off x="1752600" y="2600325"/>
            <a:ext cx="1143000" cy="152400"/>
          </a:xfrm>
          <a:prstGeom prst="rect"/>
        </p:spPr>
        <p:txBody>
          <a:bodyPr wrap="none" lIns="0" tIns="0" rIns="0" bIns="0"/>
          <a:p>
            <a:pPr>
              <a:lnSpc>
                <a:spcPct val="100000"/>
              </a:lnSpc>
            </a:pPr>
            <a:r>
              <a:rPr lang="en-US" sz="975">
                <a:solidFill>
                  <a:srgbClr val="15181D"/>
                </a:solidFill>
                <a:latin typeface="Noto Sans SC"/>
                <a:ea typeface="Noto Sans SC"/>
              </a:rPr>
              <a:t>2,327</a:t>
            </a:r>
            <a:r>
              <a:rPr lang="en-US" sz="975">
                <a:solidFill>
                  <a:srgbClr val="15181D"/>
                </a:solidFill>
                <a:latin typeface="Noto Sans SC"/>
                <a:ea typeface="Noto Sans SC"/>
              </a:rPr>
              <a:t xml:space="preserve"> </a:t>
            </a:r>
            <a:r>
              <a:rPr lang="zh-CN" sz="975">
                <a:solidFill>
                  <a:srgbClr val="15181D"/>
                </a:solidFill>
                <a:latin typeface="Noto Sans SC"/>
                <a:ea typeface="Noto Sans SC"/>
              </a:rPr>
              <a:t>行</a:t>
            </a:r>
            <a:endParaRPr/>
          </a:p>
        </p:txBody>
      </p:sp>
      <p:sp>
        <p:nvSpPr>
          <p:cNvPr id="393" name="" descr="{&quot;isTemplate&quot;:true,&quot;type&quot;:&quot;text&quot;}"/>
          <p:cNvSpPr txBox="1"/>
          <p:nvPr/>
        </p:nvSpPr>
        <p:spPr>
          <a:xfrm rot="0" flipH="0" flipV="0">
            <a:off x="2895600" y="2533650"/>
            <a:ext cx="2476500" cy="276225"/>
          </a:xfrm>
          <a:prstGeom prst="rect"/>
        </p:spPr>
        <p:txBody>
          <a:bodyPr wrap="square" lIns="0" tIns="0" rIns="0" bIns="0">
            <a:normAutofit/>
          </a:bodyPr>
          <a:p>
            <a:pPr>
              <a:lnSpc>
                <a:spcPct val="100000"/>
              </a:lnSpc>
            </a:pPr>
            <a:r>
              <a:rPr lang="en-US" sz="900">
                <a:solidFill>
                  <a:srgbClr val="5F6975"/>
                </a:solidFill>
                <a:latin typeface="Noto Sans SC"/>
                <a:ea typeface="Noto Sans SC"/>
              </a:rPr>
              <a:t>10-01</a:t>
            </a:r>
            <a:r>
              <a:rPr lang="zh-CN" sz="900">
                <a:solidFill>
                  <a:srgbClr val="5F6975"/>
                </a:solidFill>
                <a:latin typeface="Noto Sans SC"/>
                <a:ea typeface="Noto Sans SC"/>
              </a:rPr>
              <a:t>至</a:t>
            </a:r>
            <a:r>
              <a:rPr lang="en-US" sz="900">
                <a:solidFill>
                  <a:srgbClr val="5F6975"/>
                </a:solidFill>
                <a:latin typeface="Noto Sans SC"/>
                <a:ea typeface="Noto Sans SC"/>
              </a:rPr>
              <a:t>10-18</a:t>
            </a:r>
            <a:r>
              <a:rPr lang="en-US" sz="900">
                <a:solidFill>
                  <a:srgbClr val="5F6975"/>
                </a:solidFill>
                <a:latin typeface="Noto Sans SC"/>
                <a:ea typeface="Noto Sans SC"/>
              </a:rPr>
              <a:t xml:space="preserve"> </a:t>
            </a:r>
            <a:r>
              <a:rPr lang="zh-CN" sz="900">
                <a:solidFill>
                  <a:srgbClr val="5F6975"/>
                </a:solidFill>
                <a:latin typeface="Noto Sans SC"/>
                <a:ea typeface="Noto Sans SC"/>
              </a:rPr>
              <a:t>无缺日；覆盖</a:t>
            </a:r>
            <a:r>
              <a:rPr lang="en-US" sz="900">
                <a:solidFill>
                  <a:srgbClr val="5F6975"/>
                </a:solidFill>
                <a:latin typeface="Noto Sans SC"/>
                <a:ea typeface="Noto Sans SC"/>
              </a:rPr>
              <a:t>8</a:t>
            </a:r>
            <a:r>
              <a:rPr lang="en-US" sz="900">
                <a:solidFill>
                  <a:srgbClr val="5F6975"/>
                </a:solidFill>
                <a:latin typeface="Noto Sans SC"/>
                <a:ea typeface="Noto Sans SC"/>
              </a:rPr>
              <a:t xml:space="preserve"> </a:t>
            </a:r>
            <a:r>
              <a:rPr lang="zh-CN" sz="900">
                <a:solidFill>
                  <a:srgbClr val="5F6975"/>
                </a:solidFill>
                <a:latin typeface="Noto Sans SC"/>
                <a:ea typeface="Noto Sans SC"/>
              </a:rPr>
              <a:t>家店（广告占</a:t>
            </a:r>
            <a:r>
              <a:rPr lang="en-US" sz="900">
                <a:solidFill>
                  <a:srgbClr val="5F6975"/>
                </a:solidFill>
                <a:latin typeface="Noto Sans SC"/>
                <a:ea typeface="Noto Sans SC"/>
              </a:rPr>
              <a:t>98.9%</a:t>
            </a:r>
            <a:r>
              <a:rPr lang="zh-CN" sz="900">
                <a:solidFill>
                  <a:srgbClr val="5F6975"/>
                </a:solidFill>
                <a:latin typeface="Noto Sans SC"/>
                <a:ea typeface="Noto Sans SC"/>
              </a:rPr>
              <a:t>）</a:t>
            </a:r>
            <a:endParaRPr/>
          </a:p>
        </p:txBody>
      </p:sp>
      <p:sp>
        <p:nvSpPr>
          <p:cNvPr id="394" name=""/>
          <p:cNvSpPr/>
          <p:nvPr/>
        </p:nvSpPr>
        <p:spPr>
          <a:xfrm rot="0" flipH="0" flipV="0">
            <a:off x="609600" y="2933700"/>
            <a:ext cx="4953000" cy="514350"/>
          </a:xfrm>
          <a:custGeom>
            <a:pathLst>
              <a:path w="520" h="54">
                <a:moveTo>
                  <a:pt x="0" y="53"/>
                </a:moveTo>
                <a:lnTo>
                  <a:pt x="520" y="53"/>
                </a:lnTo>
                <a:lnTo>
                  <a:pt x="520" y="54"/>
                </a:lnTo>
                <a:lnTo>
                  <a:pt x="0" y="54"/>
                </a:lnTo>
                <a:close/>
              </a:path>
            </a:pathLst>
          </a:custGeom>
          <a:solidFill>
            <a:srgbClr val="DDE2E8"/>
          </a:solidFill>
          <a:ln/>
        </p:spPr>
        <p:txBody>
          <a:bodyPr/>
          <a:p/>
        </p:txBody>
      </p:sp>
      <p:sp>
        <p:nvSpPr>
          <p:cNvPr id="395" name="" descr="{&quot;isTemplate&quot;:true,&quot;type&quot;:&quot;text&quot;}"/>
          <p:cNvSpPr txBox="1"/>
          <p:nvPr/>
        </p:nvSpPr>
        <p:spPr>
          <a:xfrm rot="0" flipH="0" flipV="0">
            <a:off x="609600" y="3114675"/>
            <a:ext cx="1143000" cy="152400"/>
          </a:xfrm>
          <a:prstGeom prst="rect"/>
        </p:spPr>
        <p:txBody>
          <a:bodyPr wrap="none" lIns="0" tIns="0" rIns="0" bIns="0"/>
          <a:p>
            <a:pPr>
              <a:lnSpc>
                <a:spcPct val="100000"/>
              </a:lnSpc>
            </a:pPr>
            <a:r>
              <a:rPr lang="zh-CN" sz="975" b="1">
                <a:solidFill>
                  <a:srgbClr val="15181D"/>
                </a:solidFill>
                <a:latin typeface="Noto Sans SC"/>
                <a:ea typeface="Noto Sans SC"/>
              </a:rPr>
              <a:t>询单</a:t>
            </a:r>
            <a:endParaRPr/>
          </a:p>
        </p:txBody>
      </p:sp>
      <p:sp>
        <p:nvSpPr>
          <p:cNvPr id="396" name="" descr="{&quot;isTemplate&quot;:true,&quot;type&quot;:&quot;text&quot;}"/>
          <p:cNvSpPr txBox="1"/>
          <p:nvPr/>
        </p:nvSpPr>
        <p:spPr>
          <a:xfrm rot="0" flipH="0" flipV="0">
            <a:off x="1752600" y="3114675"/>
            <a:ext cx="1143000" cy="152400"/>
          </a:xfrm>
          <a:prstGeom prst="rect"/>
        </p:spPr>
        <p:txBody>
          <a:bodyPr wrap="none" lIns="0" tIns="0" rIns="0" bIns="0"/>
          <a:p>
            <a:pPr>
              <a:lnSpc>
                <a:spcPct val="100000"/>
              </a:lnSpc>
            </a:pPr>
            <a:r>
              <a:rPr lang="en-US" sz="975">
                <a:solidFill>
                  <a:srgbClr val="15181D"/>
                </a:solidFill>
                <a:latin typeface="Noto Sans SC"/>
                <a:ea typeface="Noto Sans SC"/>
              </a:rPr>
              <a:t>891</a:t>
            </a:r>
            <a:r>
              <a:rPr lang="en-US" sz="975">
                <a:solidFill>
                  <a:srgbClr val="15181D"/>
                </a:solidFill>
                <a:latin typeface="Noto Sans SC"/>
                <a:ea typeface="Noto Sans SC"/>
              </a:rPr>
              <a:t xml:space="preserve"> </a:t>
            </a:r>
            <a:r>
              <a:rPr lang="zh-CN" sz="975">
                <a:solidFill>
                  <a:srgbClr val="15181D"/>
                </a:solidFill>
                <a:latin typeface="Noto Sans SC"/>
                <a:ea typeface="Noto Sans SC"/>
              </a:rPr>
              <a:t>行</a:t>
            </a:r>
            <a:endParaRPr/>
          </a:p>
        </p:txBody>
      </p:sp>
      <p:sp>
        <p:nvSpPr>
          <p:cNvPr id="397" name="" descr="{&quot;isTemplate&quot;:true,&quot;type&quot;:&quot;text&quot;}"/>
          <p:cNvSpPr txBox="1"/>
          <p:nvPr/>
        </p:nvSpPr>
        <p:spPr>
          <a:xfrm rot="0" flipH="0" flipV="0">
            <a:off x="2895600" y="3114675"/>
            <a:ext cx="2476500" cy="142875"/>
          </a:xfrm>
          <a:prstGeom prst="rect"/>
        </p:spPr>
        <p:txBody>
          <a:bodyPr wrap="none" lIns="0" tIns="0" rIns="0" bIns="0"/>
          <a:p>
            <a:pPr>
              <a:lnSpc>
                <a:spcPct val="100000"/>
              </a:lnSpc>
            </a:pPr>
            <a:r>
              <a:rPr lang="zh-CN" sz="900">
                <a:solidFill>
                  <a:srgbClr val="5F6975"/>
                </a:solidFill>
                <a:latin typeface="Noto Sans SC"/>
                <a:ea typeface="Noto Sans SC"/>
              </a:rPr>
              <a:t>无日期字段，本篇未使用</a:t>
            </a:r>
            <a:endParaRPr/>
          </a:p>
        </p:txBody>
      </p:sp>
      <p:sp>
        <p:nvSpPr>
          <p:cNvPr id="398" name="" descr="{&quot;isTemplate&quot;:true,&quot;type&quot;:&quot;text&quot;}"/>
          <p:cNvSpPr txBox="1"/>
          <p:nvPr/>
        </p:nvSpPr>
        <p:spPr>
          <a:xfrm rot="0" flipH="0" flipV="0">
            <a:off x="609600" y="3581400"/>
            <a:ext cx="4953000" cy="228600"/>
          </a:xfrm>
          <a:prstGeom prst="rect"/>
        </p:spPr>
        <p:txBody>
          <a:bodyPr wrap="none" lIns="0" tIns="0" rIns="0" bIns="0"/>
          <a:p>
            <a:pPr>
              <a:lnSpc>
                <a:spcPct val="160000"/>
              </a:lnSpc>
            </a:pPr>
            <a:r>
              <a:rPr lang="zh-CN" sz="900">
                <a:solidFill>
                  <a:srgbClr val="5F6975"/>
                </a:solidFill>
                <a:latin typeface="Noto Sans SC"/>
                <a:ea typeface="Noto Sans SC"/>
              </a:rPr>
              <a:t>四张表共</a:t>
            </a:r>
            <a:r>
              <a:rPr lang="en-US" sz="900">
                <a:solidFill>
                  <a:srgbClr val="5F6975"/>
                </a:solidFill>
                <a:latin typeface="Noto Sans SC"/>
                <a:ea typeface="Noto Sans SC"/>
              </a:rPr>
              <a:t>9,872</a:t>
            </a:r>
            <a:r>
              <a:rPr lang="en-US" sz="900">
                <a:solidFill>
                  <a:srgbClr val="5F6975"/>
                </a:solidFill>
                <a:latin typeface="Noto Sans SC"/>
                <a:ea typeface="Noto Sans SC"/>
              </a:rPr>
              <a:t xml:space="preserve"> </a:t>
            </a:r>
            <a:r>
              <a:rPr lang="zh-CN" sz="900">
                <a:solidFill>
                  <a:srgbClr val="5F6975"/>
                </a:solidFill>
                <a:latin typeface="Noto Sans SC"/>
                <a:ea typeface="Noto Sans SC"/>
              </a:rPr>
              <a:t>行。快照日</a:t>
            </a:r>
            <a:r>
              <a:rPr lang="en-US" sz="900">
                <a:solidFill>
                  <a:srgbClr val="5F6975"/>
                </a:solidFill>
                <a:latin typeface="Noto Sans SC"/>
                <a:ea typeface="Noto Sans SC"/>
              </a:rPr>
              <a:t>2026-10-20</a:t>
            </a:r>
            <a:r>
              <a:rPr lang="zh-CN" sz="900">
                <a:solidFill>
                  <a:srgbClr val="5F6975"/>
                </a:solidFill>
                <a:latin typeface="Noto Sans SC"/>
                <a:ea typeface="Noto Sans SC"/>
              </a:rPr>
              <a:t>，之后补采的数据不进入本篇。</a:t>
            </a:r>
            <a:endParaRPr/>
          </a:p>
        </p:txBody>
      </p:sp>
      <p:sp>
        <p:nvSpPr>
          <p:cNvPr id="399" name="" descr="{&quot;isTemplate&quot;:true,&quot;type&quot;:&quot;text&quot;}"/>
          <p:cNvSpPr txBox="1"/>
          <p:nvPr/>
        </p:nvSpPr>
        <p:spPr>
          <a:xfrm rot="0" flipH="0" flipV="0">
            <a:off x="5981700" y="1104900"/>
            <a:ext cx="4953000" cy="171450"/>
          </a:xfrm>
          <a:prstGeom prst="rect"/>
        </p:spPr>
        <p:txBody>
          <a:bodyPr wrap="none" lIns="0" tIns="0" rIns="0" bIns="0"/>
          <a:p>
            <a:pPr>
              <a:lnSpc>
                <a:spcPct val="100000"/>
              </a:lnSpc>
            </a:pPr>
            <a:r>
              <a:rPr lang="zh-CN" sz="1125" b="1">
                <a:solidFill>
                  <a:srgbClr val="1B3557"/>
                </a:solidFill>
                <a:latin typeface="Noto Sans SC"/>
                <a:ea typeface="Noto Sans SC"/>
              </a:rPr>
              <a:t>三条口径，先说清楚</a:t>
            </a:r>
            <a:endParaRPr/>
          </a:p>
        </p:txBody>
      </p:sp>
      <p:sp>
        <p:nvSpPr>
          <p:cNvPr id="400" name=""/>
          <p:cNvSpPr/>
          <p:nvPr/>
        </p:nvSpPr>
        <p:spPr>
          <a:xfrm rot="0" flipH="0" flipV="0">
            <a:off x="5981700" y="1409700"/>
            <a:ext cx="4953000" cy="847725"/>
          </a:xfrm>
          <a:prstGeom prst="rect">
            <a:avLst/>
          </a:prstGeom>
          <a:solidFill>
            <a:srgbClr val="F4F6F8"/>
          </a:solidFill>
          <a:ln/>
        </p:spPr>
        <p:txBody>
          <a:bodyPr/>
          <a:p/>
        </p:txBody>
      </p:sp>
      <p:sp>
        <p:nvSpPr>
          <p:cNvPr id="401" name="" descr="{&quot;isTemplate&quot;:true,&quot;type&quot;:&quot;text&quot;}"/>
          <p:cNvSpPr txBox="1"/>
          <p:nvPr/>
        </p:nvSpPr>
        <p:spPr>
          <a:xfrm rot="0" flipH="0" flipV="0">
            <a:off x="6124575" y="1533525"/>
            <a:ext cx="4667250" cy="152400"/>
          </a:xfrm>
          <a:prstGeom prst="rect"/>
        </p:spPr>
        <p:txBody>
          <a:bodyPr wrap="none" lIns="0" tIns="0" rIns="0" bIns="0"/>
          <a:p>
            <a:pPr>
              <a:lnSpc>
                <a:spcPct val="100000"/>
              </a:lnSpc>
            </a:pPr>
            <a:r>
              <a:rPr lang="zh-CN" sz="975" b="1">
                <a:solidFill>
                  <a:srgbClr val="1B3557"/>
                </a:solidFill>
                <a:latin typeface="Noto Sans SC"/>
                <a:ea typeface="Noto Sans SC"/>
              </a:rPr>
              <a:t>全部指标同一个窗口：</a:t>
            </a:r>
            <a:r>
              <a:rPr lang="en-US" sz="975" b="1">
                <a:solidFill>
                  <a:srgbClr val="1B3557"/>
                </a:solidFill>
                <a:latin typeface="Noto Sans SC"/>
                <a:ea typeface="Noto Sans SC"/>
              </a:rPr>
              <a:t>18</a:t>
            </a:r>
            <a:r>
              <a:rPr lang="en-US" sz="975" b="1">
                <a:solidFill>
                  <a:srgbClr val="1B3557"/>
                </a:solidFill>
                <a:latin typeface="Noto Sans SC"/>
                <a:ea typeface="Noto Sans SC"/>
              </a:rPr>
              <a:t xml:space="preserve"> </a:t>
            </a:r>
            <a:r>
              <a:rPr lang="zh-CN" sz="975" b="1">
                <a:solidFill>
                  <a:srgbClr val="1B3557"/>
                </a:solidFill>
                <a:latin typeface="Noto Sans SC"/>
                <a:ea typeface="Noto Sans SC"/>
              </a:rPr>
              <a:t>天</a:t>
            </a:r>
            <a:endParaRPr/>
          </a:p>
        </p:txBody>
      </p:sp>
      <p:sp>
        <p:nvSpPr>
          <p:cNvPr id="402" name="" descr="{&quot;isTemplate&quot;:true,&quot;type&quot;:&quot;text&quot;}"/>
          <p:cNvSpPr txBox="1"/>
          <p:nvPr/>
        </p:nvSpPr>
        <p:spPr>
          <a:xfrm rot="0" flipH="0" flipV="0">
            <a:off x="6124575" y="1724025"/>
            <a:ext cx="4667250" cy="409575"/>
          </a:xfrm>
          <a:prstGeom prst="rect"/>
        </p:spPr>
        <p:txBody>
          <a:bodyPr wrap="square" lIns="0" tIns="0" rIns="0" bIns="0">
            <a:normAutofit/>
          </a:bodyPr>
          <a:p>
            <a:pPr>
              <a:lnSpc>
                <a:spcPct val="155000"/>
              </a:lnSpc>
            </a:pPr>
            <a:r>
              <a:rPr lang="zh-CN" sz="863">
                <a:solidFill>
                  <a:srgbClr val="15181D"/>
                </a:solidFill>
                <a:latin typeface="Noto Sans SC"/>
                <a:ea typeface="Noto Sans SC"/>
              </a:rPr>
              <a:t>所有数字都是</a:t>
            </a:r>
            <a:r>
              <a:rPr lang="en-US" sz="863">
                <a:solidFill>
                  <a:srgbClr val="15181D"/>
                </a:solidFill>
                <a:latin typeface="Noto Sans SC"/>
                <a:ea typeface="Noto Sans SC"/>
              </a:rPr>
              <a:t>2026-10-01</a:t>
            </a:r>
            <a:r>
              <a:rPr lang="en-US" sz="863">
                <a:solidFill>
                  <a:srgbClr val="15181D"/>
                </a:solidFill>
                <a:latin typeface="Noto Sans SC"/>
                <a:ea typeface="Noto Sans SC"/>
              </a:rPr>
              <a:t xml:space="preserve"> </a:t>
            </a:r>
            <a:r>
              <a:rPr lang="zh-CN" sz="863">
                <a:solidFill>
                  <a:srgbClr val="15181D"/>
                </a:solidFill>
                <a:latin typeface="Noto Sans SC"/>
                <a:ea typeface="Noto Sans SC"/>
              </a:rPr>
              <a:t>至</a:t>
            </a:r>
            <a:r>
              <a:rPr lang="en-US" sz="863">
                <a:solidFill>
                  <a:srgbClr val="15181D"/>
                </a:solidFill>
                <a:latin typeface="Noto Sans SC"/>
                <a:ea typeface="Noto Sans SC"/>
              </a:rPr>
              <a:t>2026-10-18</a:t>
            </a:r>
            <a:r>
              <a:rPr lang="zh-CN" sz="863">
                <a:solidFill>
                  <a:srgbClr val="15181D"/>
                </a:solidFill>
                <a:latin typeface="Noto Sans SC"/>
                <a:ea typeface="Noto Sans SC"/>
              </a:rPr>
              <a:t>。不用更长的窗口，是因为推广明细表只有这</a:t>
            </a:r>
            <a:r>
              <a:rPr lang="en-US" sz="863">
                <a:solidFill>
                  <a:srgbClr val="15181D"/>
                </a:solidFill>
                <a:latin typeface="Noto Sans SC"/>
                <a:ea typeface="Noto Sans SC"/>
              </a:rPr>
              <a:t>18</a:t>
            </a:r>
            <a:r>
              <a:rPr lang="en-US" sz="863">
                <a:solidFill>
                  <a:srgbClr val="15181D"/>
                </a:solidFill>
                <a:latin typeface="Noto Sans SC"/>
                <a:ea typeface="Noto Sans SC"/>
              </a:rPr>
              <a:t xml:space="preserve"> </a:t>
            </a:r>
            <a:r>
              <a:rPr lang="zh-CN" sz="863">
                <a:solidFill>
                  <a:srgbClr val="15181D"/>
                </a:solidFill>
                <a:latin typeface="Noto Sans SC"/>
                <a:ea typeface="Noto Sans SC"/>
              </a:rPr>
              <a:t>天；拿</a:t>
            </a:r>
            <a:r>
              <a:rPr lang="en-US" sz="863">
                <a:solidFill>
                  <a:srgbClr val="15181D"/>
                </a:solidFill>
                <a:latin typeface="Noto Sans SC"/>
                <a:ea typeface="Noto Sans SC"/>
              </a:rPr>
              <a:t>18</a:t>
            </a:r>
            <a:r>
              <a:rPr lang="en-US" sz="863">
                <a:solidFill>
                  <a:srgbClr val="15181D"/>
                </a:solidFill>
                <a:latin typeface="Noto Sans SC"/>
                <a:ea typeface="Noto Sans SC"/>
              </a:rPr>
              <a:t xml:space="preserve"> </a:t>
            </a:r>
            <a:r>
              <a:rPr lang="zh-CN" sz="863">
                <a:solidFill>
                  <a:srgbClr val="15181D"/>
                </a:solidFill>
                <a:latin typeface="Noto Sans SC"/>
                <a:ea typeface="Noto Sans SC"/>
              </a:rPr>
              <a:t>天的推广费去比更长时间的成交额，会人为把推广占比压低一半以上。</a:t>
            </a:r>
            <a:endParaRPr/>
          </a:p>
        </p:txBody>
      </p:sp>
      <p:sp>
        <p:nvSpPr>
          <p:cNvPr id="403" name=""/>
          <p:cNvSpPr/>
          <p:nvPr/>
        </p:nvSpPr>
        <p:spPr>
          <a:xfrm rot="0" flipH="0" flipV="0">
            <a:off x="5981700" y="2390775"/>
            <a:ext cx="4953000" cy="847725"/>
          </a:xfrm>
          <a:prstGeom prst="rect">
            <a:avLst/>
          </a:prstGeom>
          <a:solidFill>
            <a:srgbClr val="F4F6F8"/>
          </a:solidFill>
          <a:ln/>
        </p:spPr>
        <p:txBody>
          <a:bodyPr/>
          <a:p/>
        </p:txBody>
      </p:sp>
      <p:sp>
        <p:nvSpPr>
          <p:cNvPr id="404" name="" descr="{&quot;isTemplate&quot;:true,&quot;type&quot;:&quot;text&quot;}"/>
          <p:cNvSpPr txBox="1"/>
          <p:nvPr/>
        </p:nvSpPr>
        <p:spPr>
          <a:xfrm rot="0" flipH="0" flipV="0">
            <a:off x="6124575" y="2514600"/>
            <a:ext cx="4667250" cy="152400"/>
          </a:xfrm>
          <a:prstGeom prst="rect"/>
        </p:spPr>
        <p:txBody>
          <a:bodyPr wrap="none" lIns="0" tIns="0" rIns="0" bIns="0"/>
          <a:p>
            <a:pPr>
              <a:lnSpc>
                <a:spcPct val="100000"/>
              </a:lnSpc>
            </a:pPr>
            <a:r>
              <a:rPr lang="zh-CN" sz="975" b="1">
                <a:solidFill>
                  <a:srgbClr val="1B3557"/>
                </a:solidFill>
                <a:latin typeface="Noto Sans SC"/>
                <a:ea typeface="Noto Sans SC"/>
              </a:rPr>
              <a:t>广告花费有两个来源，都是</a:t>
            </a:r>
            <a:r>
              <a:rPr lang="en-US" sz="975" b="1">
                <a:solidFill>
                  <a:srgbClr val="1B3557"/>
                </a:solidFill>
                <a:latin typeface="Noto Sans SC"/>
                <a:ea typeface="Noto Sans SC"/>
              </a:rPr>
              <a:t>18</a:t>
            </a:r>
            <a:r>
              <a:rPr lang="en-US" sz="975" b="1">
                <a:solidFill>
                  <a:srgbClr val="1B3557"/>
                </a:solidFill>
                <a:latin typeface="Noto Sans SC"/>
                <a:ea typeface="Noto Sans SC"/>
              </a:rPr>
              <a:t xml:space="preserve"> </a:t>
            </a:r>
            <a:r>
              <a:rPr lang="zh-CN" sz="975" b="1">
                <a:solidFill>
                  <a:srgbClr val="1B3557"/>
                </a:solidFill>
                <a:latin typeface="Noto Sans SC"/>
                <a:ea typeface="Noto Sans SC"/>
              </a:rPr>
              <a:t>天</a:t>
            </a:r>
            <a:endParaRPr/>
          </a:p>
        </p:txBody>
      </p:sp>
      <p:sp>
        <p:nvSpPr>
          <p:cNvPr id="405" name="" descr="{&quot;isTemplate&quot;:true,&quot;type&quot;:&quot;text&quot;}"/>
          <p:cNvSpPr txBox="1"/>
          <p:nvPr/>
        </p:nvSpPr>
        <p:spPr>
          <a:xfrm rot="0" flipH="0" flipV="0">
            <a:off x="6124575" y="2705100"/>
            <a:ext cx="4667250" cy="409575"/>
          </a:xfrm>
          <a:prstGeom prst="rect"/>
        </p:spPr>
        <p:txBody>
          <a:bodyPr wrap="square" lIns="0" tIns="0" rIns="0" bIns="0">
            <a:normAutofit/>
          </a:bodyPr>
          <a:p>
            <a:pPr>
              <a:lnSpc>
                <a:spcPct val="155000"/>
              </a:lnSpc>
            </a:pPr>
            <a:r>
              <a:rPr lang="zh-CN" sz="863">
                <a:solidFill>
                  <a:srgbClr val="15181D"/>
                </a:solidFill>
                <a:latin typeface="Noto Sans SC"/>
                <a:ea typeface="Noto Sans SC"/>
              </a:rPr>
              <a:t>日报表的广告花费</a:t>
            </a:r>
            <a:r>
              <a:rPr lang="en-US" sz="863">
                <a:solidFill>
                  <a:srgbClr val="15181D"/>
                </a:solidFill>
                <a:latin typeface="Noto Sans SC"/>
                <a:ea typeface="Noto Sans SC"/>
              </a:rPr>
              <a:t>4.0</a:t>
            </a:r>
            <a:r>
              <a:rPr lang="zh-CN" sz="863">
                <a:solidFill>
                  <a:srgbClr val="15181D"/>
                </a:solidFill>
                <a:latin typeface="Noto Sans SC"/>
                <a:ea typeface="Noto Sans SC"/>
              </a:rPr>
              <a:t>万元（关键词</a:t>
            </a:r>
            <a:r>
              <a:rPr lang="en-US" sz="863">
                <a:solidFill>
                  <a:srgbClr val="15181D"/>
                </a:solidFill>
                <a:latin typeface="Noto Sans SC"/>
                <a:ea typeface="Noto Sans SC"/>
              </a:rPr>
              <a:t>2.2</a:t>
            </a:r>
            <a:r>
              <a:rPr lang="zh-CN" sz="863">
                <a:solidFill>
                  <a:srgbClr val="15181D"/>
                </a:solidFill>
                <a:latin typeface="Noto Sans SC"/>
                <a:ea typeface="Noto Sans SC"/>
              </a:rPr>
              <a:t>万元＋人群</a:t>
            </a:r>
            <a:r>
              <a:rPr lang="en-US" sz="863">
                <a:solidFill>
                  <a:srgbClr val="15181D"/>
                </a:solidFill>
                <a:latin typeface="Noto Sans SC"/>
                <a:ea typeface="Noto Sans SC"/>
              </a:rPr>
              <a:t>1.8</a:t>
            </a:r>
            <a:r>
              <a:rPr lang="zh-CN" sz="863">
                <a:solidFill>
                  <a:srgbClr val="15181D"/>
                </a:solidFill>
                <a:latin typeface="Noto Sans SC"/>
                <a:ea typeface="Noto Sans SC"/>
              </a:rPr>
              <a:t>万元）；推广明细表</a:t>
            </a:r>
            <a:r>
              <a:rPr lang="en-US" sz="863">
                <a:solidFill>
                  <a:srgbClr val="15181D"/>
                </a:solidFill>
                <a:latin typeface="Noto Sans SC"/>
                <a:ea typeface="Noto Sans SC"/>
              </a:rPr>
              <a:t>2.8</a:t>
            </a:r>
            <a:r>
              <a:rPr lang="zh-CN" sz="863">
                <a:solidFill>
                  <a:srgbClr val="15181D"/>
                </a:solidFill>
                <a:latin typeface="Noto Sans SC"/>
                <a:ea typeface="Noto Sans SC"/>
              </a:rPr>
              <a:t>万元，等于日报口径的</a:t>
            </a:r>
            <a:r>
              <a:rPr lang="en-US" sz="863">
                <a:solidFill>
                  <a:srgbClr val="15181D"/>
                </a:solidFill>
                <a:latin typeface="Noto Sans SC"/>
                <a:ea typeface="Noto Sans SC"/>
              </a:rPr>
              <a:t>68.4%</a:t>
            </a:r>
            <a:r>
              <a:rPr lang="zh-CN" sz="863">
                <a:solidFill>
                  <a:srgbClr val="15181D"/>
                </a:solidFill>
                <a:latin typeface="Noto Sans SC"/>
                <a:ea typeface="Noto Sans SC"/>
              </a:rPr>
              <a:t>。本篇说</a:t>
            </a:r>
            <a:r>
              <a:rPr lang="en-US" sz="863">
                <a:solidFill>
                  <a:srgbClr val="15181D"/>
                </a:solidFill>
                <a:latin typeface="Noto Sans SC"/>
                <a:ea typeface="Noto Sans SC"/>
              </a:rPr>
              <a:t>"</a:t>
            </a:r>
            <a:r>
              <a:rPr lang="zh-CN" sz="863">
                <a:solidFill>
                  <a:srgbClr val="15181D"/>
                </a:solidFill>
                <a:latin typeface="Noto Sans SC"/>
                <a:ea typeface="Noto Sans SC"/>
              </a:rPr>
              <a:t>推广费</a:t>
            </a:r>
            <a:r>
              <a:rPr lang="en-US" sz="863">
                <a:solidFill>
                  <a:srgbClr val="15181D"/>
                </a:solidFill>
                <a:latin typeface="Noto Sans SC"/>
                <a:ea typeface="Noto Sans SC"/>
              </a:rPr>
              <a:t>"</a:t>
            </a:r>
            <a:r>
              <a:rPr lang="zh-CN" sz="863">
                <a:solidFill>
                  <a:srgbClr val="15181D"/>
                </a:solidFill>
                <a:latin typeface="Noto Sans SC"/>
                <a:ea typeface="Noto Sans SC"/>
              </a:rPr>
              <a:t>一律指后者。</a:t>
            </a:r>
            <a:endParaRPr/>
          </a:p>
        </p:txBody>
      </p:sp>
      <p:sp>
        <p:nvSpPr>
          <p:cNvPr id="406" name=""/>
          <p:cNvSpPr/>
          <p:nvPr/>
        </p:nvSpPr>
        <p:spPr>
          <a:xfrm rot="0" flipH="0" flipV="0">
            <a:off x="5981700" y="3371850"/>
            <a:ext cx="4953000" cy="647700"/>
          </a:xfrm>
          <a:prstGeom prst="rect">
            <a:avLst/>
          </a:prstGeom>
          <a:solidFill>
            <a:srgbClr val="F4F6F8"/>
          </a:solidFill>
          <a:ln/>
        </p:spPr>
        <p:txBody>
          <a:bodyPr/>
          <a:p/>
        </p:txBody>
      </p:sp>
      <p:sp>
        <p:nvSpPr>
          <p:cNvPr id="407" name="" descr="{&quot;isTemplate&quot;:true,&quot;type&quot;:&quot;text&quot;}"/>
          <p:cNvSpPr txBox="1"/>
          <p:nvPr/>
        </p:nvSpPr>
        <p:spPr>
          <a:xfrm rot="0" flipH="0" flipV="0">
            <a:off x="6124575" y="3495675"/>
            <a:ext cx="4667250" cy="152400"/>
          </a:xfrm>
          <a:prstGeom prst="rect"/>
        </p:spPr>
        <p:txBody>
          <a:bodyPr wrap="none" lIns="0" tIns="0" rIns="0" bIns="0"/>
          <a:p>
            <a:pPr>
              <a:lnSpc>
                <a:spcPct val="100000"/>
              </a:lnSpc>
            </a:pPr>
            <a:r>
              <a:rPr lang="zh-CN" sz="975" b="1">
                <a:solidFill>
                  <a:srgbClr val="1B3557"/>
                </a:solidFill>
                <a:latin typeface="Noto Sans SC"/>
                <a:ea typeface="Noto Sans SC"/>
              </a:rPr>
              <a:t>一个商品一个链接</a:t>
            </a:r>
            <a:endParaRPr/>
          </a:p>
        </p:txBody>
      </p:sp>
      <p:sp>
        <p:nvSpPr>
          <p:cNvPr id="408" name="" descr="{&quot;isTemplate&quot;:true,&quot;type&quot;:&quot;text&quot;}"/>
          <p:cNvSpPr txBox="1"/>
          <p:nvPr/>
        </p:nvSpPr>
        <p:spPr>
          <a:xfrm rot="0" flipH="0" flipV="0">
            <a:off x="6124575" y="3686175"/>
            <a:ext cx="4667250" cy="209550"/>
          </a:xfrm>
          <a:prstGeom prst="rect"/>
        </p:spPr>
        <p:txBody>
          <a:bodyPr wrap="none" lIns="0" tIns="0" rIns="0" bIns="0"/>
          <a:p>
            <a:pPr>
              <a:lnSpc>
                <a:spcPct val="155000"/>
              </a:lnSpc>
            </a:pPr>
            <a:r>
              <a:rPr lang="zh-CN" sz="863">
                <a:solidFill>
                  <a:srgbClr val="15181D"/>
                </a:solidFill>
                <a:latin typeface="Noto Sans SC"/>
                <a:ea typeface="Noto Sans SC"/>
              </a:rPr>
              <a:t>所有商品数字按商品</a:t>
            </a:r>
            <a:r>
              <a:rPr lang="en-US" sz="863">
                <a:solidFill>
                  <a:srgbClr val="15181D"/>
                </a:solidFill>
                <a:latin typeface="Noto Sans SC"/>
                <a:ea typeface="Noto Sans SC"/>
              </a:rPr>
              <a:t xml:space="preserve"> ID </a:t>
            </a:r>
            <a:r>
              <a:rPr lang="zh-CN" sz="863">
                <a:solidFill>
                  <a:srgbClr val="15181D"/>
                </a:solidFill>
                <a:latin typeface="Noto Sans SC"/>
                <a:ea typeface="Noto Sans SC"/>
              </a:rPr>
              <a:t>汇总，不按名称（同名商品会被错并）；推广按主体</a:t>
            </a:r>
            <a:r>
              <a:rPr lang="en-US" sz="863">
                <a:solidFill>
                  <a:srgbClr val="15181D"/>
                </a:solidFill>
                <a:latin typeface="Noto Sans SC"/>
                <a:ea typeface="Noto Sans SC"/>
              </a:rPr>
              <a:t xml:space="preserve"> ID </a:t>
            </a:r>
            <a:r>
              <a:rPr lang="zh-CN" sz="863">
                <a:solidFill>
                  <a:srgbClr val="15181D"/>
                </a:solidFill>
                <a:latin typeface="Noto Sans SC"/>
                <a:ea typeface="Noto Sans SC"/>
              </a:rPr>
              <a:t>汇总。</a:t>
            </a:r>
            <a:endParaRPr/>
          </a:p>
        </p:txBody>
      </p:sp>
      <p:sp>
        <p:nvSpPr>
          <p:cNvPr id="409" name="" descr="{&quot;isTemplate&quot;:true,&quot;type&quot;:&quot;text&quot;}"/>
          <p:cNvSpPr txBox="1"/>
          <p:nvPr/>
        </p:nvSpPr>
        <p:spPr>
          <a:xfrm rot="0" flipH="0" flipV="0">
            <a:off x="609600" y="6362700"/>
            <a:ext cx="1466850" cy="152400"/>
          </a:xfrm>
          <a:prstGeom prst="rect"/>
        </p:spPr>
        <p:txBody>
          <a:bodyPr wrap="none" lIns="0" tIns="0" rIns="0" bIns="0"/>
          <a:p>
            <a:pPr>
              <a:lnSpc>
                <a:spcPct val="100000"/>
              </a:lnSpc>
            </a:pPr>
            <a:r>
              <a:rPr lang="zh-CN" sz="975">
                <a:solidFill>
                  <a:srgbClr val="5F6975"/>
                </a:solidFill>
                <a:latin typeface="Noto Sans SC"/>
                <a:ea typeface="Noto Sans SC"/>
              </a:rPr>
              <a:t>经营数据诊断</a:t>
            </a:r>
            <a:r>
              <a:rPr sz="975">
                <a:solidFill>
                  <a:srgbClr val="5F6975"/>
                </a:solidFill>
                <a:latin typeface="Noto Sans SC"/>
                <a:ea typeface="Noto Sans SC"/>
              </a:rPr>
              <a:t>·</a:t>
            </a:r>
            <a:r>
              <a:rPr lang="en-US" sz="975">
                <a:solidFill>
                  <a:srgbClr val="5F6975"/>
                </a:solidFill>
                <a:latin typeface="Noto Sans SC"/>
                <a:ea typeface="Noto Sans SC"/>
              </a:rPr>
              <a:t>2026-10-20</a:t>
            </a:r>
            <a:endParaRPr/>
          </a:p>
        </p:txBody>
      </p:sp>
      <p:sp>
        <p:nvSpPr>
          <p:cNvPr id="410" name="" descr="{&quot;isTemplate&quot;:true,&quot;type&quot;:&quot;text&quot;}"/>
          <p:cNvSpPr txBox="1"/>
          <p:nvPr/>
        </p:nvSpPr>
        <p:spPr>
          <a:xfrm rot="0" flipH="0" flipV="0">
            <a:off x="11268075" y="6362700"/>
            <a:ext cx="314325" cy="152400"/>
          </a:xfrm>
          <a:prstGeom prst="rect"/>
        </p:spPr>
        <p:txBody>
          <a:bodyPr wrap="none" lIns="0" tIns="0" rIns="0" bIns="0"/>
          <a:p>
            <a:pPr>
              <a:lnSpc>
                <a:spcPct val="100000"/>
              </a:lnSpc>
            </a:pPr>
            <a:r>
              <a:rPr lang="en-US" sz="975">
                <a:solidFill>
                  <a:srgbClr val="5F6975"/>
                </a:solidFill>
                <a:latin typeface="Noto Sans SC"/>
                <a:ea typeface="Noto Sans SC"/>
              </a:rPr>
              <a:t>13</a:t>
            </a:r>
            <a:r>
              <a:rPr lang="en-US" sz="975">
                <a:solidFill>
                  <a:srgbClr val="5F6975"/>
                </a:solidFill>
                <a:latin typeface="Noto Sans SC"/>
                <a:ea typeface="Noto Sans SC"/>
              </a:rPr>
              <a:t>/</a:t>
            </a:r>
            <a:r>
              <a:rPr lang="en-US" sz="975">
                <a:solidFill>
                  <a:srgbClr val="5F6975"/>
                </a:solidFill>
                <a:latin typeface="Noto Sans SC"/>
                <a:ea typeface="Noto Sans SC"/>
              </a:rPr>
              <a:t>13</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2026-10-21T14:34:21Z</dcterms:created>
  <dcterms:modified xsi:type="dcterms:W3CDTF">2026-10-21T14:34:21Z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{"AIGC":{"Label":"1","ContentProducer":"00119111010856365494821B355","ProduceID":"01a15d239c337eeca912236758f636dc","ReservedCode1":"","ContentPropagator":"00119111010856365494821B355","PropagateID":"01a15d239c337eeca912236758f636dc","ReservedCode2":""}}</vt:lpwstr>
  </property>
</Properties>
</file>